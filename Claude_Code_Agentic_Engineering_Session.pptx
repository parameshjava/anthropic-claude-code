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6" r:id="rId1"/>
  </p:sldMasterIdLst>
  <p:notesMasterIdLst>
    <p:notesMasterId r:id="rId21"/>
  </p:notesMasterIdLst>
  <p:sldIdLst>
    <p:sldId id="434" r:id="rId2"/>
    <p:sldId id="603" r:id="rId3"/>
    <p:sldId id="528" r:id="rId4"/>
    <p:sldId id="529" r:id="rId5"/>
    <p:sldId id="595" r:id="rId6"/>
    <p:sldId id="552" r:id="rId7"/>
    <p:sldId id="553" r:id="rId8"/>
    <p:sldId id="446" r:id="rId9"/>
    <p:sldId id="457" r:id="rId10"/>
    <p:sldId id="461" r:id="rId11"/>
    <p:sldId id="469" r:id="rId12"/>
    <p:sldId id="481" r:id="rId13"/>
    <p:sldId id="485" r:id="rId14"/>
    <p:sldId id="488" r:id="rId15"/>
    <p:sldId id="520" r:id="rId16"/>
    <p:sldId id="566" r:id="rId17"/>
    <p:sldId id="558" r:id="rId18"/>
    <p:sldId id="559" r:id="rId19"/>
    <p:sldId id="57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/>
    <p:restoredTop sz="94591"/>
  </p:normalViewPr>
  <p:slideViewPr>
    <p:cSldViewPr snapToGrid="0" snapToObjects="1">
      <p:cViewPr varScale="1">
        <p:scale>
          <a:sx n="126" d="100"/>
          <a:sy n="126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21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057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Context windows — https://platform.claude.com/docs/en/build-with-claude/context-windows
- How Claude remembers your project — https://code.claude.com/docs/en/memory
- Best Practices for Claude Code — https://code.claude.com/docs/en/best-practices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Best Practices for Claude Code — https://code.claude.com/docs/en/best-practices
- Extend Claude Code — https://code.claude.com/docs/en/features-overview
- Compaction — https://platform.claude.com/docs/en/build-with-claude/compaction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Reduce hallucinations — https://platform.claude.com/docs/en/test-and-evaluate/strengthen-guardrails/reduce-hallucinations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Agent Skills overview — https://platform.claude.com/docs/en/agents-and-tools/agent-skills/overview
- Skill authoring best practices — https://platform.claude.com/docs/en/agents-and-tools/agent-skills/best-practices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Create custom subagents — https://code.claude.com/docs/en/sub-agents
- Extend Claude Code — https://code.claude.com/docs/en/features-overview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Model Context Protocol announcement — https://www.anthropic.com/news/model-context-protocol
- Extend Claude Code — https://code.claude.com/docs/en/features-overview
- MCP connector — https://platform.claude.com/docs/en/agents-and-tools/mcp-connector
- Code execution with MCP — https://www.anthropic.com/engineering/code-execution-with-mcp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Claude Code overview — https://code.claude.com/docs/en
- How Claude remembers your project — https://code.claude.com/docs/en/memory
- Create custom subagents — https://code.claude.com/docs/en/sub-agents
- Best Practices for Claude Code — https://code.claude.com/docs/en/best-practices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How Claude remembers your project — https://code.claude.com/docs/en/memory
- Extend Claude Code — https://code.claude.com/docs/en/features-overview
- Create custom subagents — https://code.claude.com/docs/en/sub-agents
- Best Practices for Claude Code — https://code.claude.com/docs/en/best-practices
- Agent Skills overview — https://platform.claude.com/docs/en/agents-and-tools/agent-skills/overview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1FA854-AC35-4FED-9DB3-4AC08E716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AFDDE-3A13-46FC-B67A-2ECE1914331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2E6A5C-BA12-4B66-B655-F36580E5E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2CAC6-25F4-498E-9C96-BF3C45AE6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89DD0-BAD6-4A52-99CB-0C743FCBC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680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1" name="HeaderBand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gradFill>
            <a:gsLst>
              <a:gs pos="0">
                <a:srgbClr val="1565C0"/>
              </a:gs>
              <a:gs pos="60000">
                <a:srgbClr val="1976D2"/>
              </a:gs>
              <a:gs pos="100000">
                <a:srgbClr val="42A5F5"/>
              </a:gs>
            </a:gsLst>
            <a:lin ang="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2" name="HeaderAccent"/>
          <p:cNvSpPr/>
          <p:nvPr/>
        </p:nvSpPr>
        <p:spPr>
          <a:xfrm>
            <a:off x="0" y="548640"/>
            <a:ext cx="12192000" cy="36576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993" name="FooterBar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A233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1A2332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1A233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1A233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1A233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1A23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1A2332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1A2332"/>
          </a:solidFill>
        </a:defRPr>
      </a:defPPr>
      <a:lvl1pPr marL="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1A2332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hyperlink" Target="https://datatracker.ietf.org/doc/html/rfc7519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hyperlink" Target="https://datatracker.ietf.org/doc/html/rfc7519#section-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sv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Relationship Id="rId14" Type="http://schemas.openxmlformats.org/officeDocument/2006/relationships/image" Target="../media/image4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47A1"/>
              </a:gs>
              <a:gs pos="50000">
                <a:srgbClr val="1565C0"/>
              </a:gs>
              <a:gs pos="100000">
                <a:srgbClr val="1976D2"/>
              </a:gs>
            </a:gsLst>
            <a:lin ang="540000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7651" y="-878513"/>
            <a:ext cx="5486400" cy="5486400"/>
          </a:xfrm>
          <a:prstGeom prst="ellipse">
            <a:avLst/>
          </a:prstGeom>
          <a:solidFill>
            <a:srgbClr val="1976D2">
              <a:alpha val="2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422558" y="1920240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HeroTitle"/>
          <p:cNvSpPr/>
          <p:nvPr/>
        </p:nvSpPr>
        <p:spPr>
          <a:xfrm>
            <a:off x="914400" y="2468880"/>
            <a:ext cx="7772400" cy="160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Claude Code for</a:t>
            </a:r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Enterprise Engineering</a:t>
            </a:r>
          </a:p>
        </p:txBody>
      </p:sp>
      <p:sp>
        <p:nvSpPr>
          <p:cNvPr id="106" name="Subtitle"/>
          <p:cNvSpPr/>
          <p:nvPr/>
        </p:nvSpPr>
        <p:spPr>
          <a:xfrm>
            <a:off x="914400" y="4023360"/>
            <a:ext cx="7315200" cy="5486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Deploy, govern, and scale agentic coding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E3F0FF"/>
                </a:solidFill>
                <a:latin typeface="Segoe UI"/>
              </a:rPr>
              <a:t>across your engineering organization</a:t>
            </a:r>
          </a:p>
        </p:txBody>
      </p:sp>
      <p:sp>
        <p:nvSpPr>
          <p:cNvPr id="108" name="BottomAccent"/>
          <p:cNvSpPr/>
          <p:nvPr/>
        </p:nvSpPr>
        <p:spPr>
          <a:xfrm>
            <a:off x="898422" y="6152535"/>
            <a:ext cx="7253748" cy="45719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09" name="Footer"/>
          <p:cNvSpPr/>
          <p:nvPr/>
        </p:nvSpPr>
        <p:spPr>
          <a:xfrm>
            <a:off x="914400" y="6309360"/>
            <a:ext cx="10363200" cy="27432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b"/>
          <a:lstStyle/>
          <a:p>
            <a:pPr marL="0" indent="0">
              <a:buNone/>
            </a:pPr>
            <a:r>
              <a:rPr lang="en-US" sz="1600" dirty="0">
                <a:solidFill>
                  <a:srgbClr val="90CAF9"/>
                </a:solidFill>
                <a:latin typeface="Segoe UI"/>
              </a:rPr>
              <a:t>Enterprise Engineering Session </a:t>
            </a:r>
          </a:p>
        </p:txBody>
      </p:sp>
      <p:pic>
        <p:nvPicPr>
          <p:cNvPr id="110" name="Graphic 110" descr="Enterprise connections network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0" y="2286000"/>
            <a:ext cx="2286000" cy="2286000"/>
          </a:xfrm>
          <a:prstGeom prst="rect">
            <a:avLst/>
          </a:prstGeom>
        </p:spPr>
      </p:pic>
      <p:sp>
        <p:nvSpPr>
          <p:cNvPr id="2" name="Pentagon 1">
            <a:extLst>
              <a:ext uri="{FF2B5EF4-FFF2-40B4-BE49-F238E27FC236}">
                <a16:creationId xmlns:a16="http://schemas.microsoft.com/office/drawing/2014/main" id="{FC22C31C-6C87-B572-723B-77636F7B2F60}"/>
              </a:ext>
            </a:extLst>
          </p:cNvPr>
          <p:cNvSpPr/>
          <p:nvPr/>
        </p:nvSpPr>
        <p:spPr>
          <a:xfrm>
            <a:off x="938981" y="5526957"/>
            <a:ext cx="1455174" cy="292510"/>
          </a:xfrm>
          <a:prstGeom prst="homePlat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merican Typewriter" panose="02090604020004020304" pitchFamily="18" charset="77"/>
              </a:rPr>
              <a:t>Context</a:t>
            </a:r>
          </a:p>
        </p:txBody>
      </p:sp>
      <p:sp>
        <p:nvSpPr>
          <p:cNvPr id="4" name="Chevron 3">
            <a:extLst>
              <a:ext uri="{FF2B5EF4-FFF2-40B4-BE49-F238E27FC236}">
                <a16:creationId xmlns:a16="http://schemas.microsoft.com/office/drawing/2014/main" id="{3E92BE83-510F-790B-432F-91D3698C80B0}"/>
              </a:ext>
            </a:extLst>
          </p:cNvPr>
          <p:cNvSpPr/>
          <p:nvPr/>
        </p:nvSpPr>
        <p:spPr>
          <a:xfrm>
            <a:off x="2587113" y="5547236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Prompting</a:t>
            </a:r>
          </a:p>
        </p:txBody>
      </p:sp>
      <p:sp>
        <p:nvSpPr>
          <p:cNvPr id="5" name="Chevron 4">
            <a:extLst>
              <a:ext uri="{FF2B5EF4-FFF2-40B4-BE49-F238E27FC236}">
                <a16:creationId xmlns:a16="http://schemas.microsoft.com/office/drawing/2014/main" id="{EAACB256-6A68-BA32-1C4B-45427553A75B}"/>
              </a:ext>
            </a:extLst>
          </p:cNvPr>
          <p:cNvSpPr/>
          <p:nvPr/>
        </p:nvSpPr>
        <p:spPr>
          <a:xfrm>
            <a:off x="4553564" y="5562413"/>
            <a:ext cx="1773493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Delegation</a:t>
            </a:r>
          </a:p>
        </p:txBody>
      </p:sp>
      <p:sp>
        <p:nvSpPr>
          <p:cNvPr id="6" name="Chevron 5">
            <a:extLst>
              <a:ext uri="{FF2B5EF4-FFF2-40B4-BE49-F238E27FC236}">
                <a16:creationId xmlns:a16="http://schemas.microsoft.com/office/drawing/2014/main" id="{D84120E4-FF47-6364-5198-B8E1CC8FB7C9}"/>
              </a:ext>
            </a:extLst>
          </p:cNvPr>
          <p:cNvSpPr/>
          <p:nvPr/>
        </p:nvSpPr>
        <p:spPr>
          <a:xfrm>
            <a:off x="6520015" y="5580790"/>
            <a:ext cx="1632155" cy="292510"/>
          </a:xfrm>
          <a:prstGeom prst="chevron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American Typewriter" panose="02090604020004020304" pitchFamily="18" charset="77"/>
              </a:rPr>
              <a:t>MCP</a:t>
            </a:r>
          </a:p>
        </p:txBody>
      </p:sp>
      <p:sp>
        <p:nvSpPr>
          <p:cNvPr id="3" name="DecoCircle2">
            <a:extLst>
              <a:ext uri="{FF2B5EF4-FFF2-40B4-BE49-F238E27FC236}">
                <a16:creationId xmlns:a16="http://schemas.microsoft.com/office/drawing/2014/main" id="{2B25B8EA-0534-2975-77FB-7823A373D3CC}"/>
              </a:ext>
            </a:extLst>
          </p:cNvPr>
          <p:cNvSpPr/>
          <p:nvPr/>
        </p:nvSpPr>
        <p:spPr>
          <a:xfrm>
            <a:off x="-800715" y="3898245"/>
            <a:ext cx="3657600" cy="3657600"/>
          </a:xfrm>
          <a:prstGeom prst="ellipse">
            <a:avLst/>
          </a:prstGeom>
          <a:solidFill>
            <a:srgbClr val="42A5F5">
              <a:alpha val="15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2A0C47-5CAC-3479-53C0-BDB537C5FDCA}"/>
              </a:ext>
            </a:extLst>
          </p:cNvPr>
          <p:cNvGrpSpPr/>
          <p:nvPr/>
        </p:nvGrpSpPr>
        <p:grpSpPr>
          <a:xfrm>
            <a:off x="840329" y="1306258"/>
            <a:ext cx="5803450" cy="623771"/>
            <a:chOff x="840329" y="1306258"/>
            <a:chExt cx="5803450" cy="623771"/>
          </a:xfrm>
        </p:grpSpPr>
        <p:sp>
          <p:nvSpPr>
            <p:cNvPr id="103" name="AccentBar"/>
            <p:cNvSpPr/>
            <p:nvPr/>
          </p:nvSpPr>
          <p:spPr>
            <a:xfrm flipV="1">
              <a:off x="898422" y="1798274"/>
              <a:ext cx="5621593" cy="111106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Label"/>
            <p:cNvSpPr/>
            <p:nvPr/>
          </p:nvSpPr>
          <p:spPr>
            <a:xfrm>
              <a:off x="1486760" y="1378684"/>
              <a:ext cx="5157019" cy="3657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b"/>
            <a:lstStyle/>
            <a:p>
              <a:pPr marL="0" indent="0">
                <a:buNone/>
              </a:pPr>
              <a:r>
                <a:rPr lang="en-US" sz="2400" spc="400" dirty="0">
                  <a:solidFill>
                    <a:srgbClr val="90CAF9"/>
                  </a:solidFill>
                  <a:latin typeface="Segoe UI Semibold"/>
                </a:rPr>
                <a:t>ANTHROPIC  CLAUDE CODE</a:t>
              </a:r>
            </a:p>
          </p:txBody>
        </p:sp>
        <p:pic>
          <p:nvPicPr>
            <p:cNvPr id="1026" name="Picture 2" descr="Anthropic claude Icons, Logos, Symbols ...">
              <a:extLst>
                <a:ext uri="{FF2B5EF4-FFF2-40B4-BE49-F238E27FC236}">
                  <a16:creationId xmlns:a16="http://schemas.microsoft.com/office/drawing/2014/main" id="{D81E5A46-D60B-50F4-AE43-E9357C3903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045" t="15414" r="15329" b="14252"/>
            <a:stretch>
              <a:fillRect/>
            </a:stretch>
          </p:blipFill>
          <p:spPr bwMode="auto">
            <a:xfrm>
              <a:off x="840329" y="1306258"/>
              <a:ext cx="603700" cy="623771"/>
            </a:xfrm>
            <a:prstGeom prst="round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1901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11982-C974-C73B-CA11-F0322D4ED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1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Claude Code models by plan</a:t>
            </a:r>
          </a:p>
        </p:txBody>
      </p:sp>
      <p:sp>
        <p:nvSpPr>
          <p:cNvPr id="101" name="S101"/>
          <p:cNvSpPr/>
          <p:nvPr/>
        </p:nvSpPr>
        <p:spPr>
          <a:xfrm>
            <a:off x="660400" y="533400"/>
            <a:ext cx="1041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400" dirty="0">
                <a:solidFill>
                  <a:srgbClr val="6B9BD2"/>
                </a:solidFill>
                <a:latin typeface="Aptos"/>
              </a:rPr>
              <a:t>Tiers &amp; models on the left  |  Real-world eng. team analogy on the right  |  Same decision pattern</a:t>
            </a:r>
          </a:p>
        </p:txBody>
      </p:sp>
      <p:cxnSp>
        <p:nvCxnSpPr>
          <p:cNvPr id="102" name="L102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12700">
            <a:solidFill>
              <a:srgbClr val="334155"/>
            </a:solidFill>
          </a:ln>
        </p:spPr>
      </p:cxnSp>
      <p:sp>
        <p:nvSpPr>
          <p:cNvPr id="103" name="S103"/>
          <p:cNvSpPr/>
          <p:nvPr/>
        </p:nvSpPr>
        <p:spPr>
          <a:xfrm>
            <a:off x="146053" y="990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SUBSCRIPTION TIERS</a:t>
            </a:r>
          </a:p>
        </p:txBody>
      </p:sp>
      <p:sp>
        <p:nvSpPr>
          <p:cNvPr id="104" name="S104"/>
          <p:cNvSpPr/>
          <p:nvPr/>
        </p:nvSpPr>
        <p:spPr>
          <a:xfrm>
            <a:off x="146053" y="1229360"/>
            <a:ext cx="5714997" cy="4318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9525">
            <a:solidFill>
              <a:srgbClr val="1565C0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5" name="S105"/>
          <p:cNvSpPr/>
          <p:nvPr/>
        </p:nvSpPr>
        <p:spPr>
          <a:xfrm>
            <a:off x="146053" y="1229360"/>
            <a:ext cx="63500" cy="431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6" name="S106"/>
          <p:cNvSpPr/>
          <p:nvPr/>
        </p:nvSpPr>
        <p:spPr>
          <a:xfrm>
            <a:off x="349253" y="12547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1565C0"/>
                </a:solidFill>
                <a:latin typeface="Aptos Display"/>
              </a:rPr>
              <a:t>Pro</a:t>
            </a:r>
          </a:p>
        </p:txBody>
      </p:sp>
      <p:sp>
        <p:nvSpPr>
          <p:cNvPr id="107" name="S107"/>
          <p:cNvSpPr/>
          <p:nvPr/>
        </p:nvSpPr>
        <p:spPr>
          <a:xfrm>
            <a:off x="349253" y="14452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$17/mo — Sonnet default, Opus available</a:t>
            </a:r>
          </a:p>
        </p:txBody>
      </p:sp>
      <p:sp>
        <p:nvSpPr>
          <p:cNvPr id="108" name="S108"/>
          <p:cNvSpPr/>
          <p:nvPr/>
        </p:nvSpPr>
        <p:spPr>
          <a:xfrm>
            <a:off x="146053" y="1699260"/>
            <a:ext cx="5714997" cy="4318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9525">
            <a:solidFill>
              <a:srgbClr val="7C3AED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09" name="S109"/>
          <p:cNvSpPr/>
          <p:nvPr/>
        </p:nvSpPr>
        <p:spPr>
          <a:xfrm>
            <a:off x="146053" y="1699260"/>
            <a:ext cx="63500" cy="431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0" name="S110"/>
          <p:cNvSpPr/>
          <p:nvPr/>
        </p:nvSpPr>
        <p:spPr>
          <a:xfrm>
            <a:off x="349253" y="17246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7C3AED"/>
                </a:solidFill>
                <a:latin typeface="Aptos Display"/>
              </a:rPr>
              <a:t>Max</a:t>
            </a:r>
          </a:p>
        </p:txBody>
      </p:sp>
      <p:sp>
        <p:nvSpPr>
          <p:cNvPr id="111" name="S111"/>
          <p:cNvSpPr/>
          <p:nvPr/>
        </p:nvSpPr>
        <p:spPr>
          <a:xfrm>
            <a:off x="349253" y="19151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$100/mo — 5× usage, priority Opus access</a:t>
            </a:r>
          </a:p>
        </p:txBody>
      </p:sp>
      <p:sp>
        <p:nvSpPr>
          <p:cNvPr id="112" name="S112"/>
          <p:cNvSpPr/>
          <p:nvPr/>
        </p:nvSpPr>
        <p:spPr>
          <a:xfrm>
            <a:off x="146053" y="2169160"/>
            <a:ext cx="5714995" cy="4318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9525">
            <a:solidFill>
              <a:srgbClr val="059669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3" name="S113"/>
          <p:cNvSpPr/>
          <p:nvPr/>
        </p:nvSpPr>
        <p:spPr>
          <a:xfrm>
            <a:off x="146053" y="2169160"/>
            <a:ext cx="63500" cy="431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4" name="S114"/>
          <p:cNvSpPr/>
          <p:nvPr/>
        </p:nvSpPr>
        <p:spPr>
          <a:xfrm>
            <a:off x="349253" y="21945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059669"/>
                </a:solidFill>
                <a:latin typeface="Aptos Display"/>
              </a:rPr>
              <a:t>Team</a:t>
            </a:r>
          </a:p>
        </p:txBody>
      </p:sp>
      <p:sp>
        <p:nvSpPr>
          <p:cNvPr id="115" name="S115"/>
          <p:cNvSpPr/>
          <p:nvPr/>
        </p:nvSpPr>
        <p:spPr>
          <a:xfrm>
            <a:off x="349253" y="23850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$30/user/mo — Multi-user, admin controls, Opus</a:t>
            </a:r>
          </a:p>
        </p:txBody>
      </p:sp>
      <p:sp>
        <p:nvSpPr>
          <p:cNvPr id="116" name="S116"/>
          <p:cNvSpPr/>
          <p:nvPr/>
        </p:nvSpPr>
        <p:spPr>
          <a:xfrm>
            <a:off x="146053" y="2639060"/>
            <a:ext cx="5714994" cy="4318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 w="9525">
            <a:solidFill>
              <a:srgbClr val="D4622B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7" name="S117"/>
          <p:cNvSpPr/>
          <p:nvPr/>
        </p:nvSpPr>
        <p:spPr>
          <a:xfrm>
            <a:off x="146053" y="2639060"/>
            <a:ext cx="63500" cy="431800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18" name="S118"/>
          <p:cNvSpPr/>
          <p:nvPr/>
        </p:nvSpPr>
        <p:spPr>
          <a:xfrm>
            <a:off x="349253" y="2664460"/>
            <a:ext cx="762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200" b="1" dirty="0">
                <a:solidFill>
                  <a:srgbClr val="D4622B"/>
                </a:solidFill>
                <a:latin typeface="Aptos Display"/>
              </a:rPr>
              <a:t>Enterprise</a:t>
            </a:r>
          </a:p>
        </p:txBody>
      </p:sp>
      <p:sp>
        <p:nvSpPr>
          <p:cNvPr id="119" name="S119"/>
          <p:cNvSpPr/>
          <p:nvPr/>
        </p:nvSpPr>
        <p:spPr>
          <a:xfrm>
            <a:off x="349253" y="2854960"/>
            <a:ext cx="5588000" cy="190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dirty="0">
                <a:solidFill>
                  <a:srgbClr val="64748B"/>
                </a:solidFill>
                <a:latin typeface="Aptos"/>
              </a:rPr>
              <a:t>Custom — SSO, RBAC, compliance, managed policies</a:t>
            </a:r>
          </a:p>
        </p:txBody>
      </p:sp>
      <p:sp>
        <p:nvSpPr>
          <p:cNvPr id="120" name="S120"/>
          <p:cNvSpPr/>
          <p:nvPr/>
        </p:nvSpPr>
        <p:spPr>
          <a:xfrm>
            <a:off x="381000" y="3149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MODEL LINEUP</a:t>
            </a:r>
          </a:p>
        </p:txBody>
      </p:sp>
      <p:sp>
        <p:nvSpPr>
          <p:cNvPr id="121" name="S121"/>
          <p:cNvSpPr/>
          <p:nvPr/>
        </p:nvSpPr>
        <p:spPr>
          <a:xfrm>
            <a:off x="177800" y="3403600"/>
            <a:ext cx="1828800" cy="26035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9525">
            <a:solidFill>
              <a:srgbClr val="0EA5E9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22" name="S122"/>
          <p:cNvSpPr/>
          <p:nvPr/>
        </p:nvSpPr>
        <p:spPr>
          <a:xfrm>
            <a:off x="177800" y="3403600"/>
            <a:ext cx="1828800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23" name="S123"/>
          <p:cNvSpPr/>
          <p:nvPr/>
        </p:nvSpPr>
        <p:spPr>
          <a:xfrm>
            <a:off x="27940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0EA5E9"/>
                </a:solidFill>
                <a:latin typeface="Aptos Display"/>
              </a:rPr>
              <a:t>Haiku 4.5</a:t>
            </a:r>
          </a:p>
        </p:txBody>
      </p:sp>
      <p:sp>
        <p:nvSpPr>
          <p:cNvPr id="124" name="S124"/>
          <p:cNvSpPr/>
          <p:nvPr/>
        </p:nvSpPr>
        <p:spPr>
          <a:xfrm>
            <a:off x="27940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0EA5E9"/>
                </a:solidFill>
                <a:latin typeface="Aptos"/>
              </a:rPr>
              <a:t>Fast Specialist</a:t>
            </a:r>
          </a:p>
        </p:txBody>
      </p:sp>
      <p:cxnSp>
        <p:nvCxnSpPr>
          <p:cNvPr id="125" name="L125"/>
          <p:cNvCxnSpPr/>
          <p:nvPr/>
        </p:nvCxnSpPr>
        <p:spPr>
          <a:xfrm>
            <a:off x="17780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26" name="S126"/>
          <p:cNvSpPr/>
          <p:nvPr/>
        </p:nvSpPr>
        <p:spPr>
          <a:xfrm>
            <a:off x="27940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Fastest, most cost-efficient. Ideal for subagents, rapid prototyping, log scanning, and parallel tasks.</a:t>
            </a:r>
          </a:p>
        </p:txBody>
      </p:sp>
      <p:sp>
        <p:nvSpPr>
          <p:cNvPr id="127" name="S127"/>
          <p:cNvSpPr/>
          <p:nvPr/>
        </p:nvSpPr>
        <p:spPr>
          <a:xfrm>
            <a:off x="2265680" y="3403600"/>
            <a:ext cx="1803400" cy="26035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9525">
            <a:solidFill>
              <a:srgbClr val="1565C0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28" name="S128"/>
          <p:cNvSpPr/>
          <p:nvPr/>
        </p:nvSpPr>
        <p:spPr>
          <a:xfrm>
            <a:off x="2270758" y="3403600"/>
            <a:ext cx="1803401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29" name="S129"/>
          <p:cNvSpPr/>
          <p:nvPr/>
        </p:nvSpPr>
        <p:spPr>
          <a:xfrm>
            <a:off x="226568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Sonnet 4.6</a:t>
            </a:r>
          </a:p>
        </p:txBody>
      </p:sp>
      <p:sp>
        <p:nvSpPr>
          <p:cNvPr id="130" name="S130"/>
          <p:cNvSpPr/>
          <p:nvPr/>
        </p:nvSpPr>
        <p:spPr>
          <a:xfrm>
            <a:off x="226568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1565C0"/>
                </a:solidFill>
                <a:latin typeface="Aptos"/>
              </a:rPr>
              <a:t>Default Engineer</a:t>
            </a:r>
          </a:p>
        </p:txBody>
      </p:sp>
      <p:cxnSp>
        <p:nvCxnSpPr>
          <p:cNvPr id="131" name="L131"/>
          <p:cNvCxnSpPr/>
          <p:nvPr/>
        </p:nvCxnSpPr>
        <p:spPr>
          <a:xfrm>
            <a:off x="236728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32" name="S132"/>
          <p:cNvSpPr/>
          <p:nvPr/>
        </p:nvSpPr>
        <p:spPr>
          <a:xfrm>
            <a:off x="226568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Frontier coding, planning, knowledge work. Handles most tasks well. Default for Pro. Best everyday builder.</a:t>
            </a:r>
          </a:p>
        </p:txBody>
      </p:sp>
      <p:sp>
        <p:nvSpPr>
          <p:cNvPr id="133" name="S133"/>
          <p:cNvSpPr/>
          <p:nvPr/>
        </p:nvSpPr>
        <p:spPr>
          <a:xfrm>
            <a:off x="4292600" y="3403600"/>
            <a:ext cx="1803398" cy="26035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9525">
            <a:solidFill>
              <a:srgbClr val="7C3AED"/>
            </a:solidFill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endParaRPr/>
          </a:p>
        </p:txBody>
      </p:sp>
      <p:sp>
        <p:nvSpPr>
          <p:cNvPr id="134" name="S134"/>
          <p:cNvSpPr/>
          <p:nvPr/>
        </p:nvSpPr>
        <p:spPr>
          <a:xfrm>
            <a:off x="4292600" y="3401060"/>
            <a:ext cx="1803398" cy="584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endParaRPr/>
          </a:p>
        </p:txBody>
      </p:sp>
      <p:sp>
        <p:nvSpPr>
          <p:cNvPr id="135" name="S135"/>
          <p:cNvSpPr/>
          <p:nvPr/>
        </p:nvSpPr>
        <p:spPr>
          <a:xfrm>
            <a:off x="4292600" y="3581400"/>
            <a:ext cx="172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Opus 4.6</a:t>
            </a:r>
          </a:p>
        </p:txBody>
      </p:sp>
      <p:sp>
        <p:nvSpPr>
          <p:cNvPr id="136" name="S136"/>
          <p:cNvSpPr/>
          <p:nvPr/>
        </p:nvSpPr>
        <p:spPr>
          <a:xfrm>
            <a:off x="4292600" y="3860800"/>
            <a:ext cx="1727200" cy="2286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i="1" dirty="0">
                <a:solidFill>
                  <a:srgbClr val="7C3AED"/>
                </a:solidFill>
                <a:latin typeface="Aptos"/>
              </a:rPr>
              <a:t>Principal Architect</a:t>
            </a:r>
          </a:p>
        </p:txBody>
      </p:sp>
      <p:cxnSp>
        <p:nvCxnSpPr>
          <p:cNvPr id="137" name="L137"/>
          <p:cNvCxnSpPr/>
          <p:nvPr/>
        </p:nvCxnSpPr>
        <p:spPr>
          <a:xfrm>
            <a:off x="4394200" y="4140200"/>
            <a:ext cx="1524000" cy="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138" name="S138"/>
          <p:cNvSpPr/>
          <p:nvPr/>
        </p:nvSpPr>
        <p:spPr>
          <a:xfrm>
            <a:off x="4292600" y="4216400"/>
            <a:ext cx="1727200" cy="16637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algn="ctr">
              <a:buNone/>
            </a:pPr>
            <a:r>
              <a:rPr lang="en-US" sz="1100" dirty="0">
                <a:solidFill>
                  <a:srgbClr val="475569"/>
                </a:solidFill>
                <a:latin typeface="Aptos"/>
              </a:rPr>
              <a:t>Strongest reasoning for complex architecture, long-running agentic work, and cross-cutting decisions.</a:t>
            </a:r>
          </a:p>
        </p:txBody>
      </p:sp>
      <p:sp>
        <p:nvSpPr>
          <p:cNvPr id="141" name="S141"/>
          <p:cNvSpPr/>
          <p:nvPr/>
        </p:nvSpPr>
        <p:spPr>
          <a:xfrm>
            <a:off x="6553200" y="9906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TEAM STRUCTURE</a:t>
            </a:r>
          </a:p>
        </p:txBody>
      </p:sp>
      <p:sp>
        <p:nvSpPr>
          <p:cNvPr id="142" name="S142"/>
          <p:cNvSpPr/>
          <p:nvPr/>
        </p:nvSpPr>
        <p:spPr>
          <a:xfrm>
            <a:off x="8077200" y="1219200"/>
            <a:ext cx="2362200" cy="381000"/>
          </a:xfrm>
          <a:prstGeom prst="roundRect">
            <a:avLst>
              <a:gd name="adj" fmla="val 10000"/>
            </a:avLst>
          </a:prstGeom>
          <a:solidFill>
            <a:srgbClr val="1E3A5F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/>
              </a:rPr>
              <a:t>Sr. Eng. Manager (Rahul)</a:t>
            </a:r>
          </a:p>
        </p:txBody>
      </p:sp>
      <p:cxnSp>
        <p:nvCxnSpPr>
          <p:cNvPr id="143" name="L143"/>
          <p:cNvCxnSpPr/>
          <p:nvPr/>
        </p:nvCxnSpPr>
        <p:spPr>
          <a:xfrm>
            <a:off x="9258300" y="1600200"/>
            <a:ext cx="0" cy="1524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4" name="L144"/>
          <p:cNvCxnSpPr/>
          <p:nvPr/>
        </p:nvCxnSpPr>
        <p:spPr>
          <a:xfrm>
            <a:off x="7442200" y="1752600"/>
            <a:ext cx="3632200" cy="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5" name="L145"/>
          <p:cNvCxnSpPr/>
          <p:nvPr/>
        </p:nvCxnSpPr>
        <p:spPr>
          <a:xfrm>
            <a:off x="74422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6" name="L146"/>
          <p:cNvCxnSpPr/>
          <p:nvPr/>
        </p:nvCxnSpPr>
        <p:spPr>
          <a:xfrm>
            <a:off x="92583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cxnSp>
        <p:nvCxnSpPr>
          <p:cNvPr id="147" name="L147"/>
          <p:cNvCxnSpPr/>
          <p:nvPr/>
        </p:nvCxnSpPr>
        <p:spPr>
          <a:xfrm>
            <a:off x="11074400" y="1752600"/>
            <a:ext cx="0" cy="127000"/>
          </a:xfrm>
          <a:prstGeom prst="line">
            <a:avLst/>
          </a:prstGeom>
          <a:ln w="9525">
            <a:solidFill>
              <a:srgbClr val="94A3B8"/>
            </a:solidFill>
          </a:ln>
        </p:spPr>
      </p:cxnSp>
      <p:sp>
        <p:nvSpPr>
          <p:cNvPr id="148" name="S148"/>
          <p:cNvSpPr/>
          <p:nvPr/>
        </p:nvSpPr>
        <p:spPr>
          <a:xfrm>
            <a:off x="66548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Eng. Mgr A (Priya)</a:t>
            </a:r>
          </a:p>
        </p:txBody>
      </p:sp>
      <p:sp>
        <p:nvSpPr>
          <p:cNvPr id="149" name="S149"/>
          <p:cNvSpPr/>
          <p:nvPr/>
        </p:nvSpPr>
        <p:spPr>
          <a:xfrm>
            <a:off x="84709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7C3AED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Architect (Amit)</a:t>
            </a:r>
          </a:p>
        </p:txBody>
      </p:sp>
      <p:sp>
        <p:nvSpPr>
          <p:cNvPr id="150" name="S150"/>
          <p:cNvSpPr/>
          <p:nvPr/>
        </p:nvSpPr>
        <p:spPr>
          <a:xfrm>
            <a:off x="10287000" y="1879600"/>
            <a:ext cx="1574800" cy="330200"/>
          </a:xfrm>
          <a:prstGeom prst="roundRect">
            <a:avLst>
              <a:gd name="adj" fmla="val 10000"/>
            </a:avLst>
          </a:prstGeom>
          <a:solidFill>
            <a:srgbClr val="059669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Eng. Mgr B (Sara)</a:t>
            </a:r>
          </a:p>
        </p:txBody>
      </p:sp>
      <p:cxnSp>
        <p:nvCxnSpPr>
          <p:cNvPr id="151" name="L151"/>
          <p:cNvCxnSpPr/>
          <p:nvPr/>
        </p:nvCxnSpPr>
        <p:spPr>
          <a:xfrm>
            <a:off x="7442200" y="2209800"/>
            <a:ext cx="0" cy="114300"/>
          </a:xfrm>
          <a:prstGeom prst="line">
            <a:avLst/>
          </a:prstGeom>
          <a:ln w="6350">
            <a:solidFill>
              <a:srgbClr val="94A3B8"/>
            </a:solidFill>
          </a:ln>
        </p:spPr>
      </p:cxnSp>
      <p:sp>
        <p:nvSpPr>
          <p:cNvPr id="152" name="S152"/>
          <p:cNvSpPr/>
          <p:nvPr/>
        </p:nvSpPr>
        <p:spPr>
          <a:xfrm>
            <a:off x="6654800" y="2336800"/>
            <a:ext cx="1574800" cy="2286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93C5FD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900" dirty="0">
                <a:solidFill>
                  <a:srgbClr val="1565C0"/>
                </a:solidFill>
                <a:latin typeface="Aptos"/>
              </a:rPr>
              <a:t>5 Engineers</a:t>
            </a:r>
          </a:p>
        </p:txBody>
      </p:sp>
      <p:cxnSp>
        <p:nvCxnSpPr>
          <p:cNvPr id="153" name="L153"/>
          <p:cNvCxnSpPr/>
          <p:nvPr/>
        </p:nvCxnSpPr>
        <p:spPr>
          <a:xfrm>
            <a:off x="11074400" y="2209800"/>
            <a:ext cx="0" cy="114300"/>
          </a:xfrm>
          <a:prstGeom prst="line">
            <a:avLst/>
          </a:prstGeom>
          <a:ln w="6350">
            <a:solidFill>
              <a:srgbClr val="94A3B8"/>
            </a:solidFill>
          </a:ln>
        </p:spPr>
      </p:cxnSp>
      <p:sp>
        <p:nvSpPr>
          <p:cNvPr id="154" name="S154"/>
          <p:cNvSpPr/>
          <p:nvPr/>
        </p:nvSpPr>
        <p:spPr>
          <a:xfrm>
            <a:off x="10287000" y="2336800"/>
            <a:ext cx="1574800" cy="22860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6350">
            <a:solidFill>
              <a:srgbClr val="6EE7B7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900" dirty="0">
                <a:solidFill>
                  <a:srgbClr val="059669"/>
                </a:solidFill>
                <a:latin typeface="Aptos"/>
              </a:rPr>
              <a:t>5 Engineers</a:t>
            </a:r>
          </a:p>
        </p:txBody>
      </p:sp>
      <p:sp>
        <p:nvSpPr>
          <p:cNvPr id="155" name="S155"/>
          <p:cNvSpPr/>
          <p:nvPr/>
        </p:nvSpPr>
        <p:spPr>
          <a:xfrm>
            <a:off x="6553200" y="27178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INCOMING TASKS</a:t>
            </a:r>
          </a:p>
        </p:txBody>
      </p:sp>
      <p:sp>
        <p:nvSpPr>
          <p:cNvPr id="156" name="S156"/>
          <p:cNvSpPr/>
          <p:nvPr/>
        </p:nvSpPr>
        <p:spPr>
          <a:xfrm>
            <a:off x="6553200" y="29464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92400E"/>
                </a:solidFill>
                <a:latin typeface="Aptos"/>
              </a:rPr>
              <a:t>📦  Release v2.3 to Production</a:t>
            </a:r>
          </a:p>
          <a:p>
            <a:pPr algn="l">
              <a:buNone/>
            </a:pPr>
            <a:r>
              <a:rPr lang="en-US" sz="800" dirty="0">
                <a:solidFill>
                  <a:srgbClr val="A16207"/>
                </a:solidFill>
                <a:latin typeface="Aptos"/>
              </a:rPr>
              <a:t>Cross-team coordination needed</a:t>
            </a:r>
          </a:p>
        </p:txBody>
      </p:sp>
      <p:sp>
        <p:nvSpPr>
          <p:cNvPr id="157" name="S157"/>
          <p:cNvSpPr/>
          <p:nvPr/>
        </p:nvSpPr>
        <p:spPr>
          <a:xfrm>
            <a:off x="6553200" y="34290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9525">
            <a:solidFill>
              <a:srgbClr val="8B5CF6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5B21B6"/>
                </a:solidFill>
                <a:latin typeface="Aptos"/>
              </a:rPr>
              <a:t>💡  Design Payment Gateway</a:t>
            </a:r>
          </a:p>
          <a:p>
            <a:pPr algn="l">
              <a:buNone/>
            </a:pPr>
            <a:r>
              <a:rPr lang="en-US" sz="800" dirty="0">
                <a:solidFill>
                  <a:srgbClr val="6D28D9"/>
                </a:solidFill>
                <a:latin typeface="Aptos"/>
              </a:rPr>
              <a:t>Architecture &amp; trade-off analysis</a:t>
            </a:r>
          </a:p>
        </p:txBody>
      </p:sp>
      <p:sp>
        <p:nvSpPr>
          <p:cNvPr id="158" name="S158"/>
          <p:cNvSpPr/>
          <p:nvPr/>
        </p:nvSpPr>
        <p:spPr>
          <a:xfrm>
            <a:off x="6553200" y="39116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3B82F6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1E40AF"/>
                </a:solidFill>
                <a:latin typeface="Aptos"/>
              </a:rPr>
              <a:t>⚙️  Migrate to Kubernetes?</a:t>
            </a:r>
          </a:p>
          <a:p>
            <a:pPr algn="l">
              <a:buNone/>
            </a:pPr>
            <a:r>
              <a:rPr lang="en-US" sz="800" dirty="0">
                <a:solidFill>
                  <a:srgbClr val="1D4ED8"/>
                </a:solidFill>
                <a:latin typeface="Aptos"/>
              </a:rPr>
              <a:t>Evaluate effort, risk, timeline</a:t>
            </a:r>
          </a:p>
        </p:txBody>
      </p:sp>
      <p:sp>
        <p:nvSpPr>
          <p:cNvPr id="159" name="S159"/>
          <p:cNvSpPr/>
          <p:nvPr/>
        </p:nvSpPr>
        <p:spPr>
          <a:xfrm>
            <a:off x="6553200" y="4394200"/>
            <a:ext cx="2540000" cy="4445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9525">
            <a:solidFill>
              <a:srgbClr val="22C55E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166534"/>
                </a:solidFill>
                <a:latin typeface="Aptos"/>
              </a:rPr>
              <a:t>📋  JIRA-1234: Fix login bug</a:t>
            </a:r>
          </a:p>
          <a:p>
            <a:pPr algn="l">
              <a:buNone/>
            </a:pPr>
            <a:r>
              <a:rPr lang="en-US" sz="800" dirty="0">
                <a:solidFill>
                  <a:srgbClr val="15803D"/>
                </a:solidFill>
                <a:latin typeface="Aptos"/>
              </a:rPr>
              <a:t>Standard story / bug fix</a:t>
            </a:r>
          </a:p>
        </p:txBody>
      </p:sp>
      <p:sp>
        <p:nvSpPr>
          <p:cNvPr id="160" name="S160"/>
          <p:cNvSpPr/>
          <p:nvPr/>
        </p:nvSpPr>
        <p:spPr>
          <a:xfrm>
            <a:off x="9271000" y="2717800"/>
            <a:ext cx="2794000" cy="2032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SR. MANAGER DECIDES:</a:t>
            </a:r>
          </a:p>
        </p:txBody>
      </p:sp>
      <p:cxnSp>
        <p:nvCxnSpPr>
          <p:cNvPr id="161" name="L161"/>
          <p:cNvCxnSpPr/>
          <p:nvPr/>
        </p:nvCxnSpPr>
        <p:spPr>
          <a:xfrm>
            <a:off x="9398000" y="2946400"/>
            <a:ext cx="0" cy="2006600"/>
          </a:xfrm>
          <a:prstGeom prst="line">
            <a:avLst/>
          </a:prstGeom>
          <a:ln w="6350">
            <a:solidFill>
              <a:srgbClr val="CBD5E1"/>
            </a:solidFill>
            <a:prstDash val="dash"/>
          </a:ln>
        </p:spPr>
      </p:cxnSp>
      <p:sp>
        <p:nvSpPr>
          <p:cNvPr id="162" name="S162"/>
          <p:cNvSpPr/>
          <p:nvPr/>
        </p:nvSpPr>
        <p:spPr>
          <a:xfrm>
            <a:off x="9626599" y="2946400"/>
            <a:ext cx="2006593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92400E"/>
                </a:solidFill>
                <a:latin typeface="Aptos"/>
              </a:rPr>
              <a:t>▶ Delivery task?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Manager leads the release</a:t>
            </a:r>
          </a:p>
        </p:txBody>
      </p:sp>
      <p:sp>
        <p:nvSpPr>
          <p:cNvPr id="163" name="S163"/>
          <p:cNvSpPr/>
          <p:nvPr/>
        </p:nvSpPr>
        <p:spPr>
          <a:xfrm>
            <a:off x="9626600" y="3429000"/>
            <a:ext cx="2006598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7C3AED"/>
                </a:solidFill>
                <a:latin typeface="Aptos"/>
              </a:rPr>
              <a:t>▶ Architecture / Design?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Route to the Architect</a:t>
            </a:r>
          </a:p>
        </p:txBody>
      </p:sp>
      <p:sp>
        <p:nvSpPr>
          <p:cNvPr id="164" name="S164"/>
          <p:cNvSpPr/>
          <p:nvPr/>
        </p:nvSpPr>
        <p:spPr>
          <a:xfrm>
            <a:off x="9626600" y="3911600"/>
            <a:ext cx="2006587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1565C0"/>
                </a:solidFill>
                <a:latin typeface="Aptos"/>
              </a:rPr>
              <a:t>▶ Tech stack decision?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SM decides + Architect input</a:t>
            </a:r>
          </a:p>
        </p:txBody>
      </p:sp>
      <p:sp>
        <p:nvSpPr>
          <p:cNvPr id="165" name="S165"/>
          <p:cNvSpPr/>
          <p:nvPr/>
        </p:nvSpPr>
        <p:spPr>
          <a:xfrm>
            <a:off x="9626599" y="4394200"/>
            <a:ext cx="2006569" cy="444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50" b="1" dirty="0">
                <a:solidFill>
                  <a:srgbClr val="059669"/>
                </a:solidFill>
                <a:latin typeface="Aptos"/>
              </a:rPr>
              <a:t>▶ Story / Bug?</a:t>
            </a:r>
          </a:p>
          <a:p>
            <a:pPr algn="l">
              <a:buNone/>
            </a:pPr>
            <a:r>
              <a:rPr lang="en-US" sz="900" dirty="0">
                <a:solidFill>
                  <a:srgbClr val="64748B"/>
                </a:solidFill>
                <a:latin typeface="Aptos"/>
              </a:rPr>
              <a:t>  Managers delegate to Engineers</a:t>
            </a:r>
          </a:p>
        </p:txBody>
      </p:sp>
      <p:cxnSp>
        <p:nvCxnSpPr>
          <p:cNvPr id="166" name="L166"/>
          <p:cNvCxnSpPr/>
          <p:nvPr/>
        </p:nvCxnSpPr>
        <p:spPr>
          <a:xfrm>
            <a:off x="9093200" y="31115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67" name="S167"/>
          <p:cNvSpPr/>
          <p:nvPr/>
        </p:nvSpPr>
        <p:spPr>
          <a:xfrm rot="5400000">
            <a:off x="9499600" y="307340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68" name="L168"/>
          <p:cNvCxnSpPr/>
          <p:nvPr/>
        </p:nvCxnSpPr>
        <p:spPr>
          <a:xfrm>
            <a:off x="9093200" y="35941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69" name="S169"/>
          <p:cNvSpPr/>
          <p:nvPr/>
        </p:nvSpPr>
        <p:spPr>
          <a:xfrm rot="5400000">
            <a:off x="9499600" y="356616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70" name="L170"/>
          <p:cNvCxnSpPr/>
          <p:nvPr/>
        </p:nvCxnSpPr>
        <p:spPr>
          <a:xfrm>
            <a:off x="9093200" y="40767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71" name="S171"/>
          <p:cNvSpPr/>
          <p:nvPr/>
        </p:nvSpPr>
        <p:spPr>
          <a:xfrm rot="19701525">
            <a:off x="9499600" y="402844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cxnSp>
        <p:nvCxnSpPr>
          <p:cNvPr id="172" name="L172"/>
          <p:cNvCxnSpPr/>
          <p:nvPr/>
        </p:nvCxnSpPr>
        <p:spPr>
          <a:xfrm>
            <a:off x="9093200" y="4559300"/>
            <a:ext cx="457200" cy="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173" name="S173"/>
          <p:cNvSpPr/>
          <p:nvPr/>
        </p:nvSpPr>
        <p:spPr>
          <a:xfrm rot="5400000">
            <a:off x="9499600" y="4531360"/>
            <a:ext cx="76200" cy="76200"/>
          </a:xfrm>
          <a:prstGeom prst="triangle">
            <a:avLst/>
          </a:prstGeom>
          <a:solidFill>
            <a:srgbClr val="CBD5E1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endParaRPr/>
          </a:p>
        </p:txBody>
      </p:sp>
      <p:sp>
        <p:nvSpPr>
          <p:cNvPr id="174" name="S174"/>
          <p:cNvSpPr/>
          <p:nvPr/>
        </p:nvSpPr>
        <p:spPr>
          <a:xfrm>
            <a:off x="6553200" y="5003800"/>
            <a:ext cx="5461000" cy="1778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1000" b="1" dirty="0">
                <a:solidFill>
                  <a:srgbClr val="94A3B8"/>
                </a:solidFill>
                <a:latin typeface="Aptos Display"/>
              </a:rPr>
              <a:t>ROLE → MODEL MAPPING</a:t>
            </a:r>
          </a:p>
        </p:txBody>
      </p:sp>
      <p:sp>
        <p:nvSpPr>
          <p:cNvPr id="175" name="S175"/>
          <p:cNvSpPr/>
          <p:nvPr/>
        </p:nvSpPr>
        <p:spPr>
          <a:xfrm>
            <a:off x="6553200" y="52070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1565C0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1565C0"/>
                </a:solidFill>
                <a:latin typeface="Aptos"/>
              </a:rPr>
              <a:t>Eng. Managers  =  Sonnet 4.6  (Default, everyday coding)</a:t>
            </a:r>
          </a:p>
        </p:txBody>
      </p:sp>
      <p:sp>
        <p:nvSpPr>
          <p:cNvPr id="176" name="S176"/>
          <p:cNvSpPr/>
          <p:nvPr/>
        </p:nvSpPr>
        <p:spPr>
          <a:xfrm>
            <a:off x="6553200" y="55372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6350">
            <a:solidFill>
              <a:srgbClr val="7C3AED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7C3AED"/>
                </a:solidFill>
                <a:latin typeface="Aptos"/>
              </a:rPr>
              <a:t>Architect  =  Opus 4.6  (Complex design &amp; architecture)</a:t>
            </a:r>
          </a:p>
        </p:txBody>
      </p:sp>
      <p:sp>
        <p:nvSpPr>
          <p:cNvPr id="177" name="S177"/>
          <p:cNvSpPr/>
          <p:nvPr/>
        </p:nvSpPr>
        <p:spPr>
          <a:xfrm>
            <a:off x="6553200" y="5867400"/>
            <a:ext cx="5461000" cy="2794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6350">
            <a:solidFill>
              <a:srgbClr val="0EA5E9"/>
            </a:solidFill>
          </a:ln>
        </p:spPr>
        <p:txBody>
          <a:bodyPr wrap="square" lIns="36000" tIns="18000" rIns="36000" bIns="18000" anchor="ctr"/>
          <a:lstStyle/>
          <a:p>
            <a:pPr algn="l">
              <a:buNone/>
            </a:pPr>
            <a:r>
              <a:rPr lang="en-US" sz="900" dirty="0">
                <a:solidFill>
                  <a:srgbClr val="0EA5E9"/>
                </a:solidFill>
                <a:latin typeface="Aptos"/>
              </a:rPr>
              <a:t>Engineers  =  Haiku 4.5  (Fast subtasks, parallel work)</a:t>
            </a:r>
          </a:p>
        </p:txBody>
      </p:sp>
      <p:sp>
        <p:nvSpPr>
          <p:cNvPr id="178" name="S178"/>
          <p:cNvSpPr/>
          <p:nvPr/>
        </p:nvSpPr>
        <p:spPr>
          <a:xfrm>
            <a:off x="177800" y="6289040"/>
            <a:ext cx="11836398" cy="25400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6350">
            <a:solidFill>
              <a:srgbClr val="93C5FD"/>
            </a:solidFill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en-US" sz="1050" b="1" dirty="0">
                <a:solidFill>
                  <a:srgbClr val="1E40AF"/>
                </a:solidFill>
                <a:latin typeface="Aptos Display"/>
              </a:rPr>
              <a:t>Operating rule:  </a:t>
            </a:r>
            <a:r>
              <a:rPr lang="en-US" sz="1050" dirty="0">
                <a:solidFill>
                  <a:srgbClr val="1E40AF"/>
                </a:solidFill>
                <a:latin typeface="Aptos"/>
              </a:rPr>
              <a:t>Sonnet by default → Opus for architecture → Haiku for speed &amp; parallel subtasks.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CFBD22-D1A3-61AE-D3E2-A824D70F16CD}"/>
              </a:ext>
            </a:extLst>
          </p:cNvPr>
          <p:cNvGrpSpPr/>
          <p:nvPr/>
        </p:nvGrpSpPr>
        <p:grpSpPr>
          <a:xfrm>
            <a:off x="6223000" y="965200"/>
            <a:ext cx="152400" cy="5232400"/>
            <a:chOff x="6223000" y="965200"/>
            <a:chExt cx="152400" cy="5232400"/>
          </a:xfrm>
        </p:grpSpPr>
        <p:cxnSp>
          <p:nvCxnSpPr>
            <p:cNvPr id="139" name="L139"/>
            <p:cNvCxnSpPr/>
            <p:nvPr/>
          </p:nvCxnSpPr>
          <p:spPr>
            <a:xfrm>
              <a:off x="6299200" y="990600"/>
              <a:ext cx="0" cy="5105400"/>
            </a:xfrm>
            <a:prstGeom prst="line">
              <a:avLst/>
            </a:prstGeom>
            <a:ln w="25400">
              <a:solidFill>
                <a:srgbClr val="CBD5E1"/>
              </a:solidFill>
            </a:ln>
          </p:spPr>
        </p:cxnSp>
        <p:sp>
          <p:nvSpPr>
            <p:cNvPr id="140" name="S140"/>
            <p:cNvSpPr/>
            <p:nvPr/>
          </p:nvSpPr>
          <p:spPr>
            <a:xfrm>
              <a:off x="6223000" y="965200"/>
              <a:ext cx="152400" cy="152400"/>
            </a:xfrm>
            <a:prstGeom prst="ellipse">
              <a:avLst/>
            </a:prstGeom>
            <a:solidFill>
              <a:srgbClr val="CBD5E1"/>
            </a:solidFill>
            <a:ln>
              <a:noFill/>
            </a:ln>
          </p:spPr>
          <p:txBody>
            <a:bodyPr wrap="square" lIns="36000" tIns="18000" rIns="36000" bIns="18000" anchor="ctr"/>
            <a:lstStyle/>
            <a:p>
              <a:pPr algn="ctr">
                <a:buNone/>
              </a:pPr>
              <a:endParaRPr/>
            </a:p>
          </p:txBody>
        </p:sp>
        <p:sp>
          <p:nvSpPr>
            <p:cNvPr id="2" name="S140">
              <a:extLst>
                <a:ext uri="{FF2B5EF4-FFF2-40B4-BE49-F238E27FC236}">
                  <a16:creationId xmlns:a16="http://schemas.microsoft.com/office/drawing/2014/main" id="{4EE407DE-B74F-9FDA-20B8-130E86A0DB0F}"/>
                </a:ext>
              </a:extLst>
            </p:cNvPr>
            <p:cNvSpPr/>
            <p:nvPr/>
          </p:nvSpPr>
          <p:spPr>
            <a:xfrm>
              <a:off x="6223000" y="6045200"/>
              <a:ext cx="152400" cy="152400"/>
            </a:xfrm>
            <a:prstGeom prst="ellipse">
              <a:avLst/>
            </a:prstGeom>
            <a:solidFill>
              <a:srgbClr val="CBD5E1"/>
            </a:solidFill>
            <a:ln>
              <a:noFill/>
            </a:ln>
          </p:spPr>
          <p:txBody>
            <a:bodyPr wrap="square" lIns="36000" tIns="18000" rIns="36000" bIns="18000" anchor="ctr"/>
            <a:lstStyle/>
            <a:p>
              <a:pPr algn="ctr"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78852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2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Which model for which task?</a:t>
            </a:r>
          </a:p>
        </p:txBody>
      </p:sp>
      <p:sp>
        <p:nvSpPr>
          <p:cNvPr id="201" name="T20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Sonnet by default. Opus for complexity. Haiku for speed.</a:t>
            </a:r>
          </a:p>
        </p:txBody>
      </p:sp>
      <p:cxnSp>
        <p:nvCxnSpPr>
          <p:cNvPr id="202" name="L202"/>
          <p:cNvCxnSpPr/>
          <p:nvPr/>
        </p:nvCxnSpPr>
        <p:spPr>
          <a:xfrm>
            <a:off x="0" y="871555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203" name="S203"/>
          <p:cNvSpPr/>
          <p:nvPr/>
        </p:nvSpPr>
        <p:spPr>
          <a:xfrm>
            <a:off x="3810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04" name="R204"/>
          <p:cNvSpPr/>
          <p:nvPr/>
        </p:nvSpPr>
        <p:spPr>
          <a:xfrm>
            <a:off x="381000" y="1092200"/>
            <a:ext cx="3683000" cy="635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T205"/>
          <p:cNvSpPr/>
          <p:nvPr/>
        </p:nvSpPr>
        <p:spPr>
          <a:xfrm>
            <a:off x="5588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Debugging &amp; Fixing</a:t>
            </a:r>
          </a:p>
        </p:txBody>
      </p:sp>
      <p:cxnSp>
        <p:nvCxnSpPr>
          <p:cNvPr id="206" name="L206"/>
          <p:cNvCxnSpPr/>
          <p:nvPr/>
        </p:nvCxnSpPr>
        <p:spPr>
          <a:xfrm>
            <a:off x="558800" y="1625600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07" name="T207"/>
          <p:cNvSpPr/>
          <p:nvPr/>
        </p:nvSpPr>
        <p:spPr>
          <a:xfrm>
            <a:off x="5588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DEFAULT</a:t>
            </a:r>
          </a:p>
        </p:txBody>
      </p:sp>
      <p:sp>
        <p:nvSpPr>
          <p:cNvPr id="208" name="T208"/>
          <p:cNvSpPr/>
          <p:nvPr/>
        </p:nvSpPr>
        <p:spPr>
          <a:xfrm>
            <a:off x="5588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09" name="T209"/>
          <p:cNvSpPr/>
          <p:nvPr/>
        </p:nvSpPr>
        <p:spPr>
          <a:xfrm>
            <a:off x="5588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ESCALATE TO</a:t>
            </a:r>
          </a:p>
        </p:txBody>
      </p:sp>
      <p:sp>
        <p:nvSpPr>
          <p:cNvPr id="210" name="T210"/>
          <p:cNvSpPr/>
          <p:nvPr/>
        </p:nvSpPr>
        <p:spPr>
          <a:xfrm>
            <a:off x="5588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11" name="T211"/>
          <p:cNvSpPr/>
          <p:nvPr/>
        </p:nvSpPr>
        <p:spPr>
          <a:xfrm>
            <a:off x="5588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Bug is deep, cross-cutting, intermittent, or architecture-related</a:t>
            </a:r>
          </a:p>
        </p:txBody>
      </p:sp>
      <p:sp>
        <p:nvSpPr>
          <p:cNvPr id="212" name="T212"/>
          <p:cNvSpPr/>
          <p:nvPr/>
        </p:nvSpPr>
        <p:spPr>
          <a:xfrm>
            <a:off x="558800" y="3088476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HAIKU 4.5 FOR</a:t>
            </a:r>
          </a:p>
        </p:txBody>
      </p:sp>
      <p:sp>
        <p:nvSpPr>
          <p:cNvPr id="213" name="T213"/>
          <p:cNvSpPr/>
          <p:nvPr/>
        </p:nvSpPr>
        <p:spPr>
          <a:xfrm>
            <a:off x="558800" y="3323632"/>
            <a:ext cx="3327400" cy="2626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Fast triage, log summarization, parallel investigations</a:t>
            </a:r>
          </a:p>
        </p:txBody>
      </p:sp>
      <p:cxnSp>
        <p:nvCxnSpPr>
          <p:cNvPr id="214" name="L214"/>
          <p:cNvCxnSpPr/>
          <p:nvPr/>
        </p:nvCxnSpPr>
        <p:spPr>
          <a:xfrm>
            <a:off x="508000" y="3691653"/>
            <a:ext cx="3327400" cy="0"/>
          </a:xfrm>
          <a:prstGeom prst="straightConnector1">
            <a:avLst/>
          </a:prstGeom>
          <a:ln w="9525">
            <a:solidFill>
              <a:srgbClr val="DC2626"/>
            </a:solidFill>
          </a:ln>
        </p:spPr>
      </p:cxnSp>
      <p:sp>
        <p:nvSpPr>
          <p:cNvPr id="215" name="S215"/>
          <p:cNvSpPr/>
          <p:nvPr/>
        </p:nvSpPr>
        <p:spPr>
          <a:xfrm>
            <a:off x="508000" y="3831353"/>
            <a:ext cx="3429000" cy="180744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6" name="T216"/>
          <p:cNvSpPr/>
          <p:nvPr/>
        </p:nvSpPr>
        <p:spPr>
          <a:xfrm>
            <a:off x="558800" y="389080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C2626"/>
                </a:solidFill>
                <a:latin typeface="Aptos Display"/>
              </a:rPr>
              <a:t>EXAMPLE PROMPT</a:t>
            </a:r>
          </a:p>
        </p:txBody>
      </p:sp>
      <p:sp>
        <p:nvSpPr>
          <p:cNvPr id="217" name="T217"/>
          <p:cNvSpPr/>
          <p:nvPr/>
        </p:nvSpPr>
        <p:spPr>
          <a:xfrm>
            <a:off x="558800" y="4098051"/>
            <a:ext cx="3327400" cy="1473201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Investigate duplicate rows in paginated search results.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Read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api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search.ts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/queries/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pagination.ts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Identify root cause, propose the smallest safe fix, and add a regression test. Do not change the API response shape.</a:t>
            </a:r>
          </a:p>
        </p:txBody>
      </p:sp>
      <p:sp>
        <p:nvSpPr>
          <p:cNvPr id="218" name="S218"/>
          <p:cNvSpPr/>
          <p:nvPr/>
        </p:nvSpPr>
        <p:spPr>
          <a:xfrm>
            <a:off x="42164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19" name="R219"/>
          <p:cNvSpPr/>
          <p:nvPr/>
        </p:nvSpPr>
        <p:spPr>
          <a:xfrm>
            <a:off x="4216400" y="1092200"/>
            <a:ext cx="3683000" cy="63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T220"/>
          <p:cNvSpPr/>
          <p:nvPr/>
        </p:nvSpPr>
        <p:spPr>
          <a:xfrm>
            <a:off x="43942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New Development</a:t>
            </a:r>
          </a:p>
        </p:txBody>
      </p:sp>
      <p:cxnSp>
        <p:nvCxnSpPr>
          <p:cNvPr id="221" name="L221"/>
          <p:cNvCxnSpPr/>
          <p:nvPr/>
        </p:nvCxnSpPr>
        <p:spPr>
          <a:xfrm>
            <a:off x="4394200" y="1625600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22" name="T222"/>
          <p:cNvSpPr/>
          <p:nvPr/>
        </p:nvSpPr>
        <p:spPr>
          <a:xfrm>
            <a:off x="43942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DEFAULT</a:t>
            </a:r>
          </a:p>
        </p:txBody>
      </p:sp>
      <p:sp>
        <p:nvSpPr>
          <p:cNvPr id="223" name="T223"/>
          <p:cNvSpPr/>
          <p:nvPr/>
        </p:nvSpPr>
        <p:spPr>
          <a:xfrm>
            <a:off x="43942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24" name="T224"/>
          <p:cNvSpPr/>
          <p:nvPr/>
        </p:nvSpPr>
        <p:spPr>
          <a:xfrm>
            <a:off x="43942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ESCALATE TO</a:t>
            </a:r>
          </a:p>
        </p:txBody>
      </p:sp>
      <p:sp>
        <p:nvSpPr>
          <p:cNvPr id="225" name="T225"/>
          <p:cNvSpPr/>
          <p:nvPr/>
        </p:nvSpPr>
        <p:spPr>
          <a:xfrm>
            <a:off x="43942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26" name="T226"/>
          <p:cNvSpPr/>
          <p:nvPr/>
        </p:nvSpPr>
        <p:spPr>
          <a:xfrm>
            <a:off x="43942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Feature is ambiguous, multi-step, or requires heavy cross-codebase planning</a:t>
            </a:r>
          </a:p>
        </p:txBody>
      </p:sp>
      <p:sp>
        <p:nvSpPr>
          <p:cNvPr id="227" name="T227"/>
          <p:cNvSpPr/>
          <p:nvPr/>
        </p:nvSpPr>
        <p:spPr>
          <a:xfrm>
            <a:off x="4394200" y="314045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HAIKU 4.5 FOR</a:t>
            </a:r>
          </a:p>
        </p:txBody>
      </p:sp>
      <p:sp>
        <p:nvSpPr>
          <p:cNvPr id="228" name="T228"/>
          <p:cNvSpPr/>
          <p:nvPr/>
        </p:nvSpPr>
        <p:spPr>
          <a:xfrm>
            <a:off x="4394200" y="3332143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Scaffolding, boilerplate, test matrices, parallel subtasks</a:t>
            </a:r>
          </a:p>
        </p:txBody>
      </p:sp>
      <p:cxnSp>
        <p:nvCxnSpPr>
          <p:cNvPr id="229" name="L229"/>
          <p:cNvCxnSpPr/>
          <p:nvPr/>
        </p:nvCxnSpPr>
        <p:spPr>
          <a:xfrm>
            <a:off x="4343400" y="3710354"/>
            <a:ext cx="3327400" cy="0"/>
          </a:xfrm>
          <a:prstGeom prst="straightConnector1">
            <a:avLst/>
          </a:prstGeom>
          <a:ln w="9525">
            <a:solidFill>
              <a:srgbClr val="1565C0"/>
            </a:solidFill>
          </a:ln>
        </p:spPr>
      </p:cxnSp>
      <p:sp>
        <p:nvSpPr>
          <p:cNvPr id="230" name="S230"/>
          <p:cNvSpPr/>
          <p:nvPr/>
        </p:nvSpPr>
        <p:spPr>
          <a:xfrm>
            <a:off x="4343400" y="3845029"/>
            <a:ext cx="3429000" cy="179376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1" name="T231"/>
          <p:cNvSpPr/>
          <p:nvPr/>
        </p:nvSpPr>
        <p:spPr>
          <a:xfrm>
            <a:off x="43942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 Display"/>
              </a:rPr>
              <a:t>EXAMPLE PROMPT</a:t>
            </a:r>
          </a:p>
        </p:txBody>
      </p:sp>
      <p:sp>
        <p:nvSpPr>
          <p:cNvPr id="232" name="T232"/>
          <p:cNvSpPr/>
          <p:nvPr/>
        </p:nvSpPr>
        <p:spPr>
          <a:xfrm>
            <a:off x="4394200" y="4141874"/>
            <a:ext cx="3327400" cy="14293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Add soft delete for projects. Add a deleted at column, update the repository layer to filter soft-deleted records,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preserve the existing response shape, follow the repo pattern in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db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/migrations/, and add 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migration + tests.</a:t>
            </a:r>
          </a:p>
        </p:txBody>
      </p:sp>
      <p:sp>
        <p:nvSpPr>
          <p:cNvPr id="233" name="S233"/>
          <p:cNvSpPr/>
          <p:nvPr/>
        </p:nvSpPr>
        <p:spPr>
          <a:xfrm>
            <a:off x="8051800" y="1092200"/>
            <a:ext cx="3683000" cy="4699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34" name="R234"/>
          <p:cNvSpPr/>
          <p:nvPr/>
        </p:nvSpPr>
        <p:spPr>
          <a:xfrm>
            <a:off x="8051800" y="1092200"/>
            <a:ext cx="3683000" cy="63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5" name="T235"/>
          <p:cNvSpPr/>
          <p:nvPr/>
        </p:nvSpPr>
        <p:spPr>
          <a:xfrm>
            <a:off x="8229600" y="1270000"/>
            <a:ext cx="3327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Design &amp; Architecture</a:t>
            </a:r>
          </a:p>
        </p:txBody>
      </p:sp>
      <p:cxnSp>
        <p:nvCxnSpPr>
          <p:cNvPr id="236" name="L236"/>
          <p:cNvCxnSpPr/>
          <p:nvPr/>
        </p:nvCxnSpPr>
        <p:spPr>
          <a:xfrm>
            <a:off x="8229600" y="1625600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37" name="T237"/>
          <p:cNvSpPr/>
          <p:nvPr/>
        </p:nvSpPr>
        <p:spPr>
          <a:xfrm>
            <a:off x="8229600" y="17272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DEFAULT</a:t>
            </a:r>
          </a:p>
        </p:txBody>
      </p:sp>
      <p:sp>
        <p:nvSpPr>
          <p:cNvPr id="238" name="T238"/>
          <p:cNvSpPr/>
          <p:nvPr/>
        </p:nvSpPr>
        <p:spPr>
          <a:xfrm>
            <a:off x="8229600" y="19304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Sonnet 4.6</a:t>
            </a:r>
          </a:p>
        </p:txBody>
      </p:sp>
      <p:sp>
        <p:nvSpPr>
          <p:cNvPr id="239" name="T239"/>
          <p:cNvSpPr/>
          <p:nvPr/>
        </p:nvSpPr>
        <p:spPr>
          <a:xfrm>
            <a:off x="8229600" y="2260600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ESCALATE TO</a:t>
            </a:r>
          </a:p>
        </p:txBody>
      </p:sp>
      <p:sp>
        <p:nvSpPr>
          <p:cNvPr id="240" name="T240"/>
          <p:cNvSpPr/>
          <p:nvPr/>
        </p:nvSpPr>
        <p:spPr>
          <a:xfrm>
            <a:off x="8229600" y="2463800"/>
            <a:ext cx="3327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1E293B"/>
                </a:solidFill>
                <a:latin typeface="Aptos Display"/>
              </a:rPr>
              <a:t>Opus 4.6</a:t>
            </a:r>
          </a:p>
        </p:txBody>
      </p:sp>
      <p:sp>
        <p:nvSpPr>
          <p:cNvPr id="241" name="T241"/>
          <p:cNvSpPr/>
          <p:nvPr/>
        </p:nvSpPr>
        <p:spPr>
          <a:xfrm>
            <a:off x="8229600" y="2717800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Trade-off analysis, multi-document synthesis, strategic architecture decisions</a:t>
            </a:r>
          </a:p>
        </p:txBody>
      </p:sp>
      <p:sp>
        <p:nvSpPr>
          <p:cNvPr id="242" name="T242"/>
          <p:cNvSpPr/>
          <p:nvPr/>
        </p:nvSpPr>
        <p:spPr>
          <a:xfrm>
            <a:off x="8229600" y="3159229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HAIKU 4.5 FOR</a:t>
            </a:r>
          </a:p>
        </p:txBody>
      </p:sp>
      <p:sp>
        <p:nvSpPr>
          <p:cNvPr id="243" name="T243"/>
          <p:cNvSpPr/>
          <p:nvPr/>
        </p:nvSpPr>
        <p:spPr>
          <a:xfrm>
            <a:off x="8229600" y="3337028"/>
            <a:ext cx="332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Chunking docs, summarizing specs, extracting structured fields</a:t>
            </a:r>
          </a:p>
        </p:txBody>
      </p:sp>
      <p:cxnSp>
        <p:nvCxnSpPr>
          <p:cNvPr id="244" name="L244"/>
          <p:cNvCxnSpPr/>
          <p:nvPr/>
        </p:nvCxnSpPr>
        <p:spPr>
          <a:xfrm>
            <a:off x="8229600" y="3710354"/>
            <a:ext cx="3327400" cy="0"/>
          </a:xfrm>
          <a:prstGeom prst="straightConnector1">
            <a:avLst/>
          </a:prstGeom>
          <a:ln w="9525">
            <a:solidFill>
              <a:srgbClr val="7C3AED"/>
            </a:solidFill>
          </a:ln>
        </p:spPr>
      </p:cxnSp>
      <p:sp>
        <p:nvSpPr>
          <p:cNvPr id="245" name="S245"/>
          <p:cNvSpPr/>
          <p:nvPr/>
        </p:nvSpPr>
        <p:spPr>
          <a:xfrm>
            <a:off x="8128000" y="3845028"/>
            <a:ext cx="3429000" cy="174296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246" name="T246"/>
          <p:cNvSpPr/>
          <p:nvPr/>
        </p:nvSpPr>
        <p:spPr>
          <a:xfrm>
            <a:off x="8229600" y="3937837"/>
            <a:ext cx="33274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 Display"/>
              </a:rPr>
              <a:t>EXAMPLE PROMPT</a:t>
            </a:r>
          </a:p>
        </p:txBody>
      </p:sp>
      <p:sp>
        <p:nvSpPr>
          <p:cNvPr id="247" name="T247"/>
          <p:cNvSpPr/>
          <p:nvPr/>
        </p:nvSpPr>
        <p:spPr>
          <a:xfrm>
            <a:off x="8229600" y="4111728"/>
            <a:ext cx="3327400" cy="14595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Propose 3 workflow editor designs for our approval system.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Map trade-offs (complexity, latency, maintainability),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recommend one, and outline backend implications.</a:t>
            </a:r>
          </a:p>
          <a:p>
            <a:pPr>
              <a:buNone/>
            </a:pPr>
            <a:r>
              <a:rPr lang="en-US" sz="1100" dirty="0">
                <a:solidFill>
                  <a:srgbClr val="475569"/>
                </a:solidFill>
                <a:latin typeface="Consolas"/>
              </a:rPr>
              <a:t>Reference @docs/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requirements.md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 and @</a:t>
            </a:r>
            <a:r>
              <a:rPr lang="en-US" sz="1100" dirty="0" err="1">
                <a:solidFill>
                  <a:srgbClr val="475569"/>
                </a:solidFill>
                <a:latin typeface="Consolas"/>
              </a:rPr>
              <a:t>src</a:t>
            </a:r>
            <a:r>
              <a:rPr lang="en-US" sz="1100" dirty="0">
                <a:solidFill>
                  <a:srgbClr val="475569"/>
                </a:solidFill>
                <a:latin typeface="Consolas"/>
              </a:rPr>
              <a:t>/workflows/.</a:t>
            </a:r>
          </a:p>
        </p:txBody>
      </p:sp>
    </p:spTree>
    <p:extLst>
      <p:ext uri="{BB962C8B-B14F-4D97-AF65-F5344CB8AC3E}">
        <p14:creationId xmlns:p14="http://schemas.microsoft.com/office/powerpoint/2010/main" val="676683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300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Epic decomposition &amp; cheat sheet</a:t>
            </a:r>
          </a:p>
        </p:txBody>
      </p:sp>
      <p:sp>
        <p:nvSpPr>
          <p:cNvPr id="301" name="T301"/>
          <p:cNvSpPr/>
          <p:nvPr/>
        </p:nvSpPr>
        <p:spPr>
          <a:xfrm>
            <a:off x="660400" y="630866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Converting JIRA/Rally epics into stories, plus a quick-reference task-to-model map</a:t>
            </a:r>
          </a:p>
        </p:txBody>
      </p:sp>
      <p:cxnSp>
        <p:nvCxnSpPr>
          <p:cNvPr id="302" name="L302"/>
          <p:cNvCxnSpPr/>
          <p:nvPr/>
        </p:nvCxnSpPr>
        <p:spPr>
          <a:xfrm>
            <a:off x="0" y="888702"/>
            <a:ext cx="12192000" cy="0"/>
          </a:xfrm>
          <a:prstGeom prst="straightConnector1">
            <a:avLst/>
          </a:prstGeom>
          <a:ln w="9525">
            <a:solidFill>
              <a:srgbClr val="3972C1"/>
            </a:solidFill>
          </a:ln>
        </p:spPr>
      </p:cxnSp>
      <p:sp>
        <p:nvSpPr>
          <p:cNvPr id="303" name="T303"/>
          <p:cNvSpPr/>
          <p:nvPr/>
        </p:nvSpPr>
        <p:spPr>
          <a:xfrm>
            <a:off x="381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EPIC DECOMPOSITION</a:t>
            </a:r>
          </a:p>
        </p:txBody>
      </p:sp>
      <p:sp>
        <p:nvSpPr>
          <p:cNvPr id="304" name="S304"/>
          <p:cNvSpPr/>
          <p:nvPr/>
        </p:nvSpPr>
        <p:spPr>
          <a:xfrm>
            <a:off x="381000" y="1269999"/>
            <a:ext cx="5588000" cy="3314709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05" name="R305"/>
          <p:cNvSpPr/>
          <p:nvPr/>
        </p:nvSpPr>
        <p:spPr>
          <a:xfrm>
            <a:off x="381000" y="1270000"/>
            <a:ext cx="5588000" cy="63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T306"/>
          <p:cNvSpPr/>
          <p:nvPr/>
        </p:nvSpPr>
        <p:spPr>
          <a:xfrm>
            <a:off x="558800" y="1447800"/>
            <a:ext cx="520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Best: Opus 4.6  |  Budget default: Sonnet 4.6  |  Pre-process: Haiku 4.5</a:t>
            </a:r>
          </a:p>
        </p:txBody>
      </p:sp>
      <p:sp>
        <p:nvSpPr>
          <p:cNvPr id="307" name="T307"/>
          <p:cNvSpPr/>
          <p:nvPr/>
        </p:nvSpPr>
        <p:spPr>
          <a:xfrm>
            <a:off x="558800" y="1752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THIS TASK REQUIRES</a:t>
            </a:r>
          </a:p>
        </p:txBody>
      </p:sp>
      <p:sp>
        <p:nvSpPr>
          <p:cNvPr id="308" name="C308"/>
          <p:cNvSpPr/>
          <p:nvPr/>
        </p:nvSpPr>
        <p:spPr>
          <a:xfrm>
            <a:off x="609600" y="2032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09" name="T309"/>
          <p:cNvSpPr/>
          <p:nvPr/>
        </p:nvSpPr>
        <p:spPr>
          <a:xfrm>
            <a:off x="762000" y="1981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Reading long documents or ticket threads</a:t>
            </a:r>
          </a:p>
        </p:txBody>
      </p:sp>
      <p:sp>
        <p:nvSpPr>
          <p:cNvPr id="310" name="C310"/>
          <p:cNvSpPr/>
          <p:nvPr/>
        </p:nvSpPr>
        <p:spPr>
          <a:xfrm>
            <a:off x="609600" y="22606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1" name="T311"/>
          <p:cNvSpPr/>
          <p:nvPr/>
        </p:nvSpPr>
        <p:spPr>
          <a:xfrm>
            <a:off x="762000" y="22098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Decomposing ambiguous requirements into stories</a:t>
            </a:r>
          </a:p>
        </p:txBody>
      </p:sp>
      <p:sp>
        <p:nvSpPr>
          <p:cNvPr id="312" name="C312"/>
          <p:cNvSpPr/>
          <p:nvPr/>
        </p:nvSpPr>
        <p:spPr>
          <a:xfrm>
            <a:off x="609600" y="24892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3" name="T313"/>
          <p:cNvSpPr/>
          <p:nvPr/>
        </p:nvSpPr>
        <p:spPr>
          <a:xfrm>
            <a:off x="762000" y="24384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Writing acceptance criteria per story</a:t>
            </a:r>
          </a:p>
        </p:txBody>
      </p:sp>
      <p:sp>
        <p:nvSpPr>
          <p:cNvPr id="314" name="C314"/>
          <p:cNvSpPr/>
          <p:nvPr/>
        </p:nvSpPr>
        <p:spPr>
          <a:xfrm>
            <a:off x="609600" y="27178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5" name="T315"/>
          <p:cNvSpPr/>
          <p:nvPr/>
        </p:nvSpPr>
        <p:spPr>
          <a:xfrm>
            <a:off x="762000" y="26670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Identifying technical risks and stack limitations</a:t>
            </a:r>
          </a:p>
        </p:txBody>
      </p:sp>
      <p:sp>
        <p:nvSpPr>
          <p:cNvPr id="316" name="C316"/>
          <p:cNvSpPr/>
          <p:nvPr/>
        </p:nvSpPr>
        <p:spPr>
          <a:xfrm>
            <a:off x="609600" y="29464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7" name="T317"/>
          <p:cNvSpPr/>
          <p:nvPr/>
        </p:nvSpPr>
        <p:spPr>
          <a:xfrm>
            <a:off x="762000" y="28956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Surfacing alternatives and trade-offs</a:t>
            </a:r>
          </a:p>
        </p:txBody>
      </p:sp>
      <p:sp>
        <p:nvSpPr>
          <p:cNvPr id="318" name="C318"/>
          <p:cNvSpPr/>
          <p:nvPr/>
        </p:nvSpPr>
        <p:spPr>
          <a:xfrm>
            <a:off x="609600" y="3175000"/>
            <a:ext cx="76200" cy="762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319" name="T319"/>
          <p:cNvSpPr/>
          <p:nvPr/>
        </p:nvSpPr>
        <p:spPr>
          <a:xfrm>
            <a:off x="762000" y="3124200"/>
            <a:ext cx="4953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Aptos"/>
              </a:rPr>
              <a:t>Multi-document synthesis and strategic analysis</a:t>
            </a:r>
          </a:p>
        </p:txBody>
      </p:sp>
      <p:cxnSp>
        <p:nvCxnSpPr>
          <p:cNvPr id="320" name="L320"/>
          <p:cNvCxnSpPr/>
          <p:nvPr/>
        </p:nvCxnSpPr>
        <p:spPr>
          <a:xfrm>
            <a:off x="558800" y="3429000"/>
            <a:ext cx="5207000" cy="0"/>
          </a:xfrm>
          <a:prstGeom prst="straightConnector1">
            <a:avLst/>
          </a:prstGeom>
          <a:ln w="9525">
            <a:solidFill>
              <a:srgbClr val="D4622B"/>
            </a:solidFill>
          </a:ln>
        </p:spPr>
      </p:cxnSp>
      <p:sp>
        <p:nvSpPr>
          <p:cNvPr id="321" name="T321"/>
          <p:cNvSpPr/>
          <p:nvPr/>
        </p:nvSpPr>
        <p:spPr>
          <a:xfrm>
            <a:off x="558800" y="3530600"/>
            <a:ext cx="5207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92400E"/>
                </a:solidFill>
                <a:latin typeface="Aptos Display"/>
              </a:rPr>
              <a:t>EXAMPLE PROMPT</a:t>
            </a:r>
          </a:p>
        </p:txBody>
      </p:sp>
      <p:sp>
        <p:nvSpPr>
          <p:cNvPr id="322" name="S322"/>
          <p:cNvSpPr/>
          <p:nvPr/>
        </p:nvSpPr>
        <p:spPr>
          <a:xfrm>
            <a:off x="508000" y="3759199"/>
            <a:ext cx="5334000" cy="71119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t"/>
          <a:lstStyle/>
          <a:p>
            <a:endParaRPr lang="en-US"/>
          </a:p>
        </p:txBody>
      </p:sp>
      <p:sp>
        <p:nvSpPr>
          <p:cNvPr id="323" name="T323"/>
          <p:cNvSpPr/>
          <p:nvPr/>
        </p:nvSpPr>
        <p:spPr>
          <a:xfrm>
            <a:off x="635000" y="3835399"/>
            <a:ext cx="50800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475569"/>
                </a:solidFill>
                <a:latin typeface="Consolas"/>
              </a:rPr>
              <a:t>Read these 3 Rally epics and 12 linked tickets. Convert to user stories with acceptance criteria. Add dependencies, risks, limitations, alternatives, and trade-offs.</a:t>
            </a:r>
          </a:p>
        </p:txBody>
      </p:sp>
      <p:sp>
        <p:nvSpPr>
          <p:cNvPr id="324" name="T324"/>
          <p:cNvSpPr/>
          <p:nvPr/>
        </p:nvSpPr>
        <p:spPr>
          <a:xfrm>
            <a:off x="6350000" y="1041400"/>
            <a:ext cx="3175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TASK-TO-MODEL CHEAT SHEET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0904044-8B34-B0DD-0E4C-87F9745F6351}"/>
              </a:ext>
            </a:extLst>
          </p:cNvPr>
          <p:cNvGrpSpPr/>
          <p:nvPr/>
        </p:nvGrpSpPr>
        <p:grpSpPr>
          <a:xfrm>
            <a:off x="6350000" y="2315829"/>
            <a:ext cx="5461000" cy="435055"/>
            <a:chOff x="6350000" y="2050898"/>
            <a:chExt cx="5461000" cy="435055"/>
          </a:xfrm>
        </p:grpSpPr>
        <p:sp>
          <p:nvSpPr>
            <p:cNvPr id="329" name="S329"/>
            <p:cNvSpPr/>
            <p:nvPr/>
          </p:nvSpPr>
          <p:spPr>
            <a:xfrm>
              <a:off x="6350000" y="2050898"/>
              <a:ext cx="5461000" cy="435055"/>
            </a:xfrm>
            <a:prstGeom prst="roundRect">
              <a:avLst>
                <a:gd name="adj" fmla="val 3000"/>
              </a:avLst>
            </a:prstGeom>
            <a:solidFill>
              <a:srgbClr val="EBF5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0" name="R330"/>
            <p:cNvSpPr/>
            <p:nvPr/>
          </p:nvSpPr>
          <p:spPr>
            <a:xfrm>
              <a:off x="6350000" y="2050898"/>
              <a:ext cx="50800" cy="435054"/>
            </a:xfrm>
            <a:prstGeom prst="rect">
              <a:avLst/>
            </a:prstGeom>
            <a:solidFill>
              <a:srgbClr val="1565C0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T331"/>
            <p:cNvSpPr/>
            <p:nvPr/>
          </p:nvSpPr>
          <p:spPr>
            <a:xfrm>
              <a:off x="6502400" y="208486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Day-to-day coding, refactoring, features</a:t>
              </a:r>
            </a:p>
          </p:txBody>
        </p:sp>
        <p:sp>
          <p:nvSpPr>
            <p:cNvPr id="332" name="S332"/>
            <p:cNvSpPr/>
            <p:nvPr/>
          </p:nvSpPr>
          <p:spPr>
            <a:xfrm>
              <a:off x="10109200" y="2096101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4.6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19222A-A636-C4F8-AFD1-E15D4A8B6B58}"/>
              </a:ext>
            </a:extLst>
          </p:cNvPr>
          <p:cNvGrpSpPr/>
          <p:nvPr/>
        </p:nvGrpSpPr>
        <p:grpSpPr>
          <a:xfrm>
            <a:off x="6350000" y="3002819"/>
            <a:ext cx="5461000" cy="482600"/>
            <a:chOff x="6350000" y="2737000"/>
            <a:chExt cx="5461000" cy="482600"/>
          </a:xfrm>
        </p:grpSpPr>
        <p:sp>
          <p:nvSpPr>
            <p:cNvPr id="333" name="S333"/>
            <p:cNvSpPr/>
            <p:nvPr/>
          </p:nvSpPr>
          <p:spPr>
            <a:xfrm>
              <a:off x="6350000" y="2737000"/>
              <a:ext cx="5461000" cy="482600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4" name="R334"/>
            <p:cNvSpPr/>
            <p:nvPr/>
          </p:nvSpPr>
          <p:spPr>
            <a:xfrm>
              <a:off x="6350000" y="2737000"/>
              <a:ext cx="50800" cy="482600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T335"/>
            <p:cNvSpPr/>
            <p:nvPr/>
          </p:nvSpPr>
          <p:spPr>
            <a:xfrm>
              <a:off x="6527800" y="2775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Complex debugging, cross-cutting issues</a:t>
              </a:r>
            </a:p>
          </p:txBody>
        </p:sp>
        <p:sp>
          <p:nvSpPr>
            <p:cNvPr id="336" name="S336"/>
            <p:cNvSpPr/>
            <p:nvPr/>
          </p:nvSpPr>
          <p:spPr>
            <a:xfrm>
              <a:off x="10109200" y="2809066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Sonnet → Opus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E4B2D15-E623-C76A-A54B-95077F20C2CC}"/>
              </a:ext>
            </a:extLst>
          </p:cNvPr>
          <p:cNvGrpSpPr/>
          <p:nvPr/>
        </p:nvGrpSpPr>
        <p:grpSpPr>
          <a:xfrm>
            <a:off x="6350000" y="3703379"/>
            <a:ext cx="5461000" cy="787098"/>
            <a:chOff x="6350000" y="3660847"/>
            <a:chExt cx="5461000" cy="787098"/>
          </a:xfrm>
        </p:grpSpPr>
        <p:sp>
          <p:nvSpPr>
            <p:cNvPr id="337" name="S337"/>
            <p:cNvSpPr/>
            <p:nvPr/>
          </p:nvSpPr>
          <p:spPr>
            <a:xfrm>
              <a:off x="6350000" y="3660847"/>
              <a:ext cx="5461000" cy="787098"/>
            </a:xfrm>
            <a:prstGeom prst="roundRect">
              <a:avLst>
                <a:gd name="adj" fmla="val 3000"/>
              </a:avLst>
            </a:prstGeom>
            <a:solidFill>
              <a:srgbClr val="F5F3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38" name="R338"/>
            <p:cNvSpPr/>
            <p:nvPr/>
          </p:nvSpPr>
          <p:spPr>
            <a:xfrm>
              <a:off x="6350000" y="3660847"/>
              <a:ext cx="50800" cy="787098"/>
            </a:xfrm>
            <a:prstGeom prst="rect">
              <a:avLst/>
            </a:prstGeom>
            <a:solidFill>
              <a:srgbClr val="7C3AE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T339"/>
            <p:cNvSpPr/>
            <p:nvPr/>
          </p:nvSpPr>
          <p:spPr>
            <a:xfrm>
              <a:off x="6527800" y="36989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Architecture, design trade-off analysis</a:t>
              </a:r>
            </a:p>
          </p:txBody>
        </p:sp>
        <p:sp>
          <p:nvSpPr>
            <p:cNvPr id="340" name="S340"/>
            <p:cNvSpPr/>
            <p:nvPr/>
          </p:nvSpPr>
          <p:spPr>
            <a:xfrm>
              <a:off x="10109200" y="3862719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7C3AED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Opus 4.6</a:t>
              </a:r>
            </a:p>
          </p:txBody>
        </p:sp>
        <p:sp>
          <p:nvSpPr>
            <p:cNvPr id="343" name="T343"/>
            <p:cNvSpPr/>
            <p:nvPr/>
          </p:nvSpPr>
          <p:spPr>
            <a:xfrm>
              <a:off x="6502400" y="4216694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Epic decomposition, story generation</a:t>
              </a:r>
            </a:p>
          </p:txBody>
        </p:sp>
        <p:sp>
          <p:nvSpPr>
            <p:cNvPr id="355" name="T355"/>
            <p:cNvSpPr/>
            <p:nvPr/>
          </p:nvSpPr>
          <p:spPr>
            <a:xfrm>
              <a:off x="6502400" y="3965647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Long-running agentic coding sessions</a:t>
              </a:r>
            </a:p>
          </p:txBody>
        </p:sp>
      </p:grpSp>
      <p:sp>
        <p:nvSpPr>
          <p:cNvPr id="357" name="S357"/>
          <p:cNvSpPr/>
          <p:nvPr/>
        </p:nvSpPr>
        <p:spPr>
          <a:xfrm>
            <a:off x="381000" y="5689600"/>
            <a:ext cx="11430000" cy="371549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0">
            <a:noFill/>
          </a:ln>
          <a:effectLst>
            <a:outerShdw blurRad="25400" dist="12700" dir="5400000" algn="tl" rotWithShape="0">
              <a:srgbClr val="000000">
                <a:alpha val="10000"/>
              </a:srgbClr>
            </a:outerShdw>
          </a:effectLst>
        </p:spPr>
        <p:txBody>
          <a:bodyPr wrap="square" lIns="72000" tIns="54000" rIns="72000" bIns="54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Haiku = Fast Specialist   |   Sonnet = Default Engineer   |   Opus = Principal Architect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642D7D4-3195-C139-34D0-46F4D4C502C4}"/>
              </a:ext>
            </a:extLst>
          </p:cNvPr>
          <p:cNvGrpSpPr/>
          <p:nvPr/>
        </p:nvGrpSpPr>
        <p:grpSpPr>
          <a:xfrm>
            <a:off x="6350000" y="1346193"/>
            <a:ext cx="5461000" cy="717699"/>
            <a:chOff x="6350000" y="1269999"/>
            <a:chExt cx="5461000" cy="717699"/>
          </a:xfrm>
        </p:grpSpPr>
        <p:sp>
          <p:nvSpPr>
            <p:cNvPr id="325" name="S325"/>
            <p:cNvSpPr/>
            <p:nvPr/>
          </p:nvSpPr>
          <p:spPr>
            <a:xfrm>
              <a:off x="6350000" y="1269999"/>
              <a:ext cx="5461000" cy="711199"/>
            </a:xfrm>
            <a:prstGeom prst="roundRect">
              <a:avLst>
                <a:gd name="adj" fmla="val 3000"/>
              </a:avLst>
            </a:prstGeom>
            <a:solidFill>
              <a:srgbClr val="F0F9FF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endParaRPr lang="en-US"/>
            </a:p>
          </p:txBody>
        </p:sp>
        <p:sp>
          <p:nvSpPr>
            <p:cNvPr id="326" name="R326"/>
            <p:cNvSpPr/>
            <p:nvPr/>
          </p:nvSpPr>
          <p:spPr>
            <a:xfrm>
              <a:off x="6350000" y="1270000"/>
              <a:ext cx="50800" cy="711198"/>
            </a:xfrm>
            <a:prstGeom prst="rect">
              <a:avLst/>
            </a:prstGeom>
            <a:solidFill>
              <a:srgbClr val="0EA5E9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T327"/>
            <p:cNvSpPr/>
            <p:nvPr/>
          </p:nvSpPr>
          <p:spPr>
            <a:xfrm>
              <a:off x="6527800" y="1308100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Quick bug triage, logs, small fixes</a:t>
              </a:r>
            </a:p>
          </p:txBody>
        </p:sp>
        <p:sp>
          <p:nvSpPr>
            <p:cNvPr id="328" name="S328"/>
            <p:cNvSpPr/>
            <p:nvPr/>
          </p:nvSpPr>
          <p:spPr>
            <a:xfrm>
              <a:off x="10109200" y="1458433"/>
              <a:ext cx="1524000" cy="3556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 w="0">
              <a:noFill/>
            </a:ln>
            <a:effectLst>
              <a:outerShdw blurRad="25400" dist="12700" dir="5400000" algn="tl" rotWithShape="0">
                <a:srgbClr val="000000">
                  <a:alpha val="10000"/>
                </a:srgbClr>
              </a:outerShdw>
            </a:effectLst>
          </p:spPr>
          <p:txBody>
            <a:bodyPr wrap="square" lIns="72000" tIns="54000" rIns="72000" bIns="54000" anchor="t"/>
            <a:lstStyle/>
            <a:p>
              <a:pPr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Aptos Display"/>
                </a:rPr>
                <a:t>Haiku 4.5</a:t>
              </a:r>
            </a:p>
          </p:txBody>
        </p:sp>
        <p:sp>
          <p:nvSpPr>
            <p:cNvPr id="347" name="T347"/>
            <p:cNvSpPr/>
            <p:nvPr/>
          </p:nvSpPr>
          <p:spPr>
            <a:xfrm>
              <a:off x="6502400" y="1568595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Fast scaffolding, boilerplate, test gen</a:t>
              </a:r>
            </a:p>
          </p:txBody>
        </p:sp>
        <p:sp>
          <p:nvSpPr>
            <p:cNvPr id="2" name="T351">
              <a:extLst>
                <a:ext uri="{FF2B5EF4-FFF2-40B4-BE49-F238E27FC236}">
                  <a16:creationId xmlns:a16="http://schemas.microsoft.com/office/drawing/2014/main" id="{5111F681-F1F1-39AD-6F7E-867EBFF1C935}"/>
                </a:ext>
              </a:extLst>
            </p:cNvPr>
            <p:cNvSpPr/>
            <p:nvPr/>
          </p:nvSpPr>
          <p:spPr>
            <a:xfrm>
              <a:off x="6502400" y="1784498"/>
              <a:ext cx="3505200" cy="2032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>
                <a:buNone/>
              </a:pPr>
              <a:r>
                <a:rPr lang="en-US" sz="1100" dirty="0">
                  <a:solidFill>
                    <a:srgbClr val="1E293B"/>
                  </a:solidFill>
                  <a:latin typeface="Aptos"/>
                </a:rPr>
                <a:t>Parallel subagent investigations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2639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CEAFEB3D-682B-FC90-937A-0D137F33A6C8}"/>
              </a:ext>
            </a:extLst>
          </p:cNvPr>
          <p:cNvGrpSpPr/>
          <p:nvPr/>
        </p:nvGrpSpPr>
        <p:grpSpPr>
          <a:xfrm>
            <a:off x="510764" y="1024201"/>
            <a:ext cx="10831496" cy="5363565"/>
            <a:chOff x="523141" y="968227"/>
            <a:chExt cx="10831496" cy="5531548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9F42A89-10F9-44D1-A609-837DCE3D9166}"/>
                </a:ext>
              </a:extLst>
            </p:cNvPr>
            <p:cNvGrpSpPr/>
            <p:nvPr/>
          </p:nvGrpSpPr>
          <p:grpSpPr>
            <a:xfrm>
              <a:off x="523141" y="968227"/>
              <a:ext cx="10831496" cy="5531548"/>
              <a:chOff x="300623" y="980102"/>
              <a:chExt cx="10831496" cy="5531548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9CEA9C85-51BA-4FC0-9933-806E99BCFBD5}"/>
                  </a:ext>
                </a:extLst>
              </p:cNvPr>
              <p:cNvGrpSpPr/>
              <p:nvPr/>
            </p:nvGrpSpPr>
            <p:grpSpPr>
              <a:xfrm>
                <a:off x="308340" y="980102"/>
                <a:ext cx="10823779" cy="4689868"/>
                <a:chOff x="291359" y="881386"/>
                <a:chExt cx="11289585" cy="4891699"/>
              </a:xfrm>
            </p:grpSpPr>
            <p:sp>
              <p:nvSpPr>
                <p:cNvPr id="7" name="Isosceles Triangle 6">
                  <a:extLst>
                    <a:ext uri="{FF2B5EF4-FFF2-40B4-BE49-F238E27FC236}">
                      <a16:creationId xmlns:a16="http://schemas.microsoft.com/office/drawing/2014/main" id="{C5470C5E-FEB3-4921-87C5-1A7310F36F46}"/>
                    </a:ext>
                  </a:extLst>
                </p:cNvPr>
                <p:cNvSpPr/>
                <p:nvPr/>
              </p:nvSpPr>
              <p:spPr>
                <a:xfrm>
                  <a:off x="291359" y="881386"/>
                  <a:ext cx="11289584" cy="1364575"/>
                </a:xfrm>
                <a:prstGeom prst="triangle">
                  <a:avLst>
                    <a:gd name="adj" fmla="val 50289"/>
                  </a:avLst>
                </a:prstGeom>
                <a:solidFill>
                  <a:schemeClr val="bg1">
                    <a:lumMod val="85000"/>
                  </a:schemeClr>
                </a:solidFill>
                <a:ln w="762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B61DB1FB-E9FF-4984-95C2-59825E97BFF9}"/>
                    </a:ext>
                  </a:extLst>
                </p:cNvPr>
                <p:cNvSpPr/>
                <p:nvPr/>
              </p:nvSpPr>
              <p:spPr>
                <a:xfrm>
                  <a:off x="291360" y="2303292"/>
                  <a:ext cx="11289584" cy="306687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3BDB9D0-FAC8-4652-A9F8-58D75224EB78}"/>
                    </a:ext>
                  </a:extLst>
                </p:cNvPr>
                <p:cNvGrpSpPr/>
                <p:nvPr/>
              </p:nvGrpSpPr>
              <p:grpSpPr>
                <a:xfrm>
                  <a:off x="434860" y="2653717"/>
                  <a:ext cx="1637238" cy="2612167"/>
                  <a:chOff x="92246" y="2660073"/>
                  <a:chExt cx="1646108" cy="2626318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79747934-5CE5-4926-88FF-2D660A9636E0}"/>
                      </a:ext>
                    </a:extLst>
                  </p:cNvPr>
                  <p:cNvGrpSpPr/>
                  <p:nvPr/>
                </p:nvGrpSpPr>
                <p:grpSpPr>
                  <a:xfrm>
                    <a:off x="92246" y="2660073"/>
                    <a:ext cx="1646108" cy="2626318"/>
                    <a:chOff x="121900" y="3032271"/>
                    <a:chExt cx="2310291" cy="2846889"/>
                  </a:xfrm>
                </p:grpSpPr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85ECE798-698C-4C0B-8661-7076ADFE30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7736" y="3458913"/>
                      <a:ext cx="1658617" cy="2054431"/>
                    </a:xfrm>
                    <a:prstGeom prst="rect">
                      <a:avLst/>
                    </a:prstGeom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dirty="0"/>
                    </a:p>
                  </p:txBody>
                </p:sp>
                <p:sp>
                  <p:nvSpPr>
                    <p:cNvPr id="9" name="Trapezoid 8">
                      <a:extLst>
                        <a:ext uri="{FF2B5EF4-FFF2-40B4-BE49-F238E27FC236}">
                          <a16:creationId xmlns:a16="http://schemas.microsoft.com/office/drawing/2014/main" id="{938B9715-3F5A-4DC8-A365-A70941EB1103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121900" y="3032271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0" name="Trapezoid 9">
                      <a:extLst>
                        <a:ext uri="{FF2B5EF4-FFF2-40B4-BE49-F238E27FC236}">
                          <a16:creationId xmlns:a16="http://schemas.microsoft.com/office/drawing/2014/main" id="{BEAD024A-0104-4B70-9A15-81BD029A3DF0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121900" y="5474624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1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AEDCA492-302F-488D-A5A3-6F3E2E5B4454}"/>
                      </a:ext>
                    </a:extLst>
                  </p:cNvPr>
                  <p:cNvSpPr/>
                  <p:nvPr/>
                </p:nvSpPr>
                <p:spPr>
                  <a:xfrm>
                    <a:off x="472906" y="345871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65E16074-5E05-42D8-B0CD-6372B0C019B7}"/>
                    </a:ext>
                  </a:extLst>
                </p:cNvPr>
                <p:cNvSpPr/>
                <p:nvPr/>
              </p:nvSpPr>
              <p:spPr>
                <a:xfrm>
                  <a:off x="291360" y="5355404"/>
                  <a:ext cx="11289583" cy="198701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BB1CF5AD-0FEC-4B41-B9C9-BEBD3D9A184E}"/>
                    </a:ext>
                  </a:extLst>
                </p:cNvPr>
                <p:cNvSpPr/>
                <p:nvPr/>
              </p:nvSpPr>
              <p:spPr>
                <a:xfrm>
                  <a:off x="291360" y="5574384"/>
                  <a:ext cx="11289584" cy="198701"/>
                </a:xfrm>
                <a:prstGeom prst="rect">
                  <a:avLst/>
                </a:prstGeom>
                <a:solidFill>
                  <a:schemeClr val="bg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560BD02-5CAB-4908-8D76-ED75C61A2E26}"/>
                    </a:ext>
                  </a:extLst>
                </p:cNvPr>
                <p:cNvGrpSpPr/>
                <p:nvPr/>
              </p:nvGrpSpPr>
              <p:grpSpPr>
                <a:xfrm>
                  <a:off x="2181684" y="2653717"/>
                  <a:ext cx="1637239" cy="2612167"/>
                  <a:chOff x="-192268" y="2660073"/>
                  <a:chExt cx="1646109" cy="2626318"/>
                </a:xfrm>
              </p:grpSpPr>
              <p:grpSp>
                <p:nvGrpSpPr>
                  <p:cNvPr id="23" name="Group 22">
                    <a:extLst>
                      <a:ext uri="{FF2B5EF4-FFF2-40B4-BE49-F238E27FC236}">
                        <a16:creationId xmlns:a16="http://schemas.microsoft.com/office/drawing/2014/main" id="{DC84A0B8-91BE-4936-A42B-1A9F09337E15}"/>
                      </a:ext>
                    </a:extLst>
                  </p:cNvPr>
                  <p:cNvGrpSpPr/>
                  <p:nvPr/>
                </p:nvGrpSpPr>
                <p:grpSpPr>
                  <a:xfrm>
                    <a:off x="-192268" y="2660073"/>
                    <a:ext cx="1646109" cy="2626318"/>
                    <a:chOff x="-277415" y="3032271"/>
                    <a:chExt cx="2310297" cy="2846889"/>
                  </a:xfrm>
                </p:grpSpPr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C161E3FA-57D9-453F-986D-A41F4093A0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27" y="3429000"/>
                      <a:ext cx="1658621" cy="2054431"/>
                    </a:xfrm>
                    <a:prstGeom prst="rect">
                      <a:avLst/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6" name="Trapezoid 25">
                      <a:extLst>
                        <a:ext uri="{FF2B5EF4-FFF2-40B4-BE49-F238E27FC236}">
                          <a16:creationId xmlns:a16="http://schemas.microsoft.com/office/drawing/2014/main" id="{25F4B071-274C-4AE6-888E-C80C9D3A821E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277408" y="3032271"/>
                      <a:ext cx="2310290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7" name="Trapezoid 26">
                      <a:extLst>
                        <a:ext uri="{FF2B5EF4-FFF2-40B4-BE49-F238E27FC236}">
                          <a16:creationId xmlns:a16="http://schemas.microsoft.com/office/drawing/2014/main" id="{586942EE-AE78-4117-A7A6-FF60B8C158CE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277415" y="5474624"/>
                      <a:ext cx="2310293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2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007656AA-BA0D-43D2-AF61-023AA0A6AABD}"/>
                      </a:ext>
                    </a:extLst>
                  </p:cNvPr>
                  <p:cNvSpPr/>
                  <p:nvPr/>
                </p:nvSpPr>
                <p:spPr>
                  <a:xfrm>
                    <a:off x="188392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7C04C91C-8868-4C55-BB01-77A9170EBAC4}"/>
                    </a:ext>
                  </a:extLst>
                </p:cNvPr>
                <p:cNvGrpSpPr/>
                <p:nvPr/>
              </p:nvGrpSpPr>
              <p:grpSpPr>
                <a:xfrm>
                  <a:off x="3991397" y="2673999"/>
                  <a:ext cx="1637248" cy="2612167"/>
                  <a:chOff x="-413552" y="2660073"/>
                  <a:chExt cx="1646117" cy="2626318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5CBD5C2D-4D6A-4D71-8DD1-370C97DC306D}"/>
                      </a:ext>
                    </a:extLst>
                  </p:cNvPr>
                  <p:cNvGrpSpPr/>
                  <p:nvPr/>
                </p:nvGrpSpPr>
                <p:grpSpPr>
                  <a:xfrm>
                    <a:off x="-413552" y="2660073"/>
                    <a:ext cx="1646117" cy="2626318"/>
                    <a:chOff x="-587987" y="3032271"/>
                    <a:chExt cx="2310304" cy="2846889"/>
                  </a:xfrm>
                </p:grpSpPr>
                <p:sp>
                  <p:nvSpPr>
                    <p:cNvPr id="31" name="Rectangle 30">
                      <a:extLst>
                        <a:ext uri="{FF2B5EF4-FFF2-40B4-BE49-F238E27FC236}">
                          <a16:creationId xmlns:a16="http://schemas.microsoft.com/office/drawing/2014/main" id="{4C77EAB2-69BF-4373-80BF-E6ABC5ADF0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262155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2" name="Trapezoid 31">
                      <a:extLst>
                        <a:ext uri="{FF2B5EF4-FFF2-40B4-BE49-F238E27FC236}">
                          <a16:creationId xmlns:a16="http://schemas.microsoft.com/office/drawing/2014/main" id="{A3840862-6D1F-48A3-9A45-03C9EAF3825A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587974" y="3032271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3" name="Trapezoid 32">
                      <a:extLst>
                        <a:ext uri="{FF2B5EF4-FFF2-40B4-BE49-F238E27FC236}">
                          <a16:creationId xmlns:a16="http://schemas.microsoft.com/office/drawing/2014/main" id="{C941709B-1620-4E1E-A611-55F2263252E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587987" y="5474624"/>
                      <a:ext cx="2310291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3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0F3C414A-C863-49C5-ABC3-FC451E0C1845}"/>
                      </a:ext>
                    </a:extLst>
                  </p:cNvPr>
                  <p:cNvSpPr/>
                  <p:nvPr/>
                </p:nvSpPr>
                <p:spPr>
                  <a:xfrm>
                    <a:off x="-47709" y="3521969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30447DC-B269-4D41-A400-F6189A8548F7}"/>
                    </a:ext>
                  </a:extLst>
                </p:cNvPr>
                <p:cNvGrpSpPr/>
                <p:nvPr/>
              </p:nvGrpSpPr>
              <p:grpSpPr>
                <a:xfrm>
                  <a:off x="5884942" y="2653717"/>
                  <a:ext cx="1637239" cy="2612167"/>
                  <a:chOff x="-550549" y="2660073"/>
                  <a:chExt cx="1646109" cy="2626318"/>
                </a:xfrm>
              </p:grpSpPr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FD173557-1746-4EA9-ACBF-5CEF113AD846}"/>
                      </a:ext>
                    </a:extLst>
                  </p:cNvPr>
                  <p:cNvGrpSpPr/>
                  <p:nvPr/>
                </p:nvGrpSpPr>
                <p:grpSpPr>
                  <a:xfrm>
                    <a:off x="-550549" y="2660073"/>
                    <a:ext cx="1646109" cy="2626318"/>
                    <a:chOff x="-780246" y="3032271"/>
                    <a:chExt cx="2310295" cy="2846889"/>
                  </a:xfrm>
                </p:grpSpPr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E3BF32E3-59B6-48D9-9796-F88342CF3E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54412" y="3429000"/>
                      <a:ext cx="1658623" cy="2054431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8" name="Trapezoid 37">
                      <a:extLst>
                        <a:ext uri="{FF2B5EF4-FFF2-40B4-BE49-F238E27FC236}">
                          <a16:creationId xmlns:a16="http://schemas.microsoft.com/office/drawing/2014/main" id="{FB70BF17-B2C9-48F1-B5D1-6E2C54357915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780243" y="3032271"/>
                      <a:ext cx="2310292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39" name="Trapezoid 38">
                      <a:extLst>
                        <a:ext uri="{FF2B5EF4-FFF2-40B4-BE49-F238E27FC236}">
                          <a16:creationId xmlns:a16="http://schemas.microsoft.com/office/drawing/2014/main" id="{5FAE7D8E-65A1-4D30-AC64-8BAE231C32A2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780246" y="5474624"/>
                      <a:ext cx="2310289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4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65D3F067-6BCC-4B1E-8D36-B81A4DFDC99D}"/>
                      </a:ext>
                    </a:extLst>
                  </p:cNvPr>
                  <p:cNvSpPr/>
                  <p:nvPr/>
                </p:nvSpPr>
                <p:spPr>
                  <a:xfrm>
                    <a:off x="-184697" y="3521969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177372CA-A638-4510-BDB1-8D42A2F0CEBC}"/>
                    </a:ext>
                  </a:extLst>
                </p:cNvPr>
                <p:cNvGrpSpPr/>
                <p:nvPr/>
              </p:nvGrpSpPr>
              <p:grpSpPr>
                <a:xfrm>
                  <a:off x="7768021" y="2653717"/>
                  <a:ext cx="1637241" cy="2612167"/>
                  <a:chOff x="-698069" y="2660073"/>
                  <a:chExt cx="1646111" cy="2626318"/>
                </a:xfrm>
              </p:grpSpPr>
              <p:grpSp>
                <p:nvGrpSpPr>
                  <p:cNvPr id="41" name="Group 40">
                    <a:extLst>
                      <a:ext uri="{FF2B5EF4-FFF2-40B4-BE49-F238E27FC236}">
                        <a16:creationId xmlns:a16="http://schemas.microsoft.com/office/drawing/2014/main" id="{E812B10A-4D47-48F4-B080-2951B1EA8C92}"/>
                      </a:ext>
                    </a:extLst>
                  </p:cNvPr>
                  <p:cNvGrpSpPr/>
                  <p:nvPr/>
                </p:nvGrpSpPr>
                <p:grpSpPr>
                  <a:xfrm>
                    <a:off x="-698069" y="2660073"/>
                    <a:ext cx="1646111" cy="2626318"/>
                    <a:chOff x="-987294" y="3032271"/>
                    <a:chExt cx="2310297" cy="2846889"/>
                  </a:xfrm>
                </p:grpSpPr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9DC531C2-A19C-4F69-A163-596E6676A3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661452" y="3429000"/>
                      <a:ext cx="1658620" cy="2054431"/>
                    </a:xfrm>
                    <a:prstGeom prst="rect">
                      <a:avLst/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4" name="Trapezoid 43">
                      <a:extLst>
                        <a:ext uri="{FF2B5EF4-FFF2-40B4-BE49-F238E27FC236}">
                          <a16:creationId xmlns:a16="http://schemas.microsoft.com/office/drawing/2014/main" id="{FFC01C50-5699-4406-AB57-481844493A89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-987287" y="3032271"/>
                      <a:ext cx="2310290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45" name="Trapezoid 44">
                      <a:extLst>
                        <a:ext uri="{FF2B5EF4-FFF2-40B4-BE49-F238E27FC236}">
                          <a16:creationId xmlns:a16="http://schemas.microsoft.com/office/drawing/2014/main" id="{AB4E36B1-A5DB-4030-9009-73DA3BFD7138}"/>
                        </a:ext>
                      </a:extLst>
                    </p:cNvPr>
                    <p:cNvSpPr/>
                    <p:nvPr/>
                  </p:nvSpPr>
                  <p:spPr>
                    <a:xfrm rot="10800000" flipV="1">
                      <a:off x="-987294" y="5474624"/>
                      <a:ext cx="2310293" cy="404536"/>
                    </a:xfrm>
                    <a:prstGeom prst="trapezoid">
                      <a:avLst>
                        <a:gd name="adj" fmla="val 62913"/>
                      </a:avLst>
                    </a:prstGeom>
                    <a:solidFill>
                      <a:schemeClr val="accent5"/>
                    </a:solidFill>
                    <a:ln w="381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1C34C599-17F3-4EB5-A15D-FB61B6E45855}"/>
                      </a:ext>
                    </a:extLst>
                  </p:cNvPr>
                  <p:cNvSpPr/>
                  <p:nvPr/>
                </p:nvSpPr>
                <p:spPr>
                  <a:xfrm>
                    <a:off x="-330955" y="3531967"/>
                    <a:ext cx="914400" cy="914400"/>
                  </a:xfrm>
                  <a:prstGeom prst="ellipse">
                    <a:avLst/>
                  </a:prstGeom>
                  <a:noFill/>
                  <a:ln w="5715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C84682-5AED-4164-87A9-C275F7B7EF1B}"/>
                  </a:ext>
                </a:extLst>
              </p:cNvPr>
              <p:cNvSpPr txBox="1"/>
              <p:nvPr/>
            </p:nvSpPr>
            <p:spPr>
              <a:xfrm>
                <a:off x="300623" y="5772986"/>
                <a:ext cx="171498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Context Engineering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Targeted file references and scoped rules.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C4512F2-3A51-4437-AA92-5E71B69CEB43}"/>
                  </a:ext>
                </a:extLst>
              </p:cNvPr>
              <p:cNvSpPr txBox="1"/>
              <p:nvPr/>
            </p:nvSpPr>
            <p:spPr>
              <a:xfrm>
                <a:off x="2081406" y="5772986"/>
                <a:ext cx="1387570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Prompt Design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Goal, scope, constraints, and validation.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7F48FDBC-E6B0-4470-B6C6-84720058CA0E}"/>
                  </a:ext>
                </a:extLst>
              </p:cNvPr>
              <p:cNvSpPr txBox="1"/>
              <p:nvPr/>
            </p:nvSpPr>
            <p:spPr>
              <a:xfrm>
                <a:off x="3688952" y="5777432"/>
                <a:ext cx="1515064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Delegation at Scale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Subagents and parallel workflows.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2C16DAA-57B6-4663-9600-AA7353BB1192}"/>
                  </a:ext>
                </a:extLst>
              </p:cNvPr>
              <p:cNvSpPr txBox="1"/>
              <p:nvPr/>
            </p:nvSpPr>
            <p:spPr>
              <a:xfrm>
                <a:off x="5423992" y="5772987"/>
                <a:ext cx="173902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Connected Workflows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MCP servers, hooks, and managed configs.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C2FA048-3B84-46B7-A341-EBE0DD910D79}"/>
                  </a:ext>
                </a:extLst>
              </p:cNvPr>
              <p:cNvSpPr txBox="1"/>
              <p:nvPr/>
            </p:nvSpPr>
            <p:spPr>
              <a:xfrm>
                <a:off x="7476516" y="5772985"/>
                <a:ext cx="1569686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Trust &amp; Verification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SSO, SCIM, spend controls, Compliance API.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6A756DC-A98B-4B3D-AB2B-DFF29FF3C0F3}"/>
                  </a:ext>
                </a:extLst>
              </p:cNvPr>
              <p:cNvSpPr txBox="1"/>
              <p:nvPr/>
            </p:nvSpPr>
            <p:spPr>
              <a:xfrm>
                <a:off x="3824067" y="1505379"/>
                <a:ext cx="3895107" cy="476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buNone/>
                </a:pPr>
                <a:r>
                  <a:rPr lang="en-US" sz="2400" b="1" dirty="0">
                    <a:solidFill>
                      <a:srgbClr val="1A2332"/>
                    </a:solidFill>
                    <a:latin typeface="Aptos Display"/>
                  </a:rPr>
                  <a:t>Agentic Engineering Pillers</a:t>
                </a: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EA432F8F-2879-616A-2383-3D188D144BF6}"/>
                </a:ext>
              </a:extLst>
            </p:cNvPr>
            <p:cNvGrpSpPr/>
            <p:nvPr/>
          </p:nvGrpSpPr>
          <p:grpSpPr>
            <a:xfrm>
              <a:off x="1286472" y="2688301"/>
              <a:ext cx="9957633" cy="3626808"/>
              <a:chOff x="1286472" y="2688301"/>
              <a:chExt cx="9957633" cy="3626808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348BC61-B9BC-6802-C10C-00DF5E478799}"/>
                  </a:ext>
                </a:extLst>
              </p:cNvPr>
              <p:cNvSpPr/>
              <p:nvPr/>
            </p:nvSpPr>
            <p:spPr>
              <a:xfrm>
                <a:off x="9705709" y="3037301"/>
                <a:ext cx="1126918" cy="180727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rapezoid 2">
                <a:extLst>
                  <a:ext uri="{FF2B5EF4-FFF2-40B4-BE49-F238E27FC236}">
                    <a16:creationId xmlns:a16="http://schemas.microsoft.com/office/drawing/2014/main" id="{4F01D6C5-E1D4-FB05-922E-1003EB3D01FA}"/>
                  </a:ext>
                </a:extLst>
              </p:cNvPr>
              <p:cNvSpPr/>
              <p:nvPr/>
            </p:nvSpPr>
            <p:spPr>
              <a:xfrm rot="10800000">
                <a:off x="9484327" y="2688301"/>
                <a:ext cx="1569684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Trapezoid 3">
                <a:extLst>
                  <a:ext uri="{FF2B5EF4-FFF2-40B4-BE49-F238E27FC236}">
                    <a16:creationId xmlns:a16="http://schemas.microsoft.com/office/drawing/2014/main" id="{80A49A76-2D19-973F-BD35-0CB9C42D7A17}"/>
                  </a:ext>
                </a:extLst>
              </p:cNvPr>
              <p:cNvSpPr/>
              <p:nvPr/>
            </p:nvSpPr>
            <p:spPr>
              <a:xfrm rot="10800000" flipV="1">
                <a:off x="9484322" y="4836823"/>
                <a:ext cx="1569686" cy="355868"/>
              </a:xfrm>
              <a:prstGeom prst="trapezoid">
                <a:avLst>
                  <a:gd name="adj" fmla="val 6291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C0E97FB0-BB12-B3C6-3837-4191F7AE5A81}"/>
                  </a:ext>
                </a:extLst>
              </p:cNvPr>
              <p:cNvSpPr/>
              <p:nvPr/>
            </p:nvSpPr>
            <p:spPr>
              <a:xfrm>
                <a:off x="9884631" y="3519717"/>
                <a:ext cx="871948" cy="871949"/>
              </a:xfrm>
              <a:prstGeom prst="ellipse">
                <a:avLst/>
              </a:prstGeom>
              <a:noFill/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19B03-3C35-1C83-825E-5F3B144A0508}"/>
                  </a:ext>
                </a:extLst>
              </p:cNvPr>
              <p:cNvSpPr txBox="1"/>
              <p:nvPr/>
            </p:nvSpPr>
            <p:spPr>
              <a:xfrm>
                <a:off x="9369009" y="5761111"/>
                <a:ext cx="1875096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sz="1200" b="1" dirty="0">
                    <a:latin typeface="Georgia" panose="02040502050405020303" pitchFamily="18" charset="0"/>
                  </a:rPr>
                  <a:t>Enterprise Governance</a:t>
                </a:r>
              </a:p>
              <a:p>
                <a:pPr algn="ctr">
                  <a:buNone/>
                </a:pPr>
                <a:r>
                  <a:rPr lang="en-US" sz="1200" dirty="0">
                    <a:solidFill>
                      <a:srgbClr val="8899AA"/>
                    </a:solidFill>
                    <a:latin typeface="Aptos"/>
                  </a:rPr>
                  <a:t>SSO, SCIM, spend controls, Compliance API.</a:t>
                </a:r>
              </a:p>
            </p:txBody>
          </p:sp>
          <p:pic>
            <p:nvPicPr>
              <p:cNvPr id="16" name="Graphic 989" descr="Context Engineering">
                <a:extLst>
                  <a:ext uri="{FF2B5EF4-FFF2-40B4-BE49-F238E27FC236}">
                    <a16:creationId xmlns:a16="http://schemas.microsoft.com/office/drawing/2014/main" id="{69529313-D3B5-BB91-62C0-1266254A6E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286472" y="3688579"/>
                <a:ext cx="355600" cy="355600"/>
              </a:xfrm>
              <a:prstGeom prst="rect">
                <a:avLst/>
              </a:prstGeom>
            </p:spPr>
          </p:pic>
          <p:pic>
            <p:nvPicPr>
              <p:cNvPr id="17" name="Graphic 990" descr="Prompt Design">
                <a:extLst>
                  <a:ext uri="{FF2B5EF4-FFF2-40B4-BE49-F238E27FC236}">
                    <a16:creationId xmlns:a16="http://schemas.microsoft.com/office/drawing/2014/main" id="{720DFB95-EEA8-F7B3-304C-7F8FD4F8C5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39152" y="3688585"/>
                <a:ext cx="412984" cy="412984"/>
              </a:xfrm>
              <a:prstGeom prst="rect">
                <a:avLst/>
              </a:prstGeom>
            </p:spPr>
          </p:pic>
          <p:pic>
            <p:nvPicPr>
              <p:cNvPr id="46" name="Graphic 991" descr="Delegation at Scale">
                <a:extLst>
                  <a:ext uri="{FF2B5EF4-FFF2-40B4-BE49-F238E27FC236}">
                    <a16:creationId xmlns:a16="http://schemas.microsoft.com/office/drawing/2014/main" id="{855311A1-8EB8-C8CD-0FF5-1A62EA193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662160" y="3738823"/>
                <a:ext cx="412258" cy="412258"/>
              </a:xfrm>
              <a:prstGeom prst="rect">
                <a:avLst/>
              </a:prstGeom>
            </p:spPr>
          </p:pic>
          <p:pic>
            <p:nvPicPr>
              <p:cNvPr id="56" name="Graphic 992" descr="Connected Workflows">
                <a:extLst>
                  <a:ext uri="{FF2B5EF4-FFF2-40B4-BE49-F238E27FC236}">
                    <a16:creationId xmlns:a16="http://schemas.microsoft.com/office/drawing/2014/main" id="{BB0D6F32-F98B-8653-0CAD-3A28162CF9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6440992" y="3684107"/>
                <a:ext cx="480648" cy="480648"/>
              </a:xfrm>
              <a:prstGeom prst="rect">
                <a:avLst/>
              </a:prstGeom>
            </p:spPr>
          </p:pic>
          <p:pic>
            <p:nvPicPr>
              <p:cNvPr id="65" name="Graphic 993" descr="Trust and Verification">
                <a:extLst>
                  <a:ext uri="{FF2B5EF4-FFF2-40B4-BE49-F238E27FC236}">
                    <a16:creationId xmlns:a16="http://schemas.microsoft.com/office/drawing/2014/main" id="{18FD1A2B-8155-4001-1F69-00FCFC3C1C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268960" y="3698630"/>
                <a:ext cx="442961" cy="442961"/>
              </a:xfrm>
              <a:prstGeom prst="rect">
                <a:avLst/>
              </a:prstGeom>
            </p:spPr>
          </p:pic>
          <p:pic>
            <p:nvPicPr>
              <p:cNvPr id="66" name="Graphic 994" descr="Enterprise Governance">
                <a:extLst>
                  <a:ext uri="{FF2B5EF4-FFF2-40B4-BE49-F238E27FC236}">
                    <a16:creationId xmlns:a16="http://schemas.microsoft.com/office/drawing/2014/main" id="{39E3291E-E14C-7107-79C9-49AE35A2A5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082408" y="3708680"/>
                <a:ext cx="458313" cy="458313"/>
              </a:xfrm>
              <a:prstGeom prst="rect">
                <a:avLst/>
              </a:prstGeom>
            </p:spPr>
          </p:pic>
        </p:grpSp>
      </p:grpSp>
      <p:sp>
        <p:nvSpPr>
          <p:cNvPr id="200" name="Text 0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session covers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pillars for deploying Claude Code effectively across enterprise engineering teams</a:t>
            </a:r>
            <a:endParaRPr lang="en-US" sz="1400" dirty="0">
              <a:solidFill>
                <a:srgbClr val="3972C1"/>
              </a:solidFill>
            </a:endParaRPr>
          </a:p>
        </p:txBody>
      </p:sp>
      <p:cxnSp>
        <p:nvCxnSpPr>
          <p:cNvPr id="202" name="Shape 2"/>
          <p:cNvCxnSpPr/>
          <p:nvPr/>
        </p:nvCxnSpPr>
        <p:spPr>
          <a:xfrm>
            <a:off x="0" y="901700"/>
            <a:ext cx="12192000" cy="0"/>
          </a:xfrm>
          <a:prstGeom prst="line">
            <a:avLst/>
          </a:prstGeom>
          <a:ln w="12700">
            <a:solidFill>
              <a:srgbClr val="3972C1"/>
            </a:solidFill>
          </a:ln>
        </p:spPr>
      </p:cxnSp>
      <p:sp>
        <p:nvSpPr>
          <p:cNvPr id="203" name="Text 31"/>
          <p:cNvSpPr/>
          <p:nvPr/>
        </p:nvSpPr>
        <p:spPr>
          <a:xfrm>
            <a:off x="660400" y="6426200"/>
            <a:ext cx="3835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Session map</a:t>
            </a:r>
          </a:p>
        </p:txBody>
      </p:sp>
      <p:sp>
        <p:nvSpPr>
          <p:cNvPr id="204" name="Text 32"/>
          <p:cNvSpPr/>
          <p:nvPr/>
        </p:nvSpPr>
        <p:spPr>
          <a:xfrm>
            <a:off x="10426700" y="6426200"/>
            <a:ext cx="1092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27984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 Code operating model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Code is an agent with tools, memory, delegation, Agent Teams, and a verification loop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40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700" name="Hero"/>
          <p:cNvSpPr/>
          <p:nvPr/>
        </p:nvSpPr>
        <p:spPr>
          <a:xfrm>
            <a:off x="221064" y="1079500"/>
            <a:ext cx="11793136" cy="622297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5B6ABF"/>
              </a:gs>
              <a:gs pos="100000">
                <a:srgbClr val="3B4A9E"/>
              </a:gs>
            </a:gsLst>
            <a:lin ang="0" scaled="1"/>
          </a:gradFill>
          <a:ln w="0">
            <a:noFill/>
          </a:ln>
        </p:spPr>
        <p:txBody>
          <a:bodyPr wrap="square" lIns="0" tIns="0" rIns="0" bIns="0" anchor="ctr" anchorCtr="1"/>
          <a:lstStyle/>
          <a:p>
            <a:pPr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/>
              </a:rPr>
              <a:t>Claude Code</a:t>
            </a:r>
            <a:r>
              <a:rPr lang="en-US" sz="1400" dirty="0">
                <a:solidFill>
                  <a:srgbClr val="E8EDF5"/>
                </a:solidFill>
                <a:latin typeface="Aptos"/>
              </a:rPr>
              <a:t>   agent with tools, memory, delegation, and verification</a:t>
            </a:r>
          </a:p>
        </p:txBody>
      </p:sp>
      <p:sp>
        <p:nvSpPr>
          <p:cNvPr id="701" name="DownArrow"/>
          <p:cNvSpPr/>
          <p:nvPr/>
        </p:nvSpPr>
        <p:spPr>
          <a:xfrm>
            <a:off x="5969000" y="1701797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15EDF-CC3A-3820-C4FE-2E91DE9F3A28}"/>
              </a:ext>
            </a:extLst>
          </p:cNvPr>
          <p:cNvGrpSpPr/>
          <p:nvPr/>
        </p:nvGrpSpPr>
        <p:grpSpPr>
          <a:xfrm>
            <a:off x="221064" y="2120897"/>
            <a:ext cx="11793136" cy="2095500"/>
            <a:chOff x="221064" y="2057400"/>
            <a:chExt cx="11793136" cy="2095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A424EB0-A961-A98C-963F-B2E5FF8F224B}"/>
                </a:ext>
              </a:extLst>
            </p:cNvPr>
            <p:cNvSpPr/>
            <p:nvPr/>
          </p:nvSpPr>
          <p:spPr>
            <a:xfrm>
              <a:off x="221064" y="2057400"/>
              <a:ext cx="11793136" cy="20955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Pillar0"/>
            <p:cNvSpPr/>
            <p:nvPr/>
          </p:nvSpPr>
          <p:spPr>
            <a:xfrm>
              <a:off x="357691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3B82F6">
                <a:alpha val="20000"/>
              </a:srgbClr>
            </a:solidFill>
            <a:ln w="12700">
              <a:solidFill>
                <a:srgbClr val="3B82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PIcon0"/>
            <p:cNvSpPr/>
            <p:nvPr/>
          </p:nvSpPr>
          <p:spPr>
            <a:xfrm>
              <a:off x="1326662" y="2296668"/>
              <a:ext cx="482600" cy="482600"/>
            </a:xfrm>
            <a:prstGeom prst="ellipse">
              <a:avLst/>
            </a:prstGeom>
            <a:solidFill>
              <a:srgbClr val="3B82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C</a:t>
              </a:r>
            </a:p>
          </p:txBody>
        </p:sp>
        <p:sp>
          <p:nvSpPr>
            <p:cNvPr id="712" name="PTitle0"/>
            <p:cNvSpPr/>
            <p:nvPr/>
          </p:nvSpPr>
          <p:spPr>
            <a:xfrm>
              <a:off x="381000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Context</a:t>
              </a:r>
            </a:p>
          </p:txBody>
        </p:sp>
        <p:sp>
          <p:nvSpPr>
            <p:cNvPr id="713" name="PDesc0"/>
            <p:cNvSpPr/>
            <p:nvPr/>
          </p:nvSpPr>
          <p:spPr>
            <a:xfrm>
              <a:off x="482112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CLAUDE.md, rules, @file refs, /context</a:t>
              </a:r>
            </a:p>
          </p:txBody>
        </p:sp>
        <p:sp>
          <p:nvSpPr>
            <p:cNvPr id="714" name="Arrow0"/>
            <p:cNvSpPr/>
            <p:nvPr/>
          </p:nvSpPr>
          <p:spPr>
            <a:xfrm>
              <a:off x="3000413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Pillar1"/>
            <p:cNvSpPr/>
            <p:nvPr/>
          </p:nvSpPr>
          <p:spPr>
            <a:xfrm>
              <a:off x="340681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10B981">
                <a:alpha val="20000"/>
              </a:srgbClr>
            </a:solidFill>
            <a:ln w="12700">
              <a:solidFill>
                <a:srgbClr val="10B981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PIcon1"/>
            <p:cNvSpPr/>
            <p:nvPr/>
          </p:nvSpPr>
          <p:spPr>
            <a:xfrm>
              <a:off x="4423860" y="2307030"/>
              <a:ext cx="482600" cy="482600"/>
            </a:xfrm>
            <a:prstGeom prst="ellipse">
              <a:avLst/>
            </a:prstGeom>
            <a:solidFill>
              <a:srgbClr val="10B981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T</a:t>
              </a:r>
            </a:p>
          </p:txBody>
        </p:sp>
        <p:sp>
          <p:nvSpPr>
            <p:cNvPr id="722" name="PTitle1"/>
            <p:cNvSpPr/>
            <p:nvPr/>
          </p:nvSpPr>
          <p:spPr>
            <a:xfrm>
              <a:off x="3523204" y="2854917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Tools</a:t>
              </a:r>
            </a:p>
          </p:txBody>
        </p:sp>
        <p:sp>
          <p:nvSpPr>
            <p:cNvPr id="723" name="PDesc1"/>
            <p:cNvSpPr/>
            <p:nvPr/>
          </p:nvSpPr>
          <p:spPr>
            <a:xfrm>
              <a:off x="3574004" y="3188594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read, edit, bash, git, hooks, MCP</a:t>
              </a:r>
            </a:p>
          </p:txBody>
        </p:sp>
        <p:sp>
          <p:nvSpPr>
            <p:cNvPr id="724" name="Arrow1"/>
            <p:cNvSpPr/>
            <p:nvPr/>
          </p:nvSpPr>
          <p:spPr>
            <a:xfrm>
              <a:off x="6049388" y="3050791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Pillar2"/>
            <p:cNvSpPr/>
            <p:nvPr/>
          </p:nvSpPr>
          <p:spPr>
            <a:xfrm>
              <a:off x="6436808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F59E0B">
                <a:alpha val="20000"/>
              </a:srgbClr>
            </a:solidFill>
            <a:ln w="12700">
              <a:solidFill>
                <a:srgbClr val="F59E0B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PIcon2"/>
            <p:cNvSpPr/>
            <p:nvPr/>
          </p:nvSpPr>
          <p:spPr>
            <a:xfrm>
              <a:off x="7443806" y="2296668"/>
              <a:ext cx="482600" cy="482600"/>
            </a:xfrm>
            <a:prstGeom prst="ellipse">
              <a:avLst/>
            </a:prstGeom>
            <a:solidFill>
              <a:srgbClr val="F59E0B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M</a:t>
              </a:r>
            </a:p>
          </p:txBody>
        </p:sp>
        <p:sp>
          <p:nvSpPr>
            <p:cNvPr id="732" name="PTitle2"/>
            <p:cNvSpPr/>
            <p:nvPr/>
          </p:nvSpPr>
          <p:spPr>
            <a:xfrm>
              <a:off x="6502398" y="2863850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Memory</a:t>
              </a:r>
            </a:p>
          </p:txBody>
        </p:sp>
        <p:sp>
          <p:nvSpPr>
            <p:cNvPr id="733" name="PDesc2"/>
            <p:cNvSpPr/>
            <p:nvPr/>
          </p:nvSpPr>
          <p:spPr>
            <a:xfrm>
              <a:off x="6527798" y="3188716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auto memory, timestamps, custom dirs</a:t>
              </a:r>
            </a:p>
          </p:txBody>
        </p:sp>
        <p:sp>
          <p:nvSpPr>
            <p:cNvPr id="734" name="Arrow2"/>
            <p:cNvSpPr/>
            <p:nvPr/>
          </p:nvSpPr>
          <p:spPr>
            <a:xfrm>
              <a:off x="9055100" y="3048000"/>
              <a:ext cx="228600" cy="2540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4A5568">
                <a:alpha val="40000"/>
              </a:srgbClr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Pillar3"/>
            <p:cNvSpPr/>
            <p:nvPr/>
          </p:nvSpPr>
          <p:spPr>
            <a:xfrm>
              <a:off x="9415444" y="2216150"/>
              <a:ext cx="2476500" cy="1778000"/>
            </a:xfrm>
            <a:prstGeom prst="roundRect">
              <a:avLst>
                <a:gd name="adj" fmla="val 8000"/>
              </a:avLst>
            </a:prstGeom>
            <a:solidFill>
              <a:srgbClr val="8B5CF6">
                <a:alpha val="20000"/>
              </a:srgbClr>
            </a:solidFill>
            <a:ln w="12700">
              <a:solidFill>
                <a:srgbClr val="8B5CF6">
                  <a:alpha val="40000"/>
                </a:srgbClr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PIcon3"/>
            <p:cNvSpPr/>
            <p:nvPr/>
          </p:nvSpPr>
          <p:spPr>
            <a:xfrm>
              <a:off x="10412394" y="2296668"/>
              <a:ext cx="482600" cy="482600"/>
            </a:xfrm>
            <a:prstGeom prst="ellipse">
              <a:avLst/>
            </a:prstGeom>
            <a:solidFill>
              <a:srgbClr val="8B5CF6"/>
            </a:solidFill>
            <a:ln w="0">
              <a:noFill/>
            </a:ln>
          </p:spPr>
          <p:txBody>
            <a:bodyPr wrap="none" lIns="0" tIns="0" rIns="0" bIns="0" anchor="ctr" anchorCtr="1"/>
            <a:lstStyle/>
            <a:p>
              <a:pPr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Aptos Display"/>
                </a:rPr>
                <a:t>D</a:t>
              </a:r>
            </a:p>
          </p:txBody>
        </p:sp>
        <p:sp>
          <p:nvSpPr>
            <p:cNvPr id="742" name="PTitle3"/>
            <p:cNvSpPr/>
            <p:nvPr/>
          </p:nvSpPr>
          <p:spPr>
            <a:xfrm>
              <a:off x="9517044" y="2850854"/>
              <a:ext cx="22225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500" b="1" dirty="0">
                  <a:solidFill>
                    <a:srgbClr val="1A2332"/>
                  </a:solidFill>
                  <a:latin typeface="Aptos Display"/>
                </a:rPr>
                <a:t>Delegation</a:t>
              </a:r>
            </a:p>
          </p:txBody>
        </p:sp>
        <p:sp>
          <p:nvSpPr>
            <p:cNvPr id="743" name="PDesc3"/>
            <p:cNvSpPr/>
            <p:nvPr/>
          </p:nvSpPr>
          <p:spPr>
            <a:xfrm>
              <a:off x="9567844" y="3175000"/>
              <a:ext cx="2171700" cy="558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square" lIns="0" tIns="0" rIns="0" bIns="0" anchor="t"/>
            <a:lstStyle/>
            <a:p>
              <a:pPr algn="ctr">
                <a:buNone/>
              </a:pPr>
              <a:r>
                <a:rPr lang="en-US" sz="1200" dirty="0">
                  <a:solidFill>
                    <a:srgbClr val="4A5568"/>
                  </a:solidFill>
                  <a:latin typeface="Aptos"/>
                </a:rPr>
                <a:t>subagents, Agent Teams, worktrees</a:t>
              </a:r>
            </a:p>
          </p:txBody>
        </p:sp>
      </p:grpSp>
      <p:sp>
        <p:nvSpPr>
          <p:cNvPr id="760" name="DownArrow2"/>
          <p:cNvSpPr/>
          <p:nvPr/>
        </p:nvSpPr>
        <p:spPr>
          <a:xfrm>
            <a:off x="5978351" y="4223236"/>
            <a:ext cx="254000" cy="419100"/>
          </a:xfrm>
          <a:prstGeom prst="downArrow">
            <a:avLst/>
          </a:prstGeom>
          <a:solidFill>
            <a:srgbClr val="5B6ABF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70" name="VerBar"/>
          <p:cNvSpPr/>
          <p:nvPr/>
        </p:nvSpPr>
        <p:spPr>
          <a:xfrm>
            <a:off x="221064" y="4642336"/>
            <a:ext cx="11793136" cy="952500"/>
          </a:xfrm>
          <a:prstGeom prst="roundRect">
            <a:avLst>
              <a:gd name="adj" fmla="val 10000"/>
            </a:avLst>
          </a:prstGeom>
          <a:solidFill>
            <a:srgbClr val="5B6ABF">
              <a:alpha val="20000"/>
            </a:srgbClr>
          </a:solidFill>
          <a:ln w="12700">
            <a:solidFill>
              <a:srgbClr val="5B6ABF">
                <a:alpha val="30000"/>
              </a:srgbClr>
            </a:solidFill>
            <a:prstDash val="dash"/>
          </a:ln>
        </p:spPr>
        <p:txBody>
          <a:bodyPr wrap="square" lIns="177800" tIns="101600" rIns="177800" bIns="101600" anchor="ctr"/>
          <a:lstStyle/>
          <a:p>
            <a:pPr algn="ctr">
              <a:buNone/>
            </a:pPr>
            <a:r>
              <a:rPr lang="en-US" sz="1500" b="1" dirty="0">
                <a:solidFill>
                  <a:srgbClr val="3B4A9E"/>
                </a:solidFill>
                <a:latin typeface="Aptos Display"/>
              </a:rPr>
              <a:t>Verification Loop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  <a:latin typeface="Aptos"/>
              </a:rPr>
              <a:t>Main session holds decisions and final changes  |  Offload noisy work (logs, tests, docs) to isolated subagents</a:t>
            </a:r>
          </a:p>
        </p:txBody>
      </p:sp>
      <p:sp>
        <p:nvSpPr>
          <p:cNvPr id="780" name="RuleOfThumb"/>
          <p:cNvSpPr/>
          <p:nvPr/>
        </p:nvSpPr>
        <p:spPr>
          <a:xfrm>
            <a:off x="221064" y="6032500"/>
            <a:ext cx="11793136" cy="330200"/>
          </a:xfrm>
          <a:prstGeom prst="roundRect">
            <a:avLst>
              <a:gd name="adj" fmla="val 12000"/>
            </a:avLst>
          </a:prstGeom>
          <a:solidFill>
            <a:srgbClr val="D4622B">
              <a:alpha val="25000"/>
            </a:srgbClr>
          </a:solidFill>
          <a:ln w="12700">
            <a:solidFill>
              <a:srgbClr val="D4622B">
                <a:alpha val="35000"/>
              </a:srgbClr>
            </a:solidFill>
          </a:ln>
        </p:spPr>
        <p:txBody>
          <a:bodyPr wrap="square" lIns="177800" tIns="76200" rIns="177800" bIns="7620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Rule of thumb   </a:t>
            </a:r>
            <a:r>
              <a:rPr lang="en-US" sz="1400" dirty="0">
                <a:solidFill>
                  <a:srgbClr val="4A5568"/>
                </a:solidFill>
                <a:latin typeface="Aptos"/>
              </a:rPr>
              <a:t>Don't ask Claude to be correct. Ask it to prove correctness with tests and evidence.</a:t>
            </a:r>
          </a:p>
        </p:txBody>
      </p:sp>
    </p:spTree>
    <p:extLst>
      <p:ext uri="{BB962C8B-B14F-4D97-AF65-F5344CB8AC3E}">
        <p14:creationId xmlns:p14="http://schemas.microsoft.com/office/powerpoint/2010/main" val="72534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 engineering: What should load when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context is not automatically better — load only what the task needs, and force specific file paths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 flipV="1">
            <a:off x="0" y="936752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Context engineering</a:t>
            </a:r>
          </a:p>
        </p:txBody>
      </p:sp>
      <p:sp>
        <p:nvSpPr>
          <p:cNvPr id="26" name="Text 24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00" name="BandLabel0"/>
          <p:cNvSpPr/>
          <p:nvPr/>
        </p:nvSpPr>
        <p:spPr>
          <a:xfrm>
            <a:off x="660400" y="10795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3B82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1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Always on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Loads at session start</a:t>
            </a:r>
          </a:p>
        </p:txBody>
      </p:sp>
      <p:sp>
        <p:nvSpPr>
          <p:cNvPr id="801" name="BandContent0"/>
          <p:cNvSpPr/>
          <p:nvPr/>
        </p:nvSpPr>
        <p:spPr>
          <a:xfrm>
            <a:off x="3162300" y="10795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3B82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BandBullets0"/>
          <p:cNvSpPr/>
          <p:nvPr/>
        </p:nvSpPr>
        <p:spPr>
          <a:xfrm>
            <a:off x="3340100" y="11811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Project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Architecture decisions, coding standards, team conventions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User / org CLAUDE.md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Personal or org-wide preferences across all projects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Unscoped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Global rules that fire on every task regardless of path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Auto memory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Timestamped notes saved between sessions</a:t>
            </a:r>
          </a:p>
        </p:txBody>
      </p:sp>
      <p:sp>
        <p:nvSpPr>
          <p:cNvPr id="803" name="BandTip0"/>
          <p:cNvSpPr/>
          <p:nvPr/>
        </p:nvSpPr>
        <p:spPr>
          <a:xfrm>
            <a:off x="8026400" y="22479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3B82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Standards, architecture, commands, review checklist</a:t>
            </a:r>
          </a:p>
        </p:txBody>
      </p:sp>
      <p:sp>
        <p:nvSpPr>
          <p:cNvPr id="810" name="BandLabel1"/>
          <p:cNvSpPr/>
          <p:nvPr/>
        </p:nvSpPr>
        <p:spPr>
          <a:xfrm>
            <a:off x="660400" y="26797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2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On demand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Load only when the task needs them</a:t>
            </a:r>
          </a:p>
        </p:txBody>
      </p:sp>
      <p:sp>
        <p:nvSpPr>
          <p:cNvPr id="811" name="BandContent1"/>
          <p:cNvSpPr/>
          <p:nvPr/>
        </p:nvSpPr>
        <p:spPr>
          <a:xfrm>
            <a:off x="3162300" y="26797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8B5CF6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2" name="BandBullets1"/>
          <p:cNvSpPr/>
          <p:nvPr/>
        </p:nvSpPr>
        <p:spPr>
          <a:xfrm>
            <a:off x="3340100" y="27813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Path-scoped rules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Activate only in specific directories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Skills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Reusable prompt templates loaded dynamically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@ file references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Target specific files instead of scanning the whole project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Subagent prompts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Isolated investigation results without noisy steps</a:t>
            </a:r>
          </a:p>
        </p:txBody>
      </p:sp>
      <p:sp>
        <p:nvSpPr>
          <p:cNvPr id="813" name="BandTip1"/>
          <p:cNvSpPr/>
          <p:nvPr/>
        </p:nvSpPr>
        <p:spPr>
          <a:xfrm>
            <a:off x="8026400" y="38481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8B5CF6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Reference material, workflows, noisy investigations</a:t>
            </a:r>
          </a:p>
        </p:txBody>
      </p:sp>
      <p:sp>
        <p:nvSpPr>
          <p:cNvPr id="820" name="BandLabel2"/>
          <p:cNvSpPr/>
          <p:nvPr/>
        </p:nvSpPr>
        <p:spPr>
          <a:xfrm>
            <a:off x="660400" y="4279900"/>
            <a:ext cx="2349500" cy="1498600"/>
          </a:xfrm>
          <a:prstGeom prst="roundRect">
            <a:avLst>
              <a:gd name="adj" fmla="val 8000"/>
            </a:avLst>
          </a:prstGeom>
          <a:solidFill>
            <a:srgbClr val="D4622B"/>
          </a:solidFill>
          <a:ln w="0">
            <a:noFill/>
          </a:ln>
        </p:spPr>
        <p:txBody>
          <a:bodyPr wrap="square" lIns="152400" tIns="152400" rIns="152400" bIns="152400" anchor="ctr"/>
          <a:lstStyle/>
          <a:p>
            <a:pPr algn="ctr">
              <a:buNone/>
            </a:pPr>
            <a:r>
              <a:rPr lang="en-US" sz="2800" b="1" dirty="0">
                <a:solidFill>
                  <a:srgbClr val="FFFFFF">
                    <a:alpha val="25000"/>
                  </a:srgbClr>
                </a:solidFill>
                <a:latin typeface="Aptos Display"/>
              </a:rPr>
              <a:t>3</a:t>
            </a:r>
          </a:p>
          <a:p>
            <a:pPr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/>
              </a:rPr>
              <a:t>External + automated</a:t>
            </a:r>
          </a:p>
          <a:p>
            <a:pPr algn="ctr">
              <a:buNone/>
            </a:pPr>
            <a:r>
              <a:rPr lang="en-US" sz="1100" dirty="0">
                <a:solidFill>
                  <a:srgbClr val="FFFFFF">
                    <a:alpha val="80000"/>
                  </a:srgbClr>
                </a:solidFill>
                <a:latin typeface="Aptos"/>
              </a:rPr>
              <a:t>Expand reach or enforce process</a:t>
            </a:r>
          </a:p>
        </p:txBody>
      </p:sp>
      <p:sp>
        <p:nvSpPr>
          <p:cNvPr id="821" name="BandContent2"/>
          <p:cNvSpPr/>
          <p:nvPr/>
        </p:nvSpPr>
        <p:spPr>
          <a:xfrm>
            <a:off x="3162300" y="4279900"/>
            <a:ext cx="8547100" cy="1498600"/>
          </a:xfrm>
          <a:prstGeom prst="roundRect">
            <a:avLst>
              <a:gd name="adj" fmla="val 5000"/>
            </a:avLst>
          </a:prstGeom>
          <a:solidFill>
            <a:srgbClr val="D4622B">
              <a:alpha val="12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22" name="BandBullets2"/>
          <p:cNvSpPr/>
          <p:nvPr/>
        </p:nvSpPr>
        <p:spPr>
          <a:xfrm>
            <a:off x="3340100" y="4381500"/>
            <a:ext cx="8191500" cy="1092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MCP servers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Connect to databases, APIs, dashboards via .mcp.json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 scripts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Shell/HTTP hooks for approval gates, logging, CI triggers</a:t>
            </a:r>
          </a:p>
          <a:p>
            <a:pPr marL="171450" indent="-171450">
              <a:spcAft>
                <a:spcPts val="100"/>
              </a:spcAft>
              <a:buFont typeface="Arial"/>
              <a:buChar char="•"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GitHub Actions</a:t>
            </a:r>
            <a:r>
              <a:rPr lang="en-US" sz="1200" dirty="0">
                <a:solidFill>
                  <a:srgbClr val="4A5568"/>
                </a:solidFill>
                <a:latin typeface="Aptos"/>
              </a:rPr>
              <a:t> — Automated code review, PR descriptions, test generation</a:t>
            </a:r>
          </a:p>
        </p:txBody>
      </p:sp>
      <p:sp>
        <p:nvSpPr>
          <p:cNvPr id="823" name="BandTip2"/>
          <p:cNvSpPr/>
          <p:nvPr/>
        </p:nvSpPr>
        <p:spPr>
          <a:xfrm>
            <a:off x="8026400" y="5448300"/>
            <a:ext cx="35560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1000" b="1" dirty="0">
                <a:solidFill>
                  <a:srgbClr val="D4622B"/>
                </a:solidFill>
                <a:latin typeface="Aptos"/>
              </a:rPr>
              <a:t>Best use: </a:t>
            </a:r>
            <a:r>
              <a:rPr lang="en-US" sz="1000" dirty="0">
                <a:solidFill>
                  <a:srgbClr val="4A5568"/>
                </a:solidFill>
                <a:latin typeface="Aptos"/>
              </a:rPr>
              <a:t>Connecting data, automating checks, keeping process reproducible</a:t>
            </a:r>
          </a:p>
        </p:txBody>
      </p:sp>
      <p:sp>
        <p:nvSpPr>
          <p:cNvPr id="850" name="CmdBanner"/>
          <p:cNvSpPr/>
          <p:nvPr/>
        </p:nvSpPr>
        <p:spPr>
          <a:xfrm>
            <a:off x="660400" y="5969000"/>
            <a:ext cx="11049000" cy="355600"/>
          </a:xfrm>
          <a:prstGeom prst="roundRect">
            <a:avLst>
              <a:gd name="adj" fmla="val 25000"/>
            </a:avLst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square" lIns="127000" tIns="0" rIns="127000" bIns="0" anchor="ctr"/>
          <a:lstStyle/>
          <a:p>
            <a:pPr algn="ctr">
              <a:buNone/>
            </a:pPr>
            <a:r>
              <a:rPr lang="en-US" sz="1000" dirty="0">
                <a:solidFill>
                  <a:srgbClr val="2563EB"/>
                </a:solidFill>
                <a:latin typeface="Aptos"/>
              </a:rPr>
              <a:t>/clear resets context  ·  /compact preserves key facts  ·  /context diagnoses bloat  ·  /effort sets reasoning depth</a:t>
            </a:r>
          </a:p>
        </p:txBody>
      </p:sp>
    </p:spTree>
    <p:extLst>
      <p:ext uri="{BB962C8B-B14F-4D97-AF65-F5344CB8AC3E}">
        <p14:creationId xmlns:p14="http://schemas.microsoft.com/office/powerpoint/2010/main" val="2944123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Manage context: avoid limits, force specificity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Claude from scanning the entire project — tell it exactly where to look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001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Avoiding limits</a:t>
            </a:r>
          </a:p>
        </p:txBody>
      </p:sp>
      <p:sp>
        <p:nvSpPr>
          <p:cNvPr id="29" name="Text 27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00" name="GaugeBg"/>
          <p:cNvSpPr/>
          <p:nvPr/>
        </p:nvSpPr>
        <p:spPr>
          <a:xfrm>
            <a:off x="749300" y="1092200"/>
            <a:ext cx="10972800" cy="889000"/>
          </a:xfrm>
          <a:prstGeom prst="roundRect">
            <a:avLst>
              <a:gd name="adj" fmla="val 10000"/>
            </a:avLst>
          </a:prstGeom>
          <a:solidFill>
            <a:srgbClr val="F5F3F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GaugeLabel"/>
          <p:cNvSpPr/>
          <p:nvPr/>
        </p:nvSpPr>
        <p:spPr>
          <a:xfrm>
            <a:off x="939800" y="1193800"/>
            <a:ext cx="190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Context budget</a:t>
            </a:r>
          </a:p>
        </p:txBody>
      </p:sp>
      <p:sp>
        <p:nvSpPr>
          <p:cNvPr id="502" name="Seg_Healthy"/>
          <p:cNvSpPr/>
          <p:nvPr/>
        </p:nvSpPr>
        <p:spPr>
          <a:xfrm>
            <a:off x="939800" y="1498600"/>
            <a:ext cx="6143244" cy="27940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65F46"/>
                </a:solidFill>
                <a:latin typeface="Segoe UI Semibold"/>
              </a:rPr>
              <a:t>Healthy</a:t>
            </a:r>
          </a:p>
        </p:txBody>
      </p:sp>
      <p:sp>
        <p:nvSpPr>
          <p:cNvPr id="503" name="Seg_Watch"/>
          <p:cNvSpPr/>
          <p:nvPr/>
        </p:nvSpPr>
        <p:spPr>
          <a:xfrm>
            <a:off x="7083044" y="1498600"/>
            <a:ext cx="2012442" cy="279400"/>
          </a:xfrm>
          <a:prstGeom prst="roundRect">
            <a:avLst>
              <a:gd name="adj" fmla="val 30000"/>
            </a:avLst>
          </a:prstGeom>
          <a:solidFill>
            <a:srgbClr val="FBBF24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2400E"/>
                </a:solidFill>
                <a:latin typeface="Segoe UI Semibold"/>
              </a:rPr>
              <a:t>Watch</a:t>
            </a:r>
          </a:p>
        </p:txBody>
      </p:sp>
      <p:sp>
        <p:nvSpPr>
          <p:cNvPr id="504" name="Seg_Compact / clear"/>
          <p:cNvSpPr/>
          <p:nvPr/>
        </p:nvSpPr>
        <p:spPr>
          <a:xfrm>
            <a:off x="9095486" y="1498600"/>
            <a:ext cx="2436114" cy="279400"/>
          </a:xfrm>
          <a:prstGeom prst="roundRect">
            <a:avLst>
              <a:gd name="adj" fmla="val 30000"/>
            </a:avLst>
          </a:prstGeom>
          <a:solidFill>
            <a:srgbClr val="F87171"/>
          </a:solidFill>
          <a:ln w="0">
            <a:noFill/>
          </a:ln>
        </p:spPr>
        <p:txBody>
          <a:bodyPr wrap="square" lIns="45720" tIns="0" rIns="45720" bIns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91B1B"/>
                </a:solidFill>
                <a:latin typeface="Segoe UI Semibold"/>
              </a:rPr>
              <a:t>Compact / clear</a:t>
            </a:r>
          </a:p>
        </p:txBody>
      </p:sp>
      <p:sp>
        <p:nvSpPr>
          <p:cNvPr id="505" name="Card0Bg"/>
          <p:cNvSpPr/>
          <p:nvPr/>
        </p:nvSpPr>
        <p:spPr>
          <a:xfrm>
            <a:off x="7493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6" name="Card0Bar"/>
          <p:cNvSpPr/>
          <p:nvPr/>
        </p:nvSpPr>
        <p:spPr>
          <a:xfrm>
            <a:off x="7493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7" name="Card0Icon"/>
          <p:cNvSpPr/>
          <p:nvPr/>
        </p:nvSpPr>
        <p:spPr>
          <a:xfrm>
            <a:off x="977900" y="2349500"/>
            <a:ext cx="457200" cy="457200"/>
          </a:xfrm>
          <a:prstGeom prst="ellipse">
            <a:avLst/>
          </a:prstGeom>
          <a:solidFill>
            <a:srgbClr val="3B82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3B82F6"/>
                </a:solidFill>
                <a:latin typeface="Segoe UI Semibold"/>
              </a:rPr>
              <a:t>@</a:t>
            </a:r>
          </a:p>
        </p:txBody>
      </p:sp>
      <p:sp>
        <p:nvSpPr>
          <p:cNvPr id="508" name="Card0Title"/>
          <p:cNvSpPr/>
          <p:nvPr/>
        </p:nvSpPr>
        <p:spPr>
          <a:xfrm>
            <a:off x="15113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Use @ file references</a:t>
            </a:r>
          </a:p>
        </p:txBody>
      </p:sp>
      <p:sp>
        <p:nvSpPr>
          <p:cNvPr id="509" name="Card0Sep"/>
          <p:cNvSpPr/>
          <p:nvPr/>
        </p:nvSpPr>
        <p:spPr>
          <a:xfrm>
            <a:off x="9779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0" name="Card0Desc"/>
          <p:cNvSpPr/>
          <p:nvPr/>
        </p:nvSpPr>
        <p:spPr>
          <a:xfrm>
            <a:off x="9779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Include @src/auth/handler.ts in prompts to force Claude to load specific files instead of searching the whole repo. This prevents unnecessary context consumption and keeps responses focused on exactly the code that matters.</a:t>
            </a:r>
          </a:p>
        </p:txBody>
      </p:sp>
      <p:sp>
        <p:nvSpPr>
          <p:cNvPr id="511" name="Card1Bg"/>
          <p:cNvSpPr/>
          <p:nvPr/>
        </p:nvSpPr>
        <p:spPr>
          <a:xfrm>
            <a:off x="35179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2" name="Card1Bar"/>
          <p:cNvSpPr/>
          <p:nvPr/>
        </p:nvSpPr>
        <p:spPr>
          <a:xfrm>
            <a:off x="35179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3" name="Card1Icon"/>
          <p:cNvSpPr/>
          <p:nvPr/>
        </p:nvSpPr>
        <p:spPr>
          <a:xfrm>
            <a:off x="3746500" y="2349500"/>
            <a:ext cx="457200" cy="45720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8B5CF6"/>
                </a:solidFill>
                <a:latin typeface="Segoe UI Semibold"/>
              </a:rPr>
              <a:t>⚙</a:t>
            </a:r>
          </a:p>
        </p:txBody>
      </p:sp>
      <p:sp>
        <p:nvSpPr>
          <p:cNvPr id="514" name="Card1Title"/>
          <p:cNvSpPr/>
          <p:nvPr/>
        </p:nvSpPr>
        <p:spPr>
          <a:xfrm>
            <a:off x="42799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Scope in CLAUDE.md</a:t>
            </a:r>
          </a:p>
        </p:txBody>
      </p:sp>
      <p:sp>
        <p:nvSpPr>
          <p:cNvPr id="515" name="Card1Sep"/>
          <p:cNvSpPr/>
          <p:nvPr/>
        </p:nvSpPr>
        <p:spPr>
          <a:xfrm>
            <a:off x="37465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6" name="Card1Desc"/>
          <p:cNvSpPr/>
          <p:nvPr/>
        </p:nvSpPr>
        <p:spPr>
          <a:xfrm>
            <a:off x="37465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Add permanent rules like "read @src/auth/ before any auth task" and "never scan node_modules or dist/" to your CLAUDE.md. These directives train Claude to navigate your codebase efficiently every session.</a:t>
            </a:r>
          </a:p>
        </p:txBody>
      </p:sp>
      <p:sp>
        <p:nvSpPr>
          <p:cNvPr id="517" name="Card2Bg"/>
          <p:cNvSpPr/>
          <p:nvPr/>
        </p:nvSpPr>
        <p:spPr>
          <a:xfrm>
            <a:off x="62865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8" name="Card2Bar"/>
          <p:cNvSpPr/>
          <p:nvPr/>
        </p:nvSpPr>
        <p:spPr>
          <a:xfrm>
            <a:off x="62865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9" name="Card2Icon"/>
          <p:cNvSpPr/>
          <p:nvPr/>
        </p:nvSpPr>
        <p:spPr>
          <a:xfrm>
            <a:off x="6515100" y="2349500"/>
            <a:ext cx="457200" cy="457200"/>
          </a:xfrm>
          <a:prstGeom prst="ellipse">
            <a:avLst/>
          </a:prstGeom>
          <a:solidFill>
            <a:srgbClr val="F59E0B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F59E0B"/>
                </a:solidFill>
                <a:latin typeface="Segoe UI Semibold"/>
              </a:rPr>
              <a:t>⟳</a:t>
            </a:r>
          </a:p>
        </p:txBody>
      </p:sp>
      <p:sp>
        <p:nvSpPr>
          <p:cNvPr id="520" name="Card2Title"/>
          <p:cNvSpPr/>
          <p:nvPr/>
        </p:nvSpPr>
        <p:spPr>
          <a:xfrm>
            <a:off x="70485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Compact + /effort + /clear</a:t>
            </a:r>
          </a:p>
        </p:txBody>
      </p:sp>
      <p:sp>
        <p:nvSpPr>
          <p:cNvPr id="521" name="Card2Sep"/>
          <p:cNvSpPr/>
          <p:nvPr/>
        </p:nvSpPr>
        <p:spPr>
          <a:xfrm>
            <a:off x="65151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2" name="Card2Desc"/>
          <p:cNvSpPr/>
          <p:nvPr/>
        </p:nvSpPr>
        <p:spPr>
          <a:xfrm>
            <a:off x="65151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Use /compact to trim conversation history while keeping modified files. Set /effort low for simple tasks to reduce token usage. Run /clear between unrelated tasks to reset context completely.</a:t>
            </a:r>
          </a:p>
        </p:txBody>
      </p:sp>
      <p:sp>
        <p:nvSpPr>
          <p:cNvPr id="523" name="Card3Bg"/>
          <p:cNvSpPr/>
          <p:nvPr/>
        </p:nvSpPr>
        <p:spPr>
          <a:xfrm>
            <a:off x="9055100" y="2159000"/>
            <a:ext cx="2603500" cy="3111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0F0"/>
            </a:solidFill>
          </a:ln>
          <a:effectLst>
            <a:outerShdw blurRad="50800" dist="1905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4" name="Card3Bar"/>
          <p:cNvSpPr/>
          <p:nvPr/>
        </p:nvSpPr>
        <p:spPr>
          <a:xfrm>
            <a:off x="9055100" y="2286000"/>
            <a:ext cx="63500" cy="28575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5" name="Card3Icon"/>
          <p:cNvSpPr/>
          <p:nvPr/>
        </p:nvSpPr>
        <p:spPr>
          <a:xfrm>
            <a:off x="9283700" y="2349500"/>
            <a:ext cx="457200" cy="457200"/>
          </a:xfrm>
          <a:prstGeom prst="ellipse">
            <a:avLst/>
          </a:prstGeom>
          <a:solidFill>
            <a:srgbClr val="EF4444">
              <a:alpha val="15000"/>
            </a:srgbClr>
          </a:solidFill>
          <a:ln w="0">
            <a:noFill/>
          </a:ln>
        </p:spPr>
        <p:txBody>
          <a:bodyPr wrap="none" lIns="0" tIns="0" rIns="0" bIns="0" anchor="ctr" anchorCtr="1"/>
          <a:lstStyle/>
          <a:p>
            <a:pPr algn="ctr">
              <a:buNone/>
            </a:pPr>
            <a:r>
              <a:rPr lang="en-US" sz="1400" b="1" dirty="0">
                <a:solidFill>
                  <a:srgbClr val="EF4444"/>
                </a:solidFill>
                <a:latin typeface="Segoe UI Semibold"/>
              </a:rPr>
              <a:t>⑂</a:t>
            </a:r>
          </a:p>
        </p:txBody>
      </p:sp>
      <p:sp>
        <p:nvSpPr>
          <p:cNvPr id="526" name="Card3Title"/>
          <p:cNvSpPr/>
          <p:nvPr/>
        </p:nvSpPr>
        <p:spPr>
          <a:xfrm>
            <a:off x="9817100" y="2387600"/>
            <a:ext cx="1612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</a:rPr>
              <a:t>Subagents + disconnect MCP</a:t>
            </a:r>
          </a:p>
        </p:txBody>
      </p:sp>
      <p:sp>
        <p:nvSpPr>
          <p:cNvPr id="527" name="Card3Sep"/>
          <p:cNvSpPr/>
          <p:nvPr/>
        </p:nvSpPr>
        <p:spPr>
          <a:xfrm>
            <a:off x="9283700" y="2895600"/>
            <a:ext cx="2146300" cy="0"/>
          </a:xfrm>
          <a:prstGeom prst="line">
            <a:avLst/>
          </a:prstGeom>
          <a:ln w="6350">
            <a:solidFill>
              <a:srgbClr val="E8E0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8" name="Card3Desc"/>
          <p:cNvSpPr/>
          <p:nvPr/>
        </p:nvSpPr>
        <p:spPr>
          <a:xfrm>
            <a:off x="9283700" y="3022600"/>
            <a:ext cx="21463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 algn="just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Offload noisy work — logs, tests, docs, large explorations — to isolated subagents. Use /mcp to disable MCP servers you don't need; their tool schemas consume context even when idle.</a:t>
            </a:r>
          </a:p>
        </p:txBody>
      </p:sp>
      <p:sp>
        <p:nvSpPr>
          <p:cNvPr id="529" name="EntTip"/>
          <p:cNvSpPr/>
          <p:nvPr/>
        </p:nvSpPr>
        <p:spPr>
          <a:xfrm>
            <a:off x="749300" y="5422900"/>
            <a:ext cx="10972800" cy="609600"/>
          </a:xfrm>
          <a:prstGeom prst="roundRect">
            <a:avLst>
              <a:gd name="adj" fmla="val 15000"/>
            </a:avLst>
          </a:prstGeom>
          <a:solidFill>
            <a:srgbClr val="5B6ABF"/>
          </a:solidFill>
          <a:ln w="0">
            <a:noFill/>
          </a:ln>
          <a:effectLst>
            <a:outerShdw blurRad="38100" dist="12700" dir="5400000" algn="bl" rotWithShape="0">
              <a:srgbClr val="000000">
                <a:alpha val="15000"/>
              </a:srgbClr>
            </a:outerShdw>
          </a:effectLst>
        </p:spPr>
        <p:txBody>
          <a:bodyPr wrap="square" lIns="152400" tIns="0" rIns="152400" bIns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CD34D"/>
                </a:solidFill>
                <a:latin typeface="Segoe UI Semibold"/>
              </a:rPr>
              <a:t>Enterprise tip  </a:t>
            </a:r>
            <a:r>
              <a:rPr lang="en-US" sz="1000" dirty="0">
                <a:solidFill>
                  <a:srgbClr val="FFFFFF"/>
                </a:solidFill>
                <a:latin typeface="Segoe UI"/>
              </a:rPr>
              <a:t>Use worktree.sparsePaths for large monorepos — Claude checks out only the directories you need via git sparse-checkout.</a:t>
            </a:r>
          </a:p>
        </p:txBody>
      </p:sp>
      <p:pic>
        <p:nvPicPr>
          <p:cNvPr id="530" name="Graphic 530" descr="File reference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374900"/>
            <a:ext cx="304800" cy="304800"/>
          </a:xfrm>
          <a:prstGeom prst="rect">
            <a:avLst/>
          </a:prstGeom>
        </p:spPr>
      </p:pic>
      <p:pic>
        <p:nvPicPr>
          <p:cNvPr id="531" name="Graphic 531" descr="Filter/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69400" y="2374900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34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051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Prompt formula for Claude Code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 good prompt gives Claude a target, a boundary, and a way to prove the outcome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Gutter"/>
          <p:cNvSpPr/>
          <p:nvPr/>
        </p:nvSpPr>
        <p:spPr>
          <a:xfrm>
            <a:off x="393700" y="1651000"/>
            <a:ext cx="406400" cy="3556000"/>
          </a:xfrm>
          <a:prstGeom prst="rect">
            <a:avLst/>
          </a:prstGeom>
          <a:solidFill>
            <a:srgbClr val="F3F4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0" name="LineNum0"/>
          <p:cNvSpPr/>
          <p:nvPr/>
        </p:nvSpPr>
        <p:spPr>
          <a:xfrm>
            <a:off x="444500" y="17272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121" name="Keyword0"/>
          <p:cNvSpPr/>
          <p:nvPr/>
        </p:nvSpPr>
        <p:spPr>
          <a:xfrm>
            <a:off x="863600" y="17272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onsolas"/>
                <a:cs typeface="Consolas"/>
              </a:rPr>
              <a:t>Goal:</a:t>
            </a:r>
          </a:p>
        </p:txBody>
      </p:sp>
      <p:sp>
        <p:nvSpPr>
          <p:cNvPr id="122" name="Value0"/>
          <p:cNvSpPr/>
          <p:nvPr/>
        </p:nvSpPr>
        <p:spPr>
          <a:xfrm>
            <a:off x="914400" y="1955799"/>
            <a:ext cx="5003800" cy="3047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Fix the user auth bug by aligning claims in JWT token as per the RFC-7519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3"/>
              </a:rPr>
              <a:t>https://datatracker.ietf.org/doc/html/rfc7519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0" name="Sep0"/>
          <p:cNvSpPr/>
          <p:nvPr/>
        </p:nvSpPr>
        <p:spPr>
          <a:xfrm>
            <a:off x="863600" y="22606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ineNum1"/>
          <p:cNvSpPr/>
          <p:nvPr/>
        </p:nvSpPr>
        <p:spPr>
          <a:xfrm>
            <a:off x="444500" y="23114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124" name="Keyword1"/>
          <p:cNvSpPr/>
          <p:nvPr/>
        </p:nvSpPr>
        <p:spPr>
          <a:xfrm>
            <a:off x="863600" y="23114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/>
                <a:cs typeface="Consolas"/>
              </a:rPr>
              <a:t>Files:</a:t>
            </a:r>
          </a:p>
        </p:txBody>
      </p:sp>
      <p:sp>
        <p:nvSpPr>
          <p:cNvPr id="125" name="Value1"/>
          <p:cNvSpPr/>
          <p:nvPr/>
        </p:nvSpPr>
        <p:spPr>
          <a:xfrm>
            <a:off x="914400" y="25400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@src/auth/handler.ts @src/api/session.ts</a:t>
            </a:r>
          </a:p>
        </p:txBody>
      </p:sp>
      <p:sp>
        <p:nvSpPr>
          <p:cNvPr id="201" name="Sep1"/>
          <p:cNvSpPr/>
          <p:nvPr/>
        </p:nvSpPr>
        <p:spPr>
          <a:xfrm>
            <a:off x="863600" y="28448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6" name="LineNum2"/>
          <p:cNvSpPr/>
          <p:nvPr/>
        </p:nvSpPr>
        <p:spPr>
          <a:xfrm>
            <a:off x="444500" y="28956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127" name="Keyword2"/>
          <p:cNvSpPr/>
          <p:nvPr/>
        </p:nvSpPr>
        <p:spPr>
          <a:xfrm>
            <a:off x="863600" y="28956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2185B"/>
                </a:solidFill>
                <a:latin typeface="Consolas"/>
                <a:cs typeface="Consolas"/>
              </a:rPr>
              <a:t>Constraints:</a:t>
            </a:r>
          </a:p>
        </p:txBody>
      </p:sp>
      <p:sp>
        <p:nvSpPr>
          <p:cNvPr id="128" name="Value2"/>
          <p:cNvSpPr/>
          <p:nvPr/>
        </p:nvSpPr>
        <p:spPr>
          <a:xfrm>
            <a:off x="914400" y="31242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change token format or middleware</a:t>
            </a:r>
          </a:p>
        </p:txBody>
      </p:sp>
      <p:sp>
        <p:nvSpPr>
          <p:cNvPr id="202" name="Sep2"/>
          <p:cNvSpPr/>
          <p:nvPr/>
        </p:nvSpPr>
        <p:spPr>
          <a:xfrm>
            <a:off x="863600" y="342900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29" name="LineNum3"/>
          <p:cNvSpPr/>
          <p:nvPr/>
        </p:nvSpPr>
        <p:spPr>
          <a:xfrm>
            <a:off x="444500" y="347980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130" name="Keyword3"/>
          <p:cNvSpPr/>
          <p:nvPr/>
        </p:nvSpPr>
        <p:spPr>
          <a:xfrm>
            <a:off x="863600" y="3479800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  <a:latin typeface="Consolas"/>
                <a:cs typeface="Consolas"/>
              </a:rPr>
              <a:t>Scope:</a:t>
            </a:r>
          </a:p>
        </p:txBody>
      </p:sp>
      <p:sp>
        <p:nvSpPr>
          <p:cNvPr id="131" name="Value3"/>
          <p:cNvSpPr/>
          <p:nvPr/>
        </p:nvSpPr>
        <p:spPr>
          <a:xfrm>
            <a:off x="863600" y="3586109"/>
            <a:ext cx="5003800" cy="6509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the full project — only read listed files </a:t>
            </a:r>
          </a:p>
          <a:p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Do not scan entire RFC – scan only section 4 : 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  <a:hlinkClick r:id="rId4"/>
              </a:rPr>
              <a:t>https://datatracker.ietf.org/doc/html/rfc7519#section-4</a:t>
            </a: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203" name="Sep3"/>
          <p:cNvSpPr/>
          <p:nvPr/>
        </p:nvSpPr>
        <p:spPr>
          <a:xfrm>
            <a:off x="863600" y="4209840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2" name="LineNum4"/>
          <p:cNvSpPr/>
          <p:nvPr/>
        </p:nvSpPr>
        <p:spPr>
          <a:xfrm>
            <a:off x="453512" y="4227869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133" name="Keyword4"/>
          <p:cNvSpPr/>
          <p:nvPr/>
        </p:nvSpPr>
        <p:spPr>
          <a:xfrm>
            <a:off x="849262" y="4247331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A4F"/>
                </a:solidFill>
                <a:latin typeface="Consolas"/>
                <a:cs typeface="Consolas"/>
              </a:rPr>
              <a:t>Validation:</a:t>
            </a:r>
          </a:p>
        </p:txBody>
      </p:sp>
      <p:sp>
        <p:nvSpPr>
          <p:cNvPr id="134" name="Value4"/>
          <p:cNvSpPr/>
          <p:nvPr/>
        </p:nvSpPr>
        <p:spPr>
          <a:xfrm>
            <a:off x="863600" y="4458928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Add a regression test, run auth suite</a:t>
            </a:r>
          </a:p>
        </p:txBody>
      </p:sp>
      <p:sp>
        <p:nvSpPr>
          <p:cNvPr id="204" name="Sep4"/>
          <p:cNvSpPr/>
          <p:nvPr/>
        </p:nvSpPr>
        <p:spPr>
          <a:xfrm>
            <a:off x="863600" y="4636728"/>
            <a:ext cx="5054600" cy="0"/>
          </a:xfrm>
          <a:prstGeom prst="line">
            <a:avLst/>
          </a:prstGeom>
          <a:ln w="6350">
            <a:solidFill>
              <a:srgbClr val="E5E7EB"/>
            </a:solidFill>
            <a:prstDash val="dot"/>
          </a:ln>
        </p:spPr>
        <p:txBody>
          <a:bodyPr/>
          <a:lstStyle/>
          <a:p>
            <a:endParaRPr lang="en-US"/>
          </a:p>
        </p:txBody>
      </p:sp>
      <p:sp>
        <p:nvSpPr>
          <p:cNvPr id="135" name="LineNum5"/>
          <p:cNvSpPr/>
          <p:nvPr/>
        </p:nvSpPr>
        <p:spPr>
          <a:xfrm>
            <a:off x="444500" y="4697360"/>
            <a:ext cx="279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A9E"/>
                </a:solidFill>
                <a:latin typeface="Consolas"/>
                <a:cs typeface="Consolas"/>
              </a:rPr>
              <a:t>6</a:t>
            </a:r>
          </a:p>
        </p:txBody>
      </p:sp>
      <p:sp>
        <p:nvSpPr>
          <p:cNvPr id="136" name="Keyword5"/>
          <p:cNvSpPr/>
          <p:nvPr/>
        </p:nvSpPr>
        <p:spPr>
          <a:xfrm>
            <a:off x="863600" y="4687528"/>
            <a:ext cx="1397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onsolas"/>
                <a:cs typeface="Consolas"/>
              </a:rPr>
              <a:t>Output:</a:t>
            </a:r>
          </a:p>
        </p:txBody>
      </p:sp>
      <p:sp>
        <p:nvSpPr>
          <p:cNvPr id="137" name="Value5"/>
          <p:cNvSpPr/>
          <p:nvPr/>
        </p:nvSpPr>
        <p:spPr>
          <a:xfrm>
            <a:off x="914400" y="4876800"/>
            <a:ext cx="5003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onsolas"/>
                <a:cs typeface="Consolas"/>
              </a:rPr>
              <a:t>Root cause first, then smallest safe fix</a:t>
            </a:r>
          </a:p>
        </p:txBody>
      </p:sp>
      <p:sp>
        <p:nvSpPr>
          <p:cNvPr id="145" name="SkeletonLabel"/>
          <p:cNvSpPr/>
          <p:nvPr/>
        </p:nvSpPr>
        <p:spPr>
          <a:xfrm>
            <a:off x="406400" y="10414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  <a:cs typeface="Segoe UI Semibold"/>
              </a:rPr>
              <a:t>PROMPT SKELETON</a:t>
            </a:r>
          </a:p>
        </p:txBody>
      </p:sp>
      <p:sp>
        <p:nvSpPr>
          <p:cNvPr id="150" name="TipShadow0"/>
          <p:cNvSpPr/>
          <p:nvPr/>
        </p:nvSpPr>
        <p:spPr>
          <a:xfrm>
            <a:off x="62484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1" name="TipCard0"/>
          <p:cNvSpPr/>
          <p:nvPr/>
        </p:nvSpPr>
        <p:spPr>
          <a:xfrm>
            <a:off x="62230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2" name="TipAccent0"/>
          <p:cNvSpPr/>
          <p:nvPr/>
        </p:nvSpPr>
        <p:spPr>
          <a:xfrm>
            <a:off x="6218904" y="1270000"/>
            <a:ext cx="2772696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3" name="TipNum0"/>
          <p:cNvSpPr/>
          <p:nvPr/>
        </p:nvSpPr>
        <p:spPr>
          <a:xfrm>
            <a:off x="6350000" y="1447800"/>
            <a:ext cx="304800" cy="3048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54" name="TipTitle0"/>
          <p:cNvSpPr/>
          <p:nvPr/>
        </p:nvSpPr>
        <p:spPr>
          <a:xfrm>
            <a:off x="67310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 first</a:t>
            </a:r>
          </a:p>
        </p:txBody>
      </p:sp>
      <p:sp>
        <p:nvSpPr>
          <p:cNvPr id="190" name="TipDesc0"/>
          <p:cNvSpPr/>
          <p:nvPr/>
        </p:nvSpPr>
        <p:spPr>
          <a:xfrm>
            <a:off x="63500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/plan to map approach before writing any code</a:t>
            </a:r>
          </a:p>
        </p:txBody>
      </p:sp>
      <p:sp>
        <p:nvSpPr>
          <p:cNvPr id="155" name="TipShadow1"/>
          <p:cNvSpPr/>
          <p:nvPr/>
        </p:nvSpPr>
        <p:spPr>
          <a:xfrm>
            <a:off x="9144000" y="1295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6" name="TipCard1"/>
          <p:cNvSpPr/>
          <p:nvPr/>
        </p:nvSpPr>
        <p:spPr>
          <a:xfrm>
            <a:off x="9118600" y="12700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7" name="TipAccent1"/>
          <p:cNvSpPr/>
          <p:nvPr/>
        </p:nvSpPr>
        <p:spPr>
          <a:xfrm>
            <a:off x="9118600" y="1277988"/>
            <a:ext cx="2743200" cy="68211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TipNum1"/>
          <p:cNvSpPr/>
          <p:nvPr/>
        </p:nvSpPr>
        <p:spPr>
          <a:xfrm>
            <a:off x="9245600" y="1447800"/>
            <a:ext cx="304800" cy="3048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9" name="TipTitle1"/>
          <p:cNvSpPr/>
          <p:nvPr/>
        </p:nvSpPr>
        <p:spPr>
          <a:xfrm>
            <a:off x="9626600" y="14478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Pin your files</a:t>
            </a:r>
          </a:p>
        </p:txBody>
      </p:sp>
      <p:sp>
        <p:nvSpPr>
          <p:cNvPr id="191" name="TipDesc1"/>
          <p:cNvSpPr/>
          <p:nvPr/>
        </p:nvSpPr>
        <p:spPr>
          <a:xfrm>
            <a:off x="9245600" y="18288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@ references keep context focused and prevent full-project scans</a:t>
            </a:r>
          </a:p>
        </p:txBody>
      </p:sp>
      <p:sp>
        <p:nvSpPr>
          <p:cNvPr id="160" name="TipShadow2"/>
          <p:cNvSpPr/>
          <p:nvPr/>
        </p:nvSpPr>
        <p:spPr>
          <a:xfrm>
            <a:off x="62484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1" name="TipCard2"/>
          <p:cNvSpPr/>
          <p:nvPr/>
        </p:nvSpPr>
        <p:spPr>
          <a:xfrm>
            <a:off x="62230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2" name="TipAccent2"/>
          <p:cNvSpPr/>
          <p:nvPr/>
        </p:nvSpPr>
        <p:spPr>
          <a:xfrm>
            <a:off x="6218904" y="2832100"/>
            <a:ext cx="27432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TipNum2"/>
          <p:cNvSpPr/>
          <p:nvPr/>
        </p:nvSpPr>
        <p:spPr>
          <a:xfrm>
            <a:off x="6350000" y="2997200"/>
            <a:ext cx="304800" cy="3048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64" name="TipTitle2"/>
          <p:cNvSpPr/>
          <p:nvPr/>
        </p:nvSpPr>
        <p:spPr>
          <a:xfrm>
            <a:off x="67310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Demand proof</a:t>
            </a:r>
          </a:p>
        </p:txBody>
      </p:sp>
      <p:sp>
        <p:nvSpPr>
          <p:cNvPr id="192" name="TipDesc2"/>
          <p:cNvSpPr/>
          <p:nvPr/>
        </p:nvSpPr>
        <p:spPr>
          <a:xfrm>
            <a:off x="63500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State validation criteria — tests, lint, or type-check must pass</a:t>
            </a:r>
          </a:p>
        </p:txBody>
      </p:sp>
      <p:sp>
        <p:nvSpPr>
          <p:cNvPr id="165" name="TipShadow3"/>
          <p:cNvSpPr/>
          <p:nvPr/>
        </p:nvSpPr>
        <p:spPr>
          <a:xfrm>
            <a:off x="9144000" y="2844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TipCard3"/>
          <p:cNvSpPr/>
          <p:nvPr/>
        </p:nvSpPr>
        <p:spPr>
          <a:xfrm>
            <a:off x="9118600" y="28194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7" name="TipAccent3"/>
          <p:cNvSpPr/>
          <p:nvPr/>
        </p:nvSpPr>
        <p:spPr>
          <a:xfrm>
            <a:off x="9114504" y="2831894"/>
            <a:ext cx="2743200" cy="63705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8" name="TipNum3"/>
          <p:cNvSpPr/>
          <p:nvPr/>
        </p:nvSpPr>
        <p:spPr>
          <a:xfrm>
            <a:off x="9245600" y="2997200"/>
            <a:ext cx="304800" cy="3048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D</a:t>
            </a:r>
          </a:p>
        </p:txBody>
      </p:sp>
      <p:sp>
        <p:nvSpPr>
          <p:cNvPr id="169" name="TipTitle3"/>
          <p:cNvSpPr/>
          <p:nvPr/>
        </p:nvSpPr>
        <p:spPr>
          <a:xfrm>
            <a:off x="9626600" y="29972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Guard scope</a:t>
            </a:r>
          </a:p>
        </p:txBody>
      </p:sp>
      <p:sp>
        <p:nvSpPr>
          <p:cNvPr id="193" name="TipDesc3"/>
          <p:cNvSpPr/>
          <p:nvPr/>
        </p:nvSpPr>
        <p:spPr>
          <a:xfrm>
            <a:off x="9245600" y="33782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"Do not scan" constraints save tokens and prevent drift</a:t>
            </a:r>
          </a:p>
        </p:txBody>
      </p:sp>
      <p:sp>
        <p:nvSpPr>
          <p:cNvPr id="170" name="TipShadow4"/>
          <p:cNvSpPr/>
          <p:nvPr/>
        </p:nvSpPr>
        <p:spPr>
          <a:xfrm>
            <a:off x="62484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1" name="TipCard4"/>
          <p:cNvSpPr/>
          <p:nvPr/>
        </p:nvSpPr>
        <p:spPr>
          <a:xfrm>
            <a:off x="62230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2" name="TipAccent4"/>
          <p:cNvSpPr/>
          <p:nvPr/>
        </p:nvSpPr>
        <p:spPr>
          <a:xfrm>
            <a:off x="6218904" y="4368800"/>
            <a:ext cx="2743200" cy="76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3" name="TipNum4"/>
          <p:cNvSpPr/>
          <p:nvPr/>
        </p:nvSpPr>
        <p:spPr>
          <a:xfrm>
            <a:off x="6350000" y="454660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174" name="TipTitle4"/>
          <p:cNvSpPr/>
          <p:nvPr/>
        </p:nvSpPr>
        <p:spPr>
          <a:xfrm>
            <a:off x="67310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Reuse patterns</a:t>
            </a:r>
          </a:p>
        </p:txBody>
      </p:sp>
      <p:sp>
        <p:nvSpPr>
          <p:cNvPr id="194" name="TipDesc4"/>
          <p:cNvSpPr/>
          <p:nvPr/>
        </p:nvSpPr>
        <p:spPr>
          <a:xfrm>
            <a:off x="63500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Store reusable prompts in skills or CLAUDE.md for team use</a:t>
            </a:r>
          </a:p>
        </p:txBody>
      </p:sp>
      <p:sp>
        <p:nvSpPr>
          <p:cNvPr id="175" name="TipShadow5"/>
          <p:cNvSpPr/>
          <p:nvPr/>
        </p:nvSpPr>
        <p:spPr>
          <a:xfrm>
            <a:off x="9144000" y="43942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6" name="TipCard5"/>
          <p:cNvSpPr/>
          <p:nvPr/>
        </p:nvSpPr>
        <p:spPr>
          <a:xfrm>
            <a:off x="9118600" y="4368800"/>
            <a:ext cx="2743200" cy="1397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7" name="TipAccent5"/>
          <p:cNvSpPr/>
          <p:nvPr/>
        </p:nvSpPr>
        <p:spPr>
          <a:xfrm>
            <a:off x="9114504" y="4368799"/>
            <a:ext cx="2743200" cy="76199"/>
          </a:xfrm>
          <a:prstGeom prst="rect">
            <a:avLst/>
          </a:prstGeom>
          <a:solidFill>
            <a:srgbClr val="7E22C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8" name="TipNum5"/>
          <p:cNvSpPr/>
          <p:nvPr/>
        </p:nvSpPr>
        <p:spPr>
          <a:xfrm>
            <a:off x="9245600" y="4546600"/>
            <a:ext cx="304800" cy="304800"/>
          </a:xfrm>
          <a:prstGeom prst="ellipse">
            <a:avLst/>
          </a:prstGeom>
          <a:solidFill>
            <a:srgbClr val="7E22CE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F</a:t>
            </a:r>
          </a:p>
        </p:txBody>
      </p:sp>
      <p:sp>
        <p:nvSpPr>
          <p:cNvPr id="179" name="TipTitle5"/>
          <p:cNvSpPr/>
          <p:nvPr/>
        </p:nvSpPr>
        <p:spPr>
          <a:xfrm>
            <a:off x="9626600" y="4546600"/>
            <a:ext cx="21082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Segoe UI Semibold"/>
                <a:cs typeface="Segoe UI Semibold"/>
              </a:rPr>
              <a:t>Batch smartly</a:t>
            </a:r>
          </a:p>
        </p:txBody>
      </p:sp>
      <p:sp>
        <p:nvSpPr>
          <p:cNvPr id="195" name="TipDesc5"/>
          <p:cNvSpPr/>
          <p:nvPr/>
        </p:nvSpPr>
        <p:spPr>
          <a:xfrm>
            <a:off x="9245600" y="4927600"/>
            <a:ext cx="2489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Segoe UI"/>
                <a:cs typeface="Segoe UI"/>
              </a:rPr>
              <a:t>Use subagents and /batch for bulk multi-file operations</a:t>
            </a:r>
          </a:p>
        </p:txBody>
      </p:sp>
      <p:sp>
        <p:nvSpPr>
          <p:cNvPr id="210" name="TipBanner"/>
          <p:cNvSpPr/>
          <p:nvPr/>
        </p:nvSpPr>
        <p:spPr>
          <a:xfrm>
            <a:off x="381000" y="6070600"/>
            <a:ext cx="11430000" cy="3302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>
            <a:solidFill>
              <a:srgbClr val="C5B9E0"/>
            </a:solidFill>
          </a:ln>
        </p:spPr>
        <p:txBody>
          <a:bodyPr wrap="square" lIns="152400" tIns="25400" rIns="101600" bIns="2540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ABF"/>
                </a:solidFill>
                <a:latin typeface="Segoe UI Semibold"/>
              </a:rPr>
              <a:t>       Pro Tip   </a:t>
            </a:r>
            <a:r>
              <a:rPr lang="en-US" sz="1000" dirty="0">
                <a:solidFill>
                  <a:srgbClr val="1A2332"/>
                </a:solidFill>
                <a:latin typeface="Segoe UI"/>
              </a:rPr>
              <a:t>Use Plan Mode when the change is uncertain or multi-file — skip the plan for obvious tiny edits.</a:t>
            </a:r>
          </a:p>
        </p:txBody>
      </p:sp>
      <p:pic>
        <p:nvPicPr>
          <p:cNvPr id="222" name="Graphic 22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4500" y="6108700"/>
            <a:ext cx="254000" cy="254000"/>
          </a:xfrm>
          <a:prstGeom prst="rect">
            <a:avLst/>
          </a:prstGeom>
        </p:spPr>
      </p:pic>
      <p:sp>
        <p:nvSpPr>
          <p:cNvPr id="250" name="FileTab"/>
          <p:cNvSpPr/>
          <p:nvPr/>
        </p:nvSpPr>
        <p:spPr>
          <a:xfrm>
            <a:off x="381000" y="1270000"/>
            <a:ext cx="5588000" cy="381000"/>
          </a:xfrm>
          <a:custGeom>
            <a:avLst/>
            <a:gdLst>
              <a:gd name="rad" fmla="val 50000"/>
              <a:gd name="rr" fmla="*/ ss rad 100000"/>
              <a:gd name="maxr" fmla="*/ h 1 4"/>
              <a:gd name="r" fmla="min rr maxr"/>
              <a:gd name="yArc" fmla="+- h 0 r"/>
              <a:gd name="xEnd" fmla="+- w 0 r"/>
            </a:gdLst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0F4F8"/>
          </a:solidFill>
          <a:ln w="9525">
            <a:solidFill>
              <a:srgbClr val="C5CAD4"/>
            </a:solidFill>
          </a:ln>
        </p:spPr>
        <p:txBody>
          <a:bodyPr wrap="square" lIns="508000" tIns="25400" rIns="101600" bIns="2540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B6ABF"/>
                </a:solidFill>
                <a:latin typeface="Consolas"/>
                <a:cs typeface="Consolas"/>
              </a:rPr>
              <a:t>prompt-skeleton.md</a:t>
            </a:r>
          </a:p>
        </p:txBody>
      </p:sp>
      <p:pic>
        <p:nvPicPr>
          <p:cNvPr id="252" name="Graphic 252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2600" y="1333500"/>
            <a:ext cx="228600" cy="2286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234C24B-88E8-0109-9FE1-F691C4E7E63E}"/>
              </a:ext>
            </a:extLst>
          </p:cNvPr>
          <p:cNvSpPr/>
          <p:nvPr/>
        </p:nvSpPr>
        <p:spPr>
          <a:xfrm>
            <a:off x="381000" y="1270000"/>
            <a:ext cx="5588000" cy="3937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262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/>
                <a:cs typeface="Segoe UI Semibold"/>
              </a:rPr>
              <a:t>Reduce hallucinations and unsafe edits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  <a:cs typeface="Segoe UI"/>
              </a:rPr>
              <a:t>Anthropic recommends grounding, explicit uncertainty, and factual evidence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SectionLabel"/>
          <p:cNvSpPr/>
          <p:nvPr/>
        </p:nvSpPr>
        <p:spPr>
          <a:xfrm>
            <a:off x="381000" y="1041400"/>
            <a:ext cx="254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ABF"/>
                </a:solidFill>
                <a:latin typeface="Segoe UI Semibold"/>
              </a:rPr>
              <a:t>THE TRUST PIPELINE</a:t>
            </a:r>
          </a:p>
        </p:txBody>
      </p:sp>
      <p:sp>
        <p:nvSpPr>
          <p:cNvPr id="200" name="Shadow0"/>
          <p:cNvSpPr/>
          <p:nvPr/>
        </p:nvSpPr>
        <p:spPr>
          <a:xfrm>
            <a:off x="4064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Card0"/>
          <p:cNvSpPr/>
          <p:nvPr/>
        </p:nvSpPr>
        <p:spPr>
          <a:xfrm>
            <a:off x="3810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Accent0"/>
          <p:cNvSpPr/>
          <p:nvPr/>
        </p:nvSpPr>
        <p:spPr>
          <a:xfrm>
            <a:off x="381000" y="1295400"/>
            <a:ext cx="3556000" cy="635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Num0"/>
          <p:cNvSpPr/>
          <p:nvPr/>
        </p:nvSpPr>
        <p:spPr>
          <a:xfrm>
            <a:off x="558800" y="1498600"/>
            <a:ext cx="381000" cy="381000"/>
          </a:xfrm>
          <a:prstGeom prst="ellipse">
            <a:avLst/>
          </a:prstGeom>
          <a:solidFill>
            <a:srgbClr val="1565C0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4" name="Title0"/>
          <p:cNvSpPr/>
          <p:nvPr/>
        </p:nvSpPr>
        <p:spPr>
          <a:xfrm>
            <a:off x="10414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Ground</a:t>
            </a:r>
          </a:p>
        </p:txBody>
      </p:sp>
      <p:sp>
        <p:nvSpPr>
          <p:cNvPr id="205" name="Sep0"/>
          <p:cNvSpPr/>
          <p:nvPr/>
        </p:nvSpPr>
        <p:spPr>
          <a:xfrm>
            <a:off x="5588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Desc0"/>
          <p:cNvSpPr/>
          <p:nvPr/>
        </p:nvSpPr>
        <p:spPr>
          <a:xfrm>
            <a:off x="5588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@ file refs to load specific modules. Add "read these files before answering" in CLAUDE.md.</a:t>
            </a:r>
          </a:p>
        </p:txBody>
      </p:sp>
      <p:sp>
        <p:nvSpPr>
          <p:cNvPr id="210" name="Shadow1"/>
          <p:cNvSpPr/>
          <p:nvPr/>
        </p:nvSpPr>
        <p:spPr>
          <a:xfrm>
            <a:off x="41910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Card1"/>
          <p:cNvSpPr/>
          <p:nvPr/>
        </p:nvSpPr>
        <p:spPr>
          <a:xfrm>
            <a:off x="41656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Accent1"/>
          <p:cNvSpPr/>
          <p:nvPr/>
        </p:nvSpPr>
        <p:spPr>
          <a:xfrm>
            <a:off x="4165600" y="1295400"/>
            <a:ext cx="35560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Num1"/>
          <p:cNvSpPr/>
          <p:nvPr/>
        </p:nvSpPr>
        <p:spPr>
          <a:xfrm>
            <a:off x="4343400" y="1498600"/>
            <a:ext cx="381000" cy="3810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4" name="Title1"/>
          <p:cNvSpPr/>
          <p:nvPr/>
        </p:nvSpPr>
        <p:spPr>
          <a:xfrm>
            <a:off x="48260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Plan</a:t>
            </a:r>
          </a:p>
        </p:txBody>
      </p:sp>
      <p:sp>
        <p:nvSpPr>
          <p:cNvPr id="215" name="Sep1"/>
          <p:cNvSpPr/>
          <p:nvPr/>
        </p:nvSpPr>
        <p:spPr>
          <a:xfrm>
            <a:off x="43434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Desc1"/>
          <p:cNvSpPr/>
          <p:nvPr/>
        </p:nvSpPr>
        <p:spPr>
          <a:xfrm>
            <a:off x="43434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Use /plan to preview Claude's approach before it edits. Verify the plan targets the right files.</a:t>
            </a:r>
          </a:p>
        </p:txBody>
      </p:sp>
      <p:sp>
        <p:nvSpPr>
          <p:cNvPr id="220" name="Shadow2"/>
          <p:cNvSpPr/>
          <p:nvPr/>
        </p:nvSpPr>
        <p:spPr>
          <a:xfrm>
            <a:off x="7975600" y="13208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Card2"/>
          <p:cNvSpPr/>
          <p:nvPr/>
        </p:nvSpPr>
        <p:spPr>
          <a:xfrm>
            <a:off x="7950200" y="129540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Accent2"/>
          <p:cNvSpPr/>
          <p:nvPr/>
        </p:nvSpPr>
        <p:spPr>
          <a:xfrm>
            <a:off x="7950200" y="1295400"/>
            <a:ext cx="355600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Num2"/>
          <p:cNvSpPr/>
          <p:nvPr/>
        </p:nvSpPr>
        <p:spPr>
          <a:xfrm>
            <a:off x="8128000" y="1498600"/>
            <a:ext cx="381000" cy="3810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4" name="Title2"/>
          <p:cNvSpPr/>
          <p:nvPr/>
        </p:nvSpPr>
        <p:spPr>
          <a:xfrm>
            <a:off x="8610600" y="14986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Evidence</a:t>
            </a:r>
          </a:p>
        </p:txBody>
      </p:sp>
      <p:sp>
        <p:nvSpPr>
          <p:cNvPr id="225" name="Sep2"/>
          <p:cNvSpPr/>
          <p:nvPr/>
        </p:nvSpPr>
        <p:spPr>
          <a:xfrm>
            <a:off x="8128000" y="19558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Desc2"/>
          <p:cNvSpPr/>
          <p:nvPr/>
        </p:nvSpPr>
        <p:spPr>
          <a:xfrm>
            <a:off x="8128000" y="20574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Require file paths, test output, and command results. Use Security for vulnerability checks.</a:t>
            </a:r>
          </a:p>
        </p:txBody>
      </p:sp>
      <p:sp>
        <p:nvSpPr>
          <p:cNvPr id="230" name="Shadow3"/>
          <p:cNvSpPr/>
          <p:nvPr/>
        </p:nvSpPr>
        <p:spPr>
          <a:xfrm>
            <a:off x="406400" y="3497824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1" name="Card3"/>
          <p:cNvSpPr/>
          <p:nvPr/>
        </p:nvSpPr>
        <p:spPr>
          <a:xfrm>
            <a:off x="381000" y="3501920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Accent3"/>
          <p:cNvSpPr/>
          <p:nvPr/>
        </p:nvSpPr>
        <p:spPr>
          <a:xfrm>
            <a:off x="381000" y="3501920"/>
            <a:ext cx="3556000" cy="63500"/>
          </a:xfrm>
          <a:prstGeom prst="rect">
            <a:avLst/>
          </a:prstGeom>
          <a:solidFill>
            <a:srgbClr val="D4622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3" name="Num3"/>
          <p:cNvSpPr/>
          <p:nvPr/>
        </p:nvSpPr>
        <p:spPr>
          <a:xfrm>
            <a:off x="558800" y="3606800"/>
            <a:ext cx="381000" cy="381000"/>
          </a:xfrm>
          <a:prstGeom prst="ellipse">
            <a:avLst/>
          </a:prstGeom>
          <a:solidFill>
            <a:srgbClr val="D4622B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4" name="Title3"/>
          <p:cNvSpPr/>
          <p:nvPr/>
        </p:nvSpPr>
        <p:spPr>
          <a:xfrm>
            <a:off x="1041400" y="3606800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Validate</a:t>
            </a:r>
          </a:p>
        </p:txBody>
      </p:sp>
      <p:sp>
        <p:nvSpPr>
          <p:cNvPr id="235" name="Sep3"/>
          <p:cNvSpPr/>
          <p:nvPr/>
        </p:nvSpPr>
        <p:spPr>
          <a:xfrm>
            <a:off x="558800" y="4064000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6" name="Desc3"/>
          <p:cNvSpPr/>
          <p:nvPr/>
        </p:nvSpPr>
        <p:spPr>
          <a:xfrm>
            <a:off x="558800" y="4165600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Run tests, lint, or targeted commands and report results. Automate via hooks.</a:t>
            </a:r>
          </a:p>
        </p:txBody>
      </p:sp>
      <p:sp>
        <p:nvSpPr>
          <p:cNvPr id="240" name="Shadow4"/>
          <p:cNvSpPr/>
          <p:nvPr/>
        </p:nvSpPr>
        <p:spPr>
          <a:xfrm>
            <a:off x="4178300" y="35101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1" name="Card4"/>
          <p:cNvSpPr/>
          <p:nvPr/>
        </p:nvSpPr>
        <p:spPr>
          <a:xfrm>
            <a:off x="4152900" y="3484706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Accent4"/>
          <p:cNvSpPr/>
          <p:nvPr/>
        </p:nvSpPr>
        <p:spPr>
          <a:xfrm>
            <a:off x="4152900" y="3484706"/>
            <a:ext cx="3556000" cy="635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3" name="Num4"/>
          <p:cNvSpPr/>
          <p:nvPr/>
        </p:nvSpPr>
        <p:spPr>
          <a:xfrm>
            <a:off x="4330700" y="3687906"/>
            <a:ext cx="381000" cy="3810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4" name="Title4"/>
          <p:cNvSpPr/>
          <p:nvPr/>
        </p:nvSpPr>
        <p:spPr>
          <a:xfrm>
            <a:off x="4813300" y="3687906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Review</a:t>
            </a:r>
          </a:p>
        </p:txBody>
      </p:sp>
      <p:sp>
        <p:nvSpPr>
          <p:cNvPr id="245" name="Sep4"/>
          <p:cNvSpPr/>
          <p:nvPr/>
        </p:nvSpPr>
        <p:spPr>
          <a:xfrm>
            <a:off x="4330700" y="4145106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Desc4"/>
          <p:cNvSpPr/>
          <p:nvPr/>
        </p:nvSpPr>
        <p:spPr>
          <a:xfrm>
            <a:off x="4330700" y="4246706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Summarize changed files, risks, and intentional non-changes before committing.</a:t>
            </a:r>
          </a:p>
        </p:txBody>
      </p:sp>
      <p:sp>
        <p:nvSpPr>
          <p:cNvPr id="250" name="Shadow5"/>
          <p:cNvSpPr/>
          <p:nvPr/>
        </p:nvSpPr>
        <p:spPr>
          <a:xfrm>
            <a:off x="7975600" y="34986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D8DA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1" name="Card5"/>
          <p:cNvSpPr/>
          <p:nvPr/>
        </p:nvSpPr>
        <p:spPr>
          <a:xfrm>
            <a:off x="7950200" y="3473225"/>
            <a:ext cx="3556000" cy="19050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9525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Accent5"/>
          <p:cNvSpPr/>
          <p:nvPr/>
        </p:nvSpPr>
        <p:spPr>
          <a:xfrm>
            <a:off x="7950200" y="3473225"/>
            <a:ext cx="3556000" cy="635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3" name="Num5"/>
          <p:cNvSpPr/>
          <p:nvPr/>
        </p:nvSpPr>
        <p:spPr>
          <a:xfrm>
            <a:off x="8128000" y="3676425"/>
            <a:ext cx="381000" cy="3810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54" name="Title5"/>
          <p:cNvSpPr/>
          <p:nvPr/>
        </p:nvSpPr>
        <p:spPr>
          <a:xfrm>
            <a:off x="8610600" y="3676425"/>
            <a:ext cx="2667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32"/>
                </a:solidFill>
                <a:latin typeface="Segoe UI Semibold"/>
                <a:cs typeface="Segoe UI Semibold"/>
              </a:rPr>
              <a:t>Escalate</a:t>
            </a:r>
          </a:p>
        </p:txBody>
      </p:sp>
      <p:sp>
        <p:nvSpPr>
          <p:cNvPr id="255" name="Sep5"/>
          <p:cNvSpPr/>
          <p:nvPr/>
        </p:nvSpPr>
        <p:spPr>
          <a:xfrm>
            <a:off x="8128000" y="4133625"/>
            <a:ext cx="32004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6" name="Desc5"/>
          <p:cNvSpPr/>
          <p:nvPr/>
        </p:nvSpPr>
        <p:spPr>
          <a:xfrm>
            <a:off x="8128000" y="4235225"/>
            <a:ext cx="32004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50800" bIns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Segoe UI"/>
                <a:cs typeface="Segoe UI"/>
              </a:rPr>
              <a:t>If unsure, say so and explain how a human should verify. Never guess silently.</a:t>
            </a:r>
          </a:p>
        </p:txBody>
      </p:sp>
      <p:sp>
        <p:nvSpPr>
          <p:cNvPr id="300" name="Arrow1_0"/>
          <p:cNvSpPr/>
          <p:nvPr/>
        </p:nvSpPr>
        <p:spPr>
          <a:xfrm>
            <a:off x="39624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Arrow2_0"/>
          <p:cNvSpPr/>
          <p:nvPr/>
        </p:nvSpPr>
        <p:spPr>
          <a:xfrm>
            <a:off x="39624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Arrow1_1"/>
          <p:cNvSpPr/>
          <p:nvPr/>
        </p:nvSpPr>
        <p:spPr>
          <a:xfrm>
            <a:off x="7747000" y="21209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Arrow2_1"/>
          <p:cNvSpPr/>
          <p:nvPr/>
        </p:nvSpPr>
        <p:spPr>
          <a:xfrm>
            <a:off x="7747000" y="4229100"/>
            <a:ext cx="177800" cy="0"/>
          </a:xfrm>
          <a:prstGeom prst="line">
            <a:avLst/>
          </a:prstGeom>
          <a:ln w="15875">
            <a:solidFill>
              <a:srgbClr val="5B6ABF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afetyBanner"/>
          <p:cNvSpPr/>
          <p:nvPr/>
        </p:nvSpPr>
        <p:spPr>
          <a:xfrm>
            <a:off x="381000" y="5613400"/>
            <a:ext cx="11430000" cy="609600"/>
          </a:xfrm>
          <a:custGeom>
            <a:avLst/>
            <a:gdLst/>
            <a:ahLst/>
            <a:cxnLst/>
            <a:rect l="0" t="0" r="w" b="h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19800"/>
                </a:lnTo>
                <a:arcTo wR="1800" hR="1800" stAng="0" swAng="5400000"/>
                <a:lnTo>
                  <a:pt x="1800" y="21600"/>
                </a:lnTo>
                <a:arcTo wR="1800" hR="1800" stAng="5400000" swAng="5400000"/>
                <a:lnTo>
                  <a:pt x="0" y="0"/>
                </a:lnTo>
                <a:close/>
              </a:path>
            </a:pathLst>
          </a:custGeom>
          <a:solidFill>
            <a:srgbClr val="EDE8F5"/>
          </a:solidFill>
          <a:ln w="9525">
            <a:solidFill>
              <a:srgbClr val="C5B9E0"/>
            </a:solidFill>
          </a:ln>
        </p:spPr>
        <p:txBody>
          <a:bodyPr wrap="square" lIns="558800" tIns="50800" rIns="152400" bIns="5080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6ABF"/>
                </a:solidFill>
                <a:latin typeface="Segoe UI Semibold"/>
              </a:rPr>
              <a:t>Never trust "looks right."   </a:t>
            </a:r>
            <a:r>
              <a:rPr lang="en-US" sz="1100" dirty="0">
                <a:solidFill>
                  <a:srgbClr val="1A2332"/>
                </a:solidFill>
                <a:latin typeface="Segoe UI"/>
              </a:rPr>
              <a:t>Prefer file evidence, test output, explicit uncertainty. Add hooks to auto-run linters and tests after edits.</a:t>
            </a:r>
          </a:p>
        </p:txBody>
      </p:sp>
      <p:pic>
        <p:nvPicPr>
          <p:cNvPr id="502" name="Graphic 50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5778500"/>
            <a:ext cx="279400" cy="2794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363210F-A70B-7F51-028E-D84BAEFC89EE}"/>
              </a:ext>
            </a:extLst>
          </p:cNvPr>
          <p:cNvGrpSpPr/>
          <p:nvPr/>
        </p:nvGrpSpPr>
        <p:grpSpPr>
          <a:xfrm>
            <a:off x="1853381" y="3200381"/>
            <a:ext cx="7885471" cy="314641"/>
            <a:chOff x="1853381" y="3200381"/>
            <a:chExt cx="7885471" cy="314641"/>
          </a:xfrm>
        </p:grpSpPr>
        <p:cxnSp>
          <p:nvCxnSpPr>
            <p:cNvPr id="9" name="Elbow Connector 8">
              <a:extLst>
                <a:ext uri="{FF2B5EF4-FFF2-40B4-BE49-F238E27FC236}">
                  <a16:creationId xmlns:a16="http://schemas.microsoft.com/office/drawing/2014/main" id="{2CA6D7E9-E57B-3244-6484-C41EC6216C0F}"/>
                </a:ext>
              </a:extLst>
            </p:cNvPr>
            <p:cNvCxnSpPr/>
            <p:nvPr/>
          </p:nvCxnSpPr>
          <p:spPr>
            <a:xfrm rot="10800000" flipV="1">
              <a:off x="1853381" y="3200381"/>
              <a:ext cx="7885471" cy="122903"/>
            </a:xfrm>
            <a:prstGeom prst="bentConnector3">
              <a:avLst>
                <a:gd name="adj1" fmla="val 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Arrow1_0">
              <a:extLst>
                <a:ext uri="{FF2B5EF4-FFF2-40B4-BE49-F238E27FC236}">
                  <a16:creationId xmlns:a16="http://schemas.microsoft.com/office/drawing/2014/main" id="{7875C07C-D7F0-DCDD-0B80-DA74E444C3CC}"/>
                </a:ext>
              </a:extLst>
            </p:cNvPr>
            <p:cNvSpPr/>
            <p:nvPr/>
          </p:nvSpPr>
          <p:spPr>
            <a:xfrm>
              <a:off x="1868130" y="3311841"/>
              <a:ext cx="0" cy="203181"/>
            </a:xfrm>
            <a:prstGeom prst="line">
              <a:avLst/>
            </a:prstGeom>
            <a:ln w="15875">
              <a:solidFill>
                <a:srgbClr val="5B6ABF"/>
              </a:solidFill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3029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/>
              </a:rPr>
              <a:t>Which feature solves which problem?</a:t>
            </a:r>
          </a:p>
        </p:txBody>
      </p:sp>
      <p:sp>
        <p:nvSpPr>
          <p:cNvPr id="101" name="Tagline"/>
          <p:cNvSpPr/>
          <p:nvPr/>
        </p:nvSpPr>
        <p:spPr>
          <a:xfrm>
            <a:off x="660400" y="609600"/>
            <a:ext cx="9512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Segoe UI"/>
              </a:rPr>
              <a:t>Use the lightest-weight mechanism that still gives Claude what it needs</a:t>
            </a:r>
          </a:p>
        </p:txBody>
      </p:sp>
      <p:sp>
        <p:nvSpPr>
          <p:cNvPr id="102" name="Divider"/>
          <p:cNvSpPr/>
          <p:nvPr/>
        </p:nv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3" name="Rail"/>
          <p:cNvSpPr/>
          <p:nvPr/>
        </p:nvSpPr>
        <p:spPr>
          <a:xfrm>
            <a:off x="1447800" y="1397000"/>
            <a:ext cx="9347200" cy="0"/>
          </a:xfrm>
          <a:prstGeom prst="line">
            <a:avLst/>
          </a:prstGeom>
          <a:ln w="19050">
            <a:solidFill>
              <a:srgbClr val="C5CA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0" name="Node0"/>
          <p:cNvSpPr/>
          <p:nvPr/>
        </p:nvSpPr>
        <p:spPr>
          <a:xfrm>
            <a:off x="1168400" y="1117600"/>
            <a:ext cx="558800" cy="558800"/>
          </a:xfrm>
          <a:prstGeom prst="ellipse">
            <a:avLst/>
          </a:prstGeom>
          <a:solidFill>
            <a:srgbClr val="1565C0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1" name="Stem0"/>
          <p:cNvSpPr/>
          <p:nvPr/>
        </p:nvSpPr>
        <p:spPr>
          <a:xfrm>
            <a:off x="1447800" y="1676400"/>
            <a:ext cx="0" cy="177800"/>
          </a:xfrm>
          <a:prstGeom prst="line">
            <a:avLst/>
          </a:prstGeom>
          <a:ln w="1270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2" name="Panel0"/>
          <p:cNvSpPr/>
          <p:nvPr/>
        </p:nvSpPr>
        <p:spPr>
          <a:xfrm>
            <a:off x="3175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BF2FA"/>
          </a:solidFill>
          <a:ln w="9525">
            <a:solidFill>
              <a:srgbClr val="1565C0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3" name="PTitle0"/>
          <p:cNvSpPr/>
          <p:nvPr/>
        </p:nvSpPr>
        <p:spPr>
          <a:xfrm>
            <a:off x="4191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Segoe UI Semibold"/>
              </a:rPr>
              <a:t>CLAUDE.md</a:t>
            </a:r>
          </a:p>
        </p:txBody>
      </p:sp>
      <p:sp>
        <p:nvSpPr>
          <p:cNvPr id="204" name="PSub0"/>
          <p:cNvSpPr/>
          <p:nvPr/>
        </p:nvSpPr>
        <p:spPr>
          <a:xfrm>
            <a:off x="4191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Persistent project memory</a:t>
            </a:r>
          </a:p>
        </p:txBody>
      </p:sp>
      <p:sp>
        <p:nvSpPr>
          <p:cNvPr id="205" name="PSep1_0"/>
          <p:cNvSpPr/>
          <p:nvPr/>
        </p:nvSpPr>
        <p:spPr>
          <a:xfrm>
            <a:off x="495300" y="25400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LdLbl0"/>
          <p:cNvSpPr/>
          <p:nvPr/>
        </p:nvSpPr>
        <p:spPr>
          <a:xfrm>
            <a:off x="4191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LOADS</a:t>
            </a:r>
          </a:p>
        </p:txBody>
      </p:sp>
      <p:sp>
        <p:nvSpPr>
          <p:cNvPr id="207" name="PLdVal0"/>
          <p:cNvSpPr/>
          <p:nvPr/>
        </p:nvSpPr>
        <p:spPr>
          <a:xfrm>
            <a:off x="4191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Session start</a:t>
            </a:r>
          </a:p>
        </p:txBody>
      </p:sp>
      <p:sp>
        <p:nvSpPr>
          <p:cNvPr id="208" name="PBfLbl0"/>
          <p:cNvSpPr/>
          <p:nvPr/>
        </p:nvSpPr>
        <p:spPr>
          <a:xfrm>
            <a:off x="4191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BEST FOR</a:t>
            </a:r>
          </a:p>
        </p:txBody>
      </p:sp>
      <p:sp>
        <p:nvSpPr>
          <p:cNvPr id="209" name="PBfVal0"/>
          <p:cNvSpPr/>
          <p:nvPr/>
        </p:nvSpPr>
        <p:spPr>
          <a:xfrm>
            <a:off x="4191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Project context, code style, build/test commands, gotchas</a:t>
            </a:r>
          </a:p>
        </p:txBody>
      </p:sp>
      <p:sp>
        <p:nvSpPr>
          <p:cNvPr id="210" name="PSep2_0"/>
          <p:cNvSpPr/>
          <p:nvPr/>
        </p:nvSpPr>
        <p:spPr>
          <a:xfrm>
            <a:off x="495300" y="4013200"/>
            <a:ext cx="1905000" cy="0"/>
          </a:xfrm>
          <a:prstGeom prst="line">
            <a:avLst/>
          </a:prstGeom>
          <a:ln w="6350">
            <a:solidFill>
              <a:srgbClr val="1565C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PExBg0"/>
          <p:cNvSpPr/>
          <p:nvPr/>
        </p:nvSpPr>
        <p:spPr>
          <a:xfrm>
            <a:off x="3937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565C0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PExLbl0"/>
          <p:cNvSpPr/>
          <p:nvPr/>
        </p:nvSpPr>
        <p:spPr>
          <a:xfrm>
            <a:off x="4953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65C0"/>
                </a:solidFill>
                <a:latin typeface="Segoe UI Semibold"/>
              </a:rPr>
              <a:t>EXAMPLE</a:t>
            </a:r>
          </a:p>
        </p:txBody>
      </p:sp>
      <p:sp>
        <p:nvSpPr>
          <p:cNvPr id="213" name="PExVal0"/>
          <p:cNvSpPr/>
          <p:nvPr/>
        </p:nvSpPr>
        <p:spPr>
          <a:xfrm>
            <a:off x="4953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 Project Name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Tech Stack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Architecture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Key Commands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Code Style and Conventions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  <a:p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## Development Workflow</a:t>
            </a:r>
          </a:p>
          <a:p>
            <a:endParaRPr lang="en-US" sz="900" dirty="0">
              <a:solidFill>
                <a:srgbClr val="4B5563"/>
              </a:solidFill>
              <a:latin typeface="Consolas"/>
              <a:cs typeface="Consolas"/>
            </a:endParaRPr>
          </a:p>
        </p:txBody>
      </p:sp>
      <p:sp>
        <p:nvSpPr>
          <p:cNvPr id="220" name="Node1"/>
          <p:cNvSpPr/>
          <p:nvPr/>
        </p:nvSpPr>
        <p:spPr>
          <a:xfrm>
            <a:off x="3505200" y="1117600"/>
            <a:ext cx="558800" cy="55880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1" name="Stem1"/>
          <p:cNvSpPr/>
          <p:nvPr/>
        </p:nvSpPr>
        <p:spPr>
          <a:xfrm>
            <a:off x="3784600" y="1676400"/>
            <a:ext cx="0" cy="177800"/>
          </a:xfrm>
          <a:prstGeom prst="line">
            <a:avLst/>
          </a:prstGeom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anel1"/>
          <p:cNvSpPr/>
          <p:nvPr/>
        </p:nvSpPr>
        <p:spPr>
          <a:xfrm>
            <a:off x="26543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0EAFB"/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3" name="PTitle1"/>
          <p:cNvSpPr/>
          <p:nvPr/>
        </p:nvSpPr>
        <p:spPr>
          <a:xfrm>
            <a:off x="27559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Segoe UI Semibold"/>
              </a:rPr>
              <a:t>Rules</a:t>
            </a:r>
          </a:p>
        </p:txBody>
      </p:sp>
      <p:sp>
        <p:nvSpPr>
          <p:cNvPr id="224" name="PSub1"/>
          <p:cNvSpPr/>
          <p:nvPr/>
        </p:nvSpPr>
        <p:spPr>
          <a:xfrm>
            <a:off x="27559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Scoped guidance</a:t>
            </a:r>
          </a:p>
        </p:txBody>
      </p:sp>
      <p:sp>
        <p:nvSpPr>
          <p:cNvPr id="225" name="PSep1_1"/>
          <p:cNvSpPr/>
          <p:nvPr/>
        </p:nvSpPr>
        <p:spPr>
          <a:xfrm>
            <a:off x="2832100" y="25400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6" name="PLdLbl1"/>
          <p:cNvSpPr/>
          <p:nvPr/>
        </p:nvSpPr>
        <p:spPr>
          <a:xfrm>
            <a:off x="27559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LOADS</a:t>
            </a:r>
          </a:p>
        </p:txBody>
      </p:sp>
      <p:sp>
        <p:nvSpPr>
          <p:cNvPr id="227" name="PLdVal1"/>
          <p:cNvSpPr/>
          <p:nvPr/>
        </p:nvSpPr>
        <p:spPr>
          <a:xfrm>
            <a:off x="27559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Path-matched files</a:t>
            </a:r>
          </a:p>
        </p:txBody>
      </p:sp>
      <p:sp>
        <p:nvSpPr>
          <p:cNvPr id="228" name="PBfLbl1"/>
          <p:cNvSpPr/>
          <p:nvPr/>
        </p:nvSpPr>
        <p:spPr>
          <a:xfrm>
            <a:off x="27559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BEST FOR</a:t>
            </a:r>
          </a:p>
        </p:txBody>
      </p:sp>
      <p:sp>
        <p:nvSpPr>
          <p:cNvPr id="229" name="PBfVal1"/>
          <p:cNvSpPr/>
          <p:nvPr/>
        </p:nvSpPr>
        <p:spPr>
          <a:xfrm>
            <a:off x="27559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File-type or path conventions</a:t>
            </a:r>
          </a:p>
        </p:txBody>
      </p:sp>
      <p:sp>
        <p:nvSpPr>
          <p:cNvPr id="230" name="PSep2_1"/>
          <p:cNvSpPr/>
          <p:nvPr/>
        </p:nvSpPr>
        <p:spPr>
          <a:xfrm>
            <a:off x="2832100" y="4013200"/>
            <a:ext cx="1905000" cy="0"/>
          </a:xfrm>
          <a:prstGeom prst="line">
            <a:avLst/>
          </a:prstGeom>
          <a:ln w="635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1" name="PExBg1"/>
          <p:cNvSpPr/>
          <p:nvPr/>
        </p:nvSpPr>
        <p:spPr>
          <a:xfrm>
            <a:off x="27305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7C3AED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2" name="PExLbl1"/>
          <p:cNvSpPr/>
          <p:nvPr/>
        </p:nvSpPr>
        <p:spPr>
          <a:xfrm>
            <a:off x="28321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7C3AED"/>
                </a:solidFill>
                <a:latin typeface="Segoe UI Semibold"/>
              </a:rPr>
              <a:t>EXAMPLE</a:t>
            </a:r>
          </a:p>
        </p:txBody>
      </p:sp>
      <p:sp>
        <p:nvSpPr>
          <p:cNvPr id="233" name="PExVal1"/>
          <p:cNvSpPr/>
          <p:nvPr/>
        </p:nvSpPr>
        <p:spPr>
          <a:xfrm>
            <a:off x="28321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*.test.ts → "Use vitest, mock external APIs, never use snapshots"</a:t>
            </a:r>
          </a:p>
        </p:txBody>
      </p:sp>
      <p:sp>
        <p:nvSpPr>
          <p:cNvPr id="240" name="Node2"/>
          <p:cNvSpPr/>
          <p:nvPr/>
        </p:nvSpPr>
        <p:spPr>
          <a:xfrm>
            <a:off x="5842000" y="1117600"/>
            <a:ext cx="558800" cy="5588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1" name="Stem2"/>
          <p:cNvSpPr/>
          <p:nvPr/>
        </p:nvSpPr>
        <p:spPr>
          <a:xfrm>
            <a:off x="6121400" y="1676400"/>
            <a:ext cx="0" cy="177800"/>
          </a:xfrm>
          <a:prstGeom prst="line">
            <a:avLst/>
          </a:prstGeom>
          <a:ln w="1270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2" name="Panel2"/>
          <p:cNvSpPr/>
          <p:nvPr/>
        </p:nvSpPr>
        <p:spPr>
          <a:xfrm>
            <a:off x="49911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059669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3" name="PTitle2"/>
          <p:cNvSpPr/>
          <p:nvPr/>
        </p:nvSpPr>
        <p:spPr>
          <a:xfrm>
            <a:off x="50927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Segoe UI Semibold"/>
              </a:rPr>
              <a:t>Skills</a:t>
            </a:r>
          </a:p>
        </p:txBody>
      </p:sp>
      <p:sp>
        <p:nvSpPr>
          <p:cNvPr id="244" name="PSub2"/>
          <p:cNvSpPr/>
          <p:nvPr/>
        </p:nvSpPr>
        <p:spPr>
          <a:xfrm>
            <a:off x="50927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Composable expertise packages</a:t>
            </a:r>
          </a:p>
        </p:txBody>
      </p:sp>
      <p:sp>
        <p:nvSpPr>
          <p:cNvPr id="245" name="PSep1_2"/>
          <p:cNvSpPr/>
          <p:nvPr/>
        </p:nvSpPr>
        <p:spPr>
          <a:xfrm>
            <a:off x="5168900" y="25400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6" name="PLdLbl2"/>
          <p:cNvSpPr/>
          <p:nvPr/>
        </p:nvSpPr>
        <p:spPr>
          <a:xfrm>
            <a:off x="50927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LOADS</a:t>
            </a:r>
          </a:p>
        </p:txBody>
      </p:sp>
      <p:sp>
        <p:nvSpPr>
          <p:cNvPr id="247" name="PLdVal2"/>
          <p:cNvSpPr/>
          <p:nvPr/>
        </p:nvSpPr>
        <p:spPr>
          <a:xfrm>
            <a:off x="50927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/slash-cmd or auto when relevant</a:t>
            </a:r>
          </a:p>
        </p:txBody>
      </p:sp>
      <p:sp>
        <p:nvSpPr>
          <p:cNvPr id="248" name="PBfLbl2"/>
          <p:cNvSpPr/>
          <p:nvPr/>
        </p:nvSpPr>
        <p:spPr>
          <a:xfrm>
            <a:off x="50927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BEST FOR</a:t>
            </a:r>
          </a:p>
        </p:txBody>
      </p:sp>
      <p:sp>
        <p:nvSpPr>
          <p:cNvPr id="249" name="PBfVal2"/>
          <p:cNvSpPr/>
          <p:nvPr/>
        </p:nvSpPr>
        <p:spPr>
          <a:xfrm>
            <a:off x="50927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Repeatable workflows, doc generation, TDD, code review, design</a:t>
            </a:r>
          </a:p>
        </p:txBody>
      </p:sp>
      <p:sp>
        <p:nvSpPr>
          <p:cNvPr id="250" name="PSep2_2"/>
          <p:cNvSpPr/>
          <p:nvPr/>
        </p:nvSpPr>
        <p:spPr>
          <a:xfrm>
            <a:off x="5168900" y="4013200"/>
            <a:ext cx="1905000" cy="0"/>
          </a:xfrm>
          <a:prstGeom prst="line">
            <a:avLst/>
          </a:prstGeom>
          <a:ln w="6350">
            <a:solidFill>
              <a:srgbClr val="05966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PExBg2"/>
          <p:cNvSpPr/>
          <p:nvPr/>
        </p:nvSpPr>
        <p:spPr>
          <a:xfrm>
            <a:off x="50673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059669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PExLbl2"/>
          <p:cNvSpPr/>
          <p:nvPr/>
        </p:nvSpPr>
        <p:spPr>
          <a:xfrm>
            <a:off x="51689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  <a:latin typeface="Segoe UI Semibold"/>
              </a:rPr>
              <a:t>EXAMPLE</a:t>
            </a:r>
          </a:p>
        </p:txBody>
      </p:sp>
      <p:sp>
        <p:nvSpPr>
          <p:cNvPr id="253" name="PExVal2"/>
          <p:cNvSpPr/>
          <p:nvPr/>
        </p:nvSpPr>
        <p:spPr>
          <a:xfrm>
            <a:off x="51689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Official: frontend-design,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mcp-builder, skill-creator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Community: superpowers,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remotion, webapp-testing</a:t>
            </a:r>
          </a:p>
        </p:txBody>
      </p:sp>
      <p:sp>
        <p:nvSpPr>
          <p:cNvPr id="260" name="Node3"/>
          <p:cNvSpPr/>
          <p:nvPr/>
        </p:nvSpPr>
        <p:spPr>
          <a:xfrm>
            <a:off x="8178800" y="1117600"/>
            <a:ext cx="558800" cy="558800"/>
          </a:xfrm>
          <a:prstGeom prst="ellipse">
            <a:avLst/>
          </a:prstGeom>
          <a:solidFill>
            <a:srgbClr val="D4622B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61" name="Stem3"/>
          <p:cNvSpPr/>
          <p:nvPr/>
        </p:nvSpPr>
        <p:spPr>
          <a:xfrm>
            <a:off x="8458200" y="1676400"/>
            <a:ext cx="0" cy="177800"/>
          </a:xfrm>
          <a:prstGeom prst="line">
            <a:avLst/>
          </a:prstGeom>
          <a:ln w="1270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Panel3"/>
          <p:cNvSpPr/>
          <p:nvPr/>
        </p:nvSpPr>
        <p:spPr>
          <a:xfrm>
            <a:off x="73279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3EC"/>
          </a:solidFill>
          <a:ln w="9525">
            <a:solidFill>
              <a:srgbClr val="D4622B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PTitle3"/>
          <p:cNvSpPr/>
          <p:nvPr/>
        </p:nvSpPr>
        <p:spPr>
          <a:xfrm>
            <a:off x="74295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622B"/>
                </a:solidFill>
                <a:latin typeface="Segoe UI Semibold"/>
              </a:rPr>
              <a:t>MCP</a:t>
            </a:r>
          </a:p>
        </p:txBody>
      </p:sp>
      <p:sp>
        <p:nvSpPr>
          <p:cNvPr id="264" name="PSub3"/>
          <p:cNvSpPr/>
          <p:nvPr/>
        </p:nvSpPr>
        <p:spPr>
          <a:xfrm>
            <a:off x="74295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External connections</a:t>
            </a:r>
          </a:p>
        </p:txBody>
      </p:sp>
      <p:sp>
        <p:nvSpPr>
          <p:cNvPr id="265" name="PSep1_3"/>
          <p:cNvSpPr/>
          <p:nvPr/>
        </p:nvSpPr>
        <p:spPr>
          <a:xfrm>
            <a:off x="7505700" y="25400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6" name="PLdLbl3"/>
          <p:cNvSpPr/>
          <p:nvPr/>
        </p:nvSpPr>
        <p:spPr>
          <a:xfrm>
            <a:off x="74295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LOADS</a:t>
            </a:r>
          </a:p>
        </p:txBody>
      </p:sp>
      <p:sp>
        <p:nvSpPr>
          <p:cNvPr id="267" name="PLdVal3"/>
          <p:cNvSpPr/>
          <p:nvPr/>
        </p:nvSpPr>
        <p:spPr>
          <a:xfrm>
            <a:off x="74295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Tool defs at start</a:t>
            </a:r>
          </a:p>
        </p:txBody>
      </p:sp>
      <p:sp>
        <p:nvSpPr>
          <p:cNvPr id="268" name="PBfLbl3"/>
          <p:cNvSpPr/>
          <p:nvPr/>
        </p:nvSpPr>
        <p:spPr>
          <a:xfrm>
            <a:off x="74295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BEST FOR</a:t>
            </a:r>
          </a:p>
        </p:txBody>
      </p:sp>
      <p:sp>
        <p:nvSpPr>
          <p:cNvPr id="269" name="PBfVal3"/>
          <p:cNvSpPr/>
          <p:nvPr/>
        </p:nvSpPr>
        <p:spPr>
          <a:xfrm>
            <a:off x="74295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Slack, Jira, Drive, DB, APIs</a:t>
            </a:r>
          </a:p>
        </p:txBody>
      </p:sp>
      <p:sp>
        <p:nvSpPr>
          <p:cNvPr id="270" name="PSep2_3"/>
          <p:cNvSpPr/>
          <p:nvPr/>
        </p:nvSpPr>
        <p:spPr>
          <a:xfrm>
            <a:off x="7505700" y="4013200"/>
            <a:ext cx="1905000" cy="0"/>
          </a:xfrm>
          <a:prstGeom prst="line">
            <a:avLst/>
          </a:prstGeom>
          <a:ln w="6350">
            <a:solidFill>
              <a:srgbClr val="D4622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PExBg3"/>
          <p:cNvSpPr/>
          <p:nvPr/>
        </p:nvSpPr>
        <p:spPr>
          <a:xfrm>
            <a:off x="74041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4622B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PExLbl3"/>
          <p:cNvSpPr/>
          <p:nvPr/>
        </p:nvSpPr>
        <p:spPr>
          <a:xfrm>
            <a:off x="75057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622B"/>
                </a:solidFill>
                <a:latin typeface="Segoe UI Semibold"/>
              </a:rPr>
              <a:t>EXAMPLE</a:t>
            </a:r>
          </a:p>
        </p:txBody>
      </p:sp>
      <p:sp>
        <p:nvSpPr>
          <p:cNvPr id="273" name="PExVal3"/>
          <p:cNvSpPr/>
          <p:nvPr/>
        </p:nvSpPr>
        <p:spPr>
          <a:xfrm>
            <a:off x="75057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"Read JIRA-1234, update status to In Review, post to #eng"</a:t>
            </a:r>
          </a:p>
        </p:txBody>
      </p:sp>
      <p:sp>
        <p:nvSpPr>
          <p:cNvPr id="280" name="Node4"/>
          <p:cNvSpPr/>
          <p:nvPr/>
        </p:nvSpPr>
        <p:spPr>
          <a:xfrm>
            <a:off x="10515600" y="1117600"/>
            <a:ext cx="558800" cy="55880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81" name="Stem4"/>
          <p:cNvSpPr/>
          <p:nvPr/>
        </p:nvSpPr>
        <p:spPr>
          <a:xfrm>
            <a:off x="10795000" y="1676400"/>
            <a:ext cx="0" cy="177800"/>
          </a:xfrm>
          <a:prstGeom prst="line">
            <a:avLst/>
          </a:prstGeom>
          <a:ln w="1270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Panel4"/>
          <p:cNvSpPr/>
          <p:nvPr/>
        </p:nvSpPr>
        <p:spPr>
          <a:xfrm>
            <a:off x="9664700" y="1854200"/>
            <a:ext cx="2260600" cy="4445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9525">
            <a:solidFill>
              <a:srgbClr val="B91C1C">
                <a:alpha val="3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PTitle4"/>
          <p:cNvSpPr/>
          <p:nvPr/>
        </p:nvSpPr>
        <p:spPr>
          <a:xfrm>
            <a:off x="9766300" y="19812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91C1C"/>
                </a:solidFill>
                <a:latin typeface="Segoe UI Semibold"/>
              </a:rPr>
              <a:t>Hooks</a:t>
            </a:r>
          </a:p>
        </p:txBody>
      </p:sp>
      <p:sp>
        <p:nvSpPr>
          <p:cNvPr id="284" name="PSub4"/>
          <p:cNvSpPr/>
          <p:nvPr/>
        </p:nvSpPr>
        <p:spPr>
          <a:xfrm>
            <a:off x="9766300" y="2286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8A9E"/>
                </a:solidFill>
                <a:latin typeface="Segoe UI"/>
              </a:rPr>
              <a:t>Deterministic lifecycle triggers</a:t>
            </a:r>
          </a:p>
        </p:txBody>
      </p:sp>
      <p:sp>
        <p:nvSpPr>
          <p:cNvPr id="285" name="PSep1_4"/>
          <p:cNvSpPr/>
          <p:nvPr/>
        </p:nvSpPr>
        <p:spPr>
          <a:xfrm>
            <a:off x="9842500" y="25400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6" name="PLdLbl4"/>
          <p:cNvSpPr/>
          <p:nvPr/>
        </p:nvSpPr>
        <p:spPr>
          <a:xfrm>
            <a:off x="9766300" y="2641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LOADS</a:t>
            </a:r>
          </a:p>
        </p:txBody>
      </p:sp>
      <p:sp>
        <p:nvSpPr>
          <p:cNvPr id="287" name="PLdVal4"/>
          <p:cNvSpPr/>
          <p:nvPr/>
        </p:nvSpPr>
        <p:spPr>
          <a:xfrm>
            <a:off x="9766300" y="2819400"/>
            <a:ext cx="205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On trigger events</a:t>
            </a:r>
          </a:p>
        </p:txBody>
      </p:sp>
      <p:sp>
        <p:nvSpPr>
          <p:cNvPr id="288" name="PBfLbl4"/>
          <p:cNvSpPr/>
          <p:nvPr/>
        </p:nvSpPr>
        <p:spPr>
          <a:xfrm>
            <a:off x="9766300" y="3149600"/>
            <a:ext cx="2057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BEST FOR</a:t>
            </a:r>
          </a:p>
        </p:txBody>
      </p:sp>
      <p:sp>
        <p:nvSpPr>
          <p:cNvPr id="289" name="PBfVal4"/>
          <p:cNvSpPr/>
          <p:nvPr/>
        </p:nvSpPr>
        <p:spPr>
          <a:xfrm>
            <a:off x="9766300" y="33274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A2332"/>
                </a:solidFill>
                <a:latin typeface="Segoe UI"/>
              </a:rPr>
              <a:t>Lint, format, security gates, guaranteed enforcement</a:t>
            </a:r>
          </a:p>
        </p:txBody>
      </p:sp>
      <p:sp>
        <p:nvSpPr>
          <p:cNvPr id="290" name="PSep2_4"/>
          <p:cNvSpPr/>
          <p:nvPr/>
        </p:nvSpPr>
        <p:spPr>
          <a:xfrm>
            <a:off x="9842500" y="4013200"/>
            <a:ext cx="1905000" cy="0"/>
          </a:xfrm>
          <a:prstGeom prst="line">
            <a:avLst/>
          </a:prstGeom>
          <a:ln w="6350">
            <a:solidFill>
              <a:srgbClr val="B91C1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1" name="PExBg4"/>
          <p:cNvSpPr/>
          <p:nvPr/>
        </p:nvSpPr>
        <p:spPr>
          <a:xfrm>
            <a:off x="9740900" y="4114800"/>
            <a:ext cx="210820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B91C1C">
                <a:alpha val="40000"/>
              </a:srgb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2" name="PExLbl4"/>
          <p:cNvSpPr/>
          <p:nvPr/>
        </p:nvSpPr>
        <p:spPr>
          <a:xfrm>
            <a:off x="9842500" y="4191000"/>
            <a:ext cx="1905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B91C1C"/>
                </a:solidFill>
                <a:latin typeface="Segoe UI Semibold"/>
              </a:rPr>
              <a:t>EXAMPLE</a:t>
            </a:r>
          </a:p>
        </p:txBody>
      </p:sp>
      <p:sp>
        <p:nvSpPr>
          <p:cNvPr id="293" name="PExVal4"/>
          <p:cNvSpPr/>
          <p:nvPr/>
        </p:nvSpPr>
        <p:spPr>
          <a:xfrm>
            <a:off x="9842500" y="4394200"/>
            <a:ext cx="1905000" cy="172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PostToolUse → eslint --fix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PreToolUse → block rm -rf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onsolas"/>
                <a:cs typeface="Consolas"/>
              </a:rPr>
              <a:t>Stop → POST /api/log</a:t>
            </a:r>
          </a:p>
        </p:txBody>
      </p:sp>
    </p:spTree>
    <p:extLst>
      <p:ext uri="{BB962C8B-B14F-4D97-AF65-F5344CB8AC3E}">
        <p14:creationId xmlns:p14="http://schemas.microsoft.com/office/powerpoint/2010/main" val="22995293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Subagents: isolate, specialize, and parallelize work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Subagents run in isolated contexts. Agent Teams (preview) enable multi-agent collaboration across worktrees.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896112"/>
            <a:ext cx="12192000" cy="9094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835400" y="3556000"/>
            <a:ext cx="863600" cy="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 flipV="1">
            <a:off x="3835400" y="21336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35400" y="3556000"/>
            <a:ext cx="863600" cy="1422400"/>
          </a:xfrm>
          <a:prstGeom prst="line">
            <a:avLst/>
          </a:prstGeom>
          <a:noFill/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60400" y="2794000"/>
            <a:ext cx="3175000" cy="1524000"/>
          </a:xfrm>
          <a:prstGeom prst="roundRect">
            <a:avLst>
              <a:gd name="adj" fmla="val 6000"/>
            </a:avLst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1E1E1E"/>
            </a:solidFill>
            <a:prstDash val="solid"/>
          </a:ln>
          <a:effectLst>
            <a:outerShdw blurRad="63500" dist="38100" dir="5400000" algn="t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3600" y="2997200"/>
            <a:ext cx="2768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Main conversation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3600" y="3352800"/>
            <a:ext cx="2768600" cy="787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0"/>
                </a:solidFill>
              </a:rPr>
              <a:t>Holds decisions, synthesis, and final changes. Delegates noisy work out.</a:t>
            </a:r>
          </a:p>
        </p:txBody>
      </p:sp>
      <p:sp>
        <p:nvSpPr>
          <p:cNvPr id="11" name="Shape 9"/>
          <p:cNvSpPr/>
          <p:nvPr/>
        </p:nvSpPr>
        <p:spPr>
          <a:xfrm>
            <a:off x="4699000" y="16129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02200" y="17653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</a:rPr>
              <a:t>Explore</a:t>
            </a:r>
          </a:p>
        </p:txBody>
      </p:sp>
      <p:sp>
        <p:nvSpPr>
          <p:cNvPr id="13" name="Text 11"/>
          <p:cNvSpPr/>
          <p:nvPr/>
        </p:nvSpPr>
        <p:spPr>
          <a:xfrm>
            <a:off x="4902200" y="20447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Fast, read-only search via Haiku; keeps exploration out of main context</a:t>
            </a:r>
          </a:p>
        </p:txBody>
      </p:sp>
      <p:sp>
        <p:nvSpPr>
          <p:cNvPr id="14" name="Shape 12"/>
          <p:cNvSpPr/>
          <p:nvPr/>
        </p:nvSpPr>
        <p:spPr>
          <a:xfrm>
            <a:off x="4699000" y="30353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E8EEF5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02200" y="31877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</a:rPr>
              <a:t>Plan</a:t>
            </a:r>
          </a:p>
        </p:txBody>
      </p:sp>
      <p:sp>
        <p:nvSpPr>
          <p:cNvPr id="16" name="Text 14"/>
          <p:cNvSpPr/>
          <p:nvPr/>
        </p:nvSpPr>
        <p:spPr>
          <a:xfrm>
            <a:off x="4902200" y="34671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Codebase research during plan mode; prevents infinite nesting</a:t>
            </a:r>
          </a:p>
        </p:txBody>
      </p:sp>
      <p:sp>
        <p:nvSpPr>
          <p:cNvPr id="17" name="Shape 15"/>
          <p:cNvSpPr/>
          <p:nvPr/>
        </p:nvSpPr>
        <p:spPr>
          <a:xfrm>
            <a:off x="4699000" y="4457700"/>
            <a:ext cx="3556000" cy="10414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6350">
            <a:solidFill>
              <a:srgbClr val="E2E8F0"/>
            </a:solidFill>
          </a:ln>
          <a:effectLst>
            <a:outerShdw blurRad="50800" dist="25400" dir="5400000" algn="t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02200" y="4610100"/>
            <a:ext cx="203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</a:rPr>
              <a:t>General-purpose</a:t>
            </a:r>
          </a:p>
        </p:txBody>
      </p:sp>
      <p:sp>
        <p:nvSpPr>
          <p:cNvPr id="19" name="Text 17"/>
          <p:cNvSpPr/>
          <p:nvPr/>
        </p:nvSpPr>
        <p:spPr>
          <a:xfrm>
            <a:off x="4902200" y="4889500"/>
            <a:ext cx="2921000" cy="508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</a:rPr>
              <a:t>Complex multi-step tasks requiring both exploration and code modification</a:t>
            </a:r>
          </a:p>
        </p:txBody>
      </p:sp>
      <p:sp>
        <p:nvSpPr>
          <p:cNvPr id="20" name="Shape 18"/>
          <p:cNvSpPr/>
          <p:nvPr/>
        </p:nvSpPr>
        <p:spPr>
          <a:xfrm>
            <a:off x="8763000" y="1612900"/>
            <a:ext cx="3022600" cy="38862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8EEF5"/>
            </a:solidFill>
            <a:prstDash val="solid"/>
          </a:ln>
          <a:effectLst>
            <a:outerShdw blurRad="1905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966200" y="1816100"/>
            <a:ext cx="261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622B"/>
                </a:solidFill>
              </a:rPr>
              <a:t>Use subagents when...</a:t>
            </a:r>
          </a:p>
        </p:txBody>
      </p:sp>
      <p:sp>
        <p:nvSpPr>
          <p:cNvPr id="22" name="Text 20"/>
          <p:cNvSpPr/>
          <p:nvPr/>
        </p:nvSpPr>
        <p:spPr>
          <a:xfrm>
            <a:off x="8966200" y="2171700"/>
            <a:ext cx="2616200" cy="1524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171450" indent="-171450"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task produces verbose output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work is self-contained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you need tool restrictions</a:t>
            </a:r>
          </a:p>
          <a:p>
            <a:pPr marL="171450" indent="-171450">
              <a:spcBef>
                <a:spcPts val="400"/>
              </a:spcBef>
              <a:buFont typeface="Arial"/>
              <a:buChar char="•"/>
            </a:pPr>
            <a:r>
              <a:rPr lang="en-US" sz="1100" dirty="0">
                <a:solidFill>
                  <a:srgbClr val="2D3748"/>
                </a:solidFill>
              </a:rPr>
              <a:t>investigations can run in parallel</a:t>
            </a:r>
          </a:p>
        </p:txBody>
      </p:sp>
      <p:sp>
        <p:nvSpPr>
          <p:cNvPr id="23" name="Text 21"/>
          <p:cNvSpPr/>
          <p:nvPr/>
        </p:nvSpPr>
        <p:spPr>
          <a:xfrm>
            <a:off x="8966200" y="4089400"/>
            <a:ext cx="2616200" cy="127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</a:rPr>
              <a:t>+ Custom agents</a:t>
            </a:r>
            <a:r>
              <a:rPr lang="en-US" sz="1000" dirty="0">
                <a:solidFill>
                  <a:srgbClr val="4A5568"/>
                </a:solidFill>
              </a:rPr>
              <a:t> via .claude/agents/*.md with scoped tools, model, hooks.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4A5568"/>
                </a:solidFill>
              </a:rPr>
              <a:t>Agent Teams:</a:t>
            </a:r>
            <a:r>
              <a:rPr lang="en-US" sz="1000" dirty="0">
                <a:solidFill>
                  <a:srgbClr val="4A5568"/>
                </a:solidFill>
              </a:rPr>
              <a:t> multi-agent collaboration across git worktrees.</a:t>
            </a:r>
          </a:p>
        </p:txBody>
      </p:sp>
      <p:sp>
        <p:nvSpPr>
          <p:cNvPr id="24" name="Text 22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Delegation</a:t>
            </a:r>
          </a:p>
        </p:txBody>
      </p:sp>
      <p:sp>
        <p:nvSpPr>
          <p:cNvPr id="25" name="Text 23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00" name="AccentBar501"/>
          <p:cNvSpPr/>
          <p:nvPr/>
        </p:nvSpPr>
        <p:spPr>
          <a:xfrm>
            <a:off x="4699000" y="16129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1" name="AccentBar502"/>
          <p:cNvSpPr/>
          <p:nvPr/>
        </p:nvSpPr>
        <p:spPr>
          <a:xfrm>
            <a:off x="4699000" y="30353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2" name="AccentBar503"/>
          <p:cNvSpPr/>
          <p:nvPr/>
        </p:nvSpPr>
        <p:spPr>
          <a:xfrm>
            <a:off x="4699000" y="4457700"/>
            <a:ext cx="3556000" cy="5080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3" name="RPAccent"/>
          <p:cNvSpPr/>
          <p:nvPr/>
        </p:nvSpPr>
        <p:spPr>
          <a:xfrm>
            <a:off x="8763000" y="1612900"/>
            <a:ext cx="3022600" cy="50800"/>
          </a:xfrm>
          <a:prstGeom prst="roundRect">
            <a:avLst>
              <a:gd name="adj" fmla="val 50000"/>
            </a:avLst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4" name="OrchLabel"/>
          <p:cNvSpPr/>
          <p:nvPr/>
        </p:nvSpPr>
        <p:spPr>
          <a:xfrm>
            <a:off x="1308100" y="2489200"/>
            <a:ext cx="1879600" cy="254000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 w="0">
            <a:noFill/>
          </a:ln>
        </p:spPr>
        <p:txBody>
          <a:bodyPr wrap="none" lIns="36000" tIns="0" rIns="3600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505" name="BuiltInLabel"/>
          <p:cNvSpPr/>
          <p:nvPr/>
        </p:nvSpPr>
        <p:spPr>
          <a:xfrm>
            <a:off x="4699000" y="1333500"/>
            <a:ext cx="3556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/>
          <a:lstStyle/>
          <a:p>
            <a:pPr algn="l">
              <a:buNone/>
            </a:pPr>
            <a:r>
              <a:rPr lang="en-US" sz="900" b="1" dirty="0">
                <a:solidFill>
                  <a:srgbClr val="7A8A9E"/>
                </a:solidFill>
                <a:latin typeface="Segoe UI"/>
              </a:rPr>
              <a:t>BUILT-IN SUBAGENTS</a:t>
            </a:r>
          </a:p>
        </p:txBody>
      </p:sp>
      <p:pic>
        <p:nvPicPr>
          <p:cNvPr id="506" name="Graphic 506" descr="Explore subag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72400" y="1790700"/>
            <a:ext cx="279400" cy="279400"/>
          </a:xfrm>
          <a:prstGeom prst="rect">
            <a:avLst/>
          </a:prstGeom>
        </p:spPr>
      </p:pic>
      <p:pic>
        <p:nvPicPr>
          <p:cNvPr id="507" name="Graphic 507" descr="Plan subagent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2400" y="3213100"/>
            <a:ext cx="279400" cy="279400"/>
          </a:xfrm>
          <a:prstGeom prst="rect">
            <a:avLst/>
          </a:prstGeom>
        </p:spPr>
      </p:pic>
      <p:pic>
        <p:nvPicPr>
          <p:cNvPr id="508" name="Graphic 508" descr="General-purpose subagent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2400" y="4635500"/>
            <a:ext cx="279400" cy="279400"/>
          </a:xfrm>
          <a:prstGeom prst="rect">
            <a:avLst/>
          </a:prstGeom>
        </p:spPr>
      </p:pic>
      <p:sp>
        <p:nvSpPr>
          <p:cNvPr id="600" name="RPDivider"/>
          <p:cNvSpPr/>
          <p:nvPr/>
        </p:nvSpPr>
        <p:spPr>
          <a:xfrm>
            <a:off x="8966200" y="3898900"/>
            <a:ext cx="2616200" cy="127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818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7" y="76200"/>
            <a:ext cx="91247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</a:rPr>
              <a:t>MCP: connect Claude Code to every tool in your stack</a:t>
            </a: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Model Context Protocol is an open standard by Anthropic. 3,000+ community servers. Transports: stdio, SSE, HTTP.</a:t>
            </a:r>
          </a:p>
        </p:txBody>
      </p:sp>
      <p:sp>
        <p:nvSpPr>
          <p:cNvPr id="4" name="Shape 2"/>
          <p:cNvSpPr/>
          <p:nvPr/>
        </p:nvSpPr>
        <p:spPr>
          <a:xfrm>
            <a:off x="0" y="909320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2" name="Text 30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00" name="S100"/>
          <p:cNvSpPr/>
          <p:nvPr/>
        </p:nvSpPr>
        <p:spPr>
          <a:xfrm>
            <a:off x="2006600" y="2628900"/>
            <a:ext cx="1460500" cy="14605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Claude Code </a:t>
            </a:r>
          </a:p>
          <a:p>
            <a:pPr algn="ctr"/>
            <a:r>
              <a:rPr lang="en-US" sz="1100" dirty="0">
                <a:solidFill>
                  <a:schemeClr val="bg1"/>
                </a:solidFill>
              </a:rPr>
              <a:t>MCP Client</a:t>
            </a:r>
          </a:p>
        </p:txBody>
      </p:sp>
      <p:sp>
        <p:nvSpPr>
          <p:cNvPr id="102" name="S102"/>
          <p:cNvSpPr/>
          <p:nvPr/>
        </p:nvSpPr>
        <p:spPr>
          <a:xfrm>
            <a:off x="3810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3" name="S103"/>
          <p:cNvSpPr/>
          <p:nvPr/>
        </p:nvSpPr>
        <p:spPr>
          <a:xfrm>
            <a:off x="381000" y="1079500"/>
            <a:ext cx="50800" cy="6985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4" name="S104"/>
          <p:cNvSpPr/>
          <p:nvPr/>
        </p:nvSpPr>
        <p:spPr>
          <a:xfrm>
            <a:off x="508000" y="1231900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G</a:t>
            </a:r>
          </a:p>
        </p:txBody>
      </p:sp>
      <p:sp>
        <p:nvSpPr>
          <p:cNvPr id="105" name="T105"/>
          <p:cNvSpPr/>
          <p:nvPr/>
        </p:nvSpPr>
        <p:spPr>
          <a:xfrm>
            <a:off x="9144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GitHub</a:t>
            </a:r>
          </a:p>
        </p:txBody>
      </p:sp>
      <p:sp>
        <p:nvSpPr>
          <p:cNvPr id="106" name="T106"/>
          <p:cNvSpPr/>
          <p:nvPr/>
        </p:nvSpPr>
        <p:spPr>
          <a:xfrm>
            <a:off x="9144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PRs, issues, code</a:t>
            </a:r>
          </a:p>
        </p:txBody>
      </p:sp>
      <p:sp>
        <p:nvSpPr>
          <p:cNvPr id="107" name="S107"/>
          <p:cNvSpPr/>
          <p:nvPr/>
        </p:nvSpPr>
        <p:spPr>
          <a:xfrm>
            <a:off x="3327400" y="1079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3327400" y="1079500"/>
            <a:ext cx="50800" cy="6985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9" name="S109"/>
          <p:cNvSpPr/>
          <p:nvPr/>
        </p:nvSpPr>
        <p:spPr>
          <a:xfrm>
            <a:off x="3454400" y="1231900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10" name="T110"/>
          <p:cNvSpPr/>
          <p:nvPr/>
        </p:nvSpPr>
        <p:spPr>
          <a:xfrm>
            <a:off x="3860800" y="1181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Databases</a:t>
            </a:r>
          </a:p>
        </p:txBody>
      </p:sp>
      <p:sp>
        <p:nvSpPr>
          <p:cNvPr id="111" name="T111"/>
          <p:cNvSpPr/>
          <p:nvPr/>
        </p:nvSpPr>
        <p:spPr>
          <a:xfrm>
            <a:off x="3860800" y="1435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SQL, Postgres, SQLite</a:t>
            </a:r>
          </a:p>
        </p:txBody>
      </p:sp>
      <p:sp>
        <p:nvSpPr>
          <p:cNvPr id="112" name="S112"/>
          <p:cNvSpPr/>
          <p:nvPr/>
        </p:nvSpPr>
        <p:spPr>
          <a:xfrm>
            <a:off x="3810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381000" y="4381500"/>
            <a:ext cx="50800" cy="6985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08000" y="4533900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115" name="T115"/>
          <p:cNvSpPr/>
          <p:nvPr/>
        </p:nvSpPr>
        <p:spPr>
          <a:xfrm>
            <a:off x="9144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Slack</a:t>
            </a:r>
          </a:p>
        </p:txBody>
      </p:sp>
      <p:sp>
        <p:nvSpPr>
          <p:cNvPr id="116" name="T116"/>
          <p:cNvSpPr/>
          <p:nvPr/>
        </p:nvSpPr>
        <p:spPr>
          <a:xfrm>
            <a:off x="838200" y="4737100"/>
            <a:ext cx="1295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Messages, channels</a:t>
            </a:r>
          </a:p>
        </p:txBody>
      </p:sp>
      <p:sp>
        <p:nvSpPr>
          <p:cNvPr id="117" name="S117"/>
          <p:cNvSpPr/>
          <p:nvPr/>
        </p:nvSpPr>
        <p:spPr>
          <a:xfrm>
            <a:off x="3327400" y="4381500"/>
            <a:ext cx="1752600" cy="6985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3327400" y="4381500"/>
            <a:ext cx="50800" cy="6985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3454400" y="4533900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20" name="T120"/>
          <p:cNvSpPr/>
          <p:nvPr/>
        </p:nvSpPr>
        <p:spPr>
          <a:xfrm>
            <a:off x="3860800" y="4483100"/>
            <a:ext cx="11176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A2332"/>
                </a:solidFill>
                <a:latin typeface="Aptos"/>
              </a:rPr>
              <a:t>Browser</a:t>
            </a:r>
          </a:p>
        </p:txBody>
      </p:sp>
      <p:sp>
        <p:nvSpPr>
          <p:cNvPr id="121" name="T121"/>
          <p:cNvSpPr/>
          <p:nvPr/>
        </p:nvSpPr>
        <p:spPr>
          <a:xfrm>
            <a:off x="3860800" y="4737100"/>
            <a:ext cx="11176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Playwright, DOM, screenshots</a:t>
            </a:r>
          </a:p>
        </p:txBody>
      </p:sp>
      <p:sp>
        <p:nvSpPr>
          <p:cNvPr id="122" name="L122"/>
          <p:cNvSpPr/>
          <p:nvPr/>
        </p:nvSpPr>
        <p:spPr>
          <a:xfrm flipH="1" flipV="1">
            <a:off x="2133600" y="1777999"/>
            <a:ext cx="266700" cy="939734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L123"/>
          <p:cNvSpPr/>
          <p:nvPr/>
        </p:nvSpPr>
        <p:spPr>
          <a:xfrm flipV="1">
            <a:off x="3009900" y="1778000"/>
            <a:ext cx="457200" cy="939799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L124"/>
          <p:cNvSpPr/>
          <p:nvPr/>
        </p:nvSpPr>
        <p:spPr>
          <a:xfrm flipH="1">
            <a:off x="2133600" y="4000500"/>
            <a:ext cx="2032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L125"/>
          <p:cNvSpPr/>
          <p:nvPr/>
        </p:nvSpPr>
        <p:spPr>
          <a:xfrm>
            <a:off x="3124200" y="4000500"/>
            <a:ext cx="342900" cy="381000"/>
          </a:xfrm>
          <a:prstGeom prst="line">
            <a:avLst/>
          </a:prstGeom>
          <a:ln w="15875">
            <a:solidFill>
              <a:srgbClr val="CBD5E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126"/>
          <p:cNvSpPr/>
          <p:nvPr/>
        </p:nvSpPr>
        <p:spPr>
          <a:xfrm>
            <a:off x="1778000" y="2222500"/>
            <a:ext cx="1905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800" dirty="0">
                <a:solidFill>
                  <a:srgbClr val="64748B"/>
                </a:solidFill>
                <a:latin typeface="Aptos"/>
              </a:rPr>
              <a:t>+ Jira, Figma, Sentry, Notion...</a:t>
            </a:r>
          </a:p>
        </p:txBody>
      </p:sp>
      <p:sp>
        <p:nvSpPr>
          <p:cNvPr id="127" name="S127"/>
          <p:cNvSpPr/>
          <p:nvPr/>
        </p:nvSpPr>
        <p:spPr>
          <a:xfrm>
            <a:off x="5651500" y="1088508"/>
            <a:ext cx="6096000" cy="1371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8" name="S128"/>
          <p:cNvSpPr/>
          <p:nvPr/>
        </p:nvSpPr>
        <p:spPr>
          <a:xfrm>
            <a:off x="5651500" y="1088508"/>
            <a:ext cx="60960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9" name="T129"/>
          <p:cNvSpPr/>
          <p:nvPr/>
        </p:nvSpPr>
        <p:spPr>
          <a:xfrm>
            <a:off x="5854700" y="1215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1565C0"/>
                </a:solidFill>
                <a:latin typeface="Aptos"/>
              </a:rPr>
              <a:t>What MCP does</a:t>
            </a:r>
          </a:p>
        </p:txBody>
      </p:sp>
      <p:sp>
        <p:nvSpPr>
          <p:cNvPr id="130" name="T130"/>
          <p:cNvSpPr/>
          <p:nvPr/>
        </p:nvSpPr>
        <p:spPr>
          <a:xfrm>
            <a:off x="5854700" y="1469508"/>
            <a:ext cx="56896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Open standard connecting Claude Code to external tools, databases, and APIs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Auto-discovers tools at session start; Claude invokes them based on context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4155"/>
                </a:solidFill>
                <a:latin typeface="Aptos"/>
              </a:rPr>
              <a:t>Tool Search loads tools on-demand, keeping your context window lean</a:t>
            </a:r>
          </a:p>
        </p:txBody>
      </p:sp>
      <p:sp>
        <p:nvSpPr>
          <p:cNvPr id="131" name="S131"/>
          <p:cNvSpPr/>
          <p:nvPr/>
        </p:nvSpPr>
        <p:spPr>
          <a:xfrm>
            <a:off x="5651500" y="2612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2" name="S132"/>
          <p:cNvSpPr/>
          <p:nvPr/>
        </p:nvSpPr>
        <p:spPr>
          <a:xfrm>
            <a:off x="5651500" y="2612508"/>
            <a:ext cx="60960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5854700" y="2739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"/>
              </a:rPr>
              <a:t>How to configure</a:t>
            </a:r>
          </a:p>
        </p:txBody>
      </p:sp>
      <p:sp>
        <p:nvSpPr>
          <p:cNvPr id="134" name="S134"/>
          <p:cNvSpPr/>
          <p:nvPr/>
        </p:nvSpPr>
        <p:spPr>
          <a:xfrm>
            <a:off x="5854700" y="3018908"/>
            <a:ext cx="5689600" cy="609600"/>
          </a:xfrm>
          <a:prstGeom prst="roundRect">
            <a:avLst>
              <a:gd name="adj" fmla="val 4000"/>
            </a:avLst>
          </a:prstGeom>
          <a:solidFill>
            <a:schemeClr val="bg1">
              <a:lumMod val="65000"/>
            </a:schemeClr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5956300" y="3069708"/>
            <a:ext cx="54864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claude mcp add github -e GITHUB_TOKEN</a:t>
            </a:r>
          </a:p>
          <a:p>
            <a:pPr>
              <a:buNone/>
            </a:pPr>
            <a:r>
              <a:rPr lang="en-US" sz="1200" dirty="0">
                <a:solidFill>
                  <a:schemeClr val="bg1"/>
                </a:solidFill>
                <a:latin typeface="Consolas"/>
              </a:rPr>
              <a:t>  -- npx -y @modelcontextprotocol/server-github</a:t>
            </a:r>
          </a:p>
        </p:txBody>
      </p:sp>
      <p:sp>
        <p:nvSpPr>
          <p:cNvPr id="136" name="T136"/>
          <p:cNvSpPr/>
          <p:nvPr/>
        </p:nvSpPr>
        <p:spPr>
          <a:xfrm>
            <a:off x="5854700" y="3704708"/>
            <a:ext cx="5689600" cy="48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Scopes: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project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(repo) or </a:t>
            </a:r>
            <a:r>
              <a:rPr lang="en-US" sz="1200" b="1" dirty="0">
                <a:solidFill>
                  <a:srgbClr val="334155"/>
                </a:solidFill>
                <a:latin typeface="Consolas"/>
              </a:rPr>
              <a:t>--scope user</a:t>
            </a:r>
            <a:r>
              <a:rPr lang="en-US" sz="1200" dirty="0">
                <a:solidFill>
                  <a:srgbClr val="64748B"/>
                </a:solidFill>
                <a:latin typeface="Aptos"/>
              </a:rPr>
              <a:t> (global). Config saved in .</a:t>
            </a:r>
            <a:r>
              <a:rPr lang="en-US" sz="1200" dirty="0" err="1">
                <a:solidFill>
                  <a:srgbClr val="64748B"/>
                </a:solidFill>
                <a:latin typeface="Aptos"/>
              </a:rPr>
              <a:t>mcp.json</a:t>
            </a:r>
            <a:endParaRPr lang="en-US" sz="120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37" name="S137"/>
          <p:cNvSpPr/>
          <p:nvPr/>
        </p:nvSpPr>
        <p:spPr>
          <a:xfrm>
            <a:off x="5651500" y="4390508"/>
            <a:ext cx="6096000" cy="1651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 dirty="0"/>
          </a:p>
        </p:txBody>
      </p:sp>
      <p:sp>
        <p:nvSpPr>
          <p:cNvPr id="138" name="S138"/>
          <p:cNvSpPr/>
          <p:nvPr/>
        </p:nvSpPr>
        <p:spPr>
          <a:xfrm>
            <a:off x="5651500" y="4390508"/>
            <a:ext cx="60960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5854700" y="4517508"/>
            <a:ext cx="56896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59669"/>
                </a:solidFill>
                <a:latin typeface="Aptos"/>
              </a:rPr>
              <a:t>Key capabilities</a:t>
            </a:r>
          </a:p>
        </p:txBody>
      </p:sp>
      <p:sp>
        <p:nvSpPr>
          <p:cNvPr id="140" name="T140"/>
          <p:cNvSpPr/>
          <p:nvPr/>
        </p:nvSpPr>
        <p:spPr>
          <a:xfrm>
            <a:off x="5854700" y="4771508"/>
            <a:ext cx="5829300" cy="1168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Elicitation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servers request structured input mid-task via interactive dialogs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OAuth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browser-based auth flow; complete in browser, confirm in CLI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Resources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@mention MCP resources in prompts like files from connected servers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200" b="1" dirty="0">
                <a:solidFill>
                  <a:srgbClr val="334155"/>
                </a:solidFill>
                <a:latin typeface="Aptos"/>
              </a:rPr>
              <a:t>Permissions</a:t>
            </a:r>
            <a:r>
              <a:rPr lang="en-US" sz="1200" dirty="0">
                <a:solidFill>
                  <a:srgbClr val="334155"/>
                </a:solidFill>
                <a:latin typeface="Aptos"/>
              </a:rPr>
              <a:t> — explicit approval per tool call; configure auto-approve for trusted servers</a:t>
            </a:r>
          </a:p>
        </p:txBody>
      </p:sp>
    </p:spTree>
    <p:extLst>
      <p:ext uri="{BB962C8B-B14F-4D97-AF65-F5344CB8AC3E}">
        <p14:creationId xmlns:p14="http://schemas.microsoft.com/office/powerpoint/2010/main" val="23518364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deployment and governance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via Anthropic Cloud, Bedrock, Vertex AI, or Microsoft Foundry — with SSO, spend controls, and policies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14399"/>
            <a:ext cx="12192000" cy="13169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deployment</a:t>
            </a:r>
          </a:p>
        </p:txBody>
      </p:sp>
      <p:sp>
        <p:nvSpPr>
          <p:cNvPr id="31" name="Text 29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100" name="S100"/>
          <p:cNvSpPr/>
          <p:nvPr/>
        </p:nvSpPr>
        <p:spPr>
          <a:xfrm>
            <a:off x="381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1" name="S101"/>
          <p:cNvSpPr/>
          <p:nvPr/>
        </p:nvSpPr>
        <p:spPr>
          <a:xfrm>
            <a:off x="381000" y="1220016"/>
            <a:ext cx="2133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2" name="S102"/>
          <p:cNvSpPr/>
          <p:nvPr/>
        </p:nvSpPr>
        <p:spPr>
          <a:xfrm>
            <a:off x="533400" y="1397816"/>
            <a:ext cx="330200" cy="3302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3" name="T103"/>
          <p:cNvSpPr/>
          <p:nvPr/>
        </p:nvSpPr>
        <p:spPr>
          <a:xfrm>
            <a:off x="939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Identity</a:t>
            </a:r>
          </a:p>
        </p:txBody>
      </p:sp>
      <p:sp>
        <p:nvSpPr>
          <p:cNvPr id="104" name="T104"/>
          <p:cNvSpPr/>
          <p:nvPr/>
        </p:nvSpPr>
        <p:spPr>
          <a:xfrm>
            <a:off x="533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SSO (Okta, Azure AD, SAML 2.0) + SCIM auto-provisioning</a:t>
            </a:r>
          </a:p>
        </p:txBody>
      </p:sp>
      <p:sp>
        <p:nvSpPr>
          <p:cNvPr id="105" name="A105"/>
          <p:cNvSpPr/>
          <p:nvPr/>
        </p:nvSpPr>
        <p:spPr>
          <a:xfrm>
            <a:off x="2527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106"/>
          <p:cNvSpPr/>
          <p:nvPr/>
        </p:nvSpPr>
        <p:spPr>
          <a:xfrm>
            <a:off x="2667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5F0FF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7" name="S107"/>
          <p:cNvSpPr/>
          <p:nvPr/>
        </p:nvSpPr>
        <p:spPr>
          <a:xfrm>
            <a:off x="2667000" y="1220016"/>
            <a:ext cx="2133600" cy="5080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08" name="S108"/>
          <p:cNvSpPr/>
          <p:nvPr/>
        </p:nvSpPr>
        <p:spPr>
          <a:xfrm>
            <a:off x="2819400" y="1397816"/>
            <a:ext cx="330200" cy="3302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09" name="T109"/>
          <p:cNvSpPr/>
          <p:nvPr/>
        </p:nvSpPr>
        <p:spPr>
          <a:xfrm>
            <a:off x="3225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7C3AED"/>
                </a:solidFill>
                <a:latin typeface="Aptos"/>
              </a:rPr>
              <a:t>Permissions</a:t>
            </a:r>
          </a:p>
        </p:txBody>
      </p:sp>
      <p:sp>
        <p:nvSpPr>
          <p:cNvPr id="110" name="T110"/>
          <p:cNvSpPr/>
          <p:nvPr/>
        </p:nvSpPr>
        <p:spPr>
          <a:xfrm>
            <a:off x="2819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Managed policies: centrally enforce what Claude can and cannot do</a:t>
            </a:r>
          </a:p>
        </p:txBody>
      </p:sp>
      <p:sp>
        <p:nvSpPr>
          <p:cNvPr id="111" name="A111"/>
          <p:cNvSpPr/>
          <p:nvPr/>
        </p:nvSpPr>
        <p:spPr>
          <a:xfrm>
            <a:off x="4813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112"/>
          <p:cNvSpPr/>
          <p:nvPr/>
        </p:nvSpPr>
        <p:spPr>
          <a:xfrm>
            <a:off x="4953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3" name="S113"/>
          <p:cNvSpPr/>
          <p:nvPr/>
        </p:nvSpPr>
        <p:spPr>
          <a:xfrm>
            <a:off x="4953000" y="1220016"/>
            <a:ext cx="2133600" cy="50800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4" name="S114"/>
          <p:cNvSpPr/>
          <p:nvPr/>
        </p:nvSpPr>
        <p:spPr>
          <a:xfrm>
            <a:off x="5105400" y="1397816"/>
            <a:ext cx="330200" cy="3302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115"/>
          <p:cNvSpPr/>
          <p:nvPr/>
        </p:nvSpPr>
        <p:spPr>
          <a:xfrm>
            <a:off x="5511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059669"/>
                </a:solidFill>
                <a:latin typeface="Aptos"/>
              </a:rPr>
              <a:t>Implement</a:t>
            </a:r>
          </a:p>
        </p:txBody>
      </p:sp>
      <p:sp>
        <p:nvSpPr>
          <p:cNvPr id="116" name="T116"/>
          <p:cNvSpPr/>
          <p:nvPr/>
        </p:nvSpPr>
        <p:spPr>
          <a:xfrm>
            <a:off x="5105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Per-org and per-user spend caps with API-rate billing</a:t>
            </a:r>
          </a:p>
        </p:txBody>
      </p:sp>
      <p:sp>
        <p:nvSpPr>
          <p:cNvPr id="117" name="A117"/>
          <p:cNvSpPr/>
          <p:nvPr/>
        </p:nvSpPr>
        <p:spPr>
          <a:xfrm>
            <a:off x="7099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118"/>
          <p:cNvSpPr/>
          <p:nvPr/>
        </p:nvSpPr>
        <p:spPr>
          <a:xfrm>
            <a:off x="7239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19" name="S119"/>
          <p:cNvSpPr/>
          <p:nvPr/>
        </p:nvSpPr>
        <p:spPr>
          <a:xfrm>
            <a:off x="7239000" y="1220016"/>
            <a:ext cx="2133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0" name="S120"/>
          <p:cNvSpPr/>
          <p:nvPr/>
        </p:nvSpPr>
        <p:spPr>
          <a:xfrm>
            <a:off x="7391400" y="1397816"/>
            <a:ext cx="330200" cy="3302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21" name="T121"/>
          <p:cNvSpPr/>
          <p:nvPr/>
        </p:nvSpPr>
        <p:spPr>
          <a:xfrm>
            <a:off x="7797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Validate</a:t>
            </a:r>
          </a:p>
        </p:txBody>
      </p:sp>
      <p:sp>
        <p:nvSpPr>
          <p:cNvPr id="122" name="T122"/>
          <p:cNvSpPr/>
          <p:nvPr/>
        </p:nvSpPr>
        <p:spPr>
          <a:xfrm>
            <a:off x="7391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OpenTelemetry traces, Analytics API, full audit logs</a:t>
            </a:r>
          </a:p>
        </p:txBody>
      </p:sp>
      <p:sp>
        <p:nvSpPr>
          <p:cNvPr id="123" name="A123"/>
          <p:cNvSpPr/>
          <p:nvPr/>
        </p:nvSpPr>
        <p:spPr>
          <a:xfrm>
            <a:off x="9385300" y="1886766"/>
            <a:ext cx="15240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124"/>
          <p:cNvSpPr/>
          <p:nvPr/>
        </p:nvSpPr>
        <p:spPr>
          <a:xfrm>
            <a:off x="9525000" y="1220016"/>
            <a:ext cx="2133600" cy="13335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5" name="S125"/>
          <p:cNvSpPr/>
          <p:nvPr/>
        </p:nvSpPr>
        <p:spPr>
          <a:xfrm>
            <a:off x="9525000" y="1220016"/>
            <a:ext cx="2133600" cy="50800"/>
          </a:xfrm>
          <a:prstGeom prst="rect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26" name="S126"/>
          <p:cNvSpPr/>
          <p:nvPr/>
        </p:nvSpPr>
        <p:spPr>
          <a:xfrm>
            <a:off x="9677400" y="1397816"/>
            <a:ext cx="330200" cy="330200"/>
          </a:xfrm>
          <a:prstGeom prst="ellipse">
            <a:avLst/>
          </a:prstGeom>
          <a:solidFill>
            <a:srgbClr val="DC262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7" name="T127"/>
          <p:cNvSpPr/>
          <p:nvPr/>
        </p:nvSpPr>
        <p:spPr>
          <a:xfrm>
            <a:off x="10083800" y="1397816"/>
            <a:ext cx="1422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C2626"/>
                </a:solidFill>
                <a:latin typeface="Aptos"/>
              </a:rPr>
              <a:t>Commit</a:t>
            </a:r>
          </a:p>
        </p:txBody>
      </p:sp>
      <p:sp>
        <p:nvSpPr>
          <p:cNvPr id="128" name="T128"/>
          <p:cNvSpPr/>
          <p:nvPr/>
        </p:nvSpPr>
        <p:spPr>
          <a:xfrm>
            <a:off x="9677400" y="1829616"/>
            <a:ext cx="18288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dirty="0">
                <a:solidFill>
                  <a:srgbClr val="475569"/>
                </a:solidFill>
                <a:latin typeface="Aptos"/>
              </a:rPr>
              <a:t>No training on your data. TLS 1.3, AES-256, VPC isolation</a:t>
            </a:r>
          </a:p>
        </p:txBody>
      </p:sp>
      <p:sp>
        <p:nvSpPr>
          <p:cNvPr id="129" name="S129"/>
          <p:cNvSpPr/>
          <p:nvPr/>
        </p:nvSpPr>
        <p:spPr>
          <a:xfrm>
            <a:off x="3810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 w="9525">
            <a:solidFill>
              <a:srgbClr val="BFDBFE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0" name="S130"/>
          <p:cNvSpPr/>
          <p:nvPr/>
        </p:nvSpPr>
        <p:spPr>
          <a:xfrm>
            <a:off x="381000" y="2783344"/>
            <a:ext cx="5689600" cy="508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1" name="T131"/>
          <p:cNvSpPr/>
          <p:nvPr/>
        </p:nvSpPr>
        <p:spPr>
          <a:xfrm>
            <a:off x="5842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1565C0"/>
                </a:solidFill>
                <a:latin typeface="Aptos"/>
              </a:rPr>
              <a:t>Deployment options</a:t>
            </a:r>
          </a:p>
        </p:txBody>
      </p:sp>
      <p:sp>
        <p:nvSpPr>
          <p:cNvPr id="132" name="S132"/>
          <p:cNvSpPr/>
          <p:nvPr/>
        </p:nvSpPr>
        <p:spPr>
          <a:xfrm>
            <a:off x="635000" y="3342144"/>
            <a:ext cx="127000" cy="1270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3" name="T133"/>
          <p:cNvSpPr/>
          <p:nvPr/>
        </p:nvSpPr>
        <p:spPr>
          <a:xfrm>
            <a:off x="838200" y="32913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Anthropic Cloud (SaaS)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Fastest setup, fully managed</a:t>
            </a:r>
          </a:p>
        </p:txBody>
      </p:sp>
      <p:sp>
        <p:nvSpPr>
          <p:cNvPr id="134" name="S134"/>
          <p:cNvSpPr/>
          <p:nvPr/>
        </p:nvSpPr>
        <p:spPr>
          <a:xfrm>
            <a:off x="635000" y="3672344"/>
            <a:ext cx="127000" cy="127000"/>
          </a:xfrm>
          <a:prstGeom prst="ellipse">
            <a:avLst/>
          </a:prstGeom>
          <a:solidFill>
            <a:srgbClr val="D97706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5" name="T135"/>
          <p:cNvSpPr/>
          <p:nvPr/>
        </p:nvSpPr>
        <p:spPr>
          <a:xfrm>
            <a:off x="838200" y="36215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AWS Bedrock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VPC isolation, IAM integration</a:t>
            </a:r>
          </a:p>
        </p:txBody>
      </p:sp>
      <p:sp>
        <p:nvSpPr>
          <p:cNvPr id="136" name="S136"/>
          <p:cNvSpPr/>
          <p:nvPr/>
        </p:nvSpPr>
        <p:spPr>
          <a:xfrm>
            <a:off x="635000" y="4002544"/>
            <a:ext cx="127000" cy="1270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7" name="T137"/>
          <p:cNvSpPr/>
          <p:nvPr/>
        </p:nvSpPr>
        <p:spPr>
          <a:xfrm>
            <a:off x="838200" y="39517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Google Vertex AI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GCP native, data residency</a:t>
            </a:r>
          </a:p>
        </p:txBody>
      </p:sp>
      <p:sp>
        <p:nvSpPr>
          <p:cNvPr id="138" name="S138"/>
          <p:cNvSpPr/>
          <p:nvPr/>
        </p:nvSpPr>
        <p:spPr>
          <a:xfrm>
            <a:off x="635000" y="4332744"/>
            <a:ext cx="127000" cy="1270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39" name="T139"/>
          <p:cNvSpPr/>
          <p:nvPr/>
        </p:nvSpPr>
        <p:spPr>
          <a:xfrm>
            <a:off x="838200" y="4281944"/>
            <a:ext cx="4978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000" b="1" dirty="0">
                <a:solidFill>
                  <a:srgbClr val="1E293B"/>
                </a:solidFill>
                <a:latin typeface="Aptos"/>
              </a:rPr>
              <a:t>Microsoft Foundry</a:t>
            </a:r>
            <a:r>
              <a:rPr lang="en-US" sz="1000" dirty="0">
                <a:solidFill>
                  <a:srgbClr val="64748B"/>
                </a:solidFill>
                <a:latin typeface="Aptos"/>
              </a:rPr>
              <a:t> — Azure native, enterprise policies</a:t>
            </a:r>
          </a:p>
        </p:txBody>
      </p:sp>
      <p:sp>
        <p:nvSpPr>
          <p:cNvPr id="140" name="S140"/>
          <p:cNvSpPr/>
          <p:nvPr/>
        </p:nvSpPr>
        <p:spPr>
          <a:xfrm>
            <a:off x="6248400" y="2783344"/>
            <a:ext cx="5689600" cy="18796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9525">
            <a:solidFill>
              <a:srgbClr val="FED7AA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1" name="S141"/>
          <p:cNvSpPr/>
          <p:nvPr/>
        </p:nvSpPr>
        <p:spPr>
          <a:xfrm>
            <a:off x="6248400" y="2783344"/>
            <a:ext cx="5689600" cy="508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42" name="T142"/>
          <p:cNvSpPr/>
          <p:nvPr/>
        </p:nvSpPr>
        <p:spPr>
          <a:xfrm>
            <a:off x="6451600" y="2935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b="1" dirty="0">
                <a:solidFill>
                  <a:srgbClr val="D4622B"/>
                </a:solidFill>
                <a:latin typeface="Aptos"/>
              </a:rPr>
              <a:t>Enterprise best practices</a:t>
            </a:r>
          </a:p>
        </p:txBody>
      </p:sp>
      <p:sp>
        <p:nvSpPr>
          <p:cNvPr id="143" name="T143"/>
          <p:cNvSpPr/>
          <p:nvPr/>
        </p:nvSpPr>
        <p:spPr>
          <a:xfrm>
            <a:off x="6451600" y="32659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Pin model versions on Bedrock / Vertex / Foundry</a:t>
            </a:r>
          </a:p>
        </p:txBody>
      </p:sp>
      <p:sp>
        <p:nvSpPr>
          <p:cNvPr id="144" name="T144"/>
          <p:cNvSpPr/>
          <p:nvPr/>
        </p:nvSpPr>
        <p:spPr>
          <a:xfrm>
            <a:off x="6451600" y="35326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Use LLM gateways for centralized routing</a:t>
            </a:r>
          </a:p>
        </p:txBody>
      </p:sp>
      <p:sp>
        <p:nvSpPr>
          <p:cNvPr id="145" name="T145"/>
          <p:cNvSpPr/>
          <p:nvPr/>
        </p:nvSpPr>
        <p:spPr>
          <a:xfrm>
            <a:off x="6451600" y="37993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Configure managed settings via plist / Registry</a:t>
            </a:r>
          </a:p>
        </p:txBody>
      </p:sp>
      <p:sp>
        <p:nvSpPr>
          <p:cNvPr id="146" name="T146"/>
          <p:cNvSpPr/>
          <p:nvPr/>
        </p:nvSpPr>
        <p:spPr>
          <a:xfrm>
            <a:off x="6451600" y="40660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Check .mcp.json into repos for team-wide MCP</a:t>
            </a:r>
          </a:p>
        </p:txBody>
      </p:sp>
      <p:sp>
        <p:nvSpPr>
          <p:cNvPr id="147" name="T147"/>
          <p:cNvSpPr/>
          <p:nvPr/>
        </p:nvSpPr>
        <p:spPr>
          <a:xfrm>
            <a:off x="6451600" y="4332744"/>
            <a:ext cx="52832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171450" indent="-171450">
              <a:buFont typeface="Arial"/>
              <a:buChar char="•"/>
            </a:pPr>
            <a:r>
              <a:rPr lang="en-US" sz="950" dirty="0">
                <a:solidFill>
                  <a:srgbClr val="44403C"/>
                </a:solidFill>
                <a:latin typeface="Aptos"/>
              </a:rPr>
              <a:t>Route through corporate proxy (HTTPS_PROXY)</a:t>
            </a:r>
          </a:p>
        </p:txBody>
      </p:sp>
      <p:sp>
        <p:nvSpPr>
          <p:cNvPr id="148" name="T148"/>
          <p:cNvSpPr/>
          <p:nvPr/>
        </p:nvSpPr>
        <p:spPr>
          <a:xfrm>
            <a:off x="381000" y="990600"/>
            <a:ext cx="1143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GOVERNANCE PIPELINE</a:t>
            </a:r>
          </a:p>
        </p:txBody>
      </p:sp>
      <p:sp>
        <p:nvSpPr>
          <p:cNvPr id="149" name="Sep"/>
          <p:cNvSpPr/>
          <p:nvPr/>
        </p:nvSpPr>
        <p:spPr>
          <a:xfrm>
            <a:off x="381000" y="2667816"/>
            <a:ext cx="114300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0" name="T150"/>
          <p:cNvSpPr/>
          <p:nvPr/>
        </p:nvSpPr>
        <p:spPr>
          <a:xfrm>
            <a:off x="381000" y="4851400"/>
            <a:ext cx="2540000" cy="177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A8A9E"/>
                </a:solidFill>
                <a:latin typeface="Aptos"/>
              </a:rPr>
              <a:t>SECURITY COMMITMENTS</a:t>
            </a:r>
          </a:p>
        </p:txBody>
      </p:sp>
      <p:sp>
        <p:nvSpPr>
          <p:cNvPr id="151" name="S151"/>
          <p:cNvSpPr/>
          <p:nvPr/>
        </p:nvSpPr>
        <p:spPr>
          <a:xfrm>
            <a:off x="22352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059669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2" name="S152"/>
          <p:cNvSpPr/>
          <p:nvPr/>
        </p:nvSpPr>
        <p:spPr>
          <a:xfrm>
            <a:off x="2336800" y="5105400"/>
            <a:ext cx="228600" cy="228600"/>
          </a:xfrm>
          <a:prstGeom prst="ellipse">
            <a:avLst/>
          </a:prstGeom>
          <a:solidFill>
            <a:srgbClr val="059669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3" name="T153"/>
          <p:cNvSpPr/>
          <p:nvPr/>
        </p:nvSpPr>
        <p:spPr>
          <a:xfrm>
            <a:off x="26162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059669"/>
                </a:solidFill>
                <a:latin typeface="Aptos"/>
              </a:rPr>
              <a:t>SOC 2 Type II</a:t>
            </a:r>
          </a:p>
        </p:txBody>
      </p:sp>
      <p:sp>
        <p:nvSpPr>
          <p:cNvPr id="154" name="S154"/>
          <p:cNvSpPr/>
          <p:nvPr/>
        </p:nvSpPr>
        <p:spPr>
          <a:xfrm>
            <a:off x="42164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1565C0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5" name="S155"/>
          <p:cNvSpPr/>
          <p:nvPr/>
        </p:nvSpPr>
        <p:spPr>
          <a:xfrm>
            <a:off x="4318000" y="5105400"/>
            <a:ext cx="228600" cy="2286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6" name="T156"/>
          <p:cNvSpPr/>
          <p:nvPr/>
        </p:nvSpPr>
        <p:spPr>
          <a:xfrm>
            <a:off x="45974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1565C0"/>
                </a:solidFill>
                <a:latin typeface="Aptos"/>
              </a:rPr>
              <a:t>No data training</a:t>
            </a:r>
          </a:p>
        </p:txBody>
      </p:sp>
      <p:sp>
        <p:nvSpPr>
          <p:cNvPr id="157" name="S157"/>
          <p:cNvSpPr/>
          <p:nvPr/>
        </p:nvSpPr>
        <p:spPr>
          <a:xfrm>
            <a:off x="61976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7C3AED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58" name="S158"/>
          <p:cNvSpPr/>
          <p:nvPr/>
        </p:nvSpPr>
        <p:spPr>
          <a:xfrm>
            <a:off x="6299200" y="5105400"/>
            <a:ext cx="228600" cy="228600"/>
          </a:xfrm>
          <a:prstGeom prst="ellipse">
            <a:avLst/>
          </a:prstGeom>
          <a:solidFill>
            <a:srgbClr val="7C3A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59" name="T159"/>
          <p:cNvSpPr/>
          <p:nvPr/>
        </p:nvSpPr>
        <p:spPr>
          <a:xfrm>
            <a:off x="65786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7C3AED"/>
                </a:solidFill>
                <a:latin typeface="Aptos"/>
              </a:rPr>
              <a:t>TLS 1.3 + AES-256</a:t>
            </a:r>
          </a:p>
        </p:txBody>
      </p:sp>
      <p:sp>
        <p:nvSpPr>
          <p:cNvPr id="160" name="S160"/>
          <p:cNvSpPr/>
          <p:nvPr/>
        </p:nvSpPr>
        <p:spPr>
          <a:xfrm>
            <a:off x="8178800" y="5029200"/>
            <a:ext cx="1778000" cy="3810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D4622B"/>
            </a:solidFill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161" name="S161"/>
          <p:cNvSpPr/>
          <p:nvPr/>
        </p:nvSpPr>
        <p:spPr>
          <a:xfrm>
            <a:off x="8280400" y="5105400"/>
            <a:ext cx="228600" cy="2286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62" name="T162"/>
          <p:cNvSpPr/>
          <p:nvPr/>
        </p:nvSpPr>
        <p:spPr>
          <a:xfrm>
            <a:off x="8559800" y="5092700"/>
            <a:ext cx="12954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900" b="1" dirty="0">
                <a:solidFill>
                  <a:srgbClr val="D4622B"/>
                </a:solidFill>
                <a:latin typeface="Aptos"/>
              </a:rPr>
              <a:t>VPC isolation</a:t>
            </a:r>
          </a:p>
        </p:txBody>
      </p:sp>
    </p:spTree>
    <p:extLst>
      <p:ext uri="{BB962C8B-B14F-4D97-AF65-F5344CB8AC3E}">
        <p14:creationId xmlns:p14="http://schemas.microsoft.com/office/powerpoint/2010/main" val="1211720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200"/>
            <a:ext cx="80467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Scaling Claude Code across teams</a:t>
            </a:r>
            <a:endParaRPr lang="en-US" sz="2700" dirty="0">
              <a:solidFill>
                <a:srgbClr val="FFFFFF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609600"/>
            <a:ext cx="950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Standardize inputs so Claude Code scales beyond one person — six steps to production readiness</a:t>
            </a:r>
            <a:endParaRPr lang="en-US" sz="1400" dirty="0">
              <a:solidFill>
                <a:srgbClr val="3972C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950976"/>
            <a:ext cx="12192000" cy="0"/>
          </a:xfrm>
          <a:prstGeom prst="line">
            <a:avLst/>
          </a:prstGeom>
          <a:noFill/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64282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Rollout</a:t>
            </a:r>
          </a:p>
        </p:txBody>
      </p:sp>
      <p:sp>
        <p:nvSpPr>
          <p:cNvPr id="20" name="Text 18"/>
          <p:cNvSpPr/>
          <p:nvPr/>
        </p:nvSpPr>
        <p:spPr>
          <a:xfrm>
            <a:off x="10424160" y="642823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00" name="R500"/>
          <p:cNvSpPr/>
          <p:nvPr/>
        </p:nvSpPr>
        <p:spPr>
          <a:xfrm>
            <a:off x="711192" y="1153433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03" name="C503"/>
          <p:cNvSpPr/>
          <p:nvPr/>
        </p:nvSpPr>
        <p:spPr>
          <a:xfrm>
            <a:off x="4584692" y="1073226"/>
            <a:ext cx="685800" cy="685800"/>
          </a:xfrm>
          <a:prstGeom prst="ellipse">
            <a:avLst/>
          </a:prstGeom>
          <a:solidFill>
            <a:srgbClr val="DBEA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04" name="C504"/>
          <p:cNvSpPr/>
          <p:nvPr/>
        </p:nvSpPr>
        <p:spPr>
          <a:xfrm>
            <a:off x="4622784" y="1111646"/>
            <a:ext cx="609600" cy="609600"/>
          </a:xfrm>
          <a:prstGeom prst="ellipse">
            <a:avLst/>
          </a:prstGeom>
          <a:solidFill>
            <a:srgbClr val="1565C0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01</a:t>
            </a:r>
          </a:p>
        </p:txBody>
      </p:sp>
      <p:sp>
        <p:nvSpPr>
          <p:cNvPr id="505" name="T505"/>
          <p:cNvSpPr/>
          <p:nvPr/>
        </p:nvSpPr>
        <p:spPr>
          <a:xfrm>
            <a:off x="888988" y="115952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1565C0"/>
                </a:solidFill>
                <a:latin typeface="Aptos Display"/>
              </a:rPr>
              <a:t>Lean CLAUDE.md</a:t>
            </a:r>
          </a:p>
        </p:txBody>
      </p:sp>
      <p:sp>
        <p:nvSpPr>
          <p:cNvPr id="506" name="T506"/>
          <p:cNvSpPr/>
          <p:nvPr/>
        </p:nvSpPr>
        <p:spPr>
          <a:xfrm>
            <a:off x="888988" y="1428826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Build commands, architecture, file scope rules, and “do not scan” directives.</a:t>
            </a:r>
          </a:p>
        </p:txBody>
      </p:sp>
      <p:sp>
        <p:nvSpPr>
          <p:cNvPr id="507" name="R507"/>
          <p:cNvSpPr/>
          <p:nvPr/>
        </p:nvSpPr>
        <p:spPr>
          <a:xfrm>
            <a:off x="7399608" y="1866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0" name="C510"/>
          <p:cNvSpPr/>
          <p:nvPr/>
        </p:nvSpPr>
        <p:spPr>
          <a:xfrm>
            <a:off x="6637608" y="1816100"/>
            <a:ext cx="685800" cy="685800"/>
          </a:xfrm>
          <a:prstGeom prst="ellipse">
            <a:avLst/>
          </a:prstGeom>
          <a:solidFill>
            <a:srgbClr val="EDE9FE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1" name="C511"/>
          <p:cNvSpPr/>
          <p:nvPr/>
        </p:nvSpPr>
        <p:spPr>
          <a:xfrm>
            <a:off x="6688408" y="1854200"/>
            <a:ext cx="609600" cy="609600"/>
          </a:xfrm>
          <a:prstGeom prst="ellipse">
            <a:avLst/>
          </a:prstGeom>
          <a:solidFill>
            <a:srgbClr val="7C3AE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02</a:t>
            </a:r>
          </a:p>
        </p:txBody>
      </p:sp>
      <p:sp>
        <p:nvSpPr>
          <p:cNvPr id="512" name="T512"/>
          <p:cNvSpPr/>
          <p:nvPr/>
        </p:nvSpPr>
        <p:spPr>
          <a:xfrm>
            <a:off x="7552008" y="1892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7C3AED"/>
                </a:solidFill>
                <a:latin typeface="Aptos Display"/>
              </a:rPr>
              <a:t>Scoped rules + skills</a:t>
            </a:r>
          </a:p>
        </p:txBody>
      </p:sp>
      <p:sp>
        <p:nvSpPr>
          <p:cNvPr id="513" name="T513"/>
          <p:cNvSpPr/>
          <p:nvPr/>
        </p:nvSpPr>
        <p:spPr>
          <a:xfrm>
            <a:off x="7552008" y="2171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Move bulky guidance into rules and skills. Keep always-on context under 2% of window.</a:t>
            </a:r>
          </a:p>
        </p:txBody>
      </p:sp>
      <p:sp>
        <p:nvSpPr>
          <p:cNvPr id="514" name="R514"/>
          <p:cNvSpPr/>
          <p:nvPr/>
        </p:nvSpPr>
        <p:spPr>
          <a:xfrm>
            <a:off x="711192" y="2628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16" name="D516"/>
          <p:cNvSpPr/>
          <p:nvPr/>
        </p:nvSpPr>
        <p:spPr>
          <a:xfrm>
            <a:off x="4889492" y="3225800"/>
            <a:ext cx="76200" cy="76200"/>
          </a:xfrm>
          <a:prstGeom prst="ellipse">
            <a:avLst/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7" name="C517"/>
          <p:cNvSpPr/>
          <p:nvPr/>
        </p:nvSpPr>
        <p:spPr>
          <a:xfrm>
            <a:off x="4584692" y="2578100"/>
            <a:ext cx="685800" cy="685800"/>
          </a:xfrm>
          <a:prstGeom prst="ellipse">
            <a:avLst/>
          </a:prstGeom>
          <a:solidFill>
            <a:srgbClr val="D1FAE5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18" name="C518"/>
          <p:cNvSpPr/>
          <p:nvPr/>
        </p:nvSpPr>
        <p:spPr>
          <a:xfrm>
            <a:off x="4622792" y="2616200"/>
            <a:ext cx="609600" cy="609600"/>
          </a:xfrm>
          <a:prstGeom prst="ellipse">
            <a:avLst/>
          </a:prstGeom>
          <a:solidFill>
            <a:srgbClr val="059669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03</a:t>
            </a:r>
          </a:p>
        </p:txBody>
      </p:sp>
      <p:sp>
        <p:nvSpPr>
          <p:cNvPr id="519" name="T519"/>
          <p:cNvSpPr/>
          <p:nvPr/>
        </p:nvSpPr>
        <p:spPr>
          <a:xfrm>
            <a:off x="863592" y="2654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059669"/>
                </a:solidFill>
                <a:latin typeface="Aptos Display"/>
              </a:rPr>
              <a:t>Subagents + Teams</a:t>
            </a:r>
          </a:p>
        </p:txBody>
      </p:sp>
      <p:sp>
        <p:nvSpPr>
          <p:cNvPr id="520" name="T520"/>
          <p:cNvSpPr/>
          <p:nvPr/>
        </p:nvSpPr>
        <p:spPr>
          <a:xfrm>
            <a:off x="863592" y="2933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Set up agents for test suites, log analysis, code review. Use Agent Teams for cross-module work.</a:t>
            </a:r>
          </a:p>
        </p:txBody>
      </p:sp>
      <p:sp>
        <p:nvSpPr>
          <p:cNvPr id="521" name="R521"/>
          <p:cNvSpPr/>
          <p:nvPr/>
        </p:nvSpPr>
        <p:spPr>
          <a:xfrm>
            <a:off x="7399608" y="3390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FF7ED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24" name="C524"/>
          <p:cNvSpPr/>
          <p:nvPr/>
        </p:nvSpPr>
        <p:spPr>
          <a:xfrm>
            <a:off x="6612796" y="3317106"/>
            <a:ext cx="685800" cy="685800"/>
          </a:xfrm>
          <a:prstGeom prst="ellipse">
            <a:avLst/>
          </a:prstGeom>
          <a:solidFill>
            <a:srgbClr val="FED7A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25" name="C525"/>
          <p:cNvSpPr/>
          <p:nvPr/>
        </p:nvSpPr>
        <p:spPr>
          <a:xfrm>
            <a:off x="6650896" y="3349066"/>
            <a:ext cx="609600" cy="609600"/>
          </a:xfrm>
          <a:prstGeom prst="ellipse">
            <a:avLst/>
          </a:prstGeom>
          <a:solidFill>
            <a:srgbClr val="D4622B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04</a:t>
            </a:r>
          </a:p>
        </p:txBody>
      </p:sp>
      <p:sp>
        <p:nvSpPr>
          <p:cNvPr id="526" name="T526"/>
          <p:cNvSpPr/>
          <p:nvPr/>
        </p:nvSpPr>
        <p:spPr>
          <a:xfrm>
            <a:off x="7552008" y="3416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D4622B"/>
                </a:solidFill>
                <a:latin typeface="Aptos Display"/>
              </a:rPr>
              <a:t>Team-wide MCP config</a:t>
            </a:r>
          </a:p>
        </p:txBody>
      </p:sp>
      <p:sp>
        <p:nvSpPr>
          <p:cNvPr id="527" name="T527"/>
          <p:cNvSpPr/>
          <p:nvPr/>
        </p:nvSpPr>
        <p:spPr>
          <a:xfrm>
            <a:off x="7552008" y="3695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Check .mcp.json into repo. Connect only active-workflow servers to minimize context cost.</a:t>
            </a:r>
          </a:p>
        </p:txBody>
      </p:sp>
      <p:sp>
        <p:nvSpPr>
          <p:cNvPr id="528" name="R528"/>
          <p:cNvSpPr/>
          <p:nvPr/>
        </p:nvSpPr>
        <p:spPr>
          <a:xfrm>
            <a:off x="711192" y="4152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1" name="C531"/>
          <p:cNvSpPr/>
          <p:nvPr/>
        </p:nvSpPr>
        <p:spPr>
          <a:xfrm>
            <a:off x="4584692" y="4102100"/>
            <a:ext cx="685800" cy="685800"/>
          </a:xfrm>
          <a:prstGeom prst="ellipse">
            <a:avLst/>
          </a:prstGeom>
          <a:solidFill>
            <a:srgbClr val="FECACA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2" name="C532"/>
          <p:cNvSpPr/>
          <p:nvPr/>
        </p:nvSpPr>
        <p:spPr>
          <a:xfrm>
            <a:off x="4622792" y="4140200"/>
            <a:ext cx="609600" cy="609600"/>
          </a:xfrm>
          <a:prstGeom prst="ellipse">
            <a:avLst/>
          </a:prstGeom>
          <a:solidFill>
            <a:srgbClr val="DC2626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05</a:t>
            </a:r>
          </a:p>
        </p:txBody>
      </p:sp>
      <p:sp>
        <p:nvSpPr>
          <p:cNvPr id="533" name="T533"/>
          <p:cNvSpPr/>
          <p:nvPr/>
        </p:nvSpPr>
        <p:spPr>
          <a:xfrm>
            <a:off x="863592" y="4178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/>
              </a:rPr>
              <a:t>Lifecycle hooks</a:t>
            </a:r>
          </a:p>
        </p:txBody>
      </p:sp>
      <p:sp>
        <p:nvSpPr>
          <p:cNvPr id="534" name="T534"/>
          <p:cNvSpPr/>
          <p:nvPr/>
        </p:nvSpPr>
        <p:spPr>
          <a:xfrm>
            <a:off x="863592" y="4457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algn="r"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Shell + HTTP hooks for auto-lint, test runners, security scans, and PostCompact cleanup.</a:t>
            </a:r>
          </a:p>
        </p:txBody>
      </p:sp>
      <p:sp>
        <p:nvSpPr>
          <p:cNvPr id="535" name="R535"/>
          <p:cNvSpPr/>
          <p:nvPr/>
        </p:nvSpPr>
        <p:spPr>
          <a:xfrm>
            <a:off x="7399608" y="4914900"/>
            <a:ext cx="3810000" cy="635000"/>
          </a:xfrm>
          <a:prstGeom prst="roundRect">
            <a:avLst>
              <a:gd name="adj" fmla="val 5000"/>
            </a:avLst>
          </a:prstGeom>
          <a:solidFill>
            <a:srgbClr val="F0F9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endParaRPr lang="en-US"/>
          </a:p>
        </p:txBody>
      </p:sp>
      <p:sp>
        <p:nvSpPr>
          <p:cNvPr id="536" name="C536"/>
          <p:cNvSpPr/>
          <p:nvPr/>
        </p:nvSpPr>
        <p:spPr>
          <a:xfrm>
            <a:off x="6650308" y="4864100"/>
            <a:ext cx="685800" cy="685800"/>
          </a:xfrm>
          <a:prstGeom prst="ellipse">
            <a:avLst/>
          </a:prstGeom>
          <a:solidFill>
            <a:srgbClr val="BAE6FD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endParaRPr lang="en-US"/>
          </a:p>
        </p:txBody>
      </p:sp>
      <p:sp>
        <p:nvSpPr>
          <p:cNvPr id="537" name="C537"/>
          <p:cNvSpPr/>
          <p:nvPr/>
        </p:nvSpPr>
        <p:spPr>
          <a:xfrm>
            <a:off x="6688408" y="4902200"/>
            <a:ext cx="609600" cy="609600"/>
          </a:xfrm>
          <a:prstGeom prst="ellipse">
            <a:avLst/>
          </a:prstGeom>
          <a:solidFill>
            <a:srgbClr val="0369A1"/>
          </a:solidFill>
          <a:ln w="0">
            <a:noFill/>
          </a:ln>
          <a:effectLst>
            <a:outerShdw blurRad="38100" dist="19050" dir="5400000" algn="tl" rotWithShape="0">
              <a:srgbClr val="000000">
                <a:alpha val="15000"/>
              </a:srgbClr>
            </a:outerShdw>
          </a:effectLst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/>
              </a:rPr>
              <a:t>06</a:t>
            </a:r>
          </a:p>
        </p:txBody>
      </p:sp>
      <p:sp>
        <p:nvSpPr>
          <p:cNvPr id="538" name="T538"/>
          <p:cNvSpPr/>
          <p:nvPr/>
        </p:nvSpPr>
        <p:spPr>
          <a:xfrm>
            <a:off x="7552008" y="4940300"/>
            <a:ext cx="3505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400" b="1" dirty="0">
                <a:solidFill>
                  <a:srgbClr val="0369A1"/>
                </a:solidFill>
                <a:latin typeface="Aptos Display"/>
              </a:rPr>
              <a:t>Onboard engineers</a:t>
            </a:r>
          </a:p>
        </p:txBody>
      </p:sp>
      <p:sp>
        <p:nvSpPr>
          <p:cNvPr id="539" name="T539"/>
          <p:cNvSpPr/>
          <p:nvPr/>
        </p:nvSpPr>
        <p:spPr>
          <a:xfrm>
            <a:off x="7552008" y="5219700"/>
            <a:ext cx="3505200" cy="33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buNone/>
            </a:pPr>
            <a:r>
              <a:rPr lang="en-US" sz="1200" dirty="0">
                <a:solidFill>
                  <a:srgbClr val="64748B"/>
                </a:solidFill>
                <a:latin typeface="Aptos"/>
              </a:rPr>
              <a:t>Prompt formula, context budget rules, and the trust / verification loop for every developer.</a:t>
            </a:r>
          </a:p>
        </p:txBody>
      </p:sp>
      <p:sp>
        <p:nvSpPr>
          <p:cNvPr id="541" name="R541"/>
          <p:cNvSpPr/>
          <p:nvPr/>
        </p:nvSpPr>
        <p:spPr>
          <a:xfrm>
            <a:off x="635000" y="6085332"/>
            <a:ext cx="10922000" cy="4318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0">
            <a:noFill/>
          </a:ln>
        </p:spPr>
        <p:txBody>
          <a:bodyPr wrap="square" lIns="72000" tIns="36000" rIns="72000" bIns="3600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E40AF"/>
                </a:solidFill>
                <a:latin typeface="Aptos Display"/>
              </a:rPr>
              <a:t>Claude Code becomes an engineering multiplier when context is deliberate, governance is centralized, and verification is mandatory.</a:t>
            </a:r>
          </a:p>
        </p:txBody>
      </p:sp>
      <p:pic>
        <p:nvPicPr>
          <p:cNvPr id="542" name="Graphic 542" descr="Document ico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2393" y="1243870"/>
            <a:ext cx="330200" cy="330200"/>
          </a:xfrm>
          <a:prstGeom prst="rect">
            <a:avLst/>
          </a:prstGeom>
        </p:spPr>
      </p:pic>
      <p:pic>
        <p:nvPicPr>
          <p:cNvPr id="543" name="Graphic 543" descr="Book ico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20108" y="2026234"/>
            <a:ext cx="330200" cy="330200"/>
          </a:xfrm>
          <a:prstGeom prst="rect">
            <a:avLst/>
          </a:prstGeom>
        </p:spPr>
      </p:pic>
      <p:pic>
        <p:nvPicPr>
          <p:cNvPr id="544" name="Graphic 544" descr="Team icon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49959" y="2741006"/>
            <a:ext cx="330200" cy="330200"/>
          </a:xfrm>
          <a:prstGeom prst="rect">
            <a:avLst/>
          </a:prstGeom>
        </p:spPr>
      </p:pic>
      <p:pic>
        <p:nvPicPr>
          <p:cNvPr id="545" name="Graphic 545" descr="Gear icon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9158" y="3530600"/>
            <a:ext cx="330200" cy="330200"/>
          </a:xfrm>
          <a:prstGeom prst="rect">
            <a:avLst/>
          </a:prstGeom>
        </p:spPr>
      </p:pic>
      <p:pic>
        <p:nvPicPr>
          <p:cNvPr id="546" name="Graphic 546" descr="Gears icon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41364" y="4254651"/>
            <a:ext cx="330200" cy="330200"/>
          </a:xfrm>
          <a:prstGeom prst="rect">
            <a:avLst/>
          </a:prstGeom>
        </p:spPr>
      </p:pic>
      <p:pic>
        <p:nvPicPr>
          <p:cNvPr id="547" name="Graphic 547" descr="Rocket icon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43908" y="5016500"/>
            <a:ext cx="330200" cy="330200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B00F51E-B77C-2898-FFFD-B69DA8F34BA2}"/>
              </a:ext>
            </a:extLst>
          </p:cNvPr>
          <p:cNvCxnSpPr>
            <a:cxnSpLocks/>
            <a:stCxn id="503" idx="5"/>
            <a:endCxn id="510" idx="1"/>
          </p:cNvCxnSpPr>
          <p:nvPr/>
        </p:nvCxnSpPr>
        <p:spPr>
          <a:xfrm>
            <a:off x="5170059" y="1658593"/>
            <a:ext cx="1567982" cy="257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5B2A934-F21C-EEE0-AF6B-F226FBE83C5C}"/>
              </a:ext>
            </a:extLst>
          </p:cNvPr>
          <p:cNvCxnSpPr>
            <a:stCxn id="510" idx="3"/>
            <a:endCxn id="518" idx="7"/>
          </p:cNvCxnSpPr>
          <p:nvPr/>
        </p:nvCxnSpPr>
        <p:spPr>
          <a:xfrm flipH="1">
            <a:off x="5143118" y="2401467"/>
            <a:ext cx="1594923" cy="304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A5F8383-6437-7846-4CAB-1CC1184D8D08}"/>
              </a:ext>
            </a:extLst>
          </p:cNvPr>
          <p:cNvCxnSpPr>
            <a:cxnSpLocks/>
            <a:stCxn id="517" idx="5"/>
            <a:endCxn id="524" idx="1"/>
          </p:cNvCxnSpPr>
          <p:nvPr/>
        </p:nvCxnSpPr>
        <p:spPr>
          <a:xfrm>
            <a:off x="5170059" y="3163467"/>
            <a:ext cx="1543170" cy="25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3A0417-10E1-21FD-0D1C-6AFC44B30A63}"/>
              </a:ext>
            </a:extLst>
          </p:cNvPr>
          <p:cNvCxnSpPr>
            <a:stCxn id="524" idx="3"/>
            <a:endCxn id="531" idx="7"/>
          </p:cNvCxnSpPr>
          <p:nvPr/>
        </p:nvCxnSpPr>
        <p:spPr>
          <a:xfrm flipH="1">
            <a:off x="5170059" y="3902473"/>
            <a:ext cx="1543170" cy="3000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87C6BE6-C693-CA4C-92EF-DB2366436829}"/>
              </a:ext>
            </a:extLst>
          </p:cNvPr>
          <p:cNvCxnSpPr>
            <a:stCxn id="531" idx="5"/>
            <a:endCxn id="536" idx="1"/>
          </p:cNvCxnSpPr>
          <p:nvPr/>
        </p:nvCxnSpPr>
        <p:spPr>
          <a:xfrm>
            <a:off x="5170059" y="4687467"/>
            <a:ext cx="1580682" cy="2770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868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660400" y="76200"/>
            <a:ext cx="8890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/>
              </a:rPr>
              <a:t>Hooks: automate every step of the agent lifecycle</a:t>
            </a:r>
          </a:p>
        </p:txBody>
      </p:sp>
      <p:sp>
        <p:nvSpPr>
          <p:cNvPr id="11" name="Subtitle"/>
          <p:cNvSpPr/>
          <p:nvPr/>
        </p:nvSpPr>
        <p:spPr>
          <a:xfrm>
            <a:off x="660400" y="609600"/>
            <a:ext cx="9512300" cy="25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/>
              </a:rPr>
              <a:t>Deterministic control via shell commands, LLM prompts, and sub-agents that are guaranteed to execute</a:t>
            </a:r>
          </a:p>
        </p:txBody>
      </p:sp>
      <p:cxnSp>
        <p:nvCxnSpPr>
          <p:cNvPr id="12" name="Divider"/>
          <p:cNvCxnSpPr/>
          <p:nvPr/>
        </p:nvCxnSpPr>
        <p:spPr>
          <a:xfrm>
            <a:off x="0" y="952500"/>
            <a:ext cx="12192000" cy="0"/>
          </a:xfrm>
          <a:prstGeom prst="straightConnector1">
            <a:avLst/>
          </a:prstGeom>
          <a:ln w="12700">
            <a:solidFill>
              <a:srgbClr val="2D4A6F"/>
            </a:solidFill>
          </a:ln>
        </p:spPr>
      </p:cxnSp>
      <p:sp>
        <p:nvSpPr>
          <p:cNvPr id="13" name="LifecycleLabel"/>
          <p:cNvSpPr/>
          <p:nvPr/>
        </p:nvSpPr>
        <p:spPr>
          <a:xfrm>
            <a:off x="381000" y="1041400"/>
            <a:ext cx="5524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HOOK LIFECYCLE EVENTS</a:t>
            </a:r>
          </a:p>
        </p:txBody>
      </p:sp>
      <p:sp>
        <p:nvSpPr>
          <p:cNvPr id="14" name="Ring"/>
          <p:cNvSpPr/>
          <p:nvPr/>
        </p:nvSpPr>
        <p:spPr>
          <a:xfrm>
            <a:off x="1968500" y="2540000"/>
            <a:ext cx="2286000" cy="2286000"/>
          </a:xfrm>
          <a:prstGeom prst="donut">
            <a:avLst>
              <a:gd name="adj" fmla="val 4000"/>
            </a:avLst>
          </a:prstGeom>
          <a:solidFill>
            <a:srgbClr val="D8E2E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enterLabel"/>
          <p:cNvSpPr/>
          <p:nvPr/>
        </p:nvSpPr>
        <p:spPr>
          <a:xfrm>
            <a:off x="2603500" y="3505200"/>
            <a:ext cx="1016000" cy="355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Agent</a:t>
            </a:r>
          </a:p>
          <a:p>
            <a:pPr algn="ctr">
              <a:buNone/>
            </a:pPr>
            <a:r>
              <a:rPr lang="en-US" sz="1000" b="1" dirty="0">
                <a:solidFill>
                  <a:srgbClr val="1A2332"/>
                </a:solidFill>
                <a:latin typeface="Aptos Display"/>
              </a:rPr>
              <a:t>Lifecycle</a:t>
            </a:r>
          </a:p>
        </p:txBody>
      </p:sp>
      <p:sp>
        <p:nvSpPr>
          <p:cNvPr id="16" name="Arrow0"/>
          <p:cNvSpPr/>
          <p:nvPr/>
        </p:nvSpPr>
        <p:spPr>
          <a:xfrm rot="1800000">
            <a:off x="3619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Arrow1"/>
          <p:cNvSpPr/>
          <p:nvPr/>
        </p:nvSpPr>
        <p:spPr>
          <a:xfrm rot="5400000">
            <a:off x="4191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Arrow2"/>
          <p:cNvSpPr/>
          <p:nvPr/>
        </p:nvSpPr>
        <p:spPr>
          <a:xfrm rot="9000000">
            <a:off x="3619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Arrow3"/>
          <p:cNvSpPr/>
          <p:nvPr/>
        </p:nvSpPr>
        <p:spPr>
          <a:xfrm rot="12600000">
            <a:off x="2476500" y="4609367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rrow4"/>
          <p:cNvSpPr/>
          <p:nvPr/>
        </p:nvSpPr>
        <p:spPr>
          <a:xfrm rot="16200000">
            <a:off x="1905000" y="3619500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Arrow5"/>
          <p:cNvSpPr/>
          <p:nvPr/>
        </p:nvSpPr>
        <p:spPr>
          <a:xfrm rot="19800000">
            <a:off x="2476500" y="2629633"/>
            <a:ext cx="127000" cy="1270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low0"/>
          <p:cNvSpPr/>
          <p:nvPr/>
        </p:nvSpPr>
        <p:spPr>
          <a:xfrm>
            <a:off x="2616200" y="1790700"/>
            <a:ext cx="990600" cy="990600"/>
          </a:xfrm>
          <a:prstGeom prst="ellipse">
            <a:avLst/>
          </a:prstGeom>
          <a:solidFill>
            <a:srgbClr val="1565C0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Node0"/>
          <p:cNvSpPr/>
          <p:nvPr/>
        </p:nvSpPr>
        <p:spPr>
          <a:xfrm>
            <a:off x="2654300" y="1828800"/>
            <a:ext cx="914400" cy="914400"/>
          </a:xfrm>
          <a:prstGeom prst="ellipse">
            <a:avLst/>
          </a:prstGeom>
          <a:solidFill>
            <a:srgbClr val="1565C0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Session
Start</a:t>
            </a:r>
          </a:p>
        </p:txBody>
      </p:sp>
      <p:sp>
        <p:nvSpPr>
          <p:cNvPr id="24" name="Badge0"/>
          <p:cNvSpPr/>
          <p:nvPr/>
        </p:nvSpPr>
        <p:spPr>
          <a:xfrm>
            <a:off x="3251200" y="1808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565C0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1565C0"/>
                </a:solidFill>
                <a:latin typeface="Aptos"/>
              </a:rPr>
              <a:t>1</a:t>
            </a:r>
          </a:p>
        </p:txBody>
      </p:sp>
      <p:sp>
        <p:nvSpPr>
          <p:cNvPr id="25" name="Desc0"/>
          <p:cNvSpPr/>
          <p:nvPr/>
        </p:nvSpPr>
        <p:spPr>
          <a:xfrm>
            <a:off x="2032000" y="15494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Load context, set env vars</a:t>
            </a:r>
          </a:p>
        </p:txBody>
      </p:sp>
      <p:sp>
        <p:nvSpPr>
          <p:cNvPr id="26" name="Glow1"/>
          <p:cNvSpPr/>
          <p:nvPr/>
        </p:nvSpPr>
        <p:spPr>
          <a:xfrm>
            <a:off x="3826037" y="2489200"/>
            <a:ext cx="990600" cy="990600"/>
          </a:xfrm>
          <a:prstGeom prst="ellipse">
            <a:avLst/>
          </a:prstGeom>
          <a:solidFill>
            <a:srgbClr val="0D8A7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Node1"/>
          <p:cNvSpPr/>
          <p:nvPr/>
        </p:nvSpPr>
        <p:spPr>
          <a:xfrm>
            <a:off x="3864137" y="2527300"/>
            <a:ext cx="914400" cy="914400"/>
          </a:xfrm>
          <a:prstGeom prst="ellipse">
            <a:avLst/>
          </a:prstGeom>
          <a:solidFill>
            <a:srgbClr val="0D8A7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Prompt
Submit</a:t>
            </a:r>
          </a:p>
        </p:txBody>
      </p:sp>
      <p:sp>
        <p:nvSpPr>
          <p:cNvPr id="28" name="Badge1"/>
          <p:cNvSpPr/>
          <p:nvPr/>
        </p:nvSpPr>
        <p:spPr>
          <a:xfrm>
            <a:off x="4461037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D8A7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0D8A72"/>
                </a:solidFill>
                <a:latin typeface="Aptos"/>
              </a:rPr>
              <a:t>2</a:t>
            </a:r>
          </a:p>
        </p:txBody>
      </p:sp>
      <p:sp>
        <p:nvSpPr>
          <p:cNvPr id="29" name="Desc1"/>
          <p:cNvSpPr/>
          <p:nvPr/>
        </p:nvSpPr>
        <p:spPr>
          <a:xfrm>
            <a:off x="4956337" y="2882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Validate &amp; transform input</a:t>
            </a:r>
          </a:p>
        </p:txBody>
      </p:sp>
      <p:sp>
        <p:nvSpPr>
          <p:cNvPr id="30" name="Glow2"/>
          <p:cNvSpPr/>
          <p:nvPr/>
        </p:nvSpPr>
        <p:spPr>
          <a:xfrm>
            <a:off x="3826037" y="3886200"/>
            <a:ext cx="990600" cy="990600"/>
          </a:xfrm>
          <a:prstGeom prst="ellipse">
            <a:avLst/>
          </a:prstGeom>
          <a:solidFill>
            <a:srgbClr val="D4622B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" name="Node2"/>
          <p:cNvSpPr/>
          <p:nvPr/>
        </p:nvSpPr>
        <p:spPr>
          <a:xfrm>
            <a:off x="3864137" y="3924300"/>
            <a:ext cx="914400" cy="914400"/>
          </a:xfrm>
          <a:prstGeom prst="ellipse">
            <a:avLst/>
          </a:prstGeom>
          <a:solidFill>
            <a:srgbClr val="D4622B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PreTool
Use</a:t>
            </a:r>
          </a:p>
        </p:txBody>
      </p:sp>
      <p:sp>
        <p:nvSpPr>
          <p:cNvPr id="32" name="Badge2"/>
          <p:cNvSpPr/>
          <p:nvPr/>
        </p:nvSpPr>
        <p:spPr>
          <a:xfrm>
            <a:off x="4461037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4622B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D4622B"/>
                </a:solidFill>
                <a:latin typeface="Aptos"/>
              </a:rPr>
              <a:t>3</a:t>
            </a:r>
          </a:p>
        </p:txBody>
      </p:sp>
      <p:sp>
        <p:nvSpPr>
          <p:cNvPr id="33" name="Desc2"/>
          <p:cNvSpPr/>
          <p:nvPr/>
        </p:nvSpPr>
        <p:spPr>
          <a:xfrm>
            <a:off x="4956337" y="4279900"/>
            <a:ext cx="9872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Approve or block actions</a:t>
            </a:r>
          </a:p>
        </p:txBody>
      </p:sp>
      <p:sp>
        <p:nvSpPr>
          <p:cNvPr id="34" name="Glow3"/>
          <p:cNvSpPr/>
          <p:nvPr/>
        </p:nvSpPr>
        <p:spPr>
          <a:xfrm>
            <a:off x="2616200" y="4584700"/>
            <a:ext cx="990600" cy="990600"/>
          </a:xfrm>
          <a:prstGeom prst="ellipse">
            <a:avLst/>
          </a:prstGeom>
          <a:solidFill>
            <a:srgbClr val="7B61F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Node3"/>
          <p:cNvSpPr/>
          <p:nvPr/>
        </p:nvSpPr>
        <p:spPr>
          <a:xfrm>
            <a:off x="2654300" y="4622800"/>
            <a:ext cx="941957" cy="939800"/>
          </a:xfrm>
          <a:prstGeom prst="ellipse">
            <a:avLst/>
          </a:prstGeom>
          <a:solidFill>
            <a:srgbClr val="7B61F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PostTool
Use</a:t>
            </a:r>
          </a:p>
        </p:txBody>
      </p:sp>
      <p:sp>
        <p:nvSpPr>
          <p:cNvPr id="36" name="Badge3"/>
          <p:cNvSpPr/>
          <p:nvPr/>
        </p:nvSpPr>
        <p:spPr>
          <a:xfrm>
            <a:off x="3251200" y="46024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7B61F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7B61FF"/>
                </a:solidFill>
                <a:latin typeface="Aptos"/>
              </a:rPr>
              <a:t>4</a:t>
            </a:r>
          </a:p>
        </p:txBody>
      </p:sp>
      <p:sp>
        <p:nvSpPr>
          <p:cNvPr id="37" name="Desc3"/>
          <p:cNvSpPr/>
          <p:nvPr/>
        </p:nvSpPr>
        <p:spPr>
          <a:xfrm>
            <a:off x="2032000" y="5638800"/>
            <a:ext cx="21590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Format, lint, run tests</a:t>
            </a:r>
          </a:p>
        </p:txBody>
      </p:sp>
      <p:sp>
        <p:nvSpPr>
          <p:cNvPr id="38" name="Glow4"/>
          <p:cNvSpPr/>
          <p:nvPr/>
        </p:nvSpPr>
        <p:spPr>
          <a:xfrm>
            <a:off x="1406363" y="3886200"/>
            <a:ext cx="990600" cy="990600"/>
          </a:xfrm>
          <a:prstGeom prst="ellipse">
            <a:avLst/>
          </a:prstGeom>
          <a:solidFill>
            <a:srgbClr val="E67E22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Node4"/>
          <p:cNvSpPr/>
          <p:nvPr/>
        </p:nvSpPr>
        <p:spPr>
          <a:xfrm>
            <a:off x="1444463" y="3924300"/>
            <a:ext cx="914400" cy="914400"/>
          </a:xfrm>
          <a:prstGeom prst="ellipse">
            <a:avLst/>
          </a:prstGeom>
          <a:solidFill>
            <a:srgbClr val="E67E22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lnSpc>
                <a:spcPts val="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/>
              </a:rPr>
              <a:t>Stop</a:t>
            </a:r>
          </a:p>
        </p:txBody>
      </p:sp>
      <p:sp>
        <p:nvSpPr>
          <p:cNvPr id="40" name="Badge4"/>
          <p:cNvSpPr/>
          <p:nvPr/>
        </p:nvSpPr>
        <p:spPr>
          <a:xfrm>
            <a:off x="2041363" y="3903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E67E22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E67E22"/>
                </a:solidFill>
                <a:latin typeface="Aptos"/>
              </a:rPr>
              <a:t>5</a:t>
            </a:r>
          </a:p>
        </p:txBody>
      </p:sp>
      <p:sp>
        <p:nvSpPr>
          <p:cNvPr id="41" name="Desc4"/>
          <p:cNvSpPr/>
          <p:nvPr/>
        </p:nvSpPr>
        <p:spPr>
          <a:xfrm>
            <a:off x="203200" y="4279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Enforce task completion</a:t>
            </a:r>
          </a:p>
        </p:txBody>
      </p:sp>
      <p:sp>
        <p:nvSpPr>
          <p:cNvPr id="42" name="Glow5"/>
          <p:cNvSpPr/>
          <p:nvPr/>
        </p:nvSpPr>
        <p:spPr>
          <a:xfrm>
            <a:off x="1406363" y="2489200"/>
            <a:ext cx="990600" cy="990600"/>
          </a:xfrm>
          <a:prstGeom prst="ellipse">
            <a:avLst/>
          </a:prstGeom>
          <a:solidFill>
            <a:srgbClr val="2D4A6F">
              <a:alpha val="1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Node5"/>
          <p:cNvSpPr/>
          <p:nvPr/>
        </p:nvSpPr>
        <p:spPr>
          <a:xfrm>
            <a:off x="1444463" y="2527300"/>
            <a:ext cx="914400" cy="914400"/>
          </a:xfrm>
          <a:prstGeom prst="ellipse">
            <a:avLst/>
          </a:prstGeom>
          <a:solidFill>
            <a:srgbClr val="2D4A6F"/>
          </a:solidFill>
          <a:ln w="0">
            <a:noFill/>
          </a:ln>
        </p:spPr>
        <p:txBody>
          <a:bodyPr wrap="square" lIns="18000" tIns="18000" rIns="18000" bIns="18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 Display"/>
              </a:rPr>
              <a:t>Pre
Compact</a:t>
            </a:r>
          </a:p>
        </p:txBody>
      </p:sp>
      <p:sp>
        <p:nvSpPr>
          <p:cNvPr id="44" name="Badge5"/>
          <p:cNvSpPr/>
          <p:nvPr/>
        </p:nvSpPr>
        <p:spPr>
          <a:xfrm>
            <a:off x="2041363" y="2506980"/>
            <a:ext cx="177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D4A6F"/>
            </a:solidFill>
          </a:ln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en-US" sz="650" b="1" dirty="0">
                <a:solidFill>
                  <a:srgbClr val="2D4A6F"/>
                </a:solidFill>
                <a:latin typeface="Aptos"/>
              </a:rPr>
              <a:t>6</a:t>
            </a:r>
          </a:p>
        </p:txBody>
      </p:sp>
      <p:sp>
        <p:nvSpPr>
          <p:cNvPr id="45" name="Desc5"/>
          <p:cNvSpPr/>
          <p:nvPr/>
        </p:nvSpPr>
        <p:spPr>
          <a:xfrm>
            <a:off x="203200" y="2882900"/>
            <a:ext cx="1088863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850" dirty="0">
                <a:solidFill>
                  <a:srgbClr val="475569"/>
                </a:solidFill>
                <a:latin typeface="Aptos"/>
              </a:rPr>
              <a:t>Backup before compaction</a:t>
            </a:r>
          </a:p>
        </p:txBody>
      </p:sp>
      <p:cxnSp>
        <p:nvCxnSpPr>
          <p:cNvPr id="46" name="VSep"/>
          <p:cNvCxnSpPr/>
          <p:nvPr/>
        </p:nvCxnSpPr>
        <p:spPr>
          <a:xfrm>
            <a:off x="60706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47" name="HLabel"/>
          <p:cNvSpPr/>
          <p:nvPr/>
        </p:nvSpPr>
        <p:spPr>
          <a:xfrm>
            <a:off x="6299200" y="1041400"/>
            <a:ext cx="28575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FOUR HANDLER TYPES</a:t>
            </a:r>
          </a:p>
        </p:txBody>
      </p:sp>
      <p:sp>
        <p:nvSpPr>
          <p:cNvPr id="48" name="HCard0"/>
          <p:cNvSpPr/>
          <p:nvPr/>
        </p:nvSpPr>
        <p:spPr>
          <a:xfrm>
            <a:off x="6299200" y="12954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HAcc0"/>
          <p:cNvSpPr/>
          <p:nvPr/>
        </p:nvSpPr>
        <p:spPr>
          <a:xfrm>
            <a:off x="6299200" y="1295400"/>
            <a:ext cx="50800" cy="609600"/>
          </a:xfrm>
          <a:prstGeom prst="rect">
            <a:avLst/>
          </a:prstGeom>
          <a:solidFill>
            <a:srgbClr val="1565C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HTxt0"/>
          <p:cNvSpPr/>
          <p:nvPr/>
        </p:nvSpPr>
        <p:spPr>
          <a:xfrm>
            <a:off x="6451600" y="13335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"command"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Shell scripts via stdin/stdout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npx prettier --write $FILEPATH</a:t>
            </a:r>
          </a:p>
        </p:txBody>
      </p:sp>
      <p:sp>
        <p:nvSpPr>
          <p:cNvPr id="51" name="HCard1"/>
          <p:cNvSpPr/>
          <p:nvPr/>
        </p:nvSpPr>
        <p:spPr>
          <a:xfrm>
            <a:off x="6299200" y="19812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HAcc1"/>
          <p:cNvSpPr/>
          <p:nvPr/>
        </p:nvSpPr>
        <p:spPr>
          <a:xfrm>
            <a:off x="6299200" y="1981200"/>
            <a:ext cx="50800" cy="609600"/>
          </a:xfrm>
          <a:prstGeom prst="rect">
            <a:avLst/>
          </a:prstGeom>
          <a:solidFill>
            <a:srgbClr val="D4622B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HTxt1"/>
          <p:cNvSpPr/>
          <p:nvPr/>
        </p:nvSpPr>
        <p:spPr>
          <a:xfrm>
            <a:off x="6451600" y="20193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"http"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POST event JSON to URL endpoint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http://policy:8080/validate</a:t>
            </a:r>
          </a:p>
        </p:txBody>
      </p:sp>
      <p:sp>
        <p:nvSpPr>
          <p:cNvPr id="54" name="HCard2"/>
          <p:cNvSpPr/>
          <p:nvPr/>
        </p:nvSpPr>
        <p:spPr>
          <a:xfrm>
            <a:off x="6299200" y="26670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HAcc2"/>
          <p:cNvSpPr/>
          <p:nvPr/>
        </p:nvSpPr>
        <p:spPr>
          <a:xfrm>
            <a:off x="6299200" y="2667000"/>
            <a:ext cx="50800" cy="609600"/>
          </a:xfrm>
          <a:prstGeom prst="rect">
            <a:avLst/>
          </a:prstGeom>
          <a:solidFill>
            <a:srgbClr val="0D8A7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HTxt2"/>
          <p:cNvSpPr/>
          <p:nvPr/>
        </p:nvSpPr>
        <p:spPr>
          <a:xfrm>
            <a:off x="6451600" y="27051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"prompt"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Single-turn LLM evaluation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Does this edit touch auth logic?</a:t>
            </a:r>
          </a:p>
        </p:txBody>
      </p:sp>
      <p:sp>
        <p:nvSpPr>
          <p:cNvPr id="57" name="HCard3"/>
          <p:cNvSpPr/>
          <p:nvPr/>
        </p:nvSpPr>
        <p:spPr>
          <a:xfrm>
            <a:off x="6299200" y="3352800"/>
            <a:ext cx="2857500" cy="6096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HAcc3"/>
          <p:cNvSpPr/>
          <p:nvPr/>
        </p:nvSpPr>
        <p:spPr>
          <a:xfrm>
            <a:off x="6299200" y="3352800"/>
            <a:ext cx="50800" cy="609600"/>
          </a:xfrm>
          <a:prstGeom prst="rect">
            <a:avLst/>
          </a:prstGeom>
          <a:solidFill>
            <a:srgbClr val="7B61FF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HTxt3"/>
          <p:cNvSpPr/>
          <p:nvPr/>
        </p:nvSpPr>
        <p:spPr>
          <a:xfrm>
            <a:off x="6451600" y="3390900"/>
            <a:ext cx="2654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type: "agent"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568"/>
                </a:solidFill>
                <a:latin typeface="Aptos"/>
              </a:rPr>
              <a:t>Multi-turn sub-agent verification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800" dirty="0">
                <a:solidFill>
                  <a:srgbClr val="808080"/>
                </a:solidFill>
                <a:latin typeface="Consolas"/>
              </a:rPr>
              <a:t>Verify test coverage for changes</a:t>
            </a:r>
          </a:p>
        </p:txBody>
      </p:sp>
      <p:cxnSp>
        <p:nvCxnSpPr>
          <p:cNvPr id="60" name="VSep2"/>
          <p:cNvCxnSpPr/>
          <p:nvPr/>
        </p:nvCxnSpPr>
        <p:spPr>
          <a:xfrm>
            <a:off x="9321800" y="1041400"/>
            <a:ext cx="0" cy="4826000"/>
          </a:xfrm>
          <a:prstGeom prst="straightConnector1">
            <a:avLst/>
          </a:prstGeom>
          <a:ln w="6350">
            <a:solidFill>
              <a:srgbClr val="D0D5DD"/>
            </a:solidFill>
          </a:ln>
        </p:spPr>
      </p:cxnSp>
      <p:sp>
        <p:nvSpPr>
          <p:cNvPr id="61" name="EPLabel"/>
          <p:cNvSpPr/>
          <p:nvPr/>
        </p:nvSpPr>
        <p:spPr>
          <a:xfrm>
            <a:off x="9525000" y="1041400"/>
            <a:ext cx="2438400" cy="203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4748B"/>
                </a:solidFill>
                <a:latin typeface="Aptos Display"/>
              </a:rPr>
              <a:t>ENTERPRISE PATTERNS</a:t>
            </a:r>
          </a:p>
        </p:txBody>
      </p:sp>
      <p:sp>
        <p:nvSpPr>
          <p:cNvPr id="62" name="EPCard1"/>
          <p:cNvSpPr/>
          <p:nvPr/>
        </p:nvSpPr>
        <p:spPr>
          <a:xfrm>
            <a:off x="9525000" y="1295400"/>
            <a:ext cx="2438400" cy="2032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Why hooks over CLAUDE.md?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ptos"/>
              </a:rPr>
              <a:t>CLAUDE.md rules are advisory.</a:t>
            </a:r>
          </a:p>
          <a:p>
            <a:pPr marL="0" indent="0">
              <a:lnSpc>
                <a:spcPts val="1100"/>
              </a:lnSpc>
              <a:buNone/>
            </a:pPr>
            <a:endParaRPr lang="en-US" sz="1200" b="1" dirty="0">
              <a:solidFill>
                <a:srgbClr val="1A2332"/>
              </a:solidFill>
              <a:latin typeface="Aptos"/>
            </a:endParaRPr>
          </a:p>
          <a:p>
            <a:pPr marL="0" indent="0">
              <a:lnSpc>
                <a:spcPts val="11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"/>
              </a:rPr>
              <a:t>Hooks are guaranteed.</a:t>
            </a:r>
          </a:p>
          <a:p>
            <a:pPr marL="0" indent="0">
              <a:lnSpc>
                <a:spcPts val="250"/>
              </a:lnSpc>
              <a:buNone/>
            </a:pPr>
            <a:endParaRPr lang="en-US" sz="25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PreToolUse exit 2 = blocked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tos"/>
              </a:rPr>
              <a:t>Stop exit 2 = forced continue</a:t>
            </a:r>
          </a:p>
          <a:p>
            <a:pPr marL="0" indent="0">
              <a:lnSpc>
                <a:spcPts val="250"/>
              </a:lnSpc>
              <a:buNone/>
            </a:pPr>
            <a:endParaRPr lang="en-US" sz="1100" dirty="0"/>
          </a:p>
          <a:p>
            <a:pPr marL="0" indent="0">
              <a:lnSpc>
                <a:spcPts val="1050"/>
              </a:lnSpc>
              <a:buNone/>
            </a:pPr>
            <a:r>
              <a:rPr lang="en-US" sz="1100" i="1" dirty="0">
                <a:solidFill>
                  <a:srgbClr val="1565C0"/>
                </a:solidFill>
                <a:latin typeface="Aptos"/>
              </a:rPr>
              <a:t>"Probably" vs "always" is everything</a:t>
            </a:r>
            <a:r>
              <a:rPr lang="en-US" sz="850" i="1" dirty="0">
                <a:solidFill>
                  <a:srgbClr val="1565C0"/>
                </a:solidFill>
                <a:latin typeface="Aptos"/>
              </a:rPr>
              <a:t>.</a:t>
            </a:r>
          </a:p>
        </p:txBody>
      </p:sp>
      <p:sp>
        <p:nvSpPr>
          <p:cNvPr id="63" name="EPCard2"/>
          <p:cNvSpPr/>
          <p:nvPr/>
        </p:nvSpPr>
        <p:spPr>
          <a:xfrm>
            <a:off x="9525000" y="3429000"/>
            <a:ext cx="2438400" cy="139700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 w="0">
            <a:noFill/>
          </a:ln>
        </p:spPr>
        <p:txBody>
          <a:bodyPr wrap="square" lIns="64000" tIns="54000" rIns="64000" bIns="5400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Aptos Display"/>
              </a:rPr>
              <a:t>Configuration scope</a:t>
            </a:r>
          </a:p>
          <a:p>
            <a:pPr marL="0" indent="0">
              <a:lnSpc>
                <a:spcPts val="200"/>
              </a:lnSpc>
              <a:buNone/>
            </a:pPr>
            <a:endParaRPr lang="en-US" sz="2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Project-level: shared via git</a:t>
            </a:r>
          </a:p>
          <a:p>
            <a:pPr marL="0" indent="0">
              <a:lnSpc>
                <a:spcPts val="200"/>
              </a:lnSpc>
              <a:buNone/>
            </a:pPr>
            <a:endParaRPr lang="en-US" sz="1100" dirty="0"/>
          </a:p>
          <a:p>
            <a:pPr marL="0" indent="0">
              <a:lnSpc>
                <a:spcPts val="1100"/>
              </a:lnSpc>
              <a:buNone/>
            </a:pPr>
            <a:r>
              <a:rPr lang="en-US" sz="1100" b="1" dirty="0">
                <a:solidFill>
                  <a:srgbClr val="0D8A72"/>
                </a:solidFill>
                <a:latin typeface="Consolas"/>
              </a:rPr>
              <a:t>~/.claude/settings.json</a:t>
            </a:r>
          </a:p>
          <a:p>
            <a:pPr marL="0" indent="0">
              <a:lnSpc>
                <a:spcPts val="105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Aptos"/>
              </a:rPr>
              <a:t>User-level: personal defaults</a:t>
            </a:r>
          </a:p>
        </p:txBody>
      </p:sp>
      <p:sp>
        <p:nvSpPr>
          <p:cNvPr id="64" name="Banner"/>
          <p:cNvSpPr/>
          <p:nvPr/>
        </p:nvSpPr>
        <p:spPr>
          <a:xfrm>
            <a:off x="381000" y="5943600"/>
            <a:ext cx="11430000" cy="355600"/>
          </a:xfrm>
          <a:prstGeom prst="roundRect">
            <a:avLst>
              <a:gd name="adj" fmla="val 20000"/>
            </a:avLst>
          </a:prstGeom>
          <a:solidFill>
            <a:srgbClr val="EBF5FF"/>
          </a:solidFill>
          <a:ln w="0">
            <a:noFill/>
          </a:ln>
        </p:spPr>
        <p:txBody>
          <a:bodyPr wrap="square" lIns="91440" tIns="27000" rIns="91440" bIns="27000" anchor="ctr"/>
          <a:lstStyle/>
          <a:p>
            <a:pPr algn="ctr">
              <a:buNone/>
            </a:pPr>
            <a:r>
              <a:rPr lang="en-US" sz="950" dirty="0">
                <a:solidFill>
                  <a:srgbClr val="1565C0"/>
                </a:solidFill>
                <a:latin typeface="Aptos"/>
              </a:rPr>
              <a:t>Hooks fire recursively for subagent actions — safety gates apply to all spawned agents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764293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88900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GitHub Actions: Claude in your CI/CD pipeline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33400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Automated PR reviews, test generation, and issue-to-PR workflows via the official claude-code-action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939800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CORE WORKFLOWS</a:t>
            </a:r>
          </a:p>
        </p:txBody>
      </p:sp>
      <p:sp>
        <p:nvSpPr>
          <p:cNvPr id="200" name="WCard0"/>
          <p:cNvSpPr/>
          <p:nvPr/>
        </p:nvSpPr>
        <p:spPr>
          <a:xfrm>
            <a:off x="381000" y="1320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W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WTitle0"/>
          <p:cNvSpPr/>
          <p:nvPr/>
        </p:nvSpPr>
        <p:spPr>
          <a:xfrm>
            <a:off x="558800" y="1447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Automated PR Review</a:t>
            </a:r>
          </a:p>
        </p:txBody>
      </p:sp>
      <p:sp>
        <p:nvSpPr>
          <p:cNvPr id="203" name="WDesc0"/>
          <p:cNvSpPr/>
          <p:nvPr/>
        </p:nvSpPr>
        <p:spPr>
          <a:xfrm>
            <a:off x="558800" y="1701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On pull_request: opened, Claude analyzes diffs, posts inline comments, flags issues</a:t>
            </a:r>
          </a:p>
        </p:txBody>
      </p:sp>
      <p:sp>
        <p:nvSpPr>
          <p:cNvPr id="204" name="WTrigger0"/>
          <p:cNvSpPr/>
          <p:nvPr/>
        </p:nvSpPr>
        <p:spPr>
          <a:xfrm>
            <a:off x="558800" y="2006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pull_request</a:t>
            </a:r>
          </a:p>
        </p:txBody>
      </p:sp>
      <p:sp>
        <p:nvSpPr>
          <p:cNvPr id="210" name="WCard1"/>
          <p:cNvSpPr/>
          <p:nvPr/>
        </p:nvSpPr>
        <p:spPr>
          <a:xfrm>
            <a:off x="381000" y="2463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WAcc1"/>
          <p:cNvSpPr/>
          <p:nvPr/>
        </p:nvSpPr>
        <p:spPr>
          <a:xfrm>
            <a:off x="381000" y="2463800"/>
            <a:ext cx="5334000" cy="508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WTitle1"/>
          <p:cNvSpPr/>
          <p:nvPr/>
        </p:nvSpPr>
        <p:spPr>
          <a:xfrm>
            <a:off x="558800" y="2590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@claude Mentions</a:t>
            </a:r>
          </a:p>
        </p:txBody>
      </p:sp>
      <p:sp>
        <p:nvSpPr>
          <p:cNvPr id="213" name="WDesc1"/>
          <p:cNvSpPr/>
          <p:nvPr/>
        </p:nvSpPr>
        <p:spPr>
          <a:xfrm>
            <a:off x="558800" y="2844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Tag @claude in any issue or PR comment to get implementation, fixes, or analysis</a:t>
            </a:r>
          </a:p>
        </p:txBody>
      </p:sp>
      <p:sp>
        <p:nvSpPr>
          <p:cNvPr id="214" name="WTrigger1"/>
          <p:cNvSpPr/>
          <p:nvPr/>
        </p:nvSpPr>
        <p:spPr>
          <a:xfrm>
            <a:off x="558800" y="3149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issue_comment</a:t>
            </a:r>
          </a:p>
        </p:txBody>
      </p:sp>
      <p:sp>
        <p:nvSpPr>
          <p:cNvPr id="220" name="WCard2"/>
          <p:cNvSpPr/>
          <p:nvPr/>
        </p:nvSpPr>
        <p:spPr>
          <a:xfrm>
            <a:off x="381000" y="3606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WAcc2"/>
          <p:cNvSpPr/>
          <p:nvPr/>
        </p:nvSpPr>
        <p:spPr>
          <a:xfrm>
            <a:off x="381000" y="36068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WTitle2"/>
          <p:cNvSpPr/>
          <p:nvPr/>
        </p:nvSpPr>
        <p:spPr>
          <a:xfrm>
            <a:off x="558800" y="3733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Test Generation</a:t>
            </a:r>
          </a:p>
        </p:txBody>
      </p:sp>
      <p:sp>
        <p:nvSpPr>
          <p:cNvPr id="223" name="WDesc2"/>
          <p:cNvSpPr/>
          <p:nvPr/>
        </p:nvSpPr>
        <p:spPr>
          <a:xfrm>
            <a:off x="558800" y="3987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Comment /gen-tests on a PR; Claude creates a test branch with coverage report</a:t>
            </a:r>
          </a:p>
        </p:txBody>
      </p:sp>
      <p:sp>
        <p:nvSpPr>
          <p:cNvPr id="224" name="WTrigger2"/>
          <p:cNvSpPr/>
          <p:nvPr/>
        </p:nvSpPr>
        <p:spPr>
          <a:xfrm>
            <a:off x="558800" y="4292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/gen-tests command</a:t>
            </a:r>
          </a:p>
        </p:txBody>
      </p:sp>
      <p:sp>
        <p:nvSpPr>
          <p:cNvPr id="230" name="WCard3"/>
          <p:cNvSpPr/>
          <p:nvPr/>
        </p:nvSpPr>
        <p:spPr>
          <a:xfrm>
            <a:off x="381000" y="4749800"/>
            <a:ext cx="5334000" cy="101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WAcc3"/>
          <p:cNvSpPr/>
          <p:nvPr/>
        </p:nvSpPr>
        <p:spPr>
          <a:xfrm>
            <a:off x="381000" y="4749800"/>
            <a:ext cx="5334000" cy="50800"/>
          </a:xfrm>
          <a:prstGeom prst="rect">
            <a:avLst/>
          </a:prstGeom>
          <a:solidFill>
            <a:srgbClr val="DB2777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WTitle3"/>
          <p:cNvSpPr/>
          <p:nvPr/>
        </p:nvSpPr>
        <p:spPr>
          <a:xfrm>
            <a:off x="558800" y="4876800"/>
            <a:ext cx="4953000" cy="2286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Issue-to-PR Automation</a:t>
            </a:r>
          </a:p>
        </p:txBody>
      </p:sp>
      <p:sp>
        <p:nvSpPr>
          <p:cNvPr id="233" name="WDesc3"/>
          <p:cNvSpPr/>
          <p:nvPr/>
        </p:nvSpPr>
        <p:spPr>
          <a:xfrm>
            <a:off x="558800" y="5130800"/>
            <a:ext cx="4953000" cy="2032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Describe a feature in an issue; Claude creates a full PR with implementation</a:t>
            </a:r>
          </a:p>
        </p:txBody>
      </p:sp>
      <p:sp>
        <p:nvSpPr>
          <p:cNvPr id="234" name="WTrigger3"/>
          <p:cNvSpPr/>
          <p:nvPr/>
        </p:nvSpPr>
        <p:spPr>
          <a:xfrm>
            <a:off x="558800" y="5435600"/>
            <a:ext cx="2159000" cy="254000"/>
          </a:xfrm>
          <a:prstGeom prst="roundRect">
            <a:avLst>
              <a:gd name="adj" fmla="val 5000"/>
            </a:avLst>
          </a:prstGeom>
          <a:solidFill>
            <a:schemeClr val="bg1">
              <a:lumMod val="65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900" dirty="0">
                <a:solidFill>
                  <a:schemeClr val="bg1"/>
                </a:solidFill>
                <a:latin typeface="Consolas"/>
              </a:rPr>
              <a:t>on: issues: opened</a:t>
            </a:r>
          </a:p>
        </p:txBody>
      </p:sp>
      <p:sp>
        <p:nvSpPr>
          <p:cNvPr id="300" name="SecLabel"/>
          <p:cNvSpPr/>
          <p:nvPr/>
        </p:nvSpPr>
        <p:spPr>
          <a:xfrm>
            <a:off x="6096000" y="1041400"/>
            <a:ext cx="317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SETUP &amp; SECURITY</a:t>
            </a:r>
          </a:p>
        </p:txBody>
      </p:sp>
      <p:sp>
        <p:nvSpPr>
          <p:cNvPr id="310" name="SetupCard"/>
          <p:cNvSpPr/>
          <p:nvPr/>
        </p:nvSpPr>
        <p:spPr>
          <a:xfrm>
            <a:off x="6096000" y="1320800"/>
            <a:ext cx="5715000" cy="1930400"/>
          </a:xfrm>
          <a:prstGeom prst="roundRect">
            <a:avLst>
              <a:gd name="adj" fmla="val 5000"/>
            </a:avLst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Setu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7C3AED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SetupTitle"/>
          <p:cNvSpPr/>
          <p:nvPr/>
        </p:nvSpPr>
        <p:spPr>
          <a:xfrm>
            <a:off x="6273800" y="1473200"/>
            <a:ext cx="5334000" cy="2540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Quick Start (3 steps)</a:t>
            </a:r>
          </a:p>
        </p:txBody>
      </p:sp>
      <p:sp>
        <p:nvSpPr>
          <p:cNvPr id="313" name="SetupBody"/>
          <p:cNvSpPr/>
          <p:nvPr/>
        </p:nvSpPr>
        <p:spPr>
          <a:xfrm>
            <a:off x="6273800" y="1778000"/>
            <a:ext cx="5334000" cy="1346200"/>
          </a:xfrm>
          <a:prstGeom prst="rect">
            <a:avLst/>
          </a:prstGeom>
          <a:solidFill>
            <a:srgbClr val="EDE8F5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1.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Install Claude GitHub App on your repo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2.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Add ANTHROPIC_API_KEY to repository secrets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Segoe UI"/>
              </a:rPr>
              <a:t>3.</a:t>
            </a:r>
            <a:r>
              <a:rPr lang="en-US" sz="1100" dirty="0">
                <a:solidFill>
                  <a:srgbClr val="4A5568"/>
                </a:solidFill>
                <a:latin typeface="Segoe UI"/>
              </a:rPr>
              <a:t> Copy workflow YAML to .github/workflows/</a:t>
            </a:r>
          </a:p>
          <a:p>
            <a:pPr marL="0" indent="0">
              <a:buNone/>
            </a:pPr>
            <a:endParaRPr lang="en-US" sz="500" dirty="0"/>
          </a:p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Segoe UI"/>
              </a:rPr>
              <a:t>Enterprise: use AWS Bedrock or Vertex AI for data residency</a:t>
            </a:r>
          </a:p>
        </p:txBody>
      </p:sp>
      <p:sp>
        <p:nvSpPr>
          <p:cNvPr id="320" name="SecCard"/>
          <p:cNvSpPr/>
          <p:nvPr/>
        </p:nvSpPr>
        <p:spPr>
          <a:xfrm>
            <a:off x="6096000" y="3454400"/>
            <a:ext cx="5715000" cy="21844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1" name="SecAcc"/>
          <p:cNvSpPr/>
          <p:nvPr/>
        </p:nvSpPr>
        <p:spPr>
          <a:xfrm>
            <a:off x="6096000" y="34544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SecTitle"/>
          <p:cNvSpPr/>
          <p:nvPr/>
        </p:nvSpPr>
        <p:spPr>
          <a:xfrm>
            <a:off x="6273800" y="3606800"/>
            <a:ext cx="5334000" cy="2540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Security Best Practices</a:t>
            </a:r>
          </a:p>
        </p:txBody>
      </p:sp>
      <p:sp>
        <p:nvSpPr>
          <p:cNvPr id="323" name="SecBody"/>
          <p:cNvSpPr/>
          <p:nvPr/>
        </p:nvSpPr>
        <p:spPr>
          <a:xfrm>
            <a:off x="6273800" y="3911600"/>
            <a:ext cx="5334000" cy="1625600"/>
          </a:xfrm>
          <a:prstGeom prst="rect">
            <a:avLst/>
          </a:prstGeom>
          <a:solidFill>
            <a:srgbClr val="FEF2F2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Never hardcode API keys; use GitHub Secrets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Scope permissions to least privilege per job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Pin actions by commit SHA for supply-chain safety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Require human approval before merge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Fork PRs don't get secrets by default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Segoe UI"/>
              </a:rPr>
              <a:t>Use --max-turns to cap cost per run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842000"/>
            <a:ext cx="11430000" cy="431800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Built on Claude Agent SDK — extend beyond GitHub with custom automation for any CI/CD platform</a:t>
            </a:r>
          </a:p>
        </p:txBody>
      </p:sp>
    </p:spTree>
    <p:extLst>
      <p:ext uri="{BB962C8B-B14F-4D97-AF65-F5344CB8AC3E}">
        <p14:creationId xmlns:p14="http://schemas.microsoft.com/office/powerpoint/2010/main" val="1662587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660400" y="76200"/>
            <a:ext cx="9766300" cy="3810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</a:rPr>
              <a:t>Claude Code Security: reasoning-based vulnerability scanning</a:t>
            </a:r>
          </a:p>
        </p:txBody>
      </p:sp>
      <p:sp>
        <p:nvSpPr>
          <p:cNvPr id="3" name="Subtitle"/>
          <p:cNvSpPr/>
          <p:nvPr/>
        </p:nvSpPr>
        <p:spPr>
          <a:xfrm>
            <a:off x="660400" y="575932"/>
            <a:ext cx="10160000" cy="279400"/>
          </a:xfrm>
          <a:noFill/>
          <a:ln w="1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972C1"/>
                </a:solidFill>
                <a:latin typeface="Aptos" pitchFamily="34" charset="0"/>
              </a:rPr>
              <a:t>Uses Claude's reasoning to find zero-day vulnerabilities that traditional SAST/DAST tools miss (launched Feb 2026)</a:t>
            </a:r>
          </a:p>
        </p:txBody>
      </p:sp>
      <p:cxnSp>
        <p:nvCxnSpPr>
          <p:cNvPr id="4" name="Divider"/>
          <p:cNvCxnSpPr/>
          <p:nvPr/>
        </p:nvCxnSpPr>
        <p:spPr>
          <a:xfrm>
            <a:off x="0" y="876002"/>
            <a:ext cx="12192000" cy="0"/>
          </a:xfrm>
          <a:prstGeom prst="line">
            <a:avLst/>
          </a:prstGeom>
          <a:ln w="12700">
            <a:solidFill>
              <a:srgbClr val="1A2332"/>
            </a:solidFill>
          </a:ln>
        </p:spPr>
      </p:cxnSp>
      <p:sp>
        <p:nvSpPr>
          <p:cNvPr id="5" name="SectLabel"/>
          <p:cNvSpPr/>
          <p:nvPr/>
        </p:nvSpPr>
        <p:spPr>
          <a:xfrm>
            <a:off x="381000" y="1041400"/>
            <a:ext cx="3556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HOW IT WORKS</a:t>
            </a:r>
          </a:p>
        </p:txBody>
      </p:sp>
      <p:sp>
        <p:nvSpPr>
          <p:cNvPr id="200" name="SCard0"/>
          <p:cNvSpPr/>
          <p:nvPr/>
        </p:nvSpPr>
        <p:spPr>
          <a:xfrm>
            <a:off x="381000" y="13208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1" name="SAcc0"/>
          <p:cNvSpPr/>
          <p:nvPr/>
        </p:nvSpPr>
        <p:spPr>
          <a:xfrm>
            <a:off x="381000" y="1320800"/>
            <a:ext cx="5334000" cy="50800"/>
          </a:xfrm>
          <a:prstGeom prst="rect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02" name="SNum0"/>
          <p:cNvSpPr/>
          <p:nvPr/>
        </p:nvSpPr>
        <p:spPr>
          <a:xfrm>
            <a:off x="533400" y="1498600"/>
            <a:ext cx="355600" cy="355600"/>
          </a:xfrm>
          <a:prstGeom prst="ellipse">
            <a:avLst/>
          </a:prstGeom>
          <a:solidFill>
            <a:srgbClr val="2563E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3" name="STitle0"/>
          <p:cNvSpPr/>
          <p:nvPr/>
        </p:nvSpPr>
        <p:spPr>
          <a:xfrm>
            <a:off x="1016000" y="14478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Deep Code Analysis</a:t>
            </a:r>
          </a:p>
        </p:txBody>
      </p:sp>
      <p:sp>
        <p:nvSpPr>
          <p:cNvPr id="204" name="SDesc0"/>
          <p:cNvSpPr/>
          <p:nvPr/>
        </p:nvSpPr>
        <p:spPr>
          <a:xfrm>
            <a:off x="1016000" y="17526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Claude reads and reasons about your entire codebase, understanding data flows, authentication patterns, and business logic</a:t>
            </a:r>
          </a:p>
        </p:txBody>
      </p:sp>
      <p:cxnSp>
        <p:nvCxnSpPr>
          <p:cNvPr id="205" name="SConn0"/>
          <p:cNvCxnSpPr/>
          <p:nvPr/>
        </p:nvCxnSpPr>
        <p:spPr>
          <a:xfrm>
            <a:off x="711200" y="23876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10" name="SCard1"/>
          <p:cNvSpPr/>
          <p:nvPr/>
        </p:nvSpPr>
        <p:spPr>
          <a:xfrm>
            <a:off x="381000" y="25146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1" name="SAcc1"/>
          <p:cNvSpPr/>
          <p:nvPr/>
        </p:nvSpPr>
        <p:spPr>
          <a:xfrm>
            <a:off x="381000" y="2514600"/>
            <a:ext cx="5334000" cy="508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12" name="SNum1"/>
          <p:cNvSpPr/>
          <p:nvPr/>
        </p:nvSpPr>
        <p:spPr>
          <a:xfrm>
            <a:off x="533400" y="2692400"/>
            <a:ext cx="355600" cy="355600"/>
          </a:xfrm>
          <a:prstGeom prst="ellipse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13" name="STitle1"/>
          <p:cNvSpPr/>
          <p:nvPr/>
        </p:nvSpPr>
        <p:spPr>
          <a:xfrm>
            <a:off x="1016000" y="26416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Vulnerability Detection</a:t>
            </a:r>
          </a:p>
        </p:txBody>
      </p:sp>
      <p:sp>
        <p:nvSpPr>
          <p:cNvPr id="214" name="SDesc1"/>
          <p:cNvSpPr/>
          <p:nvPr/>
        </p:nvSpPr>
        <p:spPr>
          <a:xfrm>
            <a:off x="1016000" y="29464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Identifies zero-day vulnerabilities using reasoning-based scanning rather than pattern matching or static rules</a:t>
            </a:r>
          </a:p>
        </p:txBody>
      </p:sp>
      <p:cxnSp>
        <p:nvCxnSpPr>
          <p:cNvPr id="215" name="SConn1"/>
          <p:cNvCxnSpPr/>
          <p:nvPr/>
        </p:nvCxnSpPr>
        <p:spPr>
          <a:xfrm>
            <a:off x="711200" y="35814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20" name="SCard2"/>
          <p:cNvSpPr/>
          <p:nvPr/>
        </p:nvSpPr>
        <p:spPr>
          <a:xfrm>
            <a:off x="381000" y="37084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1" name="SAcc2"/>
          <p:cNvSpPr/>
          <p:nvPr/>
        </p:nvSpPr>
        <p:spPr>
          <a:xfrm>
            <a:off x="381000" y="3708400"/>
            <a:ext cx="5334000" cy="50800"/>
          </a:xfrm>
          <a:prstGeom prst="rect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22" name="SNum2"/>
          <p:cNvSpPr/>
          <p:nvPr/>
        </p:nvSpPr>
        <p:spPr>
          <a:xfrm>
            <a:off x="533400" y="3886200"/>
            <a:ext cx="355600" cy="355600"/>
          </a:xfrm>
          <a:prstGeom prst="ellipse">
            <a:avLst/>
          </a:prstGeom>
          <a:solidFill>
            <a:srgbClr val="F59E0B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3" name="STitle2"/>
          <p:cNvSpPr/>
          <p:nvPr/>
        </p:nvSpPr>
        <p:spPr>
          <a:xfrm>
            <a:off x="1016000" y="38354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Contextual Assessment</a:t>
            </a:r>
          </a:p>
        </p:txBody>
      </p:sp>
      <p:sp>
        <p:nvSpPr>
          <p:cNvPr id="224" name="SDesc2"/>
          <p:cNvSpPr/>
          <p:nvPr/>
        </p:nvSpPr>
        <p:spPr>
          <a:xfrm>
            <a:off x="1016000" y="41402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Evaluates severity with full understanding of how the vulnerability could be exploited in your specific codebase</a:t>
            </a:r>
          </a:p>
        </p:txBody>
      </p:sp>
      <p:cxnSp>
        <p:nvCxnSpPr>
          <p:cNvPr id="225" name="SConn2"/>
          <p:cNvCxnSpPr/>
          <p:nvPr/>
        </p:nvCxnSpPr>
        <p:spPr>
          <a:xfrm>
            <a:off x="711200" y="4775200"/>
            <a:ext cx="0" cy="127000"/>
          </a:xfrm>
          <a:prstGeom prst="line">
            <a:avLst/>
          </a:prstGeom>
          <a:ln w="6350">
            <a:solidFill>
              <a:srgbClr val="CBD5E1"/>
            </a:solidFill>
          </a:ln>
        </p:spPr>
      </p:cxnSp>
      <p:sp>
        <p:nvSpPr>
          <p:cNvPr id="230" name="SCard3"/>
          <p:cNvSpPr/>
          <p:nvPr/>
        </p:nvSpPr>
        <p:spPr>
          <a:xfrm>
            <a:off x="381000" y="4902200"/>
            <a:ext cx="5334000" cy="1066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1" name="SAcc3"/>
          <p:cNvSpPr/>
          <p:nvPr/>
        </p:nvSpPr>
        <p:spPr>
          <a:xfrm>
            <a:off x="381000" y="4902200"/>
            <a:ext cx="5334000" cy="508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232" name="SNum3"/>
          <p:cNvSpPr/>
          <p:nvPr/>
        </p:nvSpPr>
        <p:spPr>
          <a:xfrm>
            <a:off x="533400" y="5080000"/>
            <a:ext cx="355600" cy="355600"/>
          </a:xfrm>
          <a:prstGeom prst="ellipse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33" name="STitle3"/>
          <p:cNvSpPr/>
          <p:nvPr/>
        </p:nvSpPr>
        <p:spPr>
          <a:xfrm>
            <a:off x="1016000" y="5029200"/>
            <a:ext cx="45212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Segoe UI Semibold"/>
              </a:rPr>
              <a:t>Fix Recommendations</a:t>
            </a:r>
          </a:p>
        </p:txBody>
      </p:sp>
      <p:sp>
        <p:nvSpPr>
          <p:cNvPr id="234" name="SDesc3"/>
          <p:cNvSpPr/>
          <p:nvPr/>
        </p:nvSpPr>
        <p:spPr>
          <a:xfrm>
            <a:off x="1016000" y="5334000"/>
            <a:ext cx="4521200" cy="508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actionable remediation with concrete code changes, not just flagged line numbers</a:t>
            </a:r>
          </a:p>
        </p:txBody>
      </p:sp>
      <p:sp>
        <p:nvSpPr>
          <p:cNvPr id="300" name="RPLabel"/>
          <p:cNvSpPr/>
          <p:nvPr/>
        </p:nvSpPr>
        <p:spPr>
          <a:xfrm>
            <a:off x="6096000" y="10414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REASONING VS. PATTERN MATCHING</a:t>
            </a:r>
          </a:p>
        </p:txBody>
      </p:sp>
      <p:sp>
        <p:nvSpPr>
          <p:cNvPr id="310" name="CmpCard"/>
          <p:cNvSpPr/>
          <p:nvPr/>
        </p:nvSpPr>
        <p:spPr>
          <a:xfrm>
            <a:off x="6096000" y="1320800"/>
            <a:ext cx="5715000" cy="22860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1" name="CmpAcc"/>
          <p:cNvSpPr/>
          <p:nvPr/>
        </p:nvSpPr>
        <p:spPr>
          <a:xfrm>
            <a:off x="6096000" y="1320800"/>
            <a:ext cx="5715000" cy="63500"/>
          </a:xfrm>
          <a:prstGeom prst="rect">
            <a:avLst/>
          </a:prstGeom>
          <a:solidFill>
            <a:srgbClr val="EF444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12" name="TradTitle"/>
          <p:cNvSpPr/>
          <p:nvPr/>
        </p:nvSpPr>
        <p:spPr>
          <a:xfrm>
            <a:off x="6273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 Semibold"/>
              </a:rPr>
              <a:t>Traditional SAST</a:t>
            </a:r>
          </a:p>
        </p:txBody>
      </p:sp>
      <p:sp>
        <p:nvSpPr>
          <p:cNvPr id="313" name="TradBody"/>
          <p:cNvSpPr/>
          <p:nvPr/>
        </p:nvSpPr>
        <p:spPr>
          <a:xfrm>
            <a:off x="6273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Pattern-based matching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High false-positive rate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Misses logic bugs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Rule updates lag new CVEs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Flagged lines, no fixes</a:t>
            </a:r>
          </a:p>
        </p:txBody>
      </p:sp>
      <p:cxnSp>
        <p:nvCxnSpPr>
          <p:cNvPr id="314" name="CmpDiv"/>
          <p:cNvCxnSpPr/>
          <p:nvPr/>
        </p:nvCxnSpPr>
        <p:spPr>
          <a:xfrm>
            <a:off x="8890000" y="1498600"/>
            <a:ext cx="0" cy="1968500"/>
          </a:xfrm>
          <a:prstGeom prst="line">
            <a:avLst/>
          </a:prstGeom>
          <a:ln w="6350">
            <a:solidFill>
              <a:srgbClr val="E2E8F0"/>
            </a:solidFill>
          </a:ln>
        </p:spPr>
      </p:cxnSp>
      <p:sp>
        <p:nvSpPr>
          <p:cNvPr id="315" name="ClaudeTitle"/>
          <p:cNvSpPr/>
          <p:nvPr/>
        </p:nvSpPr>
        <p:spPr>
          <a:xfrm>
            <a:off x="9067800" y="1498600"/>
            <a:ext cx="2540000" cy="254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 Semibold"/>
              </a:rPr>
              <a:t>Claude Code Security</a:t>
            </a:r>
          </a:p>
        </p:txBody>
      </p:sp>
      <p:sp>
        <p:nvSpPr>
          <p:cNvPr id="316" name="ClaudeBody"/>
          <p:cNvSpPr/>
          <p:nvPr/>
        </p:nvSpPr>
        <p:spPr>
          <a:xfrm>
            <a:off x="9067800" y="1803400"/>
            <a:ext cx="2540000" cy="1651000"/>
          </a:xfrm>
          <a:prstGeom prst="rect">
            <a:avLst/>
          </a:prstGeom>
          <a:solidFill>
            <a:srgbClr val="F8FAFC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Reasoning-based analysis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Context-aware severity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Finds zero-day vulns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Understands data flows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Generates concrete fixes</a:t>
            </a:r>
          </a:p>
        </p:txBody>
      </p:sp>
      <p:sp>
        <p:nvSpPr>
          <p:cNvPr id="320" name="IntLabel"/>
          <p:cNvSpPr/>
          <p:nvPr/>
        </p:nvSpPr>
        <p:spPr>
          <a:xfrm>
            <a:off x="6096000" y="3784600"/>
            <a:ext cx="5715000" cy="177800"/>
          </a:xfrm>
          <a:prstGeom prst="rect">
            <a:avLst/>
          </a:prstGeom>
          <a:solidFill>
            <a:srgbClr val="FFFFFF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>
              <a:buNone/>
            </a:pPr>
            <a:r>
              <a:rPr lang="en-US" sz="1100" b="1" dirty="0">
                <a:solidFill>
                  <a:srgbClr val="64748B"/>
                </a:solidFill>
                <a:latin typeface="Aptos Display"/>
              </a:rPr>
              <a:t>INTEGRATION OPTIONS</a:t>
            </a:r>
          </a:p>
        </p:txBody>
      </p:sp>
      <p:sp>
        <p:nvSpPr>
          <p:cNvPr id="321" name="IntCard"/>
          <p:cNvSpPr/>
          <p:nvPr/>
        </p:nvSpPr>
        <p:spPr>
          <a:xfrm>
            <a:off x="6096000" y="4038600"/>
            <a:ext cx="5715000" cy="152400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2" name="IntAcc"/>
          <p:cNvSpPr/>
          <p:nvPr/>
        </p:nvSpPr>
        <p:spPr>
          <a:xfrm>
            <a:off x="6096000" y="4038600"/>
            <a:ext cx="5715000" cy="63500"/>
          </a:xfrm>
          <a:prstGeom prst="rect">
            <a:avLst/>
          </a:prstGeom>
          <a:solidFill>
            <a:srgbClr val="059669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endParaRPr lang="en-US"/>
          </a:p>
        </p:txBody>
      </p:sp>
      <p:sp>
        <p:nvSpPr>
          <p:cNvPr id="323" name="IntBody"/>
          <p:cNvSpPr/>
          <p:nvPr/>
        </p:nvSpPr>
        <p:spPr>
          <a:xfrm>
            <a:off x="6273800" y="4216400"/>
            <a:ext cx="5334000" cy="1219200"/>
          </a:xfrm>
          <a:prstGeom prst="rect">
            <a:avLst/>
          </a:prstGeom>
          <a:solidFill>
            <a:srgbClr val="F0FDF4"/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onsolas"/>
              </a:rPr>
              <a:t>claude security review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CLI: scan on demand from terminal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GitHub Action: auto-scan every PR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Hook: PreToolUse gate before any file edit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  <a:latin typeface="Segoe UI"/>
              </a:rPr>
              <a:t>API: integrate into your existing AppSec toolchain</a:t>
            </a:r>
          </a:p>
        </p:txBody>
      </p:sp>
      <p:sp>
        <p:nvSpPr>
          <p:cNvPr id="500" name="Banner"/>
          <p:cNvSpPr/>
          <p:nvPr/>
        </p:nvSpPr>
        <p:spPr>
          <a:xfrm>
            <a:off x="381000" y="5981998"/>
            <a:ext cx="11430000" cy="291802"/>
          </a:xfrm>
          <a:prstGeom prst="roundRect">
            <a:avLst>
              <a:gd name="adj" fmla="val 5000"/>
            </a:avLst>
          </a:prstGeom>
          <a:solidFill>
            <a:schemeClr val="accent5">
              <a:lumMod val="40000"/>
              <a:lumOff val="60000"/>
            </a:schemeClr>
          </a:solidFill>
          <a:ln w="1">
            <a:noFill/>
          </a:ln>
        </p:spPr>
        <p:txBody>
          <a:bodyPr wrap="square" lIns="91440" tIns="45720" rIns="91440" bIns="4572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Segoe UI"/>
              </a:rPr>
              <a:t>Combines with hooks + GitHub Actions for a complete shift-left security pipeline from code to deploy</a:t>
            </a:r>
          </a:p>
        </p:txBody>
      </p:sp>
    </p:spTree>
    <p:extLst>
      <p:ext uri="{BB962C8B-B14F-4D97-AF65-F5344CB8AC3E}">
        <p14:creationId xmlns:p14="http://schemas.microsoft.com/office/powerpoint/2010/main" val="343649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Overlay"/>
          <p:cNvSpPr/>
          <p:nvPr/>
        </p:nvSpPr>
        <p:spPr>
          <a:xfrm>
            <a:off x="-114300" y="0"/>
            <a:ext cx="12192000" cy="6858000"/>
          </a:xfrm>
          <a:prstGeom prst="rect">
            <a:avLst/>
          </a:prstGeom>
          <a:solidFill>
            <a:srgbClr val="0D47A1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DecoCircle1"/>
          <p:cNvSpPr/>
          <p:nvPr/>
        </p:nvSpPr>
        <p:spPr>
          <a:xfrm>
            <a:off x="7759700" y="-876300"/>
            <a:ext cx="5486400" cy="5486400"/>
          </a:xfrm>
          <a:prstGeom prst="ellipse">
            <a:avLst/>
          </a:prstGeom>
          <a:solidFill>
            <a:srgbClr val="1976D2">
              <a:alpha val="3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DecoCircle2"/>
          <p:cNvSpPr/>
          <p:nvPr/>
        </p:nvSpPr>
        <p:spPr>
          <a:xfrm>
            <a:off x="8386135" y="2076450"/>
            <a:ext cx="3657600" cy="3657600"/>
          </a:xfrm>
          <a:prstGeom prst="ellipse">
            <a:avLst/>
          </a:prstGeom>
          <a:solidFill>
            <a:srgbClr val="42A5F5">
              <a:alpha val="18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DecoCircle3"/>
          <p:cNvSpPr/>
          <p:nvPr/>
        </p:nvSpPr>
        <p:spPr>
          <a:xfrm>
            <a:off x="-889000" y="4165600"/>
            <a:ext cx="4064000" cy="4064000"/>
          </a:xfrm>
          <a:prstGeom prst="ellipse">
            <a:avLst/>
          </a:prstGeom>
          <a:solidFill>
            <a:srgbClr val="1976D2">
              <a:alpha val="2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4" name="Label"/>
          <p:cNvSpPr/>
          <p:nvPr/>
        </p:nvSpPr>
        <p:spPr>
          <a:xfrm>
            <a:off x="914400" y="1270000"/>
            <a:ext cx="5156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200" b="1" spc="400" dirty="0">
                <a:solidFill>
                  <a:srgbClr val="90CAF9"/>
                </a:solidFill>
                <a:latin typeface="Aptos"/>
              </a:rPr>
              <a:t>ANTHROPIC  CLAUDE CODE</a:t>
            </a:r>
          </a:p>
        </p:txBody>
      </p:sp>
      <p:sp>
        <p:nvSpPr>
          <p:cNvPr id="105" name="AccentBar"/>
          <p:cNvSpPr/>
          <p:nvPr/>
        </p:nvSpPr>
        <p:spPr>
          <a:xfrm>
            <a:off x="914400" y="1651000"/>
            <a:ext cx="49530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6" name="HeroTitle"/>
          <p:cNvSpPr/>
          <p:nvPr/>
        </p:nvSpPr>
        <p:spPr>
          <a:xfrm>
            <a:off x="914400" y="1968500"/>
            <a:ext cx="77724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/>
              </a:rPr>
              <a:t>Questions &amp; Answers</a:t>
            </a:r>
          </a:p>
        </p:txBody>
      </p:sp>
      <p:sp>
        <p:nvSpPr>
          <p:cNvPr id="107" name="ThankYou"/>
          <p:cNvSpPr/>
          <p:nvPr/>
        </p:nvSpPr>
        <p:spPr>
          <a:xfrm>
            <a:off x="914400" y="3149600"/>
            <a:ext cx="6858000" cy="101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Thank you to everyone for your participation</a:t>
            </a:r>
          </a:p>
          <a:p>
            <a:pPr marL="0" indent="0">
              <a:lnSpc>
                <a:spcPts val="2600"/>
              </a:lnSpc>
              <a:buNone/>
            </a:pPr>
            <a:r>
              <a:rPr lang="en-US" sz="1800" dirty="0">
                <a:solidFill>
                  <a:srgbClr val="90CAF9"/>
                </a:solidFill>
                <a:latin typeface="Aptos"/>
              </a:rPr>
              <a:t>in making this event successful!</a:t>
            </a:r>
          </a:p>
        </p:txBody>
      </p:sp>
      <p:sp>
        <p:nvSpPr>
          <p:cNvPr id="108" name="Divider"/>
          <p:cNvSpPr/>
          <p:nvPr/>
        </p:nvSpPr>
        <p:spPr>
          <a:xfrm>
            <a:off x="914400" y="4318000"/>
            <a:ext cx="5842000" cy="25400"/>
          </a:xfrm>
          <a:prstGeom prst="rect">
            <a:avLst/>
          </a:prstGeom>
          <a:solidFill>
            <a:srgbClr val="90CAF9">
              <a:alpha val="4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Prompt"/>
          <p:cNvSpPr/>
          <p:nvPr/>
        </p:nvSpPr>
        <p:spPr>
          <a:xfrm>
            <a:off x="914400" y="4521200"/>
            <a:ext cx="63500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We welcome your questions, feedback, and ideas on</a:t>
            </a:r>
          </a:p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BBDEFB"/>
                </a:solidFill>
                <a:latin typeface="Aptos"/>
              </a:rPr>
              <a:t>adopting Claude Code in your engineering workflows.</a:t>
            </a:r>
          </a:p>
        </p:txBody>
      </p:sp>
      <p:sp>
        <p:nvSpPr>
          <p:cNvPr id="110" name="BottomAccent"/>
          <p:cNvSpPr/>
          <p:nvPr/>
        </p:nvSpPr>
        <p:spPr>
          <a:xfrm>
            <a:off x="914400" y="6146800"/>
            <a:ext cx="7251700" cy="50800"/>
          </a:xfrm>
          <a:prstGeom prst="rect">
            <a:avLst/>
          </a:prstGeom>
          <a:solidFill>
            <a:srgbClr val="90CAF9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Footer"/>
          <p:cNvSpPr/>
          <p:nvPr/>
        </p:nvSpPr>
        <p:spPr>
          <a:xfrm>
            <a:off x="914400" y="6311900"/>
            <a:ext cx="103632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B5F6"/>
                </a:solidFill>
                <a:latin typeface="Aptos"/>
              </a:rPr>
              <a:t>Claude Code Agentic Engineering Session</a:t>
            </a:r>
          </a:p>
        </p:txBody>
      </p:sp>
      <p:pic>
        <p:nvPicPr>
          <p:cNvPr id="112" name="Graphic 112" descr="Question mark icon for Q&amp;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0" y="1968500"/>
            <a:ext cx="1905000" cy="1905000"/>
          </a:xfrm>
          <a:prstGeom prst="rect">
            <a:avLst/>
          </a:prstGeom>
        </p:spPr>
      </p:pic>
      <p:pic>
        <p:nvPicPr>
          <p:cNvPr id="113" name="Graphic 113" descr="Group of people icon for thank you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71000" y="4318000"/>
            <a:ext cx="17780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66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A2332"/>
      </a:dk1>
      <a:lt1>
        <a:srgbClr val="FFFFFF"/>
      </a:lt1>
      <a:dk2>
        <a:srgbClr val="2D4A6F"/>
      </a:dk2>
      <a:lt2>
        <a:srgbClr val="F4F6F9"/>
      </a:lt2>
      <a:accent1>
        <a:srgbClr val="1565C0"/>
      </a:accent1>
      <a:accent2>
        <a:srgbClr val="D4622B"/>
      </a:accent2>
      <a:accent3>
        <a:srgbClr val="0D8A72"/>
      </a:accent3>
      <a:accent4>
        <a:srgbClr val="2D4A6F"/>
      </a:accent4>
      <a:accent5>
        <a:srgbClr val="7B61FF"/>
      </a:accent5>
      <a:accent6>
        <a:srgbClr val="E67E22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168E429-E3F9-AD49-884F-5C97CE7C08B5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3141</TotalTime>
  <Words>4192</Words>
  <Application>Microsoft Macintosh PowerPoint</Application>
  <PresentationFormat>Widescreen</PresentationFormat>
  <Paragraphs>603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American Typewriter</vt:lpstr>
      <vt:lpstr>Aptos</vt:lpstr>
      <vt:lpstr>Aptos Display</vt:lpstr>
      <vt:lpstr>Arial</vt:lpstr>
      <vt:lpstr>Consolas</vt:lpstr>
      <vt:lpstr>Georgia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Engineering with Anthropic Claude Code</dc:title>
  <dc:subject>Anthropic Claude Code session</dc:subject>
  <dc:creator>OpenAI</dc:creator>
  <cp:lastModifiedBy>Paramesh Korrakuti</cp:lastModifiedBy>
  <cp:revision>143</cp:revision>
  <dcterms:created xsi:type="dcterms:W3CDTF">2026-03-15T10:39:56Z</dcterms:created>
  <dcterms:modified xsi:type="dcterms:W3CDTF">2026-03-19T18:36:15Z</dcterms:modified>
</cp:coreProperties>
</file>