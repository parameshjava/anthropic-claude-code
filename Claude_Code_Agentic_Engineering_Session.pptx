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1"/>
  </p:sldMasterIdLst>
  <p:notesMasterIdLst>
    <p:notesMasterId r:id="rId21"/>
  </p:notesMasterIdLst>
  <p:sldIdLst>
    <p:sldId id="434" r:id="rId2"/>
    <p:sldId id="603" r:id="rId3"/>
    <p:sldId id="528" r:id="rId4"/>
    <p:sldId id="529" r:id="rId5"/>
    <p:sldId id="595" r:id="rId6"/>
    <p:sldId id="552" r:id="rId7"/>
    <p:sldId id="618" r:id="rId27"/>
    <p:sldId id="620" r:id="rId29"/>
    <p:sldId id="652" r:id="rId36"/>
    <p:sldId id="621" r:id="rId30"/>
    <p:sldId id="622" r:id="rId31"/>
    <p:sldId id="623" r:id="rId32"/>
    <p:sldId id="624" r:id="rId33"/>
    <p:sldId id="625" r:id="rId34"/>
    <p:sldId id="626" r:id="rId35"/>
    <p:sldId id="628" r:id="rId37"/>
    <p:sldId id="629" r:id="rId38"/>
    <p:sldId id="553" r:id="rId8"/>
    <p:sldId id="446" r:id="rId9"/>
    <p:sldId id="630" r:id="rId26"/>
    <p:sldId id="631" r:id="rId39"/>
    <p:sldId id="632" r:id="rId40"/>
    <p:sldId id="633" r:id="rId41"/>
    <p:sldId id="634" r:id="rId42"/>
    <p:sldId id="635" r:id="rId43"/>
    <p:sldId id="636" r:id="rId44"/>
    <p:sldId id="637" r:id="rId45"/>
    <p:sldId id="638" r:id="rId46"/>
    <p:sldId id="639" r:id="rId47"/>
    <p:sldId id="640" r:id="rId48"/>
    <p:sldId id="641" r:id="rId49"/>
    <p:sldId id="642" r:id="rId50"/>
    <p:sldId id="643" r:id="rId51"/>
    <p:sldId id="644" r:id="rId52"/>
    <p:sldId id="645" r:id="rId53"/>
    <p:sldId id="646" r:id="rId54"/>
    <p:sldId id="647" r:id="rId55"/>
    <p:sldId id="648" r:id="rId56"/>
    <p:sldId id="649" r:id="rId57"/>
    <p:sldId id="650" r:id="rId58"/>
    <p:sldId id="651" r:id="rId59"/>
    <p:sldId id="457" r:id="rId10"/>
    <p:sldId id="616" r:id="rId11"/>
    <p:sldId id="469" r:id="rId12"/>
    <p:sldId id="481" r:id="rId13"/>
    <p:sldId id="485" r:id="rId14"/>
    <p:sldId id="488" r:id="rId15"/>
    <p:sldId id="520" r:id="rId16"/>
    <p:sldId id="566" r:id="rId17"/>
    <p:sldId id="558" r:id="rId18"/>
    <p:sldId id="559" r:id="rId19"/>
    <p:sldId id="57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875"/>
    <p:restoredTop sz="94545"/>
  </p:normalViewPr>
  <p:slideViewPr>
    <p:cSldViewPr snapToGrid="0" snapToObjects="1">
      <p:cViewPr varScale="1">
        <p:scale>
          <a:sx n="146" d="100"/>
          <a:sy n="146" d="100"/>
        </p:scale>
        <p:origin x="13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8.xml"/><Relationship Id="rId9" Type="http://schemas.openxmlformats.org/officeDocument/2006/relationships/slide" Target="slides/slide19.xml"/><Relationship Id="rId10" Type="http://schemas.openxmlformats.org/officeDocument/2006/relationships/slide" Target="slides/slide42.xml"/><Relationship Id="rId11" Type="http://schemas.openxmlformats.org/officeDocument/2006/relationships/slide" Target="slides/slide43.xml"/><Relationship Id="rId12" Type="http://schemas.openxmlformats.org/officeDocument/2006/relationships/slide" Target="slides/slide44.xml"/><Relationship Id="rId13" Type="http://schemas.openxmlformats.org/officeDocument/2006/relationships/slide" Target="slides/slide45.xml"/><Relationship Id="rId14" Type="http://schemas.openxmlformats.org/officeDocument/2006/relationships/slide" Target="slides/slide46.xml"/><Relationship Id="rId15" Type="http://schemas.openxmlformats.org/officeDocument/2006/relationships/slide" Target="slides/slide47.xml"/><Relationship Id="rId16" Type="http://schemas.openxmlformats.org/officeDocument/2006/relationships/slide" Target="slides/slide48.xml"/><Relationship Id="rId17" Type="http://schemas.openxmlformats.org/officeDocument/2006/relationships/slide" Target="slides/slide49.xml"/><Relationship Id="rId18" Type="http://schemas.openxmlformats.org/officeDocument/2006/relationships/slide" Target="slides/slide50.xml"/><Relationship Id="rId19" Type="http://schemas.openxmlformats.org/officeDocument/2006/relationships/slide" Target="slides/slide51.xml"/><Relationship Id="rId20" Type="http://schemas.openxmlformats.org/officeDocument/2006/relationships/slide" Target="slides/slide52.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7.xml"/><Relationship Id="rId29" Type="http://schemas.openxmlformats.org/officeDocument/2006/relationships/slide" Target="slides/slide8.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9.xml"/><Relationship Id="rId37" Type="http://schemas.openxmlformats.org/officeDocument/2006/relationships/slide" Target="slides/slide16.xml"/><Relationship Id="rId38" Type="http://schemas.openxmlformats.org/officeDocument/2006/relationships/slide" Target="slides/slide17.xml"/><Relationship Id="rId39" Type="http://schemas.openxmlformats.org/officeDocument/2006/relationships/slide" Target="slides/slide21.xml"/><Relationship Id="rId40" Type="http://schemas.openxmlformats.org/officeDocument/2006/relationships/slide" Target="slides/slide22.xml"/><Relationship Id="rId41" Type="http://schemas.openxmlformats.org/officeDocument/2006/relationships/slide" Target="slides/slide23.xml"/><Relationship Id="rId42" Type="http://schemas.openxmlformats.org/officeDocument/2006/relationships/slide" Target="slides/slide24.xml"/><Relationship Id="rId43" Type="http://schemas.openxmlformats.org/officeDocument/2006/relationships/slide" Target="slides/slide25.xml"/><Relationship Id="rId44" Type="http://schemas.openxmlformats.org/officeDocument/2006/relationships/slide" Target="slides/slide26.xml"/><Relationship Id="rId45" Type="http://schemas.openxmlformats.org/officeDocument/2006/relationships/slide" Target="slides/slide27.xml"/><Relationship Id="rId46" Type="http://schemas.openxmlformats.org/officeDocument/2006/relationships/slide" Target="slides/slide28.xml"/><Relationship Id="rId47" Type="http://schemas.openxmlformats.org/officeDocument/2006/relationships/slide" Target="slides/slide29.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 Id="rId51" Type="http://schemas.openxmlformats.org/officeDocument/2006/relationships/slide" Target="slides/slide33.xml"/><Relationship Id="rId52" Type="http://schemas.openxmlformats.org/officeDocument/2006/relationships/slide" Target="slides/slide34.xml"/><Relationship Id="rId53" Type="http://schemas.openxmlformats.org/officeDocument/2006/relationships/slide" Target="slides/slide35.xml"/><Relationship Id="rId54" Type="http://schemas.openxmlformats.org/officeDocument/2006/relationships/slide" Target="slides/slide36.xml"/><Relationship Id="rId55" Type="http://schemas.openxmlformats.org/officeDocument/2006/relationships/slide" Target="slides/slide37.xml"/><Relationship Id="rId56" Type="http://schemas.openxmlformats.org/officeDocument/2006/relationships/slide" Target="slides/slide38.xml"/><Relationship Id="rId57" Type="http://schemas.openxmlformats.org/officeDocument/2006/relationships/slide" Target="slides/slide39.xml"/><Relationship Id="rId58" Type="http://schemas.openxmlformats.org/officeDocument/2006/relationships/slide" Target="slides/slide40.xml"/><Relationship Id="rId59"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4211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761057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Claude Code overview — https://code.claude.com/docs/en
- How Claude remembers your project — https://code.claude.com/docs/en/memory
- Create custom subagents — https://code.claude.com/docs/en/sub-agents
- Best Practices for Claude Code — https://code.claude.com/docs/en/best-practices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Context windows — https://platform.claude.com/docs/en/build-with-claude/context-windows
- How Claude remembers your project — https://code.claude.com/docs/en/memory
- Best Practices for Claude Code — https://code.claude.com/docs/en/best-practices
- Extend Claude Code — https://code.claude.com/docs/en/features-overview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How Claude remembers your project — https://code.claude.com/docs/en/memory
- Best Practices for Claude Code — https://code.claude.com/docs/en/best-practices
- Extend Claude Code — https://code.claude.com/docs/en/features-overview
- Compaction — https://platform.claude.com/docs/en/build-with-claude/compaction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Best Practices for Claude Code — https://code.claude.com/docs/en/best-practices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Reduce hallucinations — https://platform.claude.com/docs/en/test-and-evaluate/strengthen-guardrails/reduce-hallucinations
- Best Practices for Claude Code — https://code.claude.com/docs/en/best-practices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How Claude remembers your project — https://code.claude.com/docs/en/memory
- Extend Claude Code — https://code.claude.com/docs/en/features-overview
- Agent Skills overview — https://platform.claude.com/docs/en/agents-and-tools/agent-skills/overview
- Skill authoring best practices — https://platform.claude.com/docs/en/agents-and-tools/agent-skills/best-practices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Create custom subagents — https://code.claude.com/docs/en/sub-agents
- Extend Claude Code — https://code.claude.com/docs/en/features-overview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Model Context Protocol announcement — https://www.anthropic.com/news/model-context-protocol
- Extend Claude Code — https://code.claude.com/docs/en/features-overview
- MCP connector — https://platform.claude.com/docs/en/agents-and-tools/mcp-connector
- Code execution with MCP — https://www.anthropic.com/engineering/code-execution-with-mcp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Claude Code overview — https://code.claude.com/docs/en
- How Claude remembers your project — https://code.claude.com/docs/en/memory
- Create custom subagents — https://code.claude.com/docs/en/sub-agents
- Best Practices for Claude Code — https://code.claude.com/docs/en/best-practices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How Claude remembers your project — https://code.claude.com/docs/en/memory
- Extend Claude Code — https://code.claude.com/docs/en/features-overview
- Create custom subagents — https://code.claude.com/docs/en/sub-agents
- Best Practices for Claude Code — https://code.claude.com/docs/en/best-practices
- Agent Skills overview — https://platform.claude.com/docs/en/agents-and-tools/agent-skills/overview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1FA854-AC35-4FED-9DB3-4AC08E716C62}"/>
              </a:ext>
            </a:extLst>
          </p:cNvPr>
          <p:cNvSpPr>
            <a:spLocks noGrp="1"/>
          </p:cNvSpPr>
          <p:nvPr>
            <p:ph type="dt" sz="half" idx="10"/>
          </p:nvPr>
        </p:nvSpPr>
        <p:spPr/>
        <p:txBody>
          <a:bodyPr/>
          <a:lstStyle/>
          <a:p>
            <a:fld id="{FE9AFDDE-3A13-46FC-B67A-2ECE1914331B}" type="datetimeFigureOut">
              <a:rPr lang="en-US" smtClean="0"/>
              <a:t>9/16/26</a:t>
            </a:fld>
            <a:endParaRPr lang="en-US"/>
          </a:p>
        </p:txBody>
      </p:sp>
      <p:sp>
        <p:nvSpPr>
          <p:cNvPr id="3" name="Footer Placeholder 2">
            <a:extLst>
              <a:ext uri="{FF2B5EF4-FFF2-40B4-BE49-F238E27FC236}">
                <a16:creationId xmlns:a16="http://schemas.microsoft.com/office/drawing/2014/main" id="{222E6A5C-BA12-4B66-B655-F36580E5E1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32CAC6-25F4-498E-9C96-BF3C45AE6C4A}"/>
              </a:ext>
            </a:extLst>
          </p:cNvPr>
          <p:cNvSpPr>
            <a:spLocks noGrp="1"/>
          </p:cNvSpPr>
          <p:nvPr>
            <p:ph type="sldNum" sz="quarter" idx="12"/>
          </p:nvPr>
        </p:nvSpPr>
        <p:spPr/>
        <p:txBody>
          <a:bodyPr/>
          <a:lstStyle/>
          <a:p>
            <a:fld id="{8C389DD0-BAD6-4A52-99CB-0C743FCBC1A7}" type="slidenum">
              <a:rPr lang="en-US" smtClean="0"/>
              <a:t>‹#›</a:t>
            </a:fld>
            <a:endParaRPr lang="en-US"/>
          </a:p>
        </p:txBody>
      </p:sp>
    </p:spTree>
    <p:extLst>
      <p:ext uri="{BB962C8B-B14F-4D97-AF65-F5344CB8AC3E}">
        <p14:creationId xmlns:p14="http://schemas.microsoft.com/office/powerpoint/2010/main" val="206368012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91" name="HeaderBand"/>
          <p:cNvSpPr/>
          <p:nvPr/>
        </p:nvSpPr>
        <p:spPr>
          <a:xfrm>
            <a:off x="0" y="0"/>
            <a:ext cx="12192000" cy="548640"/>
          </a:xfrm>
          <a:prstGeom prst="rect">
            <a:avLst/>
          </a:prstGeom>
          <a:gradFill>
            <a:gsLst>
              <a:gs pos="0">
                <a:srgbClr val="1565C0"/>
              </a:gs>
              <a:gs pos="60000">
                <a:srgbClr val="1976D2"/>
              </a:gs>
              <a:gs pos="100000">
                <a:srgbClr val="42A5F5"/>
              </a:gs>
            </a:gsLst>
            <a:lin ang="0" scaled="1"/>
          </a:gradFill>
          <a:ln w="0">
            <a:noFill/>
          </a:ln>
        </p:spPr>
        <p:txBody>
          <a:bodyPr/>
          <a:lstStyle/>
          <a:p>
            <a:endParaRPr lang="en-US"/>
          </a:p>
        </p:txBody>
      </p:sp>
      <p:sp>
        <p:nvSpPr>
          <p:cNvPr id="9992" name="HeaderAccent"/>
          <p:cNvSpPr/>
          <p:nvPr/>
        </p:nvSpPr>
        <p:spPr>
          <a:xfrm>
            <a:off x="0" y="548640"/>
            <a:ext cx="12192000" cy="36576"/>
          </a:xfrm>
          <a:prstGeom prst="rect">
            <a:avLst/>
          </a:prstGeom>
          <a:solidFill>
            <a:srgbClr val="D4622B"/>
          </a:solidFill>
          <a:ln w="0">
            <a:noFill/>
          </a:ln>
        </p:spPr>
        <p:txBody>
          <a:bodyPr/>
          <a:lstStyle/>
          <a:p>
            <a:endParaRPr lang="en-US"/>
          </a:p>
        </p:txBody>
      </p:sp>
      <p:sp>
        <p:nvSpPr>
          <p:cNvPr id="9993" name="FooterBar"/>
          <p:cNvSpPr/>
          <p:nvPr/>
        </p:nvSpPr>
        <p:spPr>
          <a:xfrm>
            <a:off x="0" y="6583680"/>
            <a:ext cx="12192000" cy="274320"/>
          </a:xfrm>
          <a:prstGeom prst="rect">
            <a:avLst/>
          </a:prstGeom>
          <a:solidFill>
            <a:srgbClr val="1A2332"/>
          </a:solidFill>
          <a:ln w="0">
            <a:noFill/>
          </a:ln>
        </p:spPr>
        <p:txBody>
          <a:bodyPr/>
          <a:lstStyle/>
          <a:p>
            <a:endParaRPr lang="en-US"/>
          </a:p>
        </p:txBody>
      </p:sp>
    </p:spTree>
  </p:cSld>
  <p:clrMap bg1="lt1" tx1="dk1" bg2="lt2" tx2="dk2" accent1="accent1" accent2="accent2" accent3="accent3" accent4="accent4" accent5="accent5" accent6="accent6" hlink="hlink" folHlink="folHlink"/>
  <p:sldLayoutIdLst>
    <p:sldLayoutId id="2147483657" r:id="rId1"/>
    <p:sldLayoutId id="2147483658" r:id="rId2"/>
  </p:sldLayoutIdLst>
  <p:hf sldNum="0"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rgbClr val="1A2332"/>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rgbClr val="1A233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rgbClr val="1A2332"/>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rgbClr val="1A233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rgbClr val="1A233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rgbClr val="1A2332"/>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rgbClr val="1A2332"/>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rgbClr val="1A2332"/>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rgbClr val="1A2332"/>
          </a:solidFill>
          <a:latin typeface="+mn-lt"/>
          <a:ea typeface="+mn-ea"/>
          <a:cs typeface="+mn-cs"/>
        </a:defRPr>
      </a:lvl9pPr>
    </p:bodyStyle>
    <p:otherStyle>
      <a:defPPr>
        <a:defRPr lang="en-US">
          <a:solidFill>
            <a:srgbClr val="1A2332"/>
          </a:solidFill>
        </a:defRPr>
      </a:defPPr>
      <a:lvl1pPr marL="0" algn="l" defTabSz="914400" rtl="0" eaLnBrk="1" latinLnBrk="0" hangingPunct="1">
        <a:defRPr sz="1800" kern="1200">
          <a:solidFill>
            <a:srgbClr val="1A2332"/>
          </a:solidFill>
          <a:latin typeface="+mn-lt"/>
          <a:ea typeface="+mn-ea"/>
          <a:cs typeface="+mn-cs"/>
        </a:defRPr>
      </a:lvl1pPr>
      <a:lvl2pPr marL="457200" algn="l" defTabSz="914400" rtl="0" eaLnBrk="1" latinLnBrk="0" hangingPunct="1">
        <a:defRPr sz="1800" kern="1200">
          <a:solidFill>
            <a:srgbClr val="1A2332"/>
          </a:solidFill>
          <a:latin typeface="+mn-lt"/>
          <a:ea typeface="+mn-ea"/>
          <a:cs typeface="+mn-cs"/>
        </a:defRPr>
      </a:lvl2pPr>
      <a:lvl3pPr marL="914400" algn="l" defTabSz="914400" rtl="0" eaLnBrk="1" latinLnBrk="0" hangingPunct="1">
        <a:defRPr sz="1800" kern="1200">
          <a:solidFill>
            <a:srgbClr val="1A2332"/>
          </a:solidFill>
          <a:latin typeface="+mn-lt"/>
          <a:ea typeface="+mn-ea"/>
          <a:cs typeface="+mn-cs"/>
        </a:defRPr>
      </a:lvl3pPr>
      <a:lvl4pPr marL="1371600" algn="l" defTabSz="914400" rtl="0" eaLnBrk="1" latinLnBrk="0" hangingPunct="1">
        <a:defRPr sz="1800" kern="1200">
          <a:solidFill>
            <a:srgbClr val="1A2332"/>
          </a:solidFill>
          <a:latin typeface="+mn-lt"/>
          <a:ea typeface="+mn-ea"/>
          <a:cs typeface="+mn-cs"/>
        </a:defRPr>
      </a:lvl4pPr>
      <a:lvl5pPr marL="1828800" algn="l" defTabSz="914400" rtl="0" eaLnBrk="1" latinLnBrk="0" hangingPunct="1">
        <a:defRPr sz="1800" kern="1200">
          <a:solidFill>
            <a:srgbClr val="1A2332"/>
          </a:solidFill>
          <a:latin typeface="+mn-lt"/>
          <a:ea typeface="+mn-ea"/>
          <a:cs typeface="+mn-cs"/>
        </a:defRPr>
      </a:lvl5pPr>
      <a:lvl6pPr marL="2286000" algn="l" defTabSz="914400" rtl="0" eaLnBrk="1" latinLnBrk="0" hangingPunct="1">
        <a:defRPr sz="1800" kern="1200">
          <a:solidFill>
            <a:srgbClr val="1A2332"/>
          </a:solidFill>
          <a:latin typeface="+mn-lt"/>
          <a:ea typeface="+mn-ea"/>
          <a:cs typeface="+mn-cs"/>
        </a:defRPr>
      </a:lvl6pPr>
      <a:lvl7pPr marL="2743200" algn="l" defTabSz="914400" rtl="0" eaLnBrk="1" latinLnBrk="0" hangingPunct="1">
        <a:defRPr sz="1800" kern="1200">
          <a:solidFill>
            <a:srgbClr val="1A2332"/>
          </a:solidFill>
          <a:latin typeface="+mn-lt"/>
          <a:ea typeface="+mn-ea"/>
          <a:cs typeface="+mn-cs"/>
        </a:defRPr>
      </a:lvl7pPr>
      <a:lvl8pPr marL="3200400" algn="l" defTabSz="914400" rtl="0" eaLnBrk="1" latinLnBrk="0" hangingPunct="1">
        <a:defRPr sz="1800" kern="1200">
          <a:solidFill>
            <a:srgbClr val="1A2332"/>
          </a:solidFill>
          <a:latin typeface="+mn-lt"/>
          <a:ea typeface="+mn-ea"/>
          <a:cs typeface="+mn-cs"/>
        </a:defRPr>
      </a:lvl8pPr>
      <a:lvl9pPr marL="3657600" algn="l" defTabSz="914400" rtl="0" eaLnBrk="1" latinLnBrk="0" hangingPunct="1">
        <a:defRPr sz="1800" kern="1200">
          <a:solidFill>
            <a:srgbClr val="1A2332"/>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svg"/><Relationship Id="rId4" Type="http://schemas.openxmlformats.org/officeDocument/2006/relationships/image" Target="../media/image4.svg"/><Relationship Id="rId5" Type="http://schemas.openxmlformats.org/officeDocument/2006/relationships/image" Target="../media/image5.svg"/><Relationship Id="rId6" Type="http://schemas.openxmlformats.org/officeDocument/2006/relationships/image" Target="../media/image6.svg"/><Relationship Id="rId7" Type="http://schemas.openxmlformats.org/officeDocument/2006/relationships/image" Target="../media/image7.svg"/><Relationship Id="rId8" Type="http://schemas.openxmlformats.org/officeDocument/2006/relationships/image" Target="../media/image8.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svg"/><Relationship Id="rId4" Type="http://schemas.openxmlformats.org/officeDocument/2006/relationships/image" Target="../media/image1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datatracker.ietf.org/doc/html/rfc7519" TargetMode="External"/><Relationship Id="rId4" Type="http://schemas.openxmlformats.org/officeDocument/2006/relationships/hyperlink" Target="https://datatracker.ietf.org/doc/html/rfc7519#section-4" TargetMode="External"/><Relationship Id="rId5" Type="http://schemas.openxmlformats.org/officeDocument/2006/relationships/image" Target="../media/image11.svg"/><Relationship Id="rId6" Type="http://schemas.openxmlformats.org/officeDocument/2006/relationships/image" Target="../media/image12.sv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svg"/><Relationship Id="rId4" Type="http://schemas.openxmlformats.org/officeDocument/2006/relationships/image" Target="../media/image14.svg"/><Relationship Id="rId5" Type="http://schemas.openxmlformats.org/officeDocument/2006/relationships/image" Target="../media/image15.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svg"/><Relationship Id="rId4" Type="http://schemas.openxmlformats.org/officeDocument/2006/relationships/image" Target="../media/image17.svg"/><Relationship Id="rId5" Type="http://schemas.openxmlformats.org/officeDocument/2006/relationships/image" Target="../media/image18.svg"/><Relationship Id="rId6" Type="http://schemas.openxmlformats.org/officeDocument/2006/relationships/image" Target="../media/image19.svg"/><Relationship Id="rId7" Type="http://schemas.openxmlformats.org/officeDocument/2006/relationships/image" Target="../media/image20.svg"/><Relationship Id="rId8" Type="http://schemas.openxmlformats.org/officeDocument/2006/relationships/image" Target="../media/image21.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svg"/><Relationship Id="rId3" Type="http://schemas.openxmlformats.org/officeDocument/2006/relationships/image" Target="../media/image23.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alpha val="100000"/>
          </a:srgbClr>
        </a:solidFill>
        <a:effectLst/>
      </p:bgPr>
    </p:bg>
    <p:spTree>
      <p:nvGrpSpPr>
        <p:cNvPr id="1" name=""/>
        <p:cNvGrpSpPr/>
        <p:nvPr/>
      </p:nvGrpSpPr>
      <p:grpSpPr>
        <a:xfrm>
          <a:off x="0" y="0"/>
          <a:ext cx="0" cy="0"/>
          <a:chOff x="0" y="0"/>
          <a:chExt cx="0" cy="0"/>
        </a:xfrm>
      </p:grpSpPr>
      <p:sp>
        <p:nvSpPr>
          <p:cNvPr id="100" name="BgOverlay"/>
          <p:cNvSpPr/>
          <p:nvPr/>
        </p:nvSpPr>
        <p:spPr>
          <a:xfrm>
            <a:off x="0" y="0"/>
            <a:ext cx="12192000" cy="6858000"/>
          </a:xfrm>
          <a:prstGeom prst="rect">
            <a:avLst/>
          </a:prstGeom>
          <a:gradFill>
            <a:gsLst>
              <a:gs pos="0">
                <a:srgbClr val="0D47A1"/>
              </a:gs>
              <a:gs pos="50000">
                <a:srgbClr val="1565C0"/>
              </a:gs>
              <a:gs pos="100000">
                <a:srgbClr val="1976D2"/>
              </a:gs>
            </a:gsLst>
            <a:lin ang="5400000" scaled="1"/>
          </a:gradFill>
          <a:ln w="0">
            <a:noFill/>
          </a:ln>
        </p:spPr>
        <p:txBody>
          <a:bodyPr/>
          <a:lstStyle/>
          <a:p>
            <a:endParaRPr lang="en-US"/>
          </a:p>
        </p:txBody>
      </p:sp>
      <p:sp>
        <p:nvSpPr>
          <p:cNvPr id="101" name="DecoCircle1"/>
          <p:cNvSpPr/>
          <p:nvPr/>
        </p:nvSpPr>
        <p:spPr>
          <a:xfrm>
            <a:off x="7757651" y="-878513"/>
            <a:ext cx="5486400" cy="5486400"/>
          </a:xfrm>
          <a:prstGeom prst="ellipse">
            <a:avLst/>
          </a:prstGeom>
          <a:solidFill>
            <a:srgbClr val="1976D2">
              <a:alpha val="25000"/>
            </a:srgbClr>
          </a:solidFill>
          <a:ln w="0">
            <a:noFill/>
          </a:ln>
        </p:spPr>
        <p:txBody>
          <a:bodyPr/>
          <a:lstStyle/>
          <a:p>
            <a:endParaRPr lang="en-US"/>
          </a:p>
        </p:txBody>
      </p:sp>
      <p:sp>
        <p:nvSpPr>
          <p:cNvPr id="102" name="DecoCircle2"/>
          <p:cNvSpPr/>
          <p:nvPr/>
        </p:nvSpPr>
        <p:spPr>
          <a:xfrm>
            <a:off x="8422558" y="1920240"/>
            <a:ext cx="3657600" cy="3657600"/>
          </a:xfrm>
          <a:prstGeom prst="ellipse">
            <a:avLst/>
          </a:prstGeom>
          <a:solidFill>
            <a:srgbClr val="42A5F5">
              <a:alpha val="15000"/>
            </a:srgbClr>
          </a:solidFill>
          <a:ln w="0">
            <a:noFill/>
          </a:ln>
        </p:spPr>
        <p:txBody>
          <a:bodyPr/>
          <a:lstStyle/>
          <a:p>
            <a:endParaRPr lang="en-US"/>
          </a:p>
        </p:txBody>
      </p:sp>
      <p:sp>
        <p:nvSpPr>
          <p:cNvPr id="105" name="HeroTitle"/>
          <p:cNvSpPr/>
          <p:nvPr/>
        </p:nvSpPr>
        <p:spPr>
          <a:xfrm>
            <a:off x="914400" y="2468880"/>
            <a:ext cx="7772400" cy="1600200"/>
          </a:xfrm>
          <a:prstGeom prst="rect">
            <a:avLst/>
          </a:prstGeom>
          <a:noFill/>
          <a:ln w="0">
            <a:noFill/>
          </a:ln>
        </p:spPr>
        <p:txBody>
          <a:bodyPr wrap="square" lIns="0" tIns="0" rIns="0" bIns="0" anchor="t"/>
          <a:lstStyle/>
          <a:p>
            <a:pPr marL="0" indent="0">
              <a:buNone/>
            </a:pPr>
            <a:r>
              <a:rPr lang="en-US" sz="4400" b="1" dirty="0">
                <a:solidFill>
                  <a:srgbClr val="FFFFFF"/>
                </a:solidFill>
                <a:latin typeface="Segoe UI Semibold"/>
              </a:rPr>
              <a:t>Claude Code for</a:t>
            </a:r>
          </a:p>
          <a:p>
            <a:pPr marL="0" indent="0">
              <a:buNone/>
            </a:pPr>
            <a:r>
              <a:rPr lang="en-US" sz="4400" b="1" dirty="0">
                <a:solidFill>
                  <a:srgbClr val="FFFFFF"/>
                </a:solidFill>
                <a:latin typeface="Segoe UI Semibold"/>
              </a:rPr>
              <a:t>Enterprise Engineering</a:t>
            </a:r>
          </a:p>
        </p:txBody>
      </p:sp>
      <p:sp>
        <p:nvSpPr>
          <p:cNvPr id="106" name="Subtitle"/>
          <p:cNvSpPr/>
          <p:nvPr/>
        </p:nvSpPr>
        <p:spPr>
          <a:xfrm>
            <a:off x="914400" y="4023360"/>
            <a:ext cx="7315200" cy="548640"/>
          </a:xfrm>
          <a:prstGeom prst="rect">
            <a:avLst/>
          </a:prstGeom>
          <a:noFill/>
          <a:ln w="0">
            <a:noFill/>
          </a:ln>
        </p:spPr>
        <p:txBody>
          <a:bodyPr wrap="square" lIns="0" tIns="0" rIns="0" bIns="0" anchor="t"/>
          <a:lstStyle/>
          <a:p>
            <a:pPr marL="0" indent="0">
              <a:buNone/>
            </a:pPr>
            <a:r>
              <a:rPr lang="en-US" sz="2000" dirty="0">
                <a:solidFill>
                  <a:srgbClr val="E3F0FF"/>
                </a:solidFill>
                <a:latin typeface="Segoe UI"/>
              </a:rPr>
              <a:t>Deploy, govern, and scale agentic coding</a:t>
            </a:r>
          </a:p>
          <a:p>
            <a:pPr marL="0" indent="0">
              <a:buNone/>
            </a:pPr>
            <a:r>
              <a:rPr lang="en-US" sz="2000" dirty="0">
                <a:solidFill>
                  <a:srgbClr val="E3F0FF"/>
                </a:solidFill>
                <a:latin typeface="Segoe UI"/>
              </a:rPr>
              <a:t>across your engineering organization</a:t>
            </a:r>
          </a:p>
        </p:txBody>
      </p:sp>
      <p:sp>
        <p:nvSpPr>
          <p:cNvPr id="108" name="BottomAccent"/>
          <p:cNvSpPr/>
          <p:nvPr/>
        </p:nvSpPr>
        <p:spPr>
          <a:xfrm>
            <a:off x="898422" y="6152535"/>
            <a:ext cx="7253748" cy="45719"/>
          </a:xfrm>
          <a:prstGeom prst="rect">
            <a:avLst/>
          </a:prstGeom>
          <a:solidFill>
            <a:schemeClr val="bg1"/>
          </a:solidFill>
          <a:ln w="0">
            <a:noFill/>
          </a:ln>
        </p:spPr>
        <p:txBody>
          <a:bodyPr/>
          <a:lstStyle/>
          <a:p>
            <a:endParaRPr lang="en-US">
              <a:solidFill>
                <a:schemeClr val="bg1"/>
              </a:solidFill>
            </a:endParaRPr>
          </a:p>
        </p:txBody>
      </p:sp>
      <p:sp>
        <p:nvSpPr>
          <p:cNvPr id="109" name="Footer"/>
          <p:cNvSpPr/>
          <p:nvPr/>
        </p:nvSpPr>
        <p:spPr>
          <a:xfrm>
            <a:off x="914400" y="6309360"/>
            <a:ext cx="10363200" cy="274320"/>
          </a:xfrm>
          <a:prstGeom prst="rect">
            <a:avLst/>
          </a:prstGeom>
          <a:noFill/>
          <a:ln w="0">
            <a:noFill/>
          </a:ln>
        </p:spPr>
        <p:txBody>
          <a:bodyPr wrap="square" lIns="0" tIns="0" rIns="0" bIns="0" anchor="b"/>
          <a:lstStyle/>
          <a:p>
            <a:pPr marL="0" indent="0">
              <a:buNone/>
            </a:pPr>
            <a:r>
              <a:rPr lang="en-US" sz="1600" dirty="0">
                <a:solidFill>
                  <a:srgbClr val="90CAF9"/>
                </a:solidFill>
                <a:latin typeface="Segoe UI"/>
              </a:rPr>
              <a:t>Enterprise Engineering Session </a:t>
            </a:r>
          </a:p>
        </p:txBody>
      </p:sp>
      <p:pic>
        <p:nvPicPr>
          <p:cNvPr id="110" name="Graphic 110" descr="Enterprise connections network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0" y="2286000"/>
            <a:ext cx="2286000" cy="2286000"/>
          </a:xfrm>
          <a:prstGeom prst="rect">
            <a:avLst/>
          </a:prstGeom>
        </p:spPr>
      </p:pic>
      <p:sp>
        <p:nvSpPr>
          <p:cNvPr id="2" name="Pentagon 1">
            <a:extLst>
              <a:ext uri="{FF2B5EF4-FFF2-40B4-BE49-F238E27FC236}">
                <a16:creationId xmlns:a16="http://schemas.microsoft.com/office/drawing/2014/main" id="{FC22C31C-6C87-B572-723B-77636F7B2F60}"/>
              </a:ext>
            </a:extLst>
          </p:cNvPr>
          <p:cNvSpPr/>
          <p:nvPr/>
        </p:nvSpPr>
        <p:spPr>
          <a:xfrm>
            <a:off x="938981" y="5526957"/>
            <a:ext cx="1455174" cy="292510"/>
          </a:xfrm>
          <a:prstGeom prst="homePlat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latin typeface="American Typewriter" panose="02090604020004020304" pitchFamily="18" charset="77"/>
              </a:rPr>
              <a:t>Context</a:t>
            </a:r>
          </a:p>
        </p:txBody>
      </p:sp>
      <p:sp>
        <p:nvSpPr>
          <p:cNvPr id="4" name="Chevron 3">
            <a:extLst>
              <a:ext uri="{FF2B5EF4-FFF2-40B4-BE49-F238E27FC236}">
                <a16:creationId xmlns:a16="http://schemas.microsoft.com/office/drawing/2014/main" id="{3E92BE83-510F-790B-432F-91D3698C80B0}"/>
              </a:ext>
            </a:extLst>
          </p:cNvPr>
          <p:cNvSpPr/>
          <p:nvPr/>
        </p:nvSpPr>
        <p:spPr>
          <a:xfrm>
            <a:off x="2587113" y="5547236"/>
            <a:ext cx="1773493" cy="292510"/>
          </a:xfrm>
          <a:prstGeom prst="chevr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solidFill>
                  <a:schemeClr val="bg1"/>
                </a:solidFill>
                <a:latin typeface="American Typewriter" panose="02090604020004020304" pitchFamily="18" charset="77"/>
              </a:rPr>
              <a:t>Prompting</a:t>
            </a:r>
          </a:p>
        </p:txBody>
      </p:sp>
      <p:sp>
        <p:nvSpPr>
          <p:cNvPr id="5" name="Chevron 4">
            <a:extLst>
              <a:ext uri="{FF2B5EF4-FFF2-40B4-BE49-F238E27FC236}">
                <a16:creationId xmlns:a16="http://schemas.microsoft.com/office/drawing/2014/main" id="{EAACB256-6A68-BA32-1C4B-45427553A75B}"/>
              </a:ext>
            </a:extLst>
          </p:cNvPr>
          <p:cNvSpPr/>
          <p:nvPr/>
        </p:nvSpPr>
        <p:spPr>
          <a:xfrm>
            <a:off x="4553564" y="5562413"/>
            <a:ext cx="1773493" cy="292510"/>
          </a:xfrm>
          <a:prstGeom prst="chevr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solidFill>
                  <a:schemeClr val="bg1"/>
                </a:solidFill>
                <a:latin typeface="American Typewriter" panose="02090604020004020304" pitchFamily="18" charset="77"/>
              </a:rPr>
              <a:t>Delegation</a:t>
            </a:r>
          </a:p>
        </p:txBody>
      </p:sp>
      <p:sp>
        <p:nvSpPr>
          <p:cNvPr id="6" name="Chevron 5">
            <a:extLst>
              <a:ext uri="{FF2B5EF4-FFF2-40B4-BE49-F238E27FC236}">
                <a16:creationId xmlns:a16="http://schemas.microsoft.com/office/drawing/2014/main" id="{D84120E4-FF47-6364-5198-B8E1CC8FB7C9}"/>
              </a:ext>
            </a:extLst>
          </p:cNvPr>
          <p:cNvSpPr/>
          <p:nvPr/>
        </p:nvSpPr>
        <p:spPr>
          <a:xfrm>
            <a:off x="6520015" y="5580790"/>
            <a:ext cx="1632155" cy="292510"/>
          </a:xfrm>
          <a:prstGeom prst="chevron">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a:solidFill>
                  <a:schemeClr val="bg1"/>
                </a:solidFill>
                <a:latin typeface="American Typewriter" panose="02090604020004020304" pitchFamily="18" charset="77"/>
              </a:rPr>
              <a:t>MCP</a:t>
            </a:r>
          </a:p>
        </p:txBody>
      </p:sp>
      <p:sp>
        <p:nvSpPr>
          <p:cNvPr id="3" name="DecoCircle2">
            <a:extLst>
              <a:ext uri="{FF2B5EF4-FFF2-40B4-BE49-F238E27FC236}">
                <a16:creationId xmlns:a16="http://schemas.microsoft.com/office/drawing/2014/main" id="{2B25B8EA-0534-2975-77FB-7823A373D3CC}"/>
              </a:ext>
            </a:extLst>
          </p:cNvPr>
          <p:cNvSpPr/>
          <p:nvPr/>
        </p:nvSpPr>
        <p:spPr>
          <a:xfrm>
            <a:off x="-800715" y="3898245"/>
            <a:ext cx="3657600" cy="3657600"/>
          </a:xfrm>
          <a:prstGeom prst="ellipse">
            <a:avLst/>
          </a:prstGeom>
          <a:solidFill>
            <a:srgbClr val="42A5F5">
              <a:alpha val="15000"/>
            </a:srgbClr>
          </a:solidFill>
          <a:ln w="0">
            <a:noFill/>
          </a:ln>
        </p:spPr>
        <p:txBody>
          <a:bodyPr/>
          <a:lstStyle/>
          <a:p>
            <a:endParaRPr lang="en-US"/>
          </a:p>
        </p:txBody>
      </p:sp>
      <p:grpSp>
        <p:nvGrpSpPr>
          <p:cNvPr id="9" name="Group 8">
            <a:extLst>
              <a:ext uri="{FF2B5EF4-FFF2-40B4-BE49-F238E27FC236}">
                <a16:creationId xmlns:a16="http://schemas.microsoft.com/office/drawing/2014/main" id="{892A0C47-5CAC-3479-53C0-BDB537C5FDCA}"/>
              </a:ext>
            </a:extLst>
          </p:cNvPr>
          <p:cNvGrpSpPr/>
          <p:nvPr/>
        </p:nvGrpSpPr>
        <p:grpSpPr>
          <a:xfrm>
            <a:off x="840329" y="1306258"/>
            <a:ext cx="5803450" cy="623771"/>
            <a:chOff x="840329" y="1306258"/>
            <a:chExt cx="5803450" cy="623771"/>
          </a:xfrm>
        </p:grpSpPr>
        <p:sp>
          <p:nvSpPr>
            <p:cNvPr id="103" name="AccentBar"/>
            <p:cNvSpPr/>
            <p:nvPr/>
          </p:nvSpPr>
          <p:spPr>
            <a:xfrm flipV="1">
              <a:off x="898422" y="1798274"/>
              <a:ext cx="5621593" cy="111106"/>
            </a:xfrm>
            <a:prstGeom prst="rect">
              <a:avLst/>
            </a:prstGeom>
            <a:solidFill>
              <a:schemeClr val="bg1"/>
            </a:solidFill>
            <a:ln w="0">
              <a:noFill/>
            </a:ln>
          </p:spPr>
          <p:txBody>
            <a:bodyPr/>
            <a:lstStyle/>
            <a:p>
              <a:endParaRPr lang="en-US"/>
            </a:p>
          </p:txBody>
        </p:sp>
        <p:sp>
          <p:nvSpPr>
            <p:cNvPr id="104" name="Label"/>
            <p:cNvSpPr/>
            <p:nvPr/>
          </p:nvSpPr>
          <p:spPr>
            <a:xfrm>
              <a:off x="1486760" y="1378684"/>
              <a:ext cx="5157019" cy="365760"/>
            </a:xfrm>
            <a:prstGeom prst="rect">
              <a:avLst/>
            </a:prstGeom>
            <a:noFill/>
            <a:ln w="0">
              <a:noFill/>
            </a:ln>
          </p:spPr>
          <p:txBody>
            <a:bodyPr wrap="square" lIns="0" tIns="0" rIns="0" bIns="0" anchor="b"/>
            <a:lstStyle/>
            <a:p>
              <a:pPr marL="0" indent="0">
                <a:buNone/>
              </a:pPr>
              <a:r>
                <a:rPr lang="en-US" sz="2400" spc="400" dirty="0">
                  <a:solidFill>
                    <a:srgbClr val="90CAF9"/>
                  </a:solidFill>
                  <a:latin typeface="Segoe UI Semibold"/>
                </a:rPr>
                <a:t>ANTHROPIC  CLAUDE CODE</a:t>
              </a:r>
            </a:p>
          </p:txBody>
        </p:sp>
        <p:pic>
          <p:nvPicPr>
            <p:cNvPr id="1026" name="Picture 2" descr="Anthropic claude Icons, Logos, Symbols ...">
              <a:extLst>
                <a:ext uri="{FF2B5EF4-FFF2-40B4-BE49-F238E27FC236}">
                  <a16:creationId xmlns:a16="http://schemas.microsoft.com/office/drawing/2014/main" id="{D81E5A46-D60B-50F4-AE43-E9357C39034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045" t="15414" r="15329" b="14252"/>
            <a:stretch>
              <a:fillRect/>
            </a:stretch>
          </p:blipFill>
          <p:spPr bwMode="auto">
            <a:xfrm>
              <a:off x="840329" y="1306258"/>
              <a:ext cx="603700" cy="623771"/>
            </a:xfrm>
            <a:prstGeom prst="round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91901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11982-C974-C73B-CA11-F0322D4ED90E}"/>
            </a:ext>
          </a:extLst>
        </p:cNvPr>
        <p:cNvGrpSpPr/>
        <p:nvPr/>
      </p:nvGrpSpPr>
      <p:grpSpPr>
        <a:xfrm>
          <a:off x="0" y="0"/>
          <a:ext cx="0" cy="0"/>
          <a:chOff x="0" y="0"/>
          <a:chExt cx="0" cy="0"/>
        </a:xfrm>
      </p:grpSpPr>
      <p:sp>
        <p:nvSpPr>
          <p:cNvPr id="100" name="S100"/>
          <p:cNvSpPr/>
          <p:nvPr/>
        </p:nvSpPr>
        <p:spPr>
          <a:xfrm>
            <a:off x="660400" y="76200"/>
            <a:ext cx="8890000" cy="381000"/>
          </a:xfrm>
          <a:prstGeom prst="rect">
            <a:avLst/>
          </a:prstGeom>
          <a:noFill/>
          <a:ln>
            <a:noFill/>
          </a:ln>
        </p:spPr>
        <p:txBody>
          <a:bodyPr wrap="square" lIns="36000" tIns="18000" rIns="36000" bIns="18000" anchor="ctr"/>
          <a:lstStyle/>
          <a:p>
            <a:pPr algn="l">
              <a:buNone/>
            </a:pPr>
            <a:r>
              <a:rPr lang="en-US" sz="2700" b="1" dirty="0">
                <a:solidFill>
                  <a:srgbClr val="FFFFFF"/>
                </a:solidFill>
                <a:latin typeface="Aptos Display"/>
              </a:rPr>
              <a:t>Claude Code models by plan</a:t>
            </a:r>
          </a:p>
        </p:txBody>
      </p:sp>
      <p:sp>
        <p:nvSpPr>
          <p:cNvPr id="101" name="S101"/>
          <p:cNvSpPr/>
          <p:nvPr/>
        </p:nvSpPr>
        <p:spPr>
          <a:xfrm>
            <a:off x="660400" y="533400"/>
            <a:ext cx="10414000" cy="304800"/>
          </a:xfrm>
          <a:prstGeom prst="rect">
            <a:avLst/>
          </a:prstGeom>
          <a:noFill/>
          <a:ln>
            <a:noFill/>
          </a:ln>
        </p:spPr>
        <p:txBody>
          <a:bodyPr wrap="square" lIns="36000" tIns="18000" rIns="36000" bIns="18000" anchor="ctr"/>
          <a:lstStyle/>
          <a:p>
            <a:pPr algn="l">
              <a:buNone/>
            </a:pPr>
            <a:r>
              <a:rPr lang="en-US" sz="1400" dirty="0">
                <a:solidFill>
                  <a:srgbClr val="6B9BD2"/>
                </a:solidFill>
                <a:latin typeface="Aptos"/>
              </a:rPr>
              <a:t>Tiers &amp; models on the left  |  Real-world eng. team analogy on the right  |  Same decision pattern</a:t>
            </a:r>
          </a:p>
        </p:txBody>
      </p:sp>
      <p:cxnSp>
        <p:nvCxnSpPr>
          <p:cNvPr id="102" name="L102"/>
          <p:cNvCxnSpPr/>
          <p:nvPr/>
        </p:nvCxnSpPr>
        <p:spPr>
          <a:xfrm>
            <a:off x="0" y="914400"/>
            <a:ext cx="12192000" cy="0"/>
          </a:xfrm>
          <a:prstGeom prst="line">
            <a:avLst/>
          </a:prstGeom>
          <a:ln w="12700">
            <a:solidFill>
              <a:srgbClr val="334155"/>
            </a:solidFill>
          </a:ln>
        </p:spPr>
      </p:cxnSp>
      <p:sp>
        <p:nvSpPr>
          <p:cNvPr id="103" name="S103"/>
          <p:cNvSpPr/>
          <p:nvPr/>
        </p:nvSpPr>
        <p:spPr>
          <a:xfrm>
            <a:off x="146053" y="990600"/>
            <a:ext cx="2540000" cy="203200"/>
          </a:xfrm>
          <a:prstGeom prst="rect">
            <a:avLst/>
          </a:prstGeom>
          <a:noFill/>
          <a:ln>
            <a:noFill/>
          </a:ln>
        </p:spPr>
        <p:txBody>
          <a:bodyPr wrap="square" lIns="36000" tIns="18000" rIns="36000" bIns="18000" anchor="ctr"/>
          <a:lstStyle/>
          <a:p>
            <a:pPr algn="l">
              <a:buNone/>
            </a:pPr>
            <a:r>
              <a:rPr lang="en-US" sz="1100" b="1" dirty="0">
                <a:solidFill>
                  <a:srgbClr val="64748B"/>
                </a:solidFill>
                <a:latin typeface="Aptos Display"/>
              </a:rPr>
              <a:t>SUBSCRIPTION TIERS</a:t>
            </a:r>
          </a:p>
        </p:txBody>
      </p:sp>
      <p:sp>
        <p:nvSpPr>
          <p:cNvPr id="104" name="S104"/>
          <p:cNvSpPr/>
          <p:nvPr/>
        </p:nvSpPr>
        <p:spPr>
          <a:xfrm>
            <a:off x="146053" y="1229360"/>
            <a:ext cx="5714997" cy="431800"/>
          </a:xfrm>
          <a:prstGeom prst="roundRect">
            <a:avLst>
              <a:gd name="adj" fmla="val 10000"/>
            </a:avLst>
          </a:prstGeom>
          <a:solidFill>
            <a:srgbClr val="EFF6FF"/>
          </a:solidFill>
          <a:ln w="9525">
            <a:solidFill>
              <a:srgbClr val="1565C0"/>
            </a:solidFill>
          </a:ln>
        </p:spPr>
        <p:txBody>
          <a:bodyPr wrap="square" lIns="36000" tIns="18000" rIns="36000" bIns="18000" anchor="ctr"/>
          <a:lstStyle/>
          <a:p>
            <a:pPr algn="l">
              <a:buNone/>
            </a:pPr>
            <a:endParaRPr/>
          </a:p>
        </p:txBody>
      </p:sp>
      <p:sp>
        <p:nvSpPr>
          <p:cNvPr id="105" name="S105"/>
          <p:cNvSpPr/>
          <p:nvPr/>
        </p:nvSpPr>
        <p:spPr>
          <a:xfrm>
            <a:off x="146053" y="1229360"/>
            <a:ext cx="63500" cy="431800"/>
          </a:xfrm>
          <a:prstGeom prst="rect">
            <a:avLst/>
          </a:prstGeom>
          <a:solidFill>
            <a:srgbClr val="1565C0"/>
          </a:solidFill>
          <a:ln>
            <a:noFill/>
          </a:ln>
        </p:spPr>
        <p:txBody>
          <a:bodyPr wrap="square" lIns="36000" tIns="18000" rIns="36000" bIns="18000" anchor="ctr"/>
          <a:lstStyle/>
          <a:p>
            <a:pPr algn="l">
              <a:buNone/>
            </a:pPr>
            <a:endParaRPr/>
          </a:p>
        </p:txBody>
      </p:sp>
      <p:sp>
        <p:nvSpPr>
          <p:cNvPr id="106" name="S106"/>
          <p:cNvSpPr/>
          <p:nvPr/>
        </p:nvSpPr>
        <p:spPr>
          <a:xfrm>
            <a:off x="349253" y="1254760"/>
            <a:ext cx="762000" cy="203200"/>
          </a:xfrm>
          <a:prstGeom prst="rect">
            <a:avLst/>
          </a:prstGeom>
          <a:noFill/>
          <a:ln>
            <a:noFill/>
          </a:ln>
        </p:spPr>
        <p:txBody>
          <a:bodyPr wrap="square" lIns="36000" tIns="18000" rIns="36000" bIns="18000" anchor="ctr"/>
          <a:lstStyle/>
          <a:p>
            <a:pPr algn="l">
              <a:buNone/>
            </a:pPr>
            <a:r>
              <a:rPr lang="en-US" sz="1200" b="1" dirty="0">
                <a:solidFill>
                  <a:srgbClr val="1565C0"/>
                </a:solidFill>
                <a:latin typeface="Aptos Display"/>
              </a:rPr>
              <a:t>Pro</a:t>
            </a:r>
          </a:p>
        </p:txBody>
      </p:sp>
      <p:sp>
        <p:nvSpPr>
          <p:cNvPr id="107" name="S107"/>
          <p:cNvSpPr/>
          <p:nvPr/>
        </p:nvSpPr>
        <p:spPr>
          <a:xfrm>
            <a:off x="349253" y="1445260"/>
            <a:ext cx="5588000" cy="190500"/>
          </a:xfrm>
          <a:prstGeom prst="rect">
            <a:avLst/>
          </a:prstGeom>
          <a:noFill/>
          <a:ln>
            <a:noFill/>
          </a:ln>
        </p:spPr>
        <p:txBody>
          <a:bodyPr wrap="square" lIns="36000" tIns="18000" rIns="36000" bIns="18000" anchor="ctr"/>
          <a:lstStyle/>
          <a:p>
            <a:pPr algn="l">
              <a:buNone/>
            </a:pPr>
            <a:r>
              <a:rPr lang="en-US" sz="1000" dirty="0">
                <a:solidFill>
                  <a:srgbClr val="64748B"/>
                </a:solidFill>
                <a:latin typeface="Aptos"/>
              </a:rPr>
              <a:t>$17/mo annual ($20 monthly) — Sonnet 5 default, Opus available</a:t>
            </a:r>
          </a:p>
        </p:txBody>
      </p:sp>
      <p:sp>
        <p:nvSpPr>
          <p:cNvPr id="108" name="S108"/>
          <p:cNvSpPr/>
          <p:nvPr/>
        </p:nvSpPr>
        <p:spPr>
          <a:xfrm>
            <a:off x="146053" y="1699260"/>
            <a:ext cx="5714997" cy="431800"/>
          </a:xfrm>
          <a:prstGeom prst="roundRect">
            <a:avLst>
              <a:gd name="adj" fmla="val 10000"/>
            </a:avLst>
          </a:prstGeom>
          <a:solidFill>
            <a:srgbClr val="F5F3FF"/>
          </a:solidFill>
          <a:ln w="9525">
            <a:solidFill>
              <a:srgbClr val="7C3AED"/>
            </a:solidFill>
          </a:ln>
        </p:spPr>
        <p:txBody>
          <a:bodyPr wrap="square" lIns="36000" tIns="18000" rIns="36000" bIns="18000" anchor="ctr"/>
          <a:lstStyle/>
          <a:p>
            <a:pPr algn="l">
              <a:buNone/>
            </a:pPr>
            <a:endParaRPr/>
          </a:p>
        </p:txBody>
      </p:sp>
      <p:sp>
        <p:nvSpPr>
          <p:cNvPr id="109" name="S109"/>
          <p:cNvSpPr/>
          <p:nvPr/>
        </p:nvSpPr>
        <p:spPr>
          <a:xfrm>
            <a:off x="146053" y="1699260"/>
            <a:ext cx="63500" cy="431800"/>
          </a:xfrm>
          <a:prstGeom prst="rect">
            <a:avLst/>
          </a:prstGeom>
          <a:solidFill>
            <a:srgbClr val="7C3AED"/>
          </a:solidFill>
          <a:ln>
            <a:noFill/>
          </a:ln>
        </p:spPr>
        <p:txBody>
          <a:bodyPr wrap="square" lIns="36000" tIns="18000" rIns="36000" bIns="18000" anchor="ctr"/>
          <a:lstStyle/>
          <a:p>
            <a:pPr algn="l">
              <a:buNone/>
            </a:pPr>
            <a:endParaRPr/>
          </a:p>
        </p:txBody>
      </p:sp>
      <p:sp>
        <p:nvSpPr>
          <p:cNvPr id="110" name="S110"/>
          <p:cNvSpPr/>
          <p:nvPr/>
        </p:nvSpPr>
        <p:spPr>
          <a:xfrm>
            <a:off x="349253" y="1724660"/>
            <a:ext cx="762000" cy="203200"/>
          </a:xfrm>
          <a:prstGeom prst="rect">
            <a:avLst/>
          </a:prstGeom>
          <a:noFill/>
          <a:ln>
            <a:noFill/>
          </a:ln>
        </p:spPr>
        <p:txBody>
          <a:bodyPr wrap="square" lIns="36000" tIns="18000" rIns="36000" bIns="18000" anchor="ctr"/>
          <a:lstStyle/>
          <a:p>
            <a:pPr algn="l">
              <a:buNone/>
            </a:pPr>
            <a:r>
              <a:rPr lang="en-US" sz="1200" b="1" dirty="0">
                <a:solidFill>
                  <a:srgbClr val="7C3AED"/>
                </a:solidFill>
                <a:latin typeface="Aptos Display"/>
              </a:rPr>
              <a:t>Max</a:t>
            </a:r>
          </a:p>
        </p:txBody>
      </p:sp>
      <p:sp>
        <p:nvSpPr>
          <p:cNvPr id="111" name="S111"/>
          <p:cNvSpPr/>
          <p:nvPr/>
        </p:nvSpPr>
        <p:spPr>
          <a:xfrm>
            <a:off x="349253" y="1915160"/>
            <a:ext cx="5588000" cy="190500"/>
          </a:xfrm>
          <a:prstGeom prst="rect">
            <a:avLst/>
          </a:prstGeom>
          <a:noFill/>
          <a:ln>
            <a:noFill/>
          </a:ln>
        </p:spPr>
        <p:txBody>
          <a:bodyPr wrap="square" lIns="36000" tIns="18000" rIns="36000" bIns="18000" anchor="ctr"/>
          <a:lstStyle/>
          <a:p>
            <a:pPr algn="l">
              <a:buNone/>
            </a:pPr>
            <a:r>
              <a:rPr lang="en-US" sz="1000" dirty="0">
                <a:solidFill>
                  <a:srgbClr val="64748B"/>
                </a:solidFill>
                <a:latin typeface="Aptos"/>
              </a:rPr>
              <a:t>From $100/mo — 5× or 20× usage, Opus 5 default, all models</a:t>
            </a:r>
          </a:p>
        </p:txBody>
      </p:sp>
      <p:sp>
        <p:nvSpPr>
          <p:cNvPr id="112" name="S112"/>
          <p:cNvSpPr/>
          <p:nvPr/>
        </p:nvSpPr>
        <p:spPr>
          <a:xfrm>
            <a:off x="146053" y="2169160"/>
            <a:ext cx="5714995" cy="431800"/>
          </a:xfrm>
          <a:prstGeom prst="roundRect">
            <a:avLst>
              <a:gd name="adj" fmla="val 10000"/>
            </a:avLst>
          </a:prstGeom>
          <a:solidFill>
            <a:srgbClr val="F0FDF4"/>
          </a:solidFill>
          <a:ln w="9525">
            <a:solidFill>
              <a:srgbClr val="059669"/>
            </a:solidFill>
          </a:ln>
        </p:spPr>
        <p:txBody>
          <a:bodyPr wrap="square" lIns="36000" tIns="18000" rIns="36000" bIns="18000" anchor="ctr"/>
          <a:lstStyle/>
          <a:p>
            <a:pPr algn="l">
              <a:buNone/>
            </a:pPr>
            <a:endParaRPr/>
          </a:p>
        </p:txBody>
      </p:sp>
      <p:sp>
        <p:nvSpPr>
          <p:cNvPr id="113" name="S113"/>
          <p:cNvSpPr/>
          <p:nvPr/>
        </p:nvSpPr>
        <p:spPr>
          <a:xfrm>
            <a:off x="146053" y="2169160"/>
            <a:ext cx="63500" cy="431800"/>
          </a:xfrm>
          <a:prstGeom prst="rect">
            <a:avLst/>
          </a:prstGeom>
          <a:solidFill>
            <a:srgbClr val="059669"/>
          </a:solidFill>
          <a:ln>
            <a:noFill/>
          </a:ln>
        </p:spPr>
        <p:txBody>
          <a:bodyPr wrap="square" lIns="36000" tIns="18000" rIns="36000" bIns="18000" anchor="ctr"/>
          <a:lstStyle/>
          <a:p>
            <a:pPr algn="l">
              <a:buNone/>
            </a:pPr>
            <a:endParaRPr/>
          </a:p>
        </p:txBody>
      </p:sp>
      <p:sp>
        <p:nvSpPr>
          <p:cNvPr id="114" name="S114"/>
          <p:cNvSpPr/>
          <p:nvPr/>
        </p:nvSpPr>
        <p:spPr>
          <a:xfrm>
            <a:off x="349253" y="2194560"/>
            <a:ext cx="762000" cy="203200"/>
          </a:xfrm>
          <a:prstGeom prst="rect">
            <a:avLst/>
          </a:prstGeom>
          <a:noFill/>
          <a:ln>
            <a:noFill/>
          </a:ln>
        </p:spPr>
        <p:txBody>
          <a:bodyPr wrap="square" lIns="36000" tIns="18000" rIns="36000" bIns="18000" anchor="ctr"/>
          <a:lstStyle/>
          <a:p>
            <a:pPr algn="l">
              <a:buNone/>
            </a:pPr>
            <a:r>
              <a:rPr lang="en-US" sz="1200" b="1" dirty="0">
                <a:solidFill>
                  <a:srgbClr val="059669"/>
                </a:solidFill>
                <a:latin typeface="Aptos Display"/>
              </a:rPr>
              <a:t>Team</a:t>
            </a:r>
          </a:p>
        </p:txBody>
      </p:sp>
      <p:sp>
        <p:nvSpPr>
          <p:cNvPr id="115" name="S115"/>
          <p:cNvSpPr/>
          <p:nvPr/>
        </p:nvSpPr>
        <p:spPr>
          <a:xfrm>
            <a:off x="349253" y="2385060"/>
            <a:ext cx="5588000" cy="190500"/>
          </a:xfrm>
          <a:prstGeom prst="rect">
            <a:avLst/>
          </a:prstGeom>
          <a:noFill/>
          <a:ln>
            <a:noFill/>
          </a:ln>
        </p:spPr>
        <p:txBody>
          <a:bodyPr wrap="square" lIns="36000" tIns="18000" rIns="36000" bIns="18000" anchor="ctr"/>
          <a:lstStyle/>
          <a:p>
            <a:pPr algn="l">
              <a:buNone/>
            </a:pPr>
            <a:r>
              <a:rPr lang="en-US" sz="1000" dirty="0">
                <a:solidFill>
                  <a:srgbClr val="64748B"/>
                </a:solidFill>
                <a:latin typeface="Aptos"/>
              </a:rPr>
              <a:t>$20 Standard / $100 Premium per seat — admin controls, SCIM</a:t>
            </a:r>
          </a:p>
        </p:txBody>
      </p:sp>
      <p:sp>
        <p:nvSpPr>
          <p:cNvPr id="116" name="S116"/>
          <p:cNvSpPr/>
          <p:nvPr/>
        </p:nvSpPr>
        <p:spPr>
          <a:xfrm>
            <a:off x="146053" y="2639060"/>
            <a:ext cx="5714994" cy="431800"/>
          </a:xfrm>
          <a:prstGeom prst="roundRect">
            <a:avLst>
              <a:gd name="adj" fmla="val 10000"/>
            </a:avLst>
          </a:prstGeom>
          <a:solidFill>
            <a:srgbClr val="FFF7ED"/>
          </a:solidFill>
          <a:ln w="9525">
            <a:solidFill>
              <a:srgbClr val="D4622B"/>
            </a:solidFill>
          </a:ln>
        </p:spPr>
        <p:txBody>
          <a:bodyPr wrap="square" lIns="36000" tIns="18000" rIns="36000" bIns="18000" anchor="ctr"/>
          <a:lstStyle/>
          <a:p>
            <a:pPr algn="l">
              <a:buNone/>
            </a:pPr>
            <a:endParaRPr/>
          </a:p>
        </p:txBody>
      </p:sp>
      <p:sp>
        <p:nvSpPr>
          <p:cNvPr id="117" name="S117"/>
          <p:cNvSpPr/>
          <p:nvPr/>
        </p:nvSpPr>
        <p:spPr>
          <a:xfrm>
            <a:off x="146053" y="2639060"/>
            <a:ext cx="63500" cy="431800"/>
          </a:xfrm>
          <a:prstGeom prst="rect">
            <a:avLst/>
          </a:prstGeom>
          <a:solidFill>
            <a:srgbClr val="D4622B"/>
          </a:solidFill>
          <a:ln>
            <a:noFill/>
          </a:ln>
        </p:spPr>
        <p:txBody>
          <a:bodyPr wrap="square" lIns="36000" tIns="18000" rIns="36000" bIns="18000" anchor="ctr"/>
          <a:lstStyle/>
          <a:p>
            <a:pPr algn="l">
              <a:buNone/>
            </a:pPr>
            <a:endParaRPr/>
          </a:p>
        </p:txBody>
      </p:sp>
      <p:sp>
        <p:nvSpPr>
          <p:cNvPr id="118" name="S118"/>
          <p:cNvSpPr/>
          <p:nvPr/>
        </p:nvSpPr>
        <p:spPr>
          <a:xfrm>
            <a:off x="349253" y="2664460"/>
            <a:ext cx="762000" cy="203200"/>
          </a:xfrm>
          <a:prstGeom prst="rect">
            <a:avLst/>
          </a:prstGeom>
          <a:noFill/>
          <a:ln>
            <a:noFill/>
          </a:ln>
        </p:spPr>
        <p:txBody>
          <a:bodyPr wrap="square" lIns="36000" tIns="18000" rIns="36000" bIns="18000" anchor="ctr"/>
          <a:lstStyle/>
          <a:p>
            <a:pPr algn="l">
              <a:buNone/>
            </a:pPr>
            <a:r>
              <a:rPr lang="en-US" sz="1200" b="1" dirty="0">
                <a:solidFill>
                  <a:srgbClr val="D4622B"/>
                </a:solidFill>
                <a:latin typeface="Aptos Display"/>
              </a:rPr>
              <a:t>Enterprise</a:t>
            </a:r>
          </a:p>
        </p:txBody>
      </p:sp>
      <p:sp>
        <p:nvSpPr>
          <p:cNvPr id="119" name="S119"/>
          <p:cNvSpPr/>
          <p:nvPr/>
        </p:nvSpPr>
        <p:spPr>
          <a:xfrm>
            <a:off x="349253" y="2854960"/>
            <a:ext cx="5588000" cy="190500"/>
          </a:xfrm>
          <a:prstGeom prst="rect">
            <a:avLst/>
          </a:prstGeom>
          <a:noFill/>
          <a:ln>
            <a:noFill/>
          </a:ln>
        </p:spPr>
        <p:txBody>
          <a:bodyPr wrap="square" lIns="36000" tIns="18000" rIns="36000" bIns="18000" anchor="ctr"/>
          <a:lstStyle/>
          <a:p>
            <a:pPr algn="l">
              <a:buNone/>
            </a:pPr>
            <a:r>
              <a:rPr lang="en-US" sz="1000" dirty="0">
                <a:solidFill>
                  <a:srgbClr val="64748B"/>
                </a:solidFill>
                <a:latin typeface="Aptos"/>
              </a:rPr>
              <a:t>$20/seat/mo + usage — SSO, RBAC, audit logs, 500k context</a:t>
            </a:r>
          </a:p>
        </p:txBody>
      </p:sp>
      <p:sp>
        <p:nvSpPr>
          <p:cNvPr id="120" name="S120"/>
          <p:cNvSpPr/>
          <p:nvPr/>
        </p:nvSpPr>
        <p:spPr>
          <a:xfrm>
            <a:off x="381000" y="3149600"/>
            <a:ext cx="2540000" cy="203200"/>
          </a:xfrm>
          <a:prstGeom prst="rect">
            <a:avLst/>
          </a:prstGeom>
          <a:noFill/>
          <a:ln>
            <a:noFill/>
          </a:ln>
        </p:spPr>
        <p:txBody>
          <a:bodyPr wrap="square" lIns="36000" tIns="18000" rIns="36000" bIns="18000" anchor="ctr"/>
          <a:lstStyle/>
          <a:p>
            <a:pPr algn="l">
              <a:buNone/>
            </a:pPr>
            <a:r>
              <a:rPr lang="en-US" sz="1100" b="1" dirty="0">
                <a:solidFill>
                  <a:srgbClr val="64748B"/>
                </a:solidFill>
                <a:latin typeface="Aptos Display"/>
              </a:rPr>
              <a:t>MODEL LINEUP</a:t>
            </a:r>
          </a:p>
        </p:txBody>
      </p:sp>
      <p:sp>
        <p:nvSpPr>
          <p:cNvPr id="121" name="S121"/>
          <p:cNvSpPr/>
          <p:nvPr/>
        </p:nvSpPr>
        <p:spPr>
          <a:xfrm>
            <a:off x="173736" y="3403600"/>
            <a:ext cx="1353312" cy="2603500"/>
          </a:xfrm>
          <a:prstGeom prst="roundRect">
            <a:avLst>
              <a:gd name="adj" fmla="val 10000"/>
            </a:avLst>
          </a:prstGeom>
          <a:solidFill>
            <a:srgbClr val="F0F9FF"/>
          </a:solidFill>
          <a:ln w="9525">
            <a:solidFill>
              <a:srgbClr val="0EA5E9"/>
            </a:solidFill>
          </a:ln>
        </p:spPr>
        <p:txBody>
          <a:bodyPr wrap="square" lIns="36000" tIns="18000" rIns="36000" bIns="18000" anchor="t"/>
          <a:lstStyle/>
          <a:p>
            <a:pPr algn="ctr">
              <a:buNone/>
            </a:pPr>
            <a:endParaRPr/>
          </a:p>
        </p:txBody>
      </p:sp>
      <p:sp>
        <p:nvSpPr>
          <p:cNvPr id="122" name="S122"/>
          <p:cNvSpPr/>
          <p:nvPr/>
        </p:nvSpPr>
        <p:spPr>
          <a:xfrm>
            <a:off x="173736" y="3403600"/>
            <a:ext cx="1353312" cy="91440"/>
          </a:xfrm>
          <a:prstGeom prst="rect">
            <a:avLst/>
          </a:prstGeom>
          <a:solidFill>
            <a:srgbClr val="0EA5E9"/>
          </a:solidFill>
          <a:ln>
            <a:noFill/>
          </a:ln>
        </p:spPr>
        <p:txBody>
          <a:bodyPr wrap="square" lIns="36000" tIns="18000" rIns="36000" bIns="18000" anchor="ctr"/>
          <a:lstStyle/>
          <a:p>
            <a:pPr algn="l">
              <a:buNone/>
            </a:pPr>
            <a:endParaRPr/>
          </a:p>
        </p:txBody>
      </p:sp>
      <p:sp>
        <p:nvSpPr>
          <p:cNvPr id="123" name="S123"/>
          <p:cNvSpPr/>
          <p:nvPr/>
        </p:nvSpPr>
        <p:spPr>
          <a:xfrm>
            <a:off x="228600" y="3581400"/>
            <a:ext cx="1243584" cy="279400"/>
          </a:xfrm>
          <a:prstGeom prst="rect">
            <a:avLst/>
          </a:prstGeom>
          <a:noFill/>
          <a:ln>
            <a:noFill/>
          </a:ln>
        </p:spPr>
        <p:txBody>
          <a:bodyPr wrap="square" lIns="36000" tIns="18000" rIns="36000" bIns="18000" anchor="ctr"/>
          <a:lstStyle/>
          <a:p>
            <a:pPr algn="ctr">
              <a:buNone/>
            </a:pPr>
            <a:r>
              <a:rPr lang="en-US" sz="1400" b="1" dirty="0">
                <a:solidFill>
                  <a:srgbClr val="0EA5E9"/>
                </a:solidFill>
                <a:latin typeface="Aptos Display"/>
              </a:rPr>
              <a:t>Haiku 4.5</a:t>
            </a:r>
          </a:p>
        </p:txBody>
      </p:sp>
      <p:sp>
        <p:nvSpPr>
          <p:cNvPr id="124" name="S124"/>
          <p:cNvSpPr/>
          <p:nvPr/>
        </p:nvSpPr>
        <p:spPr>
          <a:xfrm>
            <a:off x="228600" y="3860800"/>
            <a:ext cx="1243584" cy="228600"/>
          </a:xfrm>
          <a:prstGeom prst="rect">
            <a:avLst/>
          </a:prstGeom>
          <a:noFill/>
          <a:ln>
            <a:noFill/>
          </a:ln>
        </p:spPr>
        <p:txBody>
          <a:bodyPr wrap="square" lIns="36000" tIns="18000" rIns="36000" bIns="18000" anchor="ctr"/>
          <a:lstStyle/>
          <a:p>
            <a:pPr algn="ctr">
              <a:buNone/>
            </a:pPr>
            <a:r>
              <a:rPr lang="en-US" sz="1000" i="1" dirty="0">
                <a:solidFill>
                  <a:srgbClr val="0EA5E9"/>
                </a:solidFill>
                <a:latin typeface="Aptos"/>
              </a:rPr>
              <a:t>Fast Specialist</a:t>
            </a:r>
          </a:p>
        </p:txBody>
      </p:sp>
      <p:cxnSp>
        <p:nvCxnSpPr>
          <p:cNvPr id="125" name="L125"/>
          <p:cNvCxnSpPr/>
          <p:nvPr/>
        </p:nvCxnSpPr>
        <p:spPr>
          <a:xfrm>
            <a:off x="228600" y="4140200"/>
            <a:ext cx="1243584" cy="0"/>
          </a:xfrm>
          <a:prstGeom prst="line">
            <a:avLst/>
          </a:prstGeom>
          <a:ln w="6350">
            <a:solidFill>
              <a:srgbClr val="E2E8F0"/>
            </a:solidFill>
          </a:ln>
        </p:spPr>
      </p:cxnSp>
      <p:sp>
        <p:nvSpPr>
          <p:cNvPr id="126" name="S126"/>
          <p:cNvSpPr/>
          <p:nvPr/>
        </p:nvSpPr>
        <p:spPr>
          <a:xfrm>
            <a:off x="228600" y="4216400"/>
            <a:ext cx="1243584" cy="1663700"/>
          </a:xfrm>
          <a:prstGeom prst="rect">
            <a:avLst/>
          </a:prstGeom>
          <a:noFill/>
          <a:ln>
            <a:noFill/>
          </a:ln>
        </p:spPr>
        <p:txBody>
          <a:bodyPr wrap="square" lIns="36000" tIns="18000" rIns="36000" bIns="18000" anchor="t"/>
          <a:lstStyle/>
          <a:p>
            <a:pPr algn="ctr">
              <a:buNone/>
            </a:pPr>
            <a:r>
              <a:rPr lang="en-US" sz="1100" dirty="0">
                <a:solidFill>
                  <a:srgbClr val="475569"/>
                </a:solidFill>
                <a:latin typeface="Aptos"/>
              </a:rPr>
              <a:t>200K context · $1/$5 per MTok. Fastest model, near-frontier intelligence. Ideal for subagents, triage, log scanning, and parallel tasks.</a:t>
            </a:r>
          </a:p>
        </p:txBody>
      </p:sp>
      <p:sp>
        <p:nvSpPr>
          <p:cNvPr id="127" name="S127"/>
          <p:cNvSpPr/>
          <p:nvPr/>
        </p:nvSpPr>
        <p:spPr>
          <a:xfrm>
            <a:off x="1691639" y="3403600"/>
            <a:ext cx="1353312" cy="2603500"/>
          </a:xfrm>
          <a:prstGeom prst="roundRect">
            <a:avLst>
              <a:gd name="adj" fmla="val 10000"/>
            </a:avLst>
          </a:prstGeom>
          <a:solidFill>
            <a:srgbClr val="EFF6FF"/>
          </a:solidFill>
          <a:ln w="9525">
            <a:solidFill>
              <a:srgbClr val="1565C0"/>
            </a:solidFill>
          </a:ln>
        </p:spPr>
        <p:txBody>
          <a:bodyPr wrap="square" lIns="36000" tIns="18000" rIns="36000" bIns="18000" anchor="t"/>
          <a:lstStyle/>
          <a:p>
            <a:pPr algn="ctr">
              <a:buNone/>
            </a:pPr>
            <a:endParaRPr/>
          </a:p>
        </p:txBody>
      </p:sp>
      <p:sp>
        <p:nvSpPr>
          <p:cNvPr id="128" name="S128"/>
          <p:cNvSpPr/>
          <p:nvPr/>
        </p:nvSpPr>
        <p:spPr>
          <a:xfrm>
            <a:off x="1691639" y="3403600"/>
            <a:ext cx="1353312" cy="76200"/>
          </a:xfrm>
          <a:prstGeom prst="rect">
            <a:avLst/>
          </a:prstGeom>
          <a:solidFill>
            <a:srgbClr val="1565C0"/>
          </a:solidFill>
          <a:ln>
            <a:noFill/>
          </a:ln>
        </p:spPr>
        <p:txBody>
          <a:bodyPr wrap="square" lIns="36000" tIns="18000" rIns="36000" bIns="18000" anchor="ctr"/>
          <a:lstStyle/>
          <a:p>
            <a:pPr algn="l">
              <a:buNone/>
            </a:pPr>
            <a:endParaRPr/>
          </a:p>
        </p:txBody>
      </p:sp>
      <p:sp>
        <p:nvSpPr>
          <p:cNvPr id="129" name="S129"/>
          <p:cNvSpPr/>
          <p:nvPr/>
        </p:nvSpPr>
        <p:spPr>
          <a:xfrm>
            <a:off x="1746504" y="3581400"/>
            <a:ext cx="1243584" cy="279400"/>
          </a:xfrm>
          <a:prstGeom prst="rect">
            <a:avLst/>
          </a:prstGeom>
          <a:noFill/>
          <a:ln>
            <a:noFill/>
          </a:ln>
        </p:spPr>
        <p:txBody>
          <a:bodyPr wrap="square" lIns="36000" tIns="18000" rIns="36000" bIns="18000" anchor="ctr"/>
          <a:lstStyle/>
          <a:p>
            <a:pPr algn="ctr">
              <a:buNone/>
            </a:pPr>
            <a:r>
              <a:rPr lang="en-US" sz="1400" b="1" dirty="0">
                <a:solidFill>
                  <a:srgbClr val="1565C0"/>
                </a:solidFill>
                <a:latin typeface="Aptos Display"/>
              </a:rPr>
              <a:t>Sonnet 5</a:t>
            </a:r>
          </a:p>
        </p:txBody>
      </p:sp>
      <p:sp>
        <p:nvSpPr>
          <p:cNvPr id="130" name="S130"/>
          <p:cNvSpPr/>
          <p:nvPr/>
        </p:nvSpPr>
        <p:spPr>
          <a:xfrm>
            <a:off x="1746504" y="3860800"/>
            <a:ext cx="1243584" cy="228600"/>
          </a:xfrm>
          <a:prstGeom prst="rect">
            <a:avLst/>
          </a:prstGeom>
          <a:noFill/>
          <a:ln>
            <a:noFill/>
          </a:ln>
        </p:spPr>
        <p:txBody>
          <a:bodyPr wrap="square" lIns="36000" tIns="18000" rIns="36000" bIns="18000" anchor="ctr"/>
          <a:lstStyle/>
          <a:p>
            <a:pPr algn="ctr">
              <a:buNone/>
            </a:pPr>
            <a:r>
              <a:rPr lang="en-US" sz="1000" i="1" dirty="0">
                <a:solidFill>
                  <a:srgbClr val="1565C0"/>
                </a:solidFill>
                <a:latin typeface="Aptos"/>
              </a:rPr>
              <a:t>Balanced Engineer</a:t>
            </a:r>
          </a:p>
        </p:txBody>
      </p:sp>
      <p:cxnSp>
        <p:nvCxnSpPr>
          <p:cNvPr id="131" name="L131"/>
          <p:cNvCxnSpPr/>
          <p:nvPr/>
        </p:nvCxnSpPr>
        <p:spPr>
          <a:xfrm>
            <a:off x="1746504" y="4140200"/>
            <a:ext cx="1243584" cy="0"/>
          </a:xfrm>
          <a:prstGeom prst="line">
            <a:avLst/>
          </a:prstGeom>
          <a:ln w="6350">
            <a:solidFill>
              <a:srgbClr val="E2E8F0"/>
            </a:solidFill>
          </a:ln>
        </p:spPr>
      </p:cxnSp>
      <p:sp>
        <p:nvSpPr>
          <p:cNvPr id="132" name="S132"/>
          <p:cNvSpPr/>
          <p:nvPr/>
        </p:nvSpPr>
        <p:spPr>
          <a:xfrm>
            <a:off x="1746504" y="4216400"/>
            <a:ext cx="1243584" cy="1663700"/>
          </a:xfrm>
          <a:prstGeom prst="rect">
            <a:avLst/>
          </a:prstGeom>
          <a:noFill/>
          <a:ln>
            <a:noFill/>
          </a:ln>
        </p:spPr>
        <p:txBody>
          <a:bodyPr wrap="square" lIns="36000" tIns="18000" rIns="36000" bIns="18000" anchor="t"/>
          <a:lstStyle/>
          <a:p>
            <a:pPr algn="ctr">
              <a:buNone/>
            </a:pPr>
            <a:r>
              <a:rPr lang="en-US" sz="1100" dirty="0">
                <a:solidFill>
                  <a:srgbClr val="475569"/>
                </a:solidFill>
                <a:latin typeface="Aptos"/>
              </a:rPr>
              <a:t>1M context · $2/$10 per MTok. Best balance of speed and intelligence. Well-specified features, routine debugging, everyday work.</a:t>
            </a:r>
          </a:p>
        </p:txBody>
      </p:sp>
      <p:sp>
        <p:nvSpPr>
          <p:cNvPr id="133" name="S133"/>
          <p:cNvSpPr/>
          <p:nvPr/>
        </p:nvSpPr>
        <p:spPr>
          <a:xfrm>
            <a:off x="3209544" y="3403600"/>
            <a:ext cx="1353312" cy="2603500"/>
          </a:xfrm>
          <a:prstGeom prst="roundRect">
            <a:avLst>
              <a:gd name="adj" fmla="val 10000"/>
            </a:avLst>
          </a:prstGeom>
          <a:solidFill>
            <a:srgbClr val="F5F3FF"/>
          </a:solidFill>
          <a:ln w="9525">
            <a:solidFill>
              <a:srgbClr val="7C3AED"/>
            </a:solidFill>
          </a:ln>
        </p:spPr>
        <p:txBody>
          <a:bodyPr wrap="square" lIns="36000" tIns="18000" rIns="36000" bIns="18000" anchor="t"/>
          <a:lstStyle/>
          <a:p>
            <a:pPr algn="ctr">
              <a:buNone/>
            </a:pPr>
            <a:endParaRPr/>
          </a:p>
        </p:txBody>
      </p:sp>
      <p:sp>
        <p:nvSpPr>
          <p:cNvPr id="134" name="S134"/>
          <p:cNvSpPr/>
          <p:nvPr/>
        </p:nvSpPr>
        <p:spPr>
          <a:xfrm>
            <a:off x="3209544" y="3401060"/>
            <a:ext cx="1353312" cy="58420"/>
          </a:xfrm>
          <a:prstGeom prst="rect">
            <a:avLst/>
          </a:prstGeom>
          <a:solidFill>
            <a:srgbClr val="7C3AED"/>
          </a:solidFill>
          <a:ln>
            <a:noFill/>
          </a:ln>
        </p:spPr>
        <p:txBody>
          <a:bodyPr wrap="square" lIns="36000" tIns="18000" rIns="36000" bIns="18000" anchor="ctr"/>
          <a:lstStyle/>
          <a:p>
            <a:pPr algn="l">
              <a:buNone/>
            </a:pPr>
            <a:endParaRPr/>
          </a:p>
        </p:txBody>
      </p:sp>
      <p:sp>
        <p:nvSpPr>
          <p:cNvPr id="135" name="S135"/>
          <p:cNvSpPr/>
          <p:nvPr/>
        </p:nvSpPr>
        <p:spPr>
          <a:xfrm>
            <a:off x="3264408" y="3581400"/>
            <a:ext cx="1243584" cy="279400"/>
          </a:xfrm>
          <a:prstGeom prst="rect">
            <a:avLst/>
          </a:prstGeom>
          <a:noFill/>
          <a:ln>
            <a:noFill/>
          </a:ln>
        </p:spPr>
        <p:txBody>
          <a:bodyPr wrap="square" lIns="36000" tIns="18000" rIns="36000" bIns="18000" anchor="ctr"/>
          <a:lstStyle/>
          <a:p>
            <a:pPr algn="ctr">
              <a:buNone/>
            </a:pPr>
            <a:r>
              <a:rPr lang="en-US" sz="1400" b="1" dirty="0">
                <a:solidFill>
                  <a:srgbClr val="7C3AED"/>
                </a:solidFill>
                <a:latin typeface="Aptos Display"/>
              </a:rPr>
              <a:t>Opus 5</a:t>
            </a:r>
          </a:p>
        </p:txBody>
      </p:sp>
      <p:sp>
        <p:nvSpPr>
          <p:cNvPr id="136" name="S136"/>
          <p:cNvSpPr/>
          <p:nvPr/>
        </p:nvSpPr>
        <p:spPr>
          <a:xfrm>
            <a:off x="3264408" y="3860800"/>
            <a:ext cx="1243584" cy="228600"/>
          </a:xfrm>
          <a:prstGeom prst="rect">
            <a:avLst/>
          </a:prstGeom>
          <a:noFill/>
          <a:ln>
            <a:noFill/>
          </a:ln>
        </p:spPr>
        <p:txBody>
          <a:bodyPr wrap="square" lIns="36000" tIns="18000" rIns="36000" bIns="18000" anchor="ctr"/>
          <a:lstStyle/>
          <a:p>
            <a:pPr algn="ctr">
              <a:buNone/>
            </a:pPr>
            <a:r>
              <a:rPr lang="en-US" sz="1000" i="1" dirty="0">
                <a:solidFill>
                  <a:srgbClr val="7C3AED"/>
                </a:solidFill>
                <a:latin typeface="Aptos"/>
              </a:rPr>
              <a:t>Default Engineer</a:t>
            </a:r>
          </a:p>
        </p:txBody>
      </p:sp>
      <p:cxnSp>
        <p:nvCxnSpPr>
          <p:cNvPr id="137" name="L137"/>
          <p:cNvCxnSpPr/>
          <p:nvPr/>
        </p:nvCxnSpPr>
        <p:spPr>
          <a:xfrm>
            <a:off x="3264408" y="4140200"/>
            <a:ext cx="1243584" cy="0"/>
          </a:xfrm>
          <a:prstGeom prst="line">
            <a:avLst/>
          </a:prstGeom>
          <a:ln w="6350">
            <a:solidFill>
              <a:srgbClr val="E2E8F0"/>
            </a:solidFill>
          </a:ln>
        </p:spPr>
      </p:cxnSp>
      <p:sp>
        <p:nvSpPr>
          <p:cNvPr id="138" name="S138"/>
          <p:cNvSpPr/>
          <p:nvPr/>
        </p:nvSpPr>
        <p:spPr>
          <a:xfrm>
            <a:off x="3264408" y="4216400"/>
            <a:ext cx="1243584" cy="1663700"/>
          </a:xfrm>
          <a:prstGeom prst="rect">
            <a:avLst/>
          </a:prstGeom>
          <a:noFill/>
          <a:ln>
            <a:noFill/>
          </a:ln>
        </p:spPr>
        <p:txBody>
          <a:bodyPr wrap="square" lIns="36000" tIns="18000" rIns="36000" bIns="18000" anchor="t"/>
          <a:lstStyle/>
          <a:p>
            <a:pPr algn="ctr">
              <a:buNone/>
            </a:pPr>
            <a:r>
              <a:rPr lang="en-US" sz="1100" dirty="0">
                <a:solidFill>
                  <a:srgbClr val="475569"/>
                </a:solidFill>
                <a:latin typeface="Aptos"/>
              </a:rPr>
              <a:t>1M context · $5/$25 per MTok. Start here. Complex agentic coding, architecture decisions, and cross-cutting changes.</a:t>
            </a:r>
          </a:p>
        </p:txBody>
      </p:sp>
      <p:sp>
        <p:nvSpPr>
          <p:cNvPr id="141" name="S141"/>
          <p:cNvSpPr/>
          <p:nvPr/>
        </p:nvSpPr>
        <p:spPr>
          <a:xfrm>
            <a:off x="6553200" y="990600"/>
            <a:ext cx="2540000" cy="203200"/>
          </a:xfrm>
          <a:prstGeom prst="rect">
            <a:avLst/>
          </a:prstGeom>
          <a:noFill/>
          <a:ln>
            <a:noFill/>
          </a:ln>
        </p:spPr>
        <p:txBody>
          <a:bodyPr wrap="square" lIns="36000" tIns="18000" rIns="36000" bIns="18000" anchor="ctr"/>
          <a:lstStyle/>
          <a:p>
            <a:pPr algn="l">
              <a:buNone/>
            </a:pPr>
            <a:r>
              <a:rPr lang="en-US" sz="1100" b="1" dirty="0">
                <a:solidFill>
                  <a:srgbClr val="64748B"/>
                </a:solidFill>
                <a:latin typeface="Aptos Display"/>
              </a:rPr>
              <a:t>TEAM STRUCTURE</a:t>
            </a:r>
          </a:p>
        </p:txBody>
      </p:sp>
      <p:sp>
        <p:nvSpPr>
          <p:cNvPr id="142" name="S142"/>
          <p:cNvSpPr/>
          <p:nvPr/>
        </p:nvSpPr>
        <p:spPr>
          <a:xfrm>
            <a:off x="8077200" y="1219200"/>
            <a:ext cx="2362200" cy="381000"/>
          </a:xfrm>
          <a:prstGeom prst="roundRect">
            <a:avLst>
              <a:gd name="adj" fmla="val 10000"/>
            </a:avLst>
          </a:prstGeom>
          <a:solidFill>
            <a:srgbClr val="1E3A5F"/>
          </a:solidFill>
          <a:ln>
            <a:noFill/>
          </a:ln>
        </p:spPr>
        <p:txBody>
          <a:bodyPr wrap="square" lIns="36000" tIns="18000" rIns="36000" bIns="18000" anchor="ctr"/>
          <a:lstStyle/>
          <a:p>
            <a:pPr algn="ctr">
              <a:buNone/>
            </a:pPr>
            <a:r>
              <a:rPr lang="en-US" sz="1100" b="1" dirty="0">
                <a:solidFill>
                  <a:srgbClr val="FFFFFF"/>
                </a:solidFill>
                <a:latin typeface="Aptos"/>
              </a:rPr>
              <a:t>Sr. Eng. Manager (Rahul)</a:t>
            </a:r>
          </a:p>
        </p:txBody>
      </p:sp>
      <p:cxnSp>
        <p:nvCxnSpPr>
          <p:cNvPr id="143" name="L143"/>
          <p:cNvCxnSpPr/>
          <p:nvPr/>
        </p:nvCxnSpPr>
        <p:spPr>
          <a:xfrm>
            <a:off x="9258300" y="1600200"/>
            <a:ext cx="0" cy="152400"/>
          </a:xfrm>
          <a:prstGeom prst="line">
            <a:avLst/>
          </a:prstGeom>
          <a:ln w="9525">
            <a:solidFill>
              <a:srgbClr val="94A3B8"/>
            </a:solidFill>
          </a:ln>
        </p:spPr>
      </p:cxnSp>
      <p:cxnSp>
        <p:nvCxnSpPr>
          <p:cNvPr id="144" name="L144"/>
          <p:cNvCxnSpPr/>
          <p:nvPr/>
        </p:nvCxnSpPr>
        <p:spPr>
          <a:xfrm>
            <a:off x="7442200" y="1752600"/>
            <a:ext cx="3632200" cy="0"/>
          </a:xfrm>
          <a:prstGeom prst="line">
            <a:avLst/>
          </a:prstGeom>
          <a:ln w="9525">
            <a:solidFill>
              <a:srgbClr val="94A3B8"/>
            </a:solidFill>
          </a:ln>
        </p:spPr>
      </p:cxnSp>
      <p:cxnSp>
        <p:nvCxnSpPr>
          <p:cNvPr id="145" name="L145"/>
          <p:cNvCxnSpPr/>
          <p:nvPr/>
        </p:nvCxnSpPr>
        <p:spPr>
          <a:xfrm>
            <a:off x="7442200" y="1752600"/>
            <a:ext cx="0" cy="127000"/>
          </a:xfrm>
          <a:prstGeom prst="line">
            <a:avLst/>
          </a:prstGeom>
          <a:ln w="9525">
            <a:solidFill>
              <a:srgbClr val="94A3B8"/>
            </a:solidFill>
          </a:ln>
        </p:spPr>
      </p:cxnSp>
      <p:cxnSp>
        <p:nvCxnSpPr>
          <p:cNvPr id="146" name="L146"/>
          <p:cNvCxnSpPr/>
          <p:nvPr/>
        </p:nvCxnSpPr>
        <p:spPr>
          <a:xfrm>
            <a:off x="9258300" y="1752600"/>
            <a:ext cx="0" cy="127000"/>
          </a:xfrm>
          <a:prstGeom prst="line">
            <a:avLst/>
          </a:prstGeom>
          <a:ln w="9525">
            <a:solidFill>
              <a:srgbClr val="94A3B8"/>
            </a:solidFill>
          </a:ln>
        </p:spPr>
      </p:cxnSp>
      <p:cxnSp>
        <p:nvCxnSpPr>
          <p:cNvPr id="147" name="L147"/>
          <p:cNvCxnSpPr/>
          <p:nvPr/>
        </p:nvCxnSpPr>
        <p:spPr>
          <a:xfrm>
            <a:off x="11074400" y="1752600"/>
            <a:ext cx="0" cy="127000"/>
          </a:xfrm>
          <a:prstGeom prst="line">
            <a:avLst/>
          </a:prstGeom>
          <a:ln w="9525">
            <a:solidFill>
              <a:srgbClr val="94A3B8"/>
            </a:solidFill>
          </a:ln>
        </p:spPr>
      </p:cxnSp>
      <p:sp>
        <p:nvSpPr>
          <p:cNvPr id="148" name="S148"/>
          <p:cNvSpPr/>
          <p:nvPr/>
        </p:nvSpPr>
        <p:spPr>
          <a:xfrm>
            <a:off x="6654800" y="1879600"/>
            <a:ext cx="1574800" cy="330200"/>
          </a:xfrm>
          <a:prstGeom prst="roundRect">
            <a:avLst>
              <a:gd name="adj" fmla="val 10000"/>
            </a:avLst>
          </a:prstGeom>
          <a:solidFill>
            <a:srgbClr val="1565C0"/>
          </a:solidFill>
          <a:ln>
            <a:noFill/>
          </a:ln>
        </p:spPr>
        <p:txBody>
          <a:bodyPr wrap="square" lIns="36000" tIns="18000" rIns="36000" bIns="18000" anchor="ctr"/>
          <a:lstStyle/>
          <a:p>
            <a:pPr algn="ctr">
              <a:buNone/>
            </a:pPr>
            <a:r>
              <a:rPr lang="en-US" sz="1000" b="1" dirty="0">
                <a:solidFill>
                  <a:srgbClr val="FFFFFF"/>
                </a:solidFill>
                <a:latin typeface="Aptos"/>
              </a:rPr>
              <a:t>Eng. Mgr A (Priya)</a:t>
            </a:r>
          </a:p>
        </p:txBody>
      </p:sp>
      <p:sp>
        <p:nvSpPr>
          <p:cNvPr id="149" name="S149"/>
          <p:cNvSpPr/>
          <p:nvPr/>
        </p:nvSpPr>
        <p:spPr>
          <a:xfrm>
            <a:off x="8470900" y="1879600"/>
            <a:ext cx="1574800" cy="330200"/>
          </a:xfrm>
          <a:prstGeom prst="roundRect">
            <a:avLst>
              <a:gd name="adj" fmla="val 10000"/>
            </a:avLst>
          </a:prstGeom>
          <a:solidFill>
            <a:srgbClr val="7C3AED"/>
          </a:solidFill>
          <a:ln>
            <a:noFill/>
          </a:ln>
        </p:spPr>
        <p:txBody>
          <a:bodyPr wrap="square" lIns="36000" tIns="18000" rIns="36000" bIns="18000" anchor="ctr"/>
          <a:lstStyle/>
          <a:p>
            <a:pPr algn="ctr">
              <a:buNone/>
            </a:pPr>
            <a:r>
              <a:rPr lang="en-US" sz="1000" b="1" dirty="0">
                <a:solidFill>
                  <a:srgbClr val="FFFFFF"/>
                </a:solidFill>
                <a:latin typeface="Aptos"/>
              </a:rPr>
              <a:t>Architect (Amit)</a:t>
            </a:r>
          </a:p>
        </p:txBody>
      </p:sp>
      <p:sp>
        <p:nvSpPr>
          <p:cNvPr id="150" name="S150"/>
          <p:cNvSpPr/>
          <p:nvPr/>
        </p:nvSpPr>
        <p:spPr>
          <a:xfrm>
            <a:off x="10287000" y="1879600"/>
            <a:ext cx="1574800" cy="330200"/>
          </a:xfrm>
          <a:prstGeom prst="roundRect">
            <a:avLst>
              <a:gd name="adj" fmla="val 10000"/>
            </a:avLst>
          </a:prstGeom>
          <a:solidFill>
            <a:srgbClr val="059669"/>
          </a:solidFill>
          <a:ln>
            <a:noFill/>
          </a:ln>
        </p:spPr>
        <p:txBody>
          <a:bodyPr wrap="square" lIns="36000" tIns="18000" rIns="36000" bIns="18000" anchor="ctr"/>
          <a:lstStyle/>
          <a:p>
            <a:pPr algn="ctr">
              <a:buNone/>
            </a:pPr>
            <a:r>
              <a:rPr lang="en-US" sz="1000" b="1" dirty="0">
                <a:solidFill>
                  <a:srgbClr val="FFFFFF"/>
                </a:solidFill>
                <a:latin typeface="Aptos"/>
              </a:rPr>
              <a:t>Eng. Mgr B (Sara)</a:t>
            </a:r>
          </a:p>
        </p:txBody>
      </p:sp>
      <p:cxnSp>
        <p:nvCxnSpPr>
          <p:cNvPr id="151" name="L151"/>
          <p:cNvCxnSpPr/>
          <p:nvPr/>
        </p:nvCxnSpPr>
        <p:spPr>
          <a:xfrm>
            <a:off x="7442200" y="2209800"/>
            <a:ext cx="0" cy="114300"/>
          </a:xfrm>
          <a:prstGeom prst="line">
            <a:avLst/>
          </a:prstGeom>
          <a:ln w="6350">
            <a:solidFill>
              <a:srgbClr val="94A3B8"/>
            </a:solidFill>
          </a:ln>
        </p:spPr>
      </p:cxnSp>
      <p:sp>
        <p:nvSpPr>
          <p:cNvPr id="152" name="S152"/>
          <p:cNvSpPr/>
          <p:nvPr/>
        </p:nvSpPr>
        <p:spPr>
          <a:xfrm>
            <a:off x="6654800" y="2336800"/>
            <a:ext cx="1574800" cy="228600"/>
          </a:xfrm>
          <a:prstGeom prst="roundRect">
            <a:avLst>
              <a:gd name="adj" fmla="val 10000"/>
            </a:avLst>
          </a:prstGeom>
          <a:solidFill>
            <a:srgbClr val="DBEAFE"/>
          </a:solidFill>
          <a:ln w="6350">
            <a:solidFill>
              <a:srgbClr val="93C5FD"/>
            </a:solidFill>
          </a:ln>
        </p:spPr>
        <p:txBody>
          <a:bodyPr wrap="square" lIns="36000" tIns="18000" rIns="36000" bIns="18000" anchor="ctr"/>
          <a:lstStyle/>
          <a:p>
            <a:pPr algn="ctr">
              <a:buNone/>
            </a:pPr>
            <a:r>
              <a:rPr lang="en-US" sz="900" dirty="0">
                <a:solidFill>
                  <a:srgbClr val="1565C0"/>
                </a:solidFill>
                <a:latin typeface="Aptos"/>
              </a:rPr>
              <a:t>5 Engineers</a:t>
            </a:r>
          </a:p>
        </p:txBody>
      </p:sp>
      <p:cxnSp>
        <p:nvCxnSpPr>
          <p:cNvPr id="153" name="L153"/>
          <p:cNvCxnSpPr/>
          <p:nvPr/>
        </p:nvCxnSpPr>
        <p:spPr>
          <a:xfrm>
            <a:off x="11074400" y="2209800"/>
            <a:ext cx="0" cy="114300"/>
          </a:xfrm>
          <a:prstGeom prst="line">
            <a:avLst/>
          </a:prstGeom>
          <a:ln w="6350">
            <a:solidFill>
              <a:srgbClr val="94A3B8"/>
            </a:solidFill>
          </a:ln>
        </p:spPr>
      </p:cxnSp>
      <p:sp>
        <p:nvSpPr>
          <p:cNvPr id="154" name="S154"/>
          <p:cNvSpPr/>
          <p:nvPr/>
        </p:nvSpPr>
        <p:spPr>
          <a:xfrm>
            <a:off x="10287000" y="2336800"/>
            <a:ext cx="1574800" cy="228600"/>
          </a:xfrm>
          <a:prstGeom prst="roundRect">
            <a:avLst>
              <a:gd name="adj" fmla="val 10000"/>
            </a:avLst>
          </a:prstGeom>
          <a:solidFill>
            <a:srgbClr val="D1FAE5"/>
          </a:solidFill>
          <a:ln w="6350">
            <a:solidFill>
              <a:srgbClr val="6EE7B7"/>
            </a:solidFill>
          </a:ln>
        </p:spPr>
        <p:txBody>
          <a:bodyPr wrap="square" lIns="36000" tIns="18000" rIns="36000" bIns="18000" anchor="ctr"/>
          <a:lstStyle/>
          <a:p>
            <a:pPr algn="ctr">
              <a:buNone/>
            </a:pPr>
            <a:r>
              <a:rPr lang="en-US" sz="900" dirty="0">
                <a:solidFill>
                  <a:srgbClr val="059669"/>
                </a:solidFill>
                <a:latin typeface="Aptos"/>
              </a:rPr>
              <a:t>5 Engineers</a:t>
            </a:r>
          </a:p>
        </p:txBody>
      </p:sp>
      <p:sp>
        <p:nvSpPr>
          <p:cNvPr id="155" name="S155"/>
          <p:cNvSpPr/>
          <p:nvPr/>
        </p:nvSpPr>
        <p:spPr>
          <a:xfrm>
            <a:off x="6553200" y="2717800"/>
            <a:ext cx="2540000" cy="203200"/>
          </a:xfrm>
          <a:prstGeom prst="rect">
            <a:avLst/>
          </a:prstGeom>
          <a:noFill/>
          <a:ln>
            <a:noFill/>
          </a:ln>
        </p:spPr>
        <p:txBody>
          <a:bodyPr wrap="square" lIns="36000" tIns="18000" rIns="36000" bIns="18000" anchor="ctr"/>
          <a:lstStyle/>
          <a:p>
            <a:pPr algn="l">
              <a:buNone/>
            </a:pPr>
            <a:r>
              <a:rPr lang="en-US" sz="1100" b="1" dirty="0">
                <a:solidFill>
                  <a:srgbClr val="64748B"/>
                </a:solidFill>
                <a:latin typeface="Aptos Display"/>
              </a:rPr>
              <a:t>INCOMING TASKS</a:t>
            </a:r>
          </a:p>
        </p:txBody>
      </p:sp>
      <p:sp>
        <p:nvSpPr>
          <p:cNvPr id="156" name="S156"/>
          <p:cNvSpPr/>
          <p:nvPr/>
        </p:nvSpPr>
        <p:spPr>
          <a:xfrm>
            <a:off x="6553200" y="2946400"/>
            <a:ext cx="2540000" cy="444500"/>
          </a:xfrm>
          <a:prstGeom prst="roundRect">
            <a:avLst>
              <a:gd name="adj" fmla="val 12000"/>
            </a:avLst>
          </a:prstGeom>
          <a:solidFill>
            <a:srgbClr val="FEF3C7"/>
          </a:solidFill>
          <a:ln w="9525">
            <a:solidFill>
              <a:srgbClr val="F59E0B"/>
            </a:solidFill>
          </a:ln>
        </p:spPr>
        <p:txBody>
          <a:bodyPr wrap="square" lIns="36000" tIns="18000" rIns="36000" bIns="18000" anchor="ctr"/>
          <a:lstStyle/>
          <a:p>
            <a:pPr algn="l">
              <a:buNone/>
            </a:pPr>
            <a:r>
              <a:rPr lang="en-US" sz="1000" b="1" dirty="0">
                <a:solidFill>
                  <a:srgbClr val="92400E"/>
                </a:solidFill>
                <a:latin typeface="Aptos"/>
              </a:rPr>
              <a:t>📦  Release v2.3 to Production</a:t>
            </a:r>
          </a:p>
          <a:p>
            <a:pPr algn="l">
              <a:buNone/>
            </a:pPr>
            <a:r>
              <a:rPr lang="en-US" sz="800" dirty="0">
                <a:solidFill>
                  <a:srgbClr val="A16207"/>
                </a:solidFill>
                <a:latin typeface="Aptos"/>
              </a:rPr>
              <a:t>Cross-team coordination needed</a:t>
            </a:r>
          </a:p>
        </p:txBody>
      </p:sp>
      <p:sp>
        <p:nvSpPr>
          <p:cNvPr id="157" name="S157"/>
          <p:cNvSpPr/>
          <p:nvPr/>
        </p:nvSpPr>
        <p:spPr>
          <a:xfrm>
            <a:off x="6553200" y="3429000"/>
            <a:ext cx="2540000" cy="444500"/>
          </a:xfrm>
          <a:prstGeom prst="roundRect">
            <a:avLst>
              <a:gd name="adj" fmla="val 12000"/>
            </a:avLst>
          </a:prstGeom>
          <a:solidFill>
            <a:srgbClr val="EDE9FE"/>
          </a:solidFill>
          <a:ln w="9525">
            <a:solidFill>
              <a:srgbClr val="8B5CF6"/>
            </a:solidFill>
          </a:ln>
        </p:spPr>
        <p:txBody>
          <a:bodyPr wrap="square" lIns="36000" tIns="18000" rIns="36000" bIns="18000" anchor="ctr"/>
          <a:lstStyle/>
          <a:p>
            <a:pPr algn="l">
              <a:buNone/>
            </a:pPr>
            <a:r>
              <a:rPr lang="en-US" sz="1000" b="1" dirty="0">
                <a:solidFill>
                  <a:srgbClr val="5B21B6"/>
                </a:solidFill>
                <a:latin typeface="Aptos"/>
              </a:rPr>
              <a:t>💡  Design Payment Gateway</a:t>
            </a:r>
          </a:p>
          <a:p>
            <a:pPr algn="l">
              <a:buNone/>
            </a:pPr>
            <a:r>
              <a:rPr lang="en-US" sz="800" dirty="0">
                <a:solidFill>
                  <a:srgbClr val="6D28D9"/>
                </a:solidFill>
                <a:latin typeface="Aptos"/>
              </a:rPr>
              <a:t>Architecture &amp; trade-off analysis</a:t>
            </a:r>
          </a:p>
        </p:txBody>
      </p:sp>
      <p:sp>
        <p:nvSpPr>
          <p:cNvPr id="158" name="S158"/>
          <p:cNvSpPr/>
          <p:nvPr/>
        </p:nvSpPr>
        <p:spPr>
          <a:xfrm>
            <a:off x="6553200" y="3911600"/>
            <a:ext cx="2540000" cy="444500"/>
          </a:xfrm>
          <a:prstGeom prst="roundRect">
            <a:avLst>
              <a:gd name="adj" fmla="val 12000"/>
            </a:avLst>
          </a:prstGeom>
          <a:solidFill>
            <a:srgbClr val="DBEAFE"/>
          </a:solidFill>
          <a:ln w="9525">
            <a:solidFill>
              <a:srgbClr val="3B82F6"/>
            </a:solidFill>
          </a:ln>
        </p:spPr>
        <p:txBody>
          <a:bodyPr wrap="square" lIns="36000" tIns="18000" rIns="36000" bIns="18000" anchor="ctr"/>
          <a:lstStyle/>
          <a:p>
            <a:pPr algn="l">
              <a:buNone/>
            </a:pPr>
            <a:r>
              <a:rPr lang="en-US" sz="1000" b="1" dirty="0">
                <a:solidFill>
                  <a:srgbClr val="1E40AF"/>
                </a:solidFill>
                <a:latin typeface="Aptos"/>
              </a:rPr>
              <a:t>⚙️  Migrate to Kubernetes?</a:t>
            </a:r>
          </a:p>
          <a:p>
            <a:pPr algn="l">
              <a:buNone/>
            </a:pPr>
            <a:r>
              <a:rPr lang="en-US" sz="800" dirty="0">
                <a:solidFill>
                  <a:srgbClr val="1D4ED8"/>
                </a:solidFill>
                <a:latin typeface="Aptos"/>
              </a:rPr>
              <a:t>Evaluate effort, risk, timeline</a:t>
            </a:r>
          </a:p>
        </p:txBody>
      </p:sp>
      <p:sp>
        <p:nvSpPr>
          <p:cNvPr id="159" name="S159"/>
          <p:cNvSpPr/>
          <p:nvPr/>
        </p:nvSpPr>
        <p:spPr>
          <a:xfrm>
            <a:off x="6553200" y="4394200"/>
            <a:ext cx="2540000" cy="444500"/>
          </a:xfrm>
          <a:prstGeom prst="roundRect">
            <a:avLst>
              <a:gd name="adj" fmla="val 12000"/>
            </a:avLst>
          </a:prstGeom>
          <a:solidFill>
            <a:srgbClr val="F0FDF4"/>
          </a:solidFill>
          <a:ln w="9525">
            <a:solidFill>
              <a:srgbClr val="22C55E"/>
            </a:solidFill>
          </a:ln>
        </p:spPr>
        <p:txBody>
          <a:bodyPr wrap="square" lIns="36000" tIns="18000" rIns="36000" bIns="18000" anchor="ctr"/>
          <a:lstStyle/>
          <a:p>
            <a:pPr algn="l">
              <a:buNone/>
            </a:pPr>
            <a:r>
              <a:rPr lang="en-US" sz="1000" b="1" dirty="0">
                <a:solidFill>
                  <a:srgbClr val="166534"/>
                </a:solidFill>
                <a:latin typeface="Aptos"/>
              </a:rPr>
              <a:t>📋  JIRA-1234: Fix login bug</a:t>
            </a:r>
          </a:p>
          <a:p>
            <a:pPr algn="l">
              <a:buNone/>
            </a:pPr>
            <a:r>
              <a:rPr lang="en-US" sz="800" dirty="0">
                <a:solidFill>
                  <a:srgbClr val="15803D"/>
                </a:solidFill>
                <a:latin typeface="Aptos"/>
              </a:rPr>
              <a:t>Standard story / bug fix</a:t>
            </a:r>
          </a:p>
        </p:txBody>
      </p:sp>
      <p:sp>
        <p:nvSpPr>
          <p:cNvPr id="160" name="S160"/>
          <p:cNvSpPr/>
          <p:nvPr/>
        </p:nvSpPr>
        <p:spPr>
          <a:xfrm>
            <a:off x="9271000" y="2717800"/>
            <a:ext cx="2794000" cy="203200"/>
          </a:xfrm>
          <a:prstGeom prst="rect">
            <a:avLst/>
          </a:prstGeom>
          <a:noFill/>
          <a:ln>
            <a:noFill/>
          </a:ln>
        </p:spPr>
        <p:txBody>
          <a:bodyPr wrap="square" lIns="36000" tIns="18000" rIns="36000" bIns="18000" anchor="ctr"/>
          <a:lstStyle/>
          <a:p>
            <a:pPr algn="l">
              <a:buNone/>
            </a:pPr>
            <a:r>
              <a:rPr lang="en-US" sz="1100" b="1" dirty="0">
                <a:solidFill>
                  <a:srgbClr val="1E293B"/>
                </a:solidFill>
                <a:latin typeface="Aptos Display"/>
              </a:rPr>
              <a:t>SR. MANAGER DECIDES:</a:t>
            </a:r>
          </a:p>
        </p:txBody>
      </p:sp>
      <p:cxnSp>
        <p:nvCxnSpPr>
          <p:cNvPr id="161" name="L161"/>
          <p:cNvCxnSpPr/>
          <p:nvPr/>
        </p:nvCxnSpPr>
        <p:spPr>
          <a:xfrm>
            <a:off x="9398000" y="2946400"/>
            <a:ext cx="0" cy="2006600"/>
          </a:xfrm>
          <a:prstGeom prst="line">
            <a:avLst/>
          </a:prstGeom>
          <a:ln w="6350">
            <a:solidFill>
              <a:srgbClr val="CBD5E1"/>
            </a:solidFill>
            <a:prstDash val="dash"/>
          </a:ln>
        </p:spPr>
      </p:cxnSp>
      <p:sp>
        <p:nvSpPr>
          <p:cNvPr id="162" name="S162"/>
          <p:cNvSpPr/>
          <p:nvPr/>
        </p:nvSpPr>
        <p:spPr>
          <a:xfrm>
            <a:off x="9626599" y="2946400"/>
            <a:ext cx="2006593" cy="444500"/>
          </a:xfrm>
          <a:prstGeom prst="rect">
            <a:avLst/>
          </a:prstGeom>
          <a:noFill/>
          <a:ln>
            <a:noFill/>
          </a:ln>
        </p:spPr>
        <p:txBody>
          <a:bodyPr wrap="square" lIns="36000" tIns="18000" rIns="36000" bIns="18000" anchor="ctr"/>
          <a:lstStyle/>
          <a:p>
            <a:pPr algn="l">
              <a:buNone/>
            </a:pPr>
            <a:r>
              <a:rPr lang="en-US" sz="1050" b="1" dirty="0">
                <a:solidFill>
                  <a:srgbClr val="92400E"/>
                </a:solidFill>
                <a:latin typeface="Aptos"/>
              </a:rPr>
              <a:t>▶ Delivery task?</a:t>
            </a:r>
          </a:p>
          <a:p>
            <a:pPr algn="l">
              <a:buNone/>
            </a:pPr>
            <a:r>
              <a:rPr lang="en-US" sz="900" dirty="0">
                <a:solidFill>
                  <a:srgbClr val="64748B"/>
                </a:solidFill>
                <a:latin typeface="Aptos"/>
              </a:rPr>
              <a:t>  Manager leads the release</a:t>
            </a:r>
          </a:p>
        </p:txBody>
      </p:sp>
      <p:sp>
        <p:nvSpPr>
          <p:cNvPr id="163" name="S163"/>
          <p:cNvSpPr/>
          <p:nvPr/>
        </p:nvSpPr>
        <p:spPr>
          <a:xfrm>
            <a:off x="9626600" y="3429000"/>
            <a:ext cx="2006598" cy="444500"/>
          </a:xfrm>
          <a:prstGeom prst="rect">
            <a:avLst/>
          </a:prstGeom>
          <a:noFill/>
          <a:ln>
            <a:noFill/>
          </a:ln>
        </p:spPr>
        <p:txBody>
          <a:bodyPr wrap="square" lIns="36000" tIns="18000" rIns="36000" bIns="18000" anchor="ctr"/>
          <a:lstStyle/>
          <a:p>
            <a:pPr algn="l">
              <a:buNone/>
            </a:pPr>
            <a:r>
              <a:rPr lang="en-US" sz="1050" b="1" dirty="0">
                <a:solidFill>
                  <a:srgbClr val="7C3AED"/>
                </a:solidFill>
                <a:latin typeface="Aptos"/>
              </a:rPr>
              <a:t>▶ Architecture / Design?</a:t>
            </a:r>
          </a:p>
          <a:p>
            <a:pPr algn="l">
              <a:buNone/>
            </a:pPr>
            <a:r>
              <a:rPr lang="en-US" sz="900" dirty="0">
                <a:solidFill>
                  <a:srgbClr val="64748B"/>
                </a:solidFill>
                <a:latin typeface="Aptos"/>
              </a:rPr>
              <a:t>  Route to the Architect</a:t>
            </a:r>
          </a:p>
        </p:txBody>
      </p:sp>
      <p:sp>
        <p:nvSpPr>
          <p:cNvPr id="164" name="S164"/>
          <p:cNvSpPr/>
          <p:nvPr/>
        </p:nvSpPr>
        <p:spPr>
          <a:xfrm>
            <a:off x="9626600" y="3911600"/>
            <a:ext cx="2006587" cy="444500"/>
          </a:xfrm>
          <a:prstGeom prst="rect">
            <a:avLst/>
          </a:prstGeom>
          <a:noFill/>
          <a:ln>
            <a:noFill/>
          </a:ln>
        </p:spPr>
        <p:txBody>
          <a:bodyPr wrap="square" lIns="36000" tIns="18000" rIns="36000" bIns="18000" anchor="ctr"/>
          <a:lstStyle/>
          <a:p>
            <a:pPr algn="l">
              <a:buNone/>
            </a:pPr>
            <a:r>
              <a:rPr lang="en-US" sz="1050" b="1" dirty="0">
                <a:solidFill>
                  <a:srgbClr val="1565C0"/>
                </a:solidFill>
                <a:latin typeface="Aptos"/>
              </a:rPr>
              <a:t>▶ Tech stack decision?</a:t>
            </a:r>
          </a:p>
          <a:p>
            <a:pPr algn="l">
              <a:buNone/>
            </a:pPr>
            <a:r>
              <a:rPr lang="en-US" sz="900" dirty="0">
                <a:solidFill>
                  <a:srgbClr val="64748B"/>
                </a:solidFill>
                <a:latin typeface="Aptos"/>
              </a:rPr>
              <a:t>  SM decides + Architect input</a:t>
            </a:r>
          </a:p>
        </p:txBody>
      </p:sp>
      <p:sp>
        <p:nvSpPr>
          <p:cNvPr id="165" name="S165"/>
          <p:cNvSpPr/>
          <p:nvPr/>
        </p:nvSpPr>
        <p:spPr>
          <a:xfrm>
            <a:off x="9626599" y="4394200"/>
            <a:ext cx="2006569" cy="444500"/>
          </a:xfrm>
          <a:prstGeom prst="rect">
            <a:avLst/>
          </a:prstGeom>
          <a:noFill/>
          <a:ln>
            <a:noFill/>
          </a:ln>
        </p:spPr>
        <p:txBody>
          <a:bodyPr wrap="square" lIns="36000" tIns="18000" rIns="36000" bIns="18000" anchor="ctr"/>
          <a:lstStyle/>
          <a:p>
            <a:pPr algn="l">
              <a:buNone/>
            </a:pPr>
            <a:r>
              <a:rPr lang="en-US" sz="1050" b="1" dirty="0">
                <a:solidFill>
                  <a:srgbClr val="059669"/>
                </a:solidFill>
                <a:latin typeface="Aptos"/>
              </a:rPr>
              <a:t>▶ Story / Bug?</a:t>
            </a:r>
          </a:p>
          <a:p>
            <a:pPr algn="l">
              <a:buNone/>
            </a:pPr>
            <a:r>
              <a:rPr lang="en-US" sz="900" dirty="0">
                <a:solidFill>
                  <a:srgbClr val="64748B"/>
                </a:solidFill>
                <a:latin typeface="Aptos"/>
              </a:rPr>
              <a:t>  Managers delegate to Engineers</a:t>
            </a:r>
          </a:p>
        </p:txBody>
      </p:sp>
      <p:cxnSp>
        <p:nvCxnSpPr>
          <p:cNvPr id="166" name="L166"/>
          <p:cNvCxnSpPr/>
          <p:nvPr/>
        </p:nvCxnSpPr>
        <p:spPr>
          <a:xfrm>
            <a:off x="9093200" y="3111500"/>
            <a:ext cx="457200" cy="0"/>
          </a:xfrm>
          <a:prstGeom prst="line">
            <a:avLst/>
          </a:prstGeom>
          <a:ln w="6350">
            <a:solidFill>
              <a:srgbClr val="CBD5E1"/>
            </a:solidFill>
          </a:ln>
        </p:spPr>
      </p:cxnSp>
      <p:sp>
        <p:nvSpPr>
          <p:cNvPr id="167" name="S167"/>
          <p:cNvSpPr/>
          <p:nvPr/>
        </p:nvSpPr>
        <p:spPr>
          <a:xfrm rot="5400000">
            <a:off x="9499600" y="3073400"/>
            <a:ext cx="76200" cy="76200"/>
          </a:xfrm>
          <a:prstGeom prst="triangle">
            <a:avLst/>
          </a:prstGeom>
          <a:solidFill>
            <a:srgbClr val="CBD5E1"/>
          </a:solidFill>
          <a:ln>
            <a:noFill/>
          </a:ln>
        </p:spPr>
        <p:txBody>
          <a:bodyPr wrap="square" lIns="36000" tIns="18000" rIns="36000" bIns="18000" anchor="ctr"/>
          <a:lstStyle/>
          <a:p>
            <a:pPr algn="ctr">
              <a:buNone/>
            </a:pPr>
            <a:endParaRPr/>
          </a:p>
        </p:txBody>
      </p:sp>
      <p:cxnSp>
        <p:nvCxnSpPr>
          <p:cNvPr id="168" name="L168"/>
          <p:cNvCxnSpPr/>
          <p:nvPr/>
        </p:nvCxnSpPr>
        <p:spPr>
          <a:xfrm>
            <a:off x="9093200" y="3594100"/>
            <a:ext cx="457200" cy="0"/>
          </a:xfrm>
          <a:prstGeom prst="line">
            <a:avLst/>
          </a:prstGeom>
          <a:ln w="6350">
            <a:solidFill>
              <a:srgbClr val="CBD5E1"/>
            </a:solidFill>
          </a:ln>
        </p:spPr>
      </p:cxnSp>
      <p:sp>
        <p:nvSpPr>
          <p:cNvPr id="169" name="S169"/>
          <p:cNvSpPr/>
          <p:nvPr/>
        </p:nvSpPr>
        <p:spPr>
          <a:xfrm rot="5400000">
            <a:off x="9499600" y="3566160"/>
            <a:ext cx="76200" cy="76200"/>
          </a:xfrm>
          <a:prstGeom prst="triangle">
            <a:avLst/>
          </a:prstGeom>
          <a:solidFill>
            <a:srgbClr val="CBD5E1"/>
          </a:solidFill>
          <a:ln>
            <a:noFill/>
          </a:ln>
        </p:spPr>
        <p:txBody>
          <a:bodyPr wrap="square" lIns="36000" tIns="18000" rIns="36000" bIns="18000" anchor="ctr"/>
          <a:lstStyle/>
          <a:p>
            <a:pPr algn="ctr">
              <a:buNone/>
            </a:pPr>
            <a:endParaRPr/>
          </a:p>
        </p:txBody>
      </p:sp>
      <p:cxnSp>
        <p:nvCxnSpPr>
          <p:cNvPr id="170" name="L170"/>
          <p:cNvCxnSpPr/>
          <p:nvPr/>
        </p:nvCxnSpPr>
        <p:spPr>
          <a:xfrm>
            <a:off x="9093200" y="4076700"/>
            <a:ext cx="457200" cy="0"/>
          </a:xfrm>
          <a:prstGeom prst="line">
            <a:avLst/>
          </a:prstGeom>
          <a:ln w="6350">
            <a:solidFill>
              <a:srgbClr val="CBD5E1"/>
            </a:solidFill>
          </a:ln>
        </p:spPr>
      </p:cxnSp>
      <p:sp>
        <p:nvSpPr>
          <p:cNvPr id="171" name="S171"/>
          <p:cNvSpPr/>
          <p:nvPr/>
        </p:nvSpPr>
        <p:spPr>
          <a:xfrm rot="19701525">
            <a:off x="9499600" y="4028440"/>
            <a:ext cx="76200" cy="76200"/>
          </a:xfrm>
          <a:prstGeom prst="triangle">
            <a:avLst/>
          </a:prstGeom>
          <a:solidFill>
            <a:srgbClr val="CBD5E1"/>
          </a:solidFill>
          <a:ln>
            <a:noFill/>
          </a:ln>
        </p:spPr>
        <p:txBody>
          <a:bodyPr wrap="square" lIns="36000" tIns="18000" rIns="36000" bIns="18000" anchor="ctr"/>
          <a:lstStyle/>
          <a:p>
            <a:pPr algn="ctr">
              <a:buNone/>
            </a:pPr>
            <a:endParaRPr/>
          </a:p>
        </p:txBody>
      </p:sp>
      <p:cxnSp>
        <p:nvCxnSpPr>
          <p:cNvPr id="172" name="L172"/>
          <p:cNvCxnSpPr/>
          <p:nvPr/>
        </p:nvCxnSpPr>
        <p:spPr>
          <a:xfrm>
            <a:off x="9093200" y="4559300"/>
            <a:ext cx="457200" cy="0"/>
          </a:xfrm>
          <a:prstGeom prst="line">
            <a:avLst/>
          </a:prstGeom>
          <a:ln w="6350">
            <a:solidFill>
              <a:srgbClr val="CBD5E1"/>
            </a:solidFill>
          </a:ln>
        </p:spPr>
      </p:cxnSp>
      <p:sp>
        <p:nvSpPr>
          <p:cNvPr id="173" name="S173"/>
          <p:cNvSpPr/>
          <p:nvPr/>
        </p:nvSpPr>
        <p:spPr>
          <a:xfrm rot="5400000">
            <a:off x="9499600" y="4531360"/>
            <a:ext cx="76200" cy="76200"/>
          </a:xfrm>
          <a:prstGeom prst="triangle">
            <a:avLst/>
          </a:prstGeom>
          <a:solidFill>
            <a:srgbClr val="CBD5E1"/>
          </a:solidFill>
          <a:ln>
            <a:noFill/>
          </a:ln>
        </p:spPr>
        <p:txBody>
          <a:bodyPr wrap="square" lIns="36000" tIns="18000" rIns="36000" bIns="18000" anchor="ctr"/>
          <a:lstStyle/>
          <a:p>
            <a:pPr algn="ctr">
              <a:buNone/>
            </a:pPr>
            <a:endParaRPr/>
          </a:p>
        </p:txBody>
      </p:sp>
      <p:sp>
        <p:nvSpPr>
          <p:cNvPr id="174" name="S174"/>
          <p:cNvSpPr/>
          <p:nvPr/>
        </p:nvSpPr>
        <p:spPr>
          <a:xfrm>
            <a:off x="6553200" y="5003800"/>
            <a:ext cx="5461000" cy="177800"/>
          </a:xfrm>
          <a:prstGeom prst="rect">
            <a:avLst/>
          </a:prstGeom>
          <a:noFill/>
          <a:ln>
            <a:noFill/>
          </a:ln>
        </p:spPr>
        <p:txBody>
          <a:bodyPr wrap="square" lIns="36000" tIns="18000" rIns="36000" bIns="18000" anchor="ctr"/>
          <a:lstStyle/>
          <a:p>
            <a:pPr algn="l">
              <a:buNone/>
            </a:pPr>
            <a:r>
              <a:rPr lang="en-US" sz="1000" b="1" dirty="0">
                <a:solidFill>
                  <a:srgbClr val="94A3B8"/>
                </a:solidFill>
                <a:latin typeface="Aptos Display"/>
              </a:rPr>
              <a:t>ROLE → MODEL MAPPING</a:t>
            </a:r>
          </a:p>
        </p:txBody>
      </p:sp>
      <p:sp>
        <p:nvSpPr>
          <p:cNvPr id="175" name="S175"/>
          <p:cNvSpPr/>
          <p:nvPr/>
        </p:nvSpPr>
        <p:spPr>
          <a:xfrm>
            <a:off x="6553200" y="5207000"/>
            <a:ext cx="5461000" cy="279400"/>
          </a:xfrm>
          <a:prstGeom prst="roundRect">
            <a:avLst>
              <a:gd name="adj" fmla="val 10000"/>
            </a:avLst>
          </a:prstGeom>
          <a:solidFill>
            <a:srgbClr val="EFF6FF"/>
          </a:solidFill>
          <a:ln w="6350">
            <a:solidFill>
              <a:srgbClr val="1565C0"/>
            </a:solidFill>
          </a:ln>
        </p:spPr>
        <p:txBody>
          <a:bodyPr wrap="square" lIns="36000" tIns="18000" rIns="36000" bIns="18000" anchor="ctr"/>
          <a:lstStyle/>
          <a:p>
            <a:pPr algn="l">
              <a:buNone/>
            </a:pPr>
            <a:r>
              <a:rPr lang="en-US" sz="900" dirty="0">
                <a:solidFill>
                  <a:srgbClr val="1565C0"/>
                </a:solidFill>
                <a:latin typeface="Aptos"/>
              </a:rPr>
              <a:t>Engineers  =  Haiku 4.5 (fast subtasks)  ·  Sonnet 5 (specified work)</a:t>
            </a:r>
          </a:p>
        </p:txBody>
      </p:sp>
      <p:sp>
        <p:nvSpPr>
          <p:cNvPr id="176" name="S176"/>
          <p:cNvSpPr/>
          <p:nvPr/>
        </p:nvSpPr>
        <p:spPr>
          <a:xfrm>
            <a:off x="6553200" y="5537200"/>
            <a:ext cx="5461000" cy="279400"/>
          </a:xfrm>
          <a:prstGeom prst="roundRect">
            <a:avLst>
              <a:gd name="adj" fmla="val 10000"/>
            </a:avLst>
          </a:prstGeom>
          <a:solidFill>
            <a:srgbClr val="F5F3FF"/>
          </a:solidFill>
          <a:ln w="6350">
            <a:solidFill>
              <a:srgbClr val="7C3AED"/>
            </a:solidFill>
          </a:ln>
        </p:spPr>
        <p:txBody>
          <a:bodyPr wrap="square" lIns="36000" tIns="18000" rIns="36000" bIns="18000" anchor="ctr"/>
          <a:lstStyle/>
          <a:p>
            <a:pPr algn="l">
              <a:buNone/>
            </a:pPr>
            <a:r>
              <a:rPr lang="en-US" sz="900" dirty="0">
                <a:solidFill>
                  <a:srgbClr val="7C3AED"/>
                </a:solidFill>
                <a:latin typeface="Aptos"/>
              </a:rPr>
              <a:t>Eng. Managers  =  Opus 5  (default — start here, everyday coding)</a:t>
            </a:r>
          </a:p>
        </p:txBody>
      </p:sp>
      <p:sp>
        <p:nvSpPr>
          <p:cNvPr id="177" name="S177"/>
          <p:cNvSpPr/>
          <p:nvPr/>
        </p:nvSpPr>
        <p:spPr>
          <a:xfrm>
            <a:off x="6553200" y="5867400"/>
            <a:ext cx="5461000" cy="279400"/>
          </a:xfrm>
          <a:prstGeom prst="roundRect">
            <a:avLst>
              <a:gd name="adj" fmla="val 10000"/>
            </a:avLst>
          </a:prstGeom>
          <a:solidFill>
            <a:srgbClr val="F0F9FF"/>
          </a:solidFill>
          <a:ln w="6350">
            <a:solidFill>
              <a:srgbClr val="0EA5E9"/>
            </a:solidFill>
          </a:ln>
        </p:spPr>
        <p:txBody>
          <a:bodyPr wrap="square" lIns="36000" tIns="18000" rIns="36000" bIns="18000" anchor="ctr"/>
          <a:lstStyle/>
          <a:p>
            <a:pPr algn="l">
              <a:buNone/>
            </a:pPr>
            <a:r>
              <a:rPr lang="en-US" sz="900" dirty="0">
                <a:solidFill>
                  <a:srgbClr val="0EA5E9"/>
                </a:solidFill>
                <a:latin typeface="Aptos"/>
              </a:rPr>
              <a:t>Architect  =  Fable 5.1  (long-horizon design &amp; deep synthesis)</a:t>
            </a:r>
          </a:p>
        </p:txBody>
      </p:sp>
      <p:sp>
        <p:nvSpPr>
          <p:cNvPr id="178" name="S178"/>
          <p:cNvSpPr/>
          <p:nvPr/>
        </p:nvSpPr>
        <p:spPr>
          <a:xfrm>
            <a:off x="177800" y="6289040"/>
            <a:ext cx="11836398" cy="254000"/>
          </a:xfrm>
          <a:prstGeom prst="roundRect">
            <a:avLst>
              <a:gd name="adj" fmla="val 16667"/>
            </a:avLst>
          </a:prstGeom>
          <a:solidFill>
            <a:srgbClr val="EFF6FF"/>
          </a:solidFill>
          <a:ln w="6350">
            <a:solidFill>
              <a:srgbClr val="93C5FD"/>
            </a:solidFill>
          </a:ln>
        </p:spPr>
        <p:txBody>
          <a:bodyPr wrap="square" lIns="36000" tIns="18000" rIns="36000" bIns="18000" anchor="ctr"/>
          <a:lstStyle/>
          <a:p>
            <a:pPr algn="ctr">
              <a:buNone/>
            </a:pPr>
            <a:r>
              <a:rPr lang="en-US" sz="1050" b="1" dirty="0">
                <a:solidFill>
                  <a:srgbClr val="1E40AF"/>
                </a:solidFill>
                <a:latin typeface="Aptos Display"/>
              </a:rPr>
              <a:t>Operating rule:  Start at Opus 5 → Fable 5.1 for long-horizon work → Sonnet 5 / Haiku 4.5 for cost &amp; speed.  Tune effort before switching models.</a:t>
            </a:r>
          </a:p>
        </p:txBody>
      </p:sp>
      <p:grpSp>
        <p:nvGrpSpPr>
          <p:cNvPr id="3" name="Group 2">
            <a:extLst>
              <a:ext uri="{FF2B5EF4-FFF2-40B4-BE49-F238E27FC236}">
                <a16:creationId xmlns:a16="http://schemas.microsoft.com/office/drawing/2014/main" id="{0FCFBD22-D1A3-61AE-D3E2-A824D70F16CD}"/>
              </a:ext>
            </a:extLst>
          </p:cNvPr>
          <p:cNvGrpSpPr/>
          <p:nvPr/>
        </p:nvGrpSpPr>
        <p:grpSpPr>
          <a:xfrm>
            <a:off x="6223000" y="965200"/>
            <a:ext cx="152400" cy="5232400"/>
            <a:chOff x="6223000" y="965200"/>
            <a:chExt cx="152400" cy="5232400"/>
          </a:xfrm>
        </p:grpSpPr>
        <p:cxnSp>
          <p:nvCxnSpPr>
            <p:cNvPr id="139" name="L139"/>
            <p:cNvCxnSpPr/>
            <p:nvPr/>
          </p:nvCxnSpPr>
          <p:spPr>
            <a:xfrm>
              <a:off x="6299200" y="990600"/>
              <a:ext cx="0" cy="5105400"/>
            </a:xfrm>
            <a:prstGeom prst="line">
              <a:avLst/>
            </a:prstGeom>
            <a:ln w="25400">
              <a:solidFill>
                <a:srgbClr val="CBD5E1"/>
              </a:solidFill>
            </a:ln>
          </p:spPr>
        </p:cxnSp>
        <p:sp>
          <p:nvSpPr>
            <p:cNvPr id="140" name="S140"/>
            <p:cNvSpPr/>
            <p:nvPr/>
          </p:nvSpPr>
          <p:spPr>
            <a:xfrm>
              <a:off x="6223000" y="965200"/>
              <a:ext cx="152400" cy="152400"/>
            </a:xfrm>
            <a:prstGeom prst="ellipse">
              <a:avLst/>
            </a:prstGeom>
            <a:solidFill>
              <a:srgbClr val="CBD5E1"/>
            </a:solidFill>
            <a:ln>
              <a:noFill/>
            </a:ln>
          </p:spPr>
          <p:txBody>
            <a:bodyPr wrap="square" lIns="36000" tIns="18000" rIns="36000" bIns="18000" anchor="ctr"/>
            <a:lstStyle/>
            <a:p>
              <a:pPr algn="ctr">
                <a:buNone/>
              </a:pPr>
              <a:endParaRPr/>
            </a:p>
          </p:txBody>
        </p:sp>
        <p:sp>
          <p:nvSpPr>
            <p:cNvPr id="2" name="S140">
              <a:extLst>
                <a:ext uri="{FF2B5EF4-FFF2-40B4-BE49-F238E27FC236}">
                  <a16:creationId xmlns:a16="http://schemas.microsoft.com/office/drawing/2014/main" id="{4EE407DE-B74F-9FDA-20B8-130E86A0DB0F}"/>
                </a:ext>
              </a:extLst>
            </p:cNvPr>
            <p:cNvSpPr/>
            <p:nvPr/>
          </p:nvSpPr>
          <p:spPr>
            <a:xfrm>
              <a:off x="6223000" y="6045200"/>
              <a:ext cx="152400" cy="152400"/>
            </a:xfrm>
            <a:prstGeom prst="ellipse">
              <a:avLst/>
            </a:prstGeom>
            <a:solidFill>
              <a:srgbClr val="CBD5E1"/>
            </a:solidFill>
            <a:ln>
              <a:noFill/>
            </a:ln>
          </p:spPr>
          <p:txBody>
            <a:bodyPr wrap="square" lIns="36000" tIns="18000" rIns="36000" bIns="18000" anchor="ctr"/>
            <a:lstStyle/>
            <a:p>
              <a:pPr algn="ctr">
                <a:buNone/>
              </a:pPr>
              <a:endParaRPr/>
            </a:p>
          </p:txBody>
        </p:sp>
      </p:grpSp>
      <p:sp>
        <p:nvSpPr>
          <p:cNvPr id="400" name="card4-0"/>
          <p:cNvSpPr/>
          <p:nvPr/>
        </p:nvSpPr>
        <p:spPr>
          <a:xfrm>
            <a:off x="4727448" y="3403600"/>
            <a:ext cx="1353312" cy="2603500"/>
          </a:xfrm>
          <a:prstGeom prst="roundRect">
            <a:avLst>
              <a:gd name="adj" fmla="val 10000"/>
            </a:avLst>
          </a:prstGeom>
          <a:solidFill>
            <a:srgbClr val="FDF4FF"/>
          </a:solidFill>
          <a:ln w="9525">
            <a:solidFill>
              <a:srgbClr val="C026D3"/>
            </a:solidFill>
          </a:ln>
        </p:spPr>
        <p:txBody>
          <a:bodyPr wrap="square" lIns="36000" tIns="18000" rIns="36000" bIns="18000" anchor="t"/>
          <a:lstStyle/>
          <a:p>
            <a:pPr algn="ctr">
              <a:buNone/>
            </a:pPr>
            <a:endParaRPr/>
          </a:p>
        </p:txBody>
      </p:sp>
      <p:sp>
        <p:nvSpPr>
          <p:cNvPr id="401" name="card4-1"/>
          <p:cNvSpPr/>
          <p:nvPr/>
        </p:nvSpPr>
        <p:spPr>
          <a:xfrm>
            <a:off x="4727448" y="3401060"/>
            <a:ext cx="1353312" cy="58420"/>
          </a:xfrm>
          <a:prstGeom prst="rect">
            <a:avLst/>
          </a:prstGeom>
          <a:solidFill>
            <a:srgbClr val="C026D3"/>
          </a:solidFill>
          <a:ln>
            <a:noFill/>
          </a:ln>
        </p:spPr>
        <p:txBody>
          <a:bodyPr wrap="square" lIns="36000" tIns="18000" rIns="36000" bIns="18000" anchor="ctr"/>
          <a:lstStyle/>
          <a:p>
            <a:pPr algn="l">
              <a:buNone/>
            </a:pPr>
            <a:endParaRPr/>
          </a:p>
        </p:txBody>
      </p:sp>
      <p:sp>
        <p:nvSpPr>
          <p:cNvPr id="402" name="card4-2"/>
          <p:cNvSpPr/>
          <p:nvPr/>
        </p:nvSpPr>
        <p:spPr>
          <a:xfrm>
            <a:off x="4782312" y="3581400"/>
            <a:ext cx="1243584" cy="279400"/>
          </a:xfrm>
          <a:prstGeom prst="rect">
            <a:avLst/>
          </a:prstGeom>
          <a:noFill/>
          <a:ln>
            <a:noFill/>
          </a:ln>
        </p:spPr>
        <p:txBody>
          <a:bodyPr wrap="square" lIns="36000" tIns="18000" rIns="36000" bIns="18000" anchor="ctr"/>
          <a:lstStyle/>
          <a:p>
            <a:pPr algn="ctr">
              <a:buNone/>
            </a:pPr>
            <a:r>
              <a:rPr lang="en-US" sz="1400" b="1" dirty="0">
                <a:solidFill>
                  <a:srgbClr val="C026D3"/>
                </a:solidFill>
                <a:latin typeface="Aptos Display"/>
              </a:rPr>
              <a:t>Fable 5.1</a:t>
            </a:r>
          </a:p>
        </p:txBody>
      </p:sp>
      <p:sp>
        <p:nvSpPr>
          <p:cNvPr id="403" name="card4-3"/>
          <p:cNvSpPr/>
          <p:nvPr/>
        </p:nvSpPr>
        <p:spPr>
          <a:xfrm>
            <a:off x="4782312" y="3860800"/>
            <a:ext cx="1243584" cy="228600"/>
          </a:xfrm>
          <a:prstGeom prst="rect">
            <a:avLst/>
          </a:prstGeom>
          <a:noFill/>
          <a:ln>
            <a:noFill/>
          </a:ln>
        </p:spPr>
        <p:txBody>
          <a:bodyPr wrap="square" lIns="36000" tIns="18000" rIns="36000" bIns="18000" anchor="ctr"/>
          <a:lstStyle/>
          <a:p>
            <a:pPr algn="ctr">
              <a:buNone/>
            </a:pPr>
            <a:r>
              <a:rPr lang="en-US" sz="1000" i="1" dirty="0">
                <a:solidFill>
                  <a:srgbClr val="C026D3"/>
                </a:solidFill>
                <a:latin typeface="Aptos"/>
              </a:rPr>
              <a:t>Principal Architect</a:t>
            </a:r>
          </a:p>
        </p:txBody>
      </p:sp>
      <p:cxnSp>
        <p:nvCxnSpPr>
          <p:cNvPr id="404" name="card4-4"/>
          <p:cNvCxnSpPr/>
          <p:nvPr/>
        </p:nvCxnSpPr>
        <p:spPr>
          <a:xfrm>
            <a:off x="4782312" y="4140200"/>
            <a:ext cx="1243584" cy="0"/>
          </a:xfrm>
          <a:prstGeom prst="line">
            <a:avLst/>
          </a:prstGeom>
          <a:ln w="6350">
            <a:solidFill>
              <a:srgbClr val="C026D3"/>
            </a:solidFill>
          </a:ln>
        </p:spPr>
      </p:cxnSp>
      <p:sp>
        <p:nvSpPr>
          <p:cNvPr id="405" name="card4-5"/>
          <p:cNvSpPr/>
          <p:nvPr/>
        </p:nvSpPr>
        <p:spPr>
          <a:xfrm>
            <a:off x="4782312" y="4216400"/>
            <a:ext cx="1243584" cy="1663700"/>
          </a:xfrm>
          <a:prstGeom prst="rect">
            <a:avLst/>
          </a:prstGeom>
          <a:noFill/>
          <a:ln>
            <a:noFill/>
          </a:ln>
        </p:spPr>
        <p:txBody>
          <a:bodyPr wrap="square" lIns="36000" tIns="18000" rIns="36000" bIns="18000" anchor="t"/>
          <a:lstStyle/>
          <a:p>
            <a:pPr algn="ctr">
              <a:buNone/>
            </a:pPr>
            <a:r>
              <a:rPr lang="en-US" sz="1100" dirty="0">
                <a:solidFill>
                  <a:srgbClr val="475569"/>
                </a:solidFill>
                <a:latin typeface="Aptos"/>
              </a:rPr>
              <a:t>1M context · $10/$50 per MTok. Most capable model. Escalate for multi-hour autonomous sessions and deep multi-document synthesis.</a:t>
            </a:r>
          </a:p>
        </p:txBody>
      </p:sp>
    </p:spTree>
    <p:extLst>
      <p:ext uri="{BB962C8B-B14F-4D97-AF65-F5344CB8AC3E}">
        <p14:creationId xmlns:p14="http://schemas.microsoft.com/office/powerpoint/2010/main" val="3978852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T200"/>
          <p:cNvSpPr/>
          <p:nvPr/>
        </p:nvSpPr>
        <p:spPr>
          <a:xfrm>
            <a:off x="660400" y="76200"/>
            <a:ext cx="8890000" cy="381000"/>
          </a:xfrm>
          <a:prstGeom prst="rect">
            <a:avLst/>
          </a:prstGeom>
          <a:noFill/>
          <a:ln w="0">
            <a:noFill/>
          </a:ln>
        </p:spPr>
        <p:txBody>
          <a:bodyPr wrap="square" lIns="0" tIns="0" rIns="0" bIns="0" anchor="t"/>
          <a:lstStyle/>
          <a:p>
            <a:pPr marL="0" indent="0">
              <a:buNone/>
            </a:pPr>
            <a:r>
              <a:rPr lang="en-US" sz="2700" b="1" dirty="0">
                <a:solidFill>
                  <a:srgbClr val="FFFFFF"/>
                </a:solidFill>
                <a:latin typeface="Aptos Display"/>
              </a:rPr>
              <a:t>Which model for which task?</a:t>
            </a:r>
          </a:p>
        </p:txBody>
      </p:sp>
      <p:sp>
        <p:nvSpPr>
          <p:cNvPr id="201" name="T201"/>
          <p:cNvSpPr/>
          <p:nvPr/>
        </p:nvSpPr>
        <p:spPr>
          <a:xfrm>
            <a:off x="660400" y="609600"/>
            <a:ext cx="9512300" cy="254000"/>
          </a:xfrm>
          <a:prstGeom prst="rect">
            <a:avLst/>
          </a:prstGeom>
          <a:noFill/>
          <a:ln w="0">
            <a:noFill/>
          </a:ln>
        </p:spPr>
        <p:txBody>
          <a:bodyPr wrap="square" lIns="0" tIns="0" rIns="0" bIns="0" anchor="t"/>
          <a:lstStyle/>
          <a:p>
            <a:pPr marL="0" indent="0">
              <a:buNone/>
            </a:pPr>
            <a:r>
              <a:rPr lang="en-US" sz="1400" dirty="0">
                <a:solidFill>
                  <a:srgbClr val="3972C1"/>
                </a:solidFill>
                <a:latin typeface="Aptos"/>
              </a:rPr>
              <a:t>Opus by default. Fable for the hardest work. Sonnet for cost. Haiku for speed.</a:t>
            </a:r>
          </a:p>
        </p:txBody>
      </p:sp>
      <p:cxnSp>
        <p:nvCxnSpPr>
          <p:cNvPr id="202" name="L202"/>
          <p:cNvCxnSpPr/>
          <p:nvPr/>
        </p:nvCxnSpPr>
        <p:spPr>
          <a:xfrm>
            <a:off x="0" y="871555"/>
            <a:ext cx="12192000" cy="0"/>
          </a:xfrm>
          <a:prstGeom prst="straightConnector1">
            <a:avLst/>
          </a:prstGeom>
          <a:ln w="9525">
            <a:solidFill>
              <a:srgbClr val="3972C1"/>
            </a:solidFill>
          </a:ln>
        </p:spPr>
      </p:cxnSp>
      <p:sp>
        <p:nvSpPr>
          <p:cNvPr id="203" name="S203"/>
          <p:cNvSpPr/>
          <p:nvPr/>
        </p:nvSpPr>
        <p:spPr>
          <a:xfrm>
            <a:off x="381000" y="1092200"/>
            <a:ext cx="3683000" cy="4699000"/>
          </a:xfrm>
          <a:prstGeom prst="roundRect">
            <a:avLst>
              <a:gd name="adj" fmla="val 5000"/>
            </a:avLst>
          </a:prstGeom>
          <a:solidFill>
            <a:srgbClr val="FEF2F2"/>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204" name="R204"/>
          <p:cNvSpPr/>
          <p:nvPr/>
        </p:nvSpPr>
        <p:spPr>
          <a:xfrm>
            <a:off x="381000" y="1092200"/>
            <a:ext cx="3683000" cy="63500"/>
          </a:xfrm>
          <a:prstGeom prst="rect">
            <a:avLst/>
          </a:prstGeom>
          <a:solidFill>
            <a:srgbClr val="DC2626"/>
          </a:solidFill>
          <a:ln w="0">
            <a:noFill/>
          </a:ln>
        </p:spPr>
        <p:txBody>
          <a:bodyPr/>
          <a:lstStyle/>
          <a:p>
            <a:endParaRPr lang="en-US"/>
          </a:p>
        </p:txBody>
      </p:sp>
      <p:sp>
        <p:nvSpPr>
          <p:cNvPr id="205" name="T205"/>
          <p:cNvSpPr/>
          <p:nvPr/>
        </p:nvSpPr>
        <p:spPr>
          <a:xfrm>
            <a:off x="558800" y="1270000"/>
            <a:ext cx="3327400" cy="279400"/>
          </a:xfrm>
          <a:prstGeom prst="rect">
            <a:avLst/>
          </a:prstGeom>
          <a:noFill/>
          <a:ln w="0">
            <a:noFill/>
          </a:ln>
        </p:spPr>
        <p:txBody>
          <a:bodyPr wrap="square" lIns="0" tIns="0" rIns="0" bIns="0" anchor="t"/>
          <a:lstStyle/>
          <a:p>
            <a:pPr>
              <a:buNone/>
            </a:pPr>
            <a:r>
              <a:rPr lang="en-US" sz="1400" b="1" dirty="0">
                <a:solidFill>
                  <a:srgbClr val="DC2626"/>
                </a:solidFill>
                <a:latin typeface="Aptos Display"/>
              </a:rPr>
              <a:t>Debugging &amp; Fixing</a:t>
            </a:r>
          </a:p>
        </p:txBody>
      </p:sp>
      <p:cxnSp>
        <p:nvCxnSpPr>
          <p:cNvPr id="206" name="L206"/>
          <p:cNvCxnSpPr/>
          <p:nvPr/>
        </p:nvCxnSpPr>
        <p:spPr>
          <a:xfrm>
            <a:off x="558800" y="1625600"/>
            <a:ext cx="3327400" cy="0"/>
          </a:xfrm>
          <a:prstGeom prst="straightConnector1">
            <a:avLst/>
          </a:prstGeom>
          <a:ln w="9525">
            <a:solidFill>
              <a:srgbClr val="DC2626"/>
            </a:solidFill>
          </a:ln>
        </p:spPr>
      </p:cxnSp>
      <p:sp>
        <p:nvSpPr>
          <p:cNvPr id="207" name="T207"/>
          <p:cNvSpPr/>
          <p:nvPr/>
        </p:nvSpPr>
        <p:spPr>
          <a:xfrm>
            <a:off x="558800" y="1727200"/>
            <a:ext cx="3327400" cy="177800"/>
          </a:xfrm>
          <a:prstGeom prst="rect">
            <a:avLst/>
          </a:prstGeom>
          <a:noFill/>
          <a:ln w="0">
            <a:noFill/>
          </a:ln>
        </p:spPr>
        <p:txBody>
          <a:bodyPr wrap="square" lIns="0" tIns="0" rIns="0" bIns="0" anchor="t"/>
          <a:lstStyle/>
          <a:p>
            <a:pPr>
              <a:buNone/>
            </a:pPr>
            <a:r>
              <a:rPr lang="en-US" sz="900" b="1" dirty="0">
                <a:solidFill>
                  <a:srgbClr val="DC2626"/>
                </a:solidFill>
                <a:latin typeface="Aptos Display"/>
              </a:rPr>
              <a:t>DEFAULT</a:t>
            </a:r>
          </a:p>
        </p:txBody>
      </p:sp>
      <p:sp>
        <p:nvSpPr>
          <p:cNvPr id="208" name="T208"/>
          <p:cNvSpPr/>
          <p:nvPr/>
        </p:nvSpPr>
        <p:spPr>
          <a:xfrm>
            <a:off x="558800" y="1930400"/>
            <a:ext cx="3327400" cy="228600"/>
          </a:xfrm>
          <a:prstGeom prst="rect">
            <a:avLst/>
          </a:prstGeom>
          <a:noFill/>
          <a:ln w="0">
            <a:noFill/>
          </a:ln>
        </p:spPr>
        <p:txBody>
          <a:bodyPr wrap="square" lIns="0" tIns="0" rIns="0" bIns="0" anchor="t"/>
          <a:lstStyle/>
          <a:p>
            <a:pPr>
              <a:buNone/>
            </a:pPr>
            <a:r>
              <a:rPr lang="en-US" sz="1100" b="1" dirty="0">
                <a:solidFill>
                  <a:srgbClr val="1E293B"/>
                </a:solidFill>
                <a:latin typeface="Aptos Display"/>
              </a:rPr>
              <a:t>Opus 5</a:t>
            </a:r>
          </a:p>
        </p:txBody>
      </p:sp>
      <p:sp>
        <p:nvSpPr>
          <p:cNvPr id="209" name="T209"/>
          <p:cNvSpPr/>
          <p:nvPr/>
        </p:nvSpPr>
        <p:spPr>
          <a:xfrm>
            <a:off x="558800" y="2260600"/>
            <a:ext cx="3327400" cy="177800"/>
          </a:xfrm>
          <a:prstGeom prst="rect">
            <a:avLst/>
          </a:prstGeom>
          <a:noFill/>
          <a:ln w="0">
            <a:noFill/>
          </a:ln>
        </p:spPr>
        <p:txBody>
          <a:bodyPr wrap="square" lIns="0" tIns="0" rIns="0" bIns="0" anchor="t"/>
          <a:lstStyle/>
          <a:p>
            <a:pPr>
              <a:buNone/>
            </a:pPr>
            <a:r>
              <a:rPr lang="en-US" sz="900" b="1" dirty="0">
                <a:solidFill>
                  <a:srgbClr val="DC2626"/>
                </a:solidFill>
                <a:latin typeface="Aptos Display"/>
              </a:rPr>
              <a:t>ESCALATE TO</a:t>
            </a:r>
          </a:p>
        </p:txBody>
      </p:sp>
      <p:sp>
        <p:nvSpPr>
          <p:cNvPr id="210" name="T210"/>
          <p:cNvSpPr/>
          <p:nvPr/>
        </p:nvSpPr>
        <p:spPr>
          <a:xfrm>
            <a:off x="558800" y="2463800"/>
            <a:ext cx="3327400" cy="228600"/>
          </a:xfrm>
          <a:prstGeom prst="rect">
            <a:avLst/>
          </a:prstGeom>
          <a:noFill/>
          <a:ln w="0">
            <a:noFill/>
          </a:ln>
        </p:spPr>
        <p:txBody>
          <a:bodyPr wrap="square" lIns="0" tIns="0" rIns="0" bIns="0" anchor="t"/>
          <a:lstStyle/>
          <a:p>
            <a:pPr>
              <a:buNone/>
            </a:pPr>
            <a:r>
              <a:rPr lang="en-US" sz="1100" b="1" dirty="0">
                <a:solidFill>
                  <a:srgbClr val="1E293B"/>
                </a:solidFill>
                <a:latin typeface="Aptos Display"/>
              </a:rPr>
              <a:t>Fable 5.1</a:t>
            </a:r>
          </a:p>
        </p:txBody>
      </p:sp>
      <p:sp>
        <p:nvSpPr>
          <p:cNvPr id="211" name="T211"/>
          <p:cNvSpPr/>
          <p:nvPr/>
        </p:nvSpPr>
        <p:spPr>
          <a:xfrm>
            <a:off x="558800" y="2717800"/>
            <a:ext cx="3327400" cy="457200"/>
          </a:xfrm>
          <a:prstGeom prst="rect">
            <a:avLst/>
          </a:prstGeom>
          <a:noFill/>
          <a:ln w="0">
            <a:noFill/>
          </a:ln>
        </p:spPr>
        <p:txBody>
          <a:bodyPr wrap="square" lIns="0" tIns="0" rIns="0" bIns="0" anchor="t"/>
          <a:lstStyle/>
          <a:p>
            <a:pPr>
              <a:buNone/>
            </a:pPr>
            <a:r>
              <a:rPr lang="en-US" sz="1100" dirty="0">
                <a:solidFill>
                  <a:srgbClr val="64748B"/>
                </a:solidFill>
                <a:latin typeface="Aptos"/>
              </a:rPr>
              <a:t>Investigation is long-horizon, or Opus at high effort already failed to find the cause</a:t>
            </a:r>
          </a:p>
        </p:txBody>
      </p:sp>
      <p:sp>
        <p:nvSpPr>
          <p:cNvPr id="212" name="T212"/>
          <p:cNvSpPr/>
          <p:nvPr/>
        </p:nvSpPr>
        <p:spPr>
          <a:xfrm>
            <a:off x="558800" y="3088476"/>
            <a:ext cx="3327400" cy="177800"/>
          </a:xfrm>
          <a:prstGeom prst="rect">
            <a:avLst/>
          </a:prstGeom>
          <a:noFill/>
          <a:ln w="0">
            <a:noFill/>
          </a:ln>
        </p:spPr>
        <p:txBody>
          <a:bodyPr wrap="square" lIns="0" tIns="0" rIns="0" bIns="0" anchor="t"/>
          <a:lstStyle/>
          <a:p>
            <a:pPr>
              <a:buNone/>
            </a:pPr>
            <a:r>
              <a:rPr lang="en-US" sz="900" b="1" dirty="0">
                <a:solidFill>
                  <a:srgbClr val="DC2626"/>
                </a:solidFill>
                <a:latin typeface="Aptos Display"/>
              </a:rPr>
              <a:t>STEP DOWN TO</a:t>
            </a:r>
          </a:p>
        </p:txBody>
      </p:sp>
      <p:sp>
        <p:nvSpPr>
          <p:cNvPr id="213" name="T213"/>
          <p:cNvSpPr/>
          <p:nvPr/>
        </p:nvSpPr>
        <p:spPr>
          <a:xfrm>
            <a:off x="558800" y="3323632"/>
            <a:ext cx="3327400" cy="262653"/>
          </a:xfrm>
          <a:prstGeom prst="rect">
            <a:avLst/>
          </a:prstGeom>
          <a:noFill/>
          <a:ln w="0">
            <a:noFill/>
          </a:ln>
        </p:spPr>
        <p:txBody>
          <a:bodyPr wrap="square" lIns="0" tIns="0" rIns="0" bIns="0" anchor="t"/>
          <a:lstStyle/>
          <a:p>
            <a:pPr>
              <a:buNone/>
            </a:pPr>
            <a:r>
              <a:rPr lang="en-US" sz="1100" dirty="0">
                <a:solidFill>
                  <a:srgbClr val="64748B"/>
                </a:solidFill>
                <a:latin typeface="Aptos"/>
              </a:rPr>
              <a:t>Sonnet 5 for well-scoped bugs · Haiku 4.5 for triage, logs, parallel investigations</a:t>
            </a:r>
          </a:p>
        </p:txBody>
      </p:sp>
      <p:cxnSp>
        <p:nvCxnSpPr>
          <p:cNvPr id="214" name="L214"/>
          <p:cNvCxnSpPr/>
          <p:nvPr/>
        </p:nvCxnSpPr>
        <p:spPr>
          <a:xfrm>
            <a:off x="508000" y="3691653"/>
            <a:ext cx="3327400" cy="0"/>
          </a:xfrm>
          <a:prstGeom prst="straightConnector1">
            <a:avLst/>
          </a:prstGeom>
          <a:ln w="9525">
            <a:solidFill>
              <a:srgbClr val="DC2626"/>
            </a:solidFill>
          </a:ln>
        </p:spPr>
      </p:cxnSp>
      <p:sp>
        <p:nvSpPr>
          <p:cNvPr id="215" name="S215"/>
          <p:cNvSpPr/>
          <p:nvPr/>
        </p:nvSpPr>
        <p:spPr>
          <a:xfrm>
            <a:off x="508000" y="3831353"/>
            <a:ext cx="3429000" cy="1807447"/>
          </a:xfrm>
          <a:prstGeom prst="roundRect">
            <a:avLst>
              <a:gd name="adj" fmla="val 4000"/>
            </a:avLst>
          </a:prstGeom>
          <a:solidFill>
            <a:srgbClr val="FFFF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216" name="T216"/>
          <p:cNvSpPr/>
          <p:nvPr/>
        </p:nvSpPr>
        <p:spPr>
          <a:xfrm>
            <a:off x="558800" y="3890807"/>
            <a:ext cx="3327400" cy="177800"/>
          </a:xfrm>
          <a:prstGeom prst="rect">
            <a:avLst/>
          </a:prstGeom>
          <a:noFill/>
          <a:ln w="0">
            <a:noFill/>
          </a:ln>
        </p:spPr>
        <p:txBody>
          <a:bodyPr wrap="square" lIns="0" tIns="0" rIns="0" bIns="0" anchor="t"/>
          <a:lstStyle/>
          <a:p>
            <a:pPr>
              <a:buNone/>
            </a:pPr>
            <a:r>
              <a:rPr lang="en-US" sz="900" b="1" dirty="0">
                <a:solidFill>
                  <a:srgbClr val="DC2626"/>
                </a:solidFill>
                <a:latin typeface="Aptos Display"/>
              </a:rPr>
              <a:t>EXAMPLE PROMPT</a:t>
            </a:r>
          </a:p>
        </p:txBody>
      </p:sp>
      <p:sp>
        <p:nvSpPr>
          <p:cNvPr id="217" name="T217"/>
          <p:cNvSpPr/>
          <p:nvPr/>
        </p:nvSpPr>
        <p:spPr>
          <a:xfrm>
            <a:off x="558800" y="4098051"/>
            <a:ext cx="3327400" cy="1473201"/>
          </a:xfrm>
          <a:prstGeom prst="rect">
            <a:avLst/>
          </a:prstGeom>
          <a:noFill/>
          <a:ln w="0">
            <a:noFill/>
          </a:ln>
        </p:spPr>
        <p:txBody>
          <a:bodyPr wrap="square" lIns="0" tIns="0" rIns="0" bIns="0" anchor="t"/>
          <a:lstStyle/>
          <a:p>
            <a:pPr>
              <a:buNone/>
            </a:pPr>
            <a:r>
              <a:rPr lang="en-US" sz="1100" dirty="0">
                <a:solidFill>
                  <a:srgbClr val="475569"/>
                </a:solidFill>
                <a:latin typeface="Consolas"/>
              </a:rPr>
              <a:t>Investigate duplicate rows in paginated search results.</a:t>
            </a:r>
          </a:p>
          <a:p>
            <a:pPr>
              <a:buNone/>
            </a:pPr>
            <a:r>
              <a:rPr lang="en-US" sz="1100" dirty="0">
                <a:solidFill>
                  <a:srgbClr val="475569"/>
                </a:solidFill>
                <a:latin typeface="Consolas"/>
              </a:rPr>
              <a:t>Read @</a:t>
            </a:r>
            <a:r>
              <a:rPr lang="en-US" sz="1100" dirty="0" err="1">
                <a:solidFill>
                  <a:srgbClr val="475569"/>
                </a:solidFill>
                <a:latin typeface="Consolas"/>
              </a:rPr>
              <a:t>src</a:t>
            </a:r>
            <a:r>
              <a:rPr lang="en-US" sz="1100" dirty="0">
                <a:solidFill>
                  <a:srgbClr val="475569"/>
                </a:solidFill>
                <a:latin typeface="Consolas"/>
              </a:rPr>
              <a:t>/</a:t>
            </a:r>
            <a:r>
              <a:rPr lang="en-US" sz="1100" dirty="0" err="1">
                <a:solidFill>
                  <a:srgbClr val="475569"/>
                </a:solidFill>
                <a:latin typeface="Consolas"/>
              </a:rPr>
              <a:t>api</a:t>
            </a:r>
            <a:r>
              <a:rPr lang="en-US" sz="1100" dirty="0">
                <a:solidFill>
                  <a:srgbClr val="475569"/>
                </a:solidFill>
                <a:latin typeface="Consolas"/>
              </a:rPr>
              <a:t>/</a:t>
            </a:r>
            <a:r>
              <a:rPr lang="en-US" sz="1100" dirty="0" err="1">
                <a:solidFill>
                  <a:srgbClr val="475569"/>
                </a:solidFill>
                <a:latin typeface="Consolas"/>
              </a:rPr>
              <a:t>search.ts</a:t>
            </a:r>
            <a:r>
              <a:rPr lang="en-US" sz="1100" dirty="0">
                <a:solidFill>
                  <a:srgbClr val="475569"/>
                </a:solidFill>
                <a:latin typeface="Consolas"/>
              </a:rPr>
              <a:t> and @</a:t>
            </a:r>
            <a:r>
              <a:rPr lang="en-US" sz="1100" dirty="0" err="1">
                <a:solidFill>
                  <a:srgbClr val="475569"/>
                </a:solidFill>
                <a:latin typeface="Consolas"/>
              </a:rPr>
              <a:t>src</a:t>
            </a:r>
            <a:r>
              <a:rPr lang="en-US" sz="1100" dirty="0">
                <a:solidFill>
                  <a:srgbClr val="475569"/>
                </a:solidFill>
                <a:latin typeface="Consolas"/>
              </a:rPr>
              <a:t>/</a:t>
            </a:r>
            <a:r>
              <a:rPr lang="en-US" sz="1100" dirty="0" err="1">
                <a:solidFill>
                  <a:srgbClr val="475569"/>
                </a:solidFill>
                <a:latin typeface="Consolas"/>
              </a:rPr>
              <a:t>db</a:t>
            </a:r>
            <a:r>
              <a:rPr lang="en-US" sz="1100" dirty="0">
                <a:solidFill>
                  <a:srgbClr val="475569"/>
                </a:solidFill>
                <a:latin typeface="Consolas"/>
              </a:rPr>
              <a:t>/queries/</a:t>
            </a:r>
            <a:r>
              <a:rPr lang="en-US" sz="1100" dirty="0" err="1">
                <a:solidFill>
                  <a:srgbClr val="475569"/>
                </a:solidFill>
                <a:latin typeface="Consolas"/>
              </a:rPr>
              <a:t>pagination.ts</a:t>
            </a:r>
            <a:r>
              <a:rPr lang="en-US" sz="1100" dirty="0">
                <a:solidFill>
                  <a:srgbClr val="475569"/>
                </a:solidFill>
                <a:latin typeface="Consolas"/>
              </a:rPr>
              <a:t>.</a:t>
            </a:r>
          </a:p>
          <a:p>
            <a:pPr>
              <a:buNone/>
            </a:pPr>
            <a:r>
              <a:rPr lang="en-US" sz="1100" dirty="0">
                <a:solidFill>
                  <a:srgbClr val="475569"/>
                </a:solidFill>
                <a:latin typeface="Consolas"/>
              </a:rPr>
              <a:t>Identify root cause, propose the smallest safe fix, and add a regression test. Do not change the API response shape.</a:t>
            </a:r>
          </a:p>
        </p:txBody>
      </p:sp>
      <p:sp>
        <p:nvSpPr>
          <p:cNvPr id="218" name="S218"/>
          <p:cNvSpPr/>
          <p:nvPr/>
        </p:nvSpPr>
        <p:spPr>
          <a:xfrm>
            <a:off x="4216400" y="1092200"/>
            <a:ext cx="3683000" cy="4699000"/>
          </a:xfrm>
          <a:prstGeom prst="roundRect">
            <a:avLst>
              <a:gd name="adj" fmla="val 5000"/>
            </a:avLst>
          </a:prstGeom>
          <a:solidFill>
            <a:srgbClr val="EBF5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219" name="R219"/>
          <p:cNvSpPr/>
          <p:nvPr/>
        </p:nvSpPr>
        <p:spPr>
          <a:xfrm>
            <a:off x="4216400" y="1092200"/>
            <a:ext cx="3683000" cy="63500"/>
          </a:xfrm>
          <a:prstGeom prst="rect">
            <a:avLst/>
          </a:prstGeom>
          <a:solidFill>
            <a:srgbClr val="1565C0"/>
          </a:solidFill>
          <a:ln w="0">
            <a:noFill/>
          </a:ln>
        </p:spPr>
        <p:txBody>
          <a:bodyPr/>
          <a:lstStyle/>
          <a:p>
            <a:endParaRPr lang="en-US"/>
          </a:p>
        </p:txBody>
      </p:sp>
      <p:sp>
        <p:nvSpPr>
          <p:cNvPr id="220" name="T220"/>
          <p:cNvSpPr/>
          <p:nvPr/>
        </p:nvSpPr>
        <p:spPr>
          <a:xfrm>
            <a:off x="4394200" y="1270000"/>
            <a:ext cx="3327400" cy="279400"/>
          </a:xfrm>
          <a:prstGeom prst="rect">
            <a:avLst/>
          </a:prstGeom>
          <a:noFill/>
          <a:ln w="0">
            <a:noFill/>
          </a:ln>
        </p:spPr>
        <p:txBody>
          <a:bodyPr wrap="square" lIns="0" tIns="0" rIns="0" bIns="0" anchor="t"/>
          <a:lstStyle/>
          <a:p>
            <a:pPr>
              <a:buNone/>
            </a:pPr>
            <a:r>
              <a:rPr lang="en-US" sz="1400" b="1" dirty="0">
                <a:solidFill>
                  <a:srgbClr val="1565C0"/>
                </a:solidFill>
                <a:latin typeface="Aptos Display"/>
              </a:rPr>
              <a:t>New Development</a:t>
            </a:r>
          </a:p>
        </p:txBody>
      </p:sp>
      <p:cxnSp>
        <p:nvCxnSpPr>
          <p:cNvPr id="221" name="L221"/>
          <p:cNvCxnSpPr/>
          <p:nvPr/>
        </p:nvCxnSpPr>
        <p:spPr>
          <a:xfrm>
            <a:off x="4394200" y="1625600"/>
            <a:ext cx="3327400" cy="0"/>
          </a:xfrm>
          <a:prstGeom prst="straightConnector1">
            <a:avLst/>
          </a:prstGeom>
          <a:ln w="9525">
            <a:solidFill>
              <a:srgbClr val="1565C0"/>
            </a:solidFill>
          </a:ln>
        </p:spPr>
      </p:cxnSp>
      <p:sp>
        <p:nvSpPr>
          <p:cNvPr id="222" name="T222"/>
          <p:cNvSpPr/>
          <p:nvPr/>
        </p:nvSpPr>
        <p:spPr>
          <a:xfrm>
            <a:off x="4394200" y="1727200"/>
            <a:ext cx="3327400" cy="177800"/>
          </a:xfrm>
          <a:prstGeom prst="rect">
            <a:avLst/>
          </a:prstGeom>
          <a:noFill/>
          <a:ln w="0">
            <a:noFill/>
          </a:ln>
        </p:spPr>
        <p:txBody>
          <a:bodyPr wrap="square" lIns="0" tIns="0" rIns="0" bIns="0" anchor="t"/>
          <a:lstStyle/>
          <a:p>
            <a:pPr>
              <a:buNone/>
            </a:pPr>
            <a:r>
              <a:rPr lang="en-US" sz="900" b="1" dirty="0">
                <a:solidFill>
                  <a:srgbClr val="1565C0"/>
                </a:solidFill>
                <a:latin typeface="Aptos Display"/>
              </a:rPr>
              <a:t>DEFAULT</a:t>
            </a:r>
          </a:p>
        </p:txBody>
      </p:sp>
      <p:sp>
        <p:nvSpPr>
          <p:cNvPr id="223" name="T223"/>
          <p:cNvSpPr/>
          <p:nvPr/>
        </p:nvSpPr>
        <p:spPr>
          <a:xfrm>
            <a:off x="4394200" y="1930400"/>
            <a:ext cx="3327400" cy="228600"/>
          </a:xfrm>
          <a:prstGeom prst="rect">
            <a:avLst/>
          </a:prstGeom>
          <a:noFill/>
          <a:ln w="0">
            <a:noFill/>
          </a:ln>
        </p:spPr>
        <p:txBody>
          <a:bodyPr wrap="square" lIns="0" tIns="0" rIns="0" bIns="0" anchor="t"/>
          <a:lstStyle/>
          <a:p>
            <a:pPr>
              <a:buNone/>
            </a:pPr>
            <a:r>
              <a:rPr lang="en-US" sz="1100" b="1" dirty="0">
                <a:solidFill>
                  <a:srgbClr val="1E293B"/>
                </a:solidFill>
                <a:latin typeface="Aptos Display"/>
              </a:rPr>
              <a:t>Opus 5</a:t>
            </a:r>
          </a:p>
        </p:txBody>
      </p:sp>
      <p:sp>
        <p:nvSpPr>
          <p:cNvPr id="224" name="T224"/>
          <p:cNvSpPr/>
          <p:nvPr/>
        </p:nvSpPr>
        <p:spPr>
          <a:xfrm>
            <a:off x="4394200" y="2260600"/>
            <a:ext cx="3327400" cy="177800"/>
          </a:xfrm>
          <a:prstGeom prst="rect">
            <a:avLst/>
          </a:prstGeom>
          <a:noFill/>
          <a:ln w="0">
            <a:noFill/>
          </a:ln>
        </p:spPr>
        <p:txBody>
          <a:bodyPr wrap="square" lIns="0" tIns="0" rIns="0" bIns="0" anchor="t"/>
          <a:lstStyle/>
          <a:p>
            <a:pPr>
              <a:buNone/>
            </a:pPr>
            <a:r>
              <a:rPr lang="en-US" sz="900" b="1" dirty="0">
                <a:solidFill>
                  <a:srgbClr val="1565C0"/>
                </a:solidFill>
                <a:latin typeface="Aptos Display"/>
              </a:rPr>
              <a:t>ESCALATE TO</a:t>
            </a:r>
          </a:p>
        </p:txBody>
      </p:sp>
      <p:sp>
        <p:nvSpPr>
          <p:cNvPr id="225" name="T225"/>
          <p:cNvSpPr/>
          <p:nvPr/>
        </p:nvSpPr>
        <p:spPr>
          <a:xfrm>
            <a:off x="4394200" y="2463800"/>
            <a:ext cx="3327400" cy="228600"/>
          </a:xfrm>
          <a:prstGeom prst="rect">
            <a:avLst/>
          </a:prstGeom>
          <a:noFill/>
          <a:ln w="0">
            <a:noFill/>
          </a:ln>
        </p:spPr>
        <p:txBody>
          <a:bodyPr wrap="square" lIns="0" tIns="0" rIns="0" bIns="0" anchor="t"/>
          <a:lstStyle/>
          <a:p>
            <a:pPr>
              <a:buNone/>
            </a:pPr>
            <a:r>
              <a:rPr lang="en-US" sz="1100" b="1" dirty="0">
                <a:solidFill>
                  <a:srgbClr val="1E293B"/>
                </a:solidFill>
                <a:latin typeface="Aptos Display"/>
              </a:rPr>
              <a:t>Fable 5.1</a:t>
            </a:r>
          </a:p>
        </p:txBody>
      </p:sp>
      <p:sp>
        <p:nvSpPr>
          <p:cNvPr id="226" name="T226"/>
          <p:cNvSpPr/>
          <p:nvPr/>
        </p:nvSpPr>
        <p:spPr>
          <a:xfrm>
            <a:off x="4394200" y="2717800"/>
            <a:ext cx="3327400" cy="457200"/>
          </a:xfrm>
          <a:prstGeom prst="rect">
            <a:avLst/>
          </a:prstGeom>
          <a:noFill/>
          <a:ln w="0">
            <a:noFill/>
          </a:ln>
        </p:spPr>
        <p:txBody>
          <a:bodyPr wrap="square" lIns="0" tIns="0" rIns="0" bIns="0" anchor="t"/>
          <a:lstStyle/>
          <a:p>
            <a:pPr>
              <a:buNone/>
            </a:pPr>
            <a:r>
              <a:rPr lang="en-US" sz="1100" dirty="0">
                <a:solidFill>
                  <a:srgbClr val="64748B"/>
                </a:solidFill>
                <a:latin typeface="Aptos"/>
              </a:rPr>
              <a:t>Multi-hour autonomous builds that must hold a long plan together without losing the thread</a:t>
            </a:r>
          </a:p>
        </p:txBody>
      </p:sp>
      <p:sp>
        <p:nvSpPr>
          <p:cNvPr id="227" name="T227"/>
          <p:cNvSpPr/>
          <p:nvPr/>
        </p:nvSpPr>
        <p:spPr>
          <a:xfrm>
            <a:off x="4394200" y="3140459"/>
            <a:ext cx="3327400" cy="177800"/>
          </a:xfrm>
          <a:prstGeom prst="rect">
            <a:avLst/>
          </a:prstGeom>
          <a:noFill/>
          <a:ln w="0">
            <a:noFill/>
          </a:ln>
        </p:spPr>
        <p:txBody>
          <a:bodyPr wrap="square" lIns="0" tIns="0" rIns="0" bIns="0" anchor="t"/>
          <a:lstStyle/>
          <a:p>
            <a:pPr>
              <a:buNone/>
            </a:pPr>
            <a:r>
              <a:rPr lang="en-US" sz="900" b="1" dirty="0">
                <a:solidFill>
                  <a:srgbClr val="1565C0"/>
                </a:solidFill>
                <a:latin typeface="Aptos Display"/>
              </a:rPr>
              <a:t>STEP DOWN TO</a:t>
            </a:r>
          </a:p>
        </p:txBody>
      </p:sp>
      <p:sp>
        <p:nvSpPr>
          <p:cNvPr id="228" name="T228"/>
          <p:cNvSpPr/>
          <p:nvPr/>
        </p:nvSpPr>
        <p:spPr>
          <a:xfrm>
            <a:off x="4394200" y="3332143"/>
            <a:ext cx="3327400" cy="457200"/>
          </a:xfrm>
          <a:prstGeom prst="rect">
            <a:avLst/>
          </a:prstGeom>
          <a:noFill/>
          <a:ln w="0">
            <a:noFill/>
          </a:ln>
        </p:spPr>
        <p:txBody>
          <a:bodyPr wrap="square" lIns="0" tIns="0" rIns="0" bIns="0" anchor="t"/>
          <a:lstStyle/>
          <a:p>
            <a:pPr>
              <a:buNone/>
            </a:pPr>
            <a:r>
              <a:rPr lang="en-US" sz="1100" dirty="0">
                <a:solidFill>
                  <a:srgbClr val="64748B"/>
                </a:solidFill>
                <a:latin typeface="Aptos"/>
              </a:rPr>
              <a:t>Sonnet 5 for well-specified features · Haiku 4.5 for scaffolding and test matrices</a:t>
            </a:r>
          </a:p>
        </p:txBody>
      </p:sp>
      <p:cxnSp>
        <p:nvCxnSpPr>
          <p:cNvPr id="229" name="L229"/>
          <p:cNvCxnSpPr/>
          <p:nvPr/>
        </p:nvCxnSpPr>
        <p:spPr>
          <a:xfrm>
            <a:off x="4343400" y="3710354"/>
            <a:ext cx="3327400" cy="0"/>
          </a:xfrm>
          <a:prstGeom prst="straightConnector1">
            <a:avLst/>
          </a:prstGeom>
          <a:ln w="9525">
            <a:solidFill>
              <a:srgbClr val="1565C0"/>
            </a:solidFill>
          </a:ln>
        </p:spPr>
      </p:cxnSp>
      <p:sp>
        <p:nvSpPr>
          <p:cNvPr id="230" name="S230"/>
          <p:cNvSpPr/>
          <p:nvPr/>
        </p:nvSpPr>
        <p:spPr>
          <a:xfrm>
            <a:off x="4343400" y="3845029"/>
            <a:ext cx="3429000" cy="1793765"/>
          </a:xfrm>
          <a:prstGeom prst="roundRect">
            <a:avLst>
              <a:gd name="adj" fmla="val 4000"/>
            </a:avLst>
          </a:prstGeom>
          <a:solidFill>
            <a:srgbClr val="FFFF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231" name="T231"/>
          <p:cNvSpPr/>
          <p:nvPr/>
        </p:nvSpPr>
        <p:spPr>
          <a:xfrm>
            <a:off x="4394200" y="3937837"/>
            <a:ext cx="3327400" cy="177800"/>
          </a:xfrm>
          <a:prstGeom prst="rect">
            <a:avLst/>
          </a:prstGeom>
          <a:noFill/>
          <a:ln w="0">
            <a:noFill/>
          </a:ln>
        </p:spPr>
        <p:txBody>
          <a:bodyPr wrap="square" lIns="0" tIns="0" rIns="0" bIns="0" anchor="t"/>
          <a:lstStyle/>
          <a:p>
            <a:pPr>
              <a:buNone/>
            </a:pPr>
            <a:r>
              <a:rPr lang="en-US" sz="900" b="1" dirty="0">
                <a:solidFill>
                  <a:srgbClr val="1565C0"/>
                </a:solidFill>
                <a:latin typeface="Aptos Display"/>
              </a:rPr>
              <a:t>EXAMPLE PROMPT</a:t>
            </a:r>
          </a:p>
        </p:txBody>
      </p:sp>
      <p:sp>
        <p:nvSpPr>
          <p:cNvPr id="232" name="T232"/>
          <p:cNvSpPr/>
          <p:nvPr/>
        </p:nvSpPr>
        <p:spPr>
          <a:xfrm>
            <a:off x="4394200" y="4141874"/>
            <a:ext cx="3327400" cy="1429378"/>
          </a:xfrm>
          <a:prstGeom prst="rect">
            <a:avLst/>
          </a:prstGeom>
          <a:noFill/>
          <a:ln w="0">
            <a:noFill/>
          </a:ln>
        </p:spPr>
        <p:txBody>
          <a:bodyPr wrap="square" lIns="0" tIns="0" rIns="0" bIns="0" anchor="t"/>
          <a:lstStyle/>
          <a:p>
            <a:pPr>
              <a:buNone/>
            </a:pPr>
            <a:r>
              <a:rPr lang="en-US" sz="1100" dirty="0">
                <a:solidFill>
                  <a:srgbClr val="475569"/>
                </a:solidFill>
                <a:latin typeface="Consolas"/>
              </a:rPr>
              <a:t>Add soft delete for projects. Add a deleted at column, update the repository layer to filter soft-deleted records,</a:t>
            </a:r>
          </a:p>
          <a:p>
            <a:pPr>
              <a:buNone/>
            </a:pPr>
            <a:r>
              <a:rPr lang="en-US" sz="1100" dirty="0">
                <a:solidFill>
                  <a:srgbClr val="475569"/>
                </a:solidFill>
                <a:latin typeface="Consolas"/>
              </a:rPr>
              <a:t>preserve the existing response shape, follow the repo pattern in @</a:t>
            </a:r>
            <a:r>
              <a:rPr lang="en-US" sz="1100" dirty="0" err="1">
                <a:solidFill>
                  <a:srgbClr val="475569"/>
                </a:solidFill>
                <a:latin typeface="Consolas"/>
              </a:rPr>
              <a:t>src</a:t>
            </a:r>
            <a:r>
              <a:rPr lang="en-US" sz="1100" dirty="0">
                <a:solidFill>
                  <a:srgbClr val="475569"/>
                </a:solidFill>
                <a:latin typeface="Consolas"/>
              </a:rPr>
              <a:t>/</a:t>
            </a:r>
            <a:r>
              <a:rPr lang="en-US" sz="1100" dirty="0" err="1">
                <a:solidFill>
                  <a:srgbClr val="475569"/>
                </a:solidFill>
                <a:latin typeface="Consolas"/>
              </a:rPr>
              <a:t>db</a:t>
            </a:r>
            <a:r>
              <a:rPr lang="en-US" sz="1100" dirty="0">
                <a:solidFill>
                  <a:srgbClr val="475569"/>
                </a:solidFill>
                <a:latin typeface="Consolas"/>
              </a:rPr>
              <a:t>/migrations/, and add </a:t>
            </a:r>
          </a:p>
          <a:p>
            <a:pPr>
              <a:buNone/>
            </a:pPr>
            <a:r>
              <a:rPr lang="en-US" sz="1100" dirty="0">
                <a:solidFill>
                  <a:srgbClr val="475569"/>
                </a:solidFill>
                <a:latin typeface="Consolas"/>
              </a:rPr>
              <a:t>migration + tests.</a:t>
            </a:r>
          </a:p>
        </p:txBody>
      </p:sp>
      <p:sp>
        <p:nvSpPr>
          <p:cNvPr id="233" name="S233"/>
          <p:cNvSpPr/>
          <p:nvPr/>
        </p:nvSpPr>
        <p:spPr>
          <a:xfrm>
            <a:off x="8051800" y="1092200"/>
            <a:ext cx="3683000" cy="4699000"/>
          </a:xfrm>
          <a:prstGeom prst="roundRect">
            <a:avLst>
              <a:gd name="adj" fmla="val 5000"/>
            </a:avLst>
          </a:prstGeom>
          <a:solidFill>
            <a:srgbClr val="F5F3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234" name="R234"/>
          <p:cNvSpPr/>
          <p:nvPr/>
        </p:nvSpPr>
        <p:spPr>
          <a:xfrm>
            <a:off x="8051800" y="1092200"/>
            <a:ext cx="3683000" cy="63500"/>
          </a:xfrm>
          <a:prstGeom prst="rect">
            <a:avLst/>
          </a:prstGeom>
          <a:solidFill>
            <a:srgbClr val="7C3AED"/>
          </a:solidFill>
          <a:ln w="0">
            <a:noFill/>
          </a:ln>
        </p:spPr>
        <p:txBody>
          <a:bodyPr/>
          <a:lstStyle/>
          <a:p>
            <a:endParaRPr lang="en-US"/>
          </a:p>
        </p:txBody>
      </p:sp>
      <p:sp>
        <p:nvSpPr>
          <p:cNvPr id="235" name="T235"/>
          <p:cNvSpPr/>
          <p:nvPr/>
        </p:nvSpPr>
        <p:spPr>
          <a:xfrm>
            <a:off x="8229600" y="1270000"/>
            <a:ext cx="3327400" cy="279400"/>
          </a:xfrm>
          <a:prstGeom prst="rect">
            <a:avLst/>
          </a:prstGeom>
          <a:noFill/>
          <a:ln w="0">
            <a:noFill/>
          </a:ln>
        </p:spPr>
        <p:txBody>
          <a:bodyPr wrap="square" lIns="0" tIns="0" rIns="0" bIns="0" anchor="t"/>
          <a:lstStyle/>
          <a:p>
            <a:pPr>
              <a:buNone/>
            </a:pPr>
            <a:r>
              <a:rPr lang="en-US" sz="1400" b="1" dirty="0">
                <a:solidFill>
                  <a:srgbClr val="7C3AED"/>
                </a:solidFill>
                <a:latin typeface="Aptos Display"/>
              </a:rPr>
              <a:t>Design &amp; Architecture</a:t>
            </a:r>
          </a:p>
        </p:txBody>
      </p:sp>
      <p:cxnSp>
        <p:nvCxnSpPr>
          <p:cNvPr id="236" name="L236"/>
          <p:cNvCxnSpPr/>
          <p:nvPr/>
        </p:nvCxnSpPr>
        <p:spPr>
          <a:xfrm>
            <a:off x="8229600" y="1625600"/>
            <a:ext cx="3327400" cy="0"/>
          </a:xfrm>
          <a:prstGeom prst="straightConnector1">
            <a:avLst/>
          </a:prstGeom>
          <a:ln w="9525">
            <a:solidFill>
              <a:srgbClr val="7C3AED"/>
            </a:solidFill>
          </a:ln>
        </p:spPr>
      </p:cxnSp>
      <p:sp>
        <p:nvSpPr>
          <p:cNvPr id="237" name="T237"/>
          <p:cNvSpPr/>
          <p:nvPr/>
        </p:nvSpPr>
        <p:spPr>
          <a:xfrm>
            <a:off x="8229600" y="1727200"/>
            <a:ext cx="3327400" cy="177800"/>
          </a:xfrm>
          <a:prstGeom prst="rect">
            <a:avLst/>
          </a:prstGeom>
          <a:noFill/>
          <a:ln w="0">
            <a:noFill/>
          </a:ln>
        </p:spPr>
        <p:txBody>
          <a:bodyPr wrap="square" lIns="0" tIns="0" rIns="0" bIns="0" anchor="t"/>
          <a:lstStyle/>
          <a:p>
            <a:pPr>
              <a:buNone/>
            </a:pPr>
            <a:r>
              <a:rPr lang="en-US" sz="900" b="1" dirty="0">
                <a:solidFill>
                  <a:srgbClr val="7C3AED"/>
                </a:solidFill>
                <a:latin typeface="Aptos Display"/>
              </a:rPr>
              <a:t>DEFAULT</a:t>
            </a:r>
          </a:p>
        </p:txBody>
      </p:sp>
      <p:sp>
        <p:nvSpPr>
          <p:cNvPr id="238" name="T238"/>
          <p:cNvSpPr/>
          <p:nvPr/>
        </p:nvSpPr>
        <p:spPr>
          <a:xfrm>
            <a:off x="8229600" y="1930400"/>
            <a:ext cx="3327400" cy="228600"/>
          </a:xfrm>
          <a:prstGeom prst="rect">
            <a:avLst/>
          </a:prstGeom>
          <a:noFill/>
          <a:ln w="0">
            <a:noFill/>
          </a:ln>
        </p:spPr>
        <p:txBody>
          <a:bodyPr wrap="square" lIns="0" tIns="0" rIns="0" bIns="0" anchor="t"/>
          <a:lstStyle/>
          <a:p>
            <a:pPr>
              <a:buNone/>
            </a:pPr>
            <a:r>
              <a:rPr lang="en-US" sz="1100" b="1" dirty="0">
                <a:solidFill>
                  <a:srgbClr val="1E293B"/>
                </a:solidFill>
                <a:latin typeface="Aptos Display"/>
              </a:rPr>
              <a:t>Opus 5</a:t>
            </a:r>
          </a:p>
        </p:txBody>
      </p:sp>
      <p:sp>
        <p:nvSpPr>
          <p:cNvPr id="239" name="T239"/>
          <p:cNvSpPr/>
          <p:nvPr/>
        </p:nvSpPr>
        <p:spPr>
          <a:xfrm>
            <a:off x="8229600" y="2260600"/>
            <a:ext cx="3327400" cy="177800"/>
          </a:xfrm>
          <a:prstGeom prst="rect">
            <a:avLst/>
          </a:prstGeom>
          <a:noFill/>
          <a:ln w="0">
            <a:noFill/>
          </a:ln>
        </p:spPr>
        <p:txBody>
          <a:bodyPr wrap="square" lIns="0" tIns="0" rIns="0" bIns="0" anchor="t"/>
          <a:lstStyle/>
          <a:p>
            <a:pPr>
              <a:buNone/>
            </a:pPr>
            <a:r>
              <a:rPr lang="en-US" sz="900" b="1" dirty="0">
                <a:solidFill>
                  <a:srgbClr val="7C3AED"/>
                </a:solidFill>
                <a:latin typeface="Aptos Display"/>
              </a:rPr>
              <a:t>ESCALATE TO</a:t>
            </a:r>
          </a:p>
        </p:txBody>
      </p:sp>
      <p:sp>
        <p:nvSpPr>
          <p:cNvPr id="240" name="T240"/>
          <p:cNvSpPr/>
          <p:nvPr/>
        </p:nvSpPr>
        <p:spPr>
          <a:xfrm>
            <a:off x="8229600" y="2463800"/>
            <a:ext cx="3327400" cy="228600"/>
          </a:xfrm>
          <a:prstGeom prst="rect">
            <a:avLst/>
          </a:prstGeom>
          <a:noFill/>
          <a:ln w="0">
            <a:noFill/>
          </a:ln>
        </p:spPr>
        <p:txBody>
          <a:bodyPr wrap="square" lIns="0" tIns="0" rIns="0" bIns="0" anchor="t"/>
          <a:lstStyle/>
          <a:p>
            <a:pPr>
              <a:buNone/>
            </a:pPr>
            <a:r>
              <a:rPr lang="en-US" sz="1100" b="1" dirty="0">
                <a:solidFill>
                  <a:srgbClr val="1E293B"/>
                </a:solidFill>
                <a:latin typeface="Aptos Display"/>
              </a:rPr>
              <a:t>Fable 5.1</a:t>
            </a:r>
          </a:p>
        </p:txBody>
      </p:sp>
      <p:sp>
        <p:nvSpPr>
          <p:cNvPr id="241" name="T241"/>
          <p:cNvSpPr/>
          <p:nvPr/>
        </p:nvSpPr>
        <p:spPr>
          <a:xfrm>
            <a:off x="8229600" y="2717800"/>
            <a:ext cx="3327400" cy="457200"/>
          </a:xfrm>
          <a:prstGeom prst="rect">
            <a:avLst/>
          </a:prstGeom>
          <a:noFill/>
          <a:ln w="0">
            <a:noFill/>
          </a:ln>
        </p:spPr>
        <p:txBody>
          <a:bodyPr wrap="square" lIns="0" tIns="0" rIns="0" bIns="0" anchor="t"/>
          <a:lstStyle/>
          <a:p>
            <a:pPr>
              <a:buNone/>
            </a:pPr>
            <a:r>
              <a:rPr lang="en-US" sz="1100" dirty="0">
                <a:solidFill>
                  <a:srgbClr val="64748B"/>
                </a:solidFill>
                <a:latin typeface="Aptos"/>
              </a:rPr>
              <a:t>Multi-document synthesis carried through to a finished design doc, RFC, or delivery plan</a:t>
            </a:r>
          </a:p>
        </p:txBody>
      </p:sp>
      <p:sp>
        <p:nvSpPr>
          <p:cNvPr id="242" name="T242"/>
          <p:cNvSpPr/>
          <p:nvPr/>
        </p:nvSpPr>
        <p:spPr>
          <a:xfrm>
            <a:off x="8229600" y="3159229"/>
            <a:ext cx="3327400" cy="177800"/>
          </a:xfrm>
          <a:prstGeom prst="rect">
            <a:avLst/>
          </a:prstGeom>
          <a:noFill/>
          <a:ln w="0">
            <a:noFill/>
          </a:ln>
        </p:spPr>
        <p:txBody>
          <a:bodyPr wrap="square" lIns="0" tIns="0" rIns="0" bIns="0" anchor="t"/>
          <a:lstStyle/>
          <a:p>
            <a:pPr>
              <a:buNone/>
            </a:pPr>
            <a:r>
              <a:rPr lang="en-US" sz="900" b="1" dirty="0">
                <a:solidFill>
                  <a:srgbClr val="7C3AED"/>
                </a:solidFill>
                <a:latin typeface="Aptos Display"/>
              </a:rPr>
              <a:t>STEP DOWN TO</a:t>
            </a:r>
          </a:p>
        </p:txBody>
      </p:sp>
      <p:sp>
        <p:nvSpPr>
          <p:cNvPr id="243" name="T243"/>
          <p:cNvSpPr/>
          <p:nvPr/>
        </p:nvSpPr>
        <p:spPr>
          <a:xfrm>
            <a:off x="8229600" y="3337028"/>
            <a:ext cx="3327400" cy="457200"/>
          </a:xfrm>
          <a:prstGeom prst="rect">
            <a:avLst/>
          </a:prstGeom>
          <a:noFill/>
          <a:ln w="0">
            <a:noFill/>
          </a:ln>
        </p:spPr>
        <p:txBody>
          <a:bodyPr wrap="square" lIns="0" tIns="0" rIns="0" bIns="0" anchor="t"/>
          <a:lstStyle/>
          <a:p>
            <a:pPr>
              <a:buNone/>
            </a:pPr>
            <a:r>
              <a:rPr lang="en-US" sz="1100" dirty="0">
                <a:solidFill>
                  <a:srgbClr val="64748B"/>
                </a:solidFill>
                <a:latin typeface="Aptos"/>
              </a:rPr>
              <a:t>Sonnet 5 for known-shape design questions · Haiku 4.5 for chunking and summarizing specs</a:t>
            </a:r>
          </a:p>
        </p:txBody>
      </p:sp>
      <p:cxnSp>
        <p:nvCxnSpPr>
          <p:cNvPr id="244" name="L244"/>
          <p:cNvCxnSpPr/>
          <p:nvPr/>
        </p:nvCxnSpPr>
        <p:spPr>
          <a:xfrm>
            <a:off x="8229600" y="3710354"/>
            <a:ext cx="3327400" cy="0"/>
          </a:xfrm>
          <a:prstGeom prst="straightConnector1">
            <a:avLst/>
          </a:prstGeom>
          <a:ln w="9525">
            <a:solidFill>
              <a:srgbClr val="7C3AED"/>
            </a:solidFill>
          </a:ln>
        </p:spPr>
      </p:cxnSp>
      <p:sp>
        <p:nvSpPr>
          <p:cNvPr id="245" name="S245"/>
          <p:cNvSpPr/>
          <p:nvPr/>
        </p:nvSpPr>
        <p:spPr>
          <a:xfrm>
            <a:off x="8128000" y="3845028"/>
            <a:ext cx="3429000" cy="1742969"/>
          </a:xfrm>
          <a:prstGeom prst="roundRect">
            <a:avLst>
              <a:gd name="adj" fmla="val 4000"/>
            </a:avLst>
          </a:prstGeom>
          <a:solidFill>
            <a:srgbClr val="FFFF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246" name="T246"/>
          <p:cNvSpPr/>
          <p:nvPr/>
        </p:nvSpPr>
        <p:spPr>
          <a:xfrm>
            <a:off x="8229600" y="3937837"/>
            <a:ext cx="3327400" cy="177800"/>
          </a:xfrm>
          <a:prstGeom prst="rect">
            <a:avLst/>
          </a:prstGeom>
          <a:noFill/>
          <a:ln w="0">
            <a:noFill/>
          </a:ln>
        </p:spPr>
        <p:txBody>
          <a:bodyPr wrap="square" lIns="0" tIns="0" rIns="0" bIns="0" anchor="t"/>
          <a:lstStyle/>
          <a:p>
            <a:pPr>
              <a:buNone/>
            </a:pPr>
            <a:r>
              <a:rPr lang="en-US" sz="900" b="1" dirty="0">
                <a:solidFill>
                  <a:srgbClr val="7C3AED"/>
                </a:solidFill>
                <a:latin typeface="Aptos Display"/>
              </a:rPr>
              <a:t>EXAMPLE PROMPT</a:t>
            </a:r>
          </a:p>
        </p:txBody>
      </p:sp>
      <p:sp>
        <p:nvSpPr>
          <p:cNvPr id="247" name="T247"/>
          <p:cNvSpPr/>
          <p:nvPr/>
        </p:nvSpPr>
        <p:spPr>
          <a:xfrm>
            <a:off x="8229600" y="4111728"/>
            <a:ext cx="3327400" cy="1459524"/>
          </a:xfrm>
          <a:prstGeom prst="rect">
            <a:avLst/>
          </a:prstGeom>
          <a:noFill/>
          <a:ln w="0">
            <a:noFill/>
          </a:ln>
        </p:spPr>
        <p:txBody>
          <a:bodyPr wrap="square" lIns="0" tIns="0" rIns="0" bIns="0" anchor="t"/>
          <a:lstStyle/>
          <a:p>
            <a:pPr>
              <a:buNone/>
            </a:pPr>
            <a:r>
              <a:rPr lang="en-US" sz="1100" dirty="0">
                <a:solidFill>
                  <a:srgbClr val="475569"/>
                </a:solidFill>
                <a:latin typeface="Consolas"/>
              </a:rPr>
              <a:t>Propose 3 workflow editor designs for our approval system.</a:t>
            </a:r>
          </a:p>
          <a:p>
            <a:pPr>
              <a:buNone/>
            </a:pPr>
            <a:r>
              <a:rPr lang="en-US" sz="1100" dirty="0">
                <a:solidFill>
                  <a:srgbClr val="475569"/>
                </a:solidFill>
                <a:latin typeface="Consolas"/>
              </a:rPr>
              <a:t>Map trade-offs (complexity, latency, maintainability),</a:t>
            </a:r>
          </a:p>
          <a:p>
            <a:pPr>
              <a:buNone/>
            </a:pPr>
            <a:r>
              <a:rPr lang="en-US" sz="1100" dirty="0">
                <a:solidFill>
                  <a:srgbClr val="475569"/>
                </a:solidFill>
                <a:latin typeface="Consolas"/>
              </a:rPr>
              <a:t>recommend one, and outline backend implications.</a:t>
            </a:r>
          </a:p>
          <a:p>
            <a:pPr>
              <a:buNone/>
            </a:pPr>
            <a:r>
              <a:rPr lang="en-US" sz="1100" dirty="0">
                <a:solidFill>
                  <a:srgbClr val="475569"/>
                </a:solidFill>
                <a:latin typeface="Consolas"/>
              </a:rPr>
              <a:t>Reference @docs/</a:t>
            </a:r>
            <a:r>
              <a:rPr lang="en-US" sz="1100" dirty="0" err="1">
                <a:solidFill>
                  <a:srgbClr val="475569"/>
                </a:solidFill>
                <a:latin typeface="Consolas"/>
              </a:rPr>
              <a:t>requirements.md</a:t>
            </a:r>
            <a:r>
              <a:rPr lang="en-US" sz="1100" dirty="0">
                <a:solidFill>
                  <a:srgbClr val="475569"/>
                </a:solidFill>
                <a:latin typeface="Consolas"/>
              </a:rPr>
              <a:t> and @</a:t>
            </a:r>
            <a:r>
              <a:rPr lang="en-US" sz="1100" dirty="0" err="1">
                <a:solidFill>
                  <a:srgbClr val="475569"/>
                </a:solidFill>
                <a:latin typeface="Consolas"/>
              </a:rPr>
              <a:t>src</a:t>
            </a:r>
            <a:r>
              <a:rPr lang="en-US" sz="1100" dirty="0">
                <a:solidFill>
                  <a:srgbClr val="475569"/>
                </a:solidFill>
                <a:latin typeface="Consolas"/>
              </a:rPr>
              <a:t>/workflows/.</a:t>
            </a:r>
          </a:p>
        </p:txBody>
      </p:sp>
    </p:spTree>
    <p:extLst>
      <p:ext uri="{BB962C8B-B14F-4D97-AF65-F5344CB8AC3E}">
        <p14:creationId xmlns:p14="http://schemas.microsoft.com/office/powerpoint/2010/main" val="6766831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T300"/>
          <p:cNvSpPr/>
          <p:nvPr/>
        </p:nvSpPr>
        <p:spPr>
          <a:xfrm>
            <a:off x="660400" y="76200"/>
            <a:ext cx="8890000" cy="381000"/>
          </a:xfrm>
          <a:prstGeom prst="rect">
            <a:avLst/>
          </a:prstGeom>
          <a:noFill/>
          <a:ln w="0">
            <a:noFill/>
          </a:ln>
        </p:spPr>
        <p:txBody>
          <a:bodyPr wrap="square" lIns="0" tIns="0" rIns="0" bIns="0" anchor="t"/>
          <a:lstStyle/>
          <a:p>
            <a:pPr marL="0" indent="0">
              <a:buNone/>
            </a:pPr>
            <a:r>
              <a:rPr lang="en-US" sz="2700" b="1" dirty="0">
                <a:solidFill>
                  <a:srgbClr val="FFFFFF"/>
                </a:solidFill>
                <a:latin typeface="Aptos Display"/>
              </a:rPr>
              <a:t>Epic decomposition &amp; cheat sheet</a:t>
            </a:r>
          </a:p>
        </p:txBody>
      </p:sp>
      <p:sp>
        <p:nvSpPr>
          <p:cNvPr id="301" name="T301"/>
          <p:cNvSpPr/>
          <p:nvPr/>
        </p:nvSpPr>
        <p:spPr>
          <a:xfrm>
            <a:off x="660400" y="630866"/>
            <a:ext cx="9512300" cy="254000"/>
          </a:xfrm>
          <a:prstGeom prst="rect">
            <a:avLst/>
          </a:prstGeom>
          <a:noFill/>
          <a:ln w="0">
            <a:noFill/>
          </a:ln>
        </p:spPr>
        <p:txBody>
          <a:bodyPr wrap="square" lIns="0" tIns="0" rIns="0" bIns="0" anchor="t"/>
          <a:lstStyle/>
          <a:p>
            <a:pPr marL="0" indent="0">
              <a:buNone/>
            </a:pPr>
            <a:r>
              <a:rPr lang="en-US" sz="1400" dirty="0">
                <a:solidFill>
                  <a:srgbClr val="3972C1"/>
                </a:solidFill>
                <a:latin typeface="Aptos"/>
              </a:rPr>
              <a:t>Converting JIRA/Rally epics into stories, plus a quick-reference task-to-model map</a:t>
            </a:r>
          </a:p>
        </p:txBody>
      </p:sp>
      <p:cxnSp>
        <p:nvCxnSpPr>
          <p:cNvPr id="302" name="L302"/>
          <p:cNvCxnSpPr/>
          <p:nvPr/>
        </p:nvCxnSpPr>
        <p:spPr>
          <a:xfrm>
            <a:off x="0" y="888702"/>
            <a:ext cx="12192000" cy="0"/>
          </a:xfrm>
          <a:prstGeom prst="straightConnector1">
            <a:avLst/>
          </a:prstGeom>
          <a:ln w="9525">
            <a:solidFill>
              <a:srgbClr val="3972C1"/>
            </a:solidFill>
          </a:ln>
        </p:spPr>
      </p:cxnSp>
      <p:sp>
        <p:nvSpPr>
          <p:cNvPr id="303" name="T303"/>
          <p:cNvSpPr/>
          <p:nvPr/>
        </p:nvSpPr>
        <p:spPr>
          <a:xfrm>
            <a:off x="381000" y="1041400"/>
            <a:ext cx="3175000" cy="203200"/>
          </a:xfrm>
          <a:prstGeom prst="rect">
            <a:avLst/>
          </a:prstGeom>
          <a:noFill/>
          <a:ln w="0">
            <a:noFill/>
          </a:ln>
        </p:spPr>
        <p:txBody>
          <a:bodyPr wrap="square" lIns="0" tIns="0" rIns="0" bIns="0" anchor="t"/>
          <a:lstStyle/>
          <a:p>
            <a:pPr>
              <a:buNone/>
            </a:pPr>
            <a:r>
              <a:rPr lang="en-US" sz="1100" b="1" dirty="0">
                <a:solidFill>
                  <a:srgbClr val="64748B"/>
                </a:solidFill>
                <a:latin typeface="Aptos Display"/>
              </a:rPr>
              <a:t>EPIC DECOMPOSITION</a:t>
            </a:r>
          </a:p>
        </p:txBody>
      </p:sp>
      <p:sp>
        <p:nvSpPr>
          <p:cNvPr id="304" name="S304"/>
          <p:cNvSpPr/>
          <p:nvPr/>
        </p:nvSpPr>
        <p:spPr>
          <a:xfrm>
            <a:off x="381000" y="1269999"/>
            <a:ext cx="5588000" cy="3314709"/>
          </a:xfrm>
          <a:prstGeom prst="roundRect">
            <a:avLst>
              <a:gd name="adj" fmla="val 5000"/>
            </a:avLst>
          </a:prstGeom>
          <a:solidFill>
            <a:srgbClr val="FFF7ED"/>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305" name="R305"/>
          <p:cNvSpPr/>
          <p:nvPr/>
        </p:nvSpPr>
        <p:spPr>
          <a:xfrm>
            <a:off x="381000" y="1270000"/>
            <a:ext cx="5588000" cy="63500"/>
          </a:xfrm>
          <a:prstGeom prst="rect">
            <a:avLst/>
          </a:prstGeom>
          <a:solidFill>
            <a:srgbClr val="D4622B"/>
          </a:solidFill>
          <a:ln w="0">
            <a:noFill/>
          </a:ln>
        </p:spPr>
        <p:txBody>
          <a:bodyPr/>
          <a:lstStyle/>
          <a:p>
            <a:endParaRPr lang="en-US"/>
          </a:p>
        </p:txBody>
      </p:sp>
      <p:sp>
        <p:nvSpPr>
          <p:cNvPr id="306" name="T306"/>
          <p:cNvSpPr/>
          <p:nvPr/>
        </p:nvSpPr>
        <p:spPr>
          <a:xfrm>
            <a:off x="558800" y="1447800"/>
            <a:ext cx="5207000" cy="228600"/>
          </a:xfrm>
          <a:prstGeom prst="rect">
            <a:avLst/>
          </a:prstGeom>
          <a:noFill/>
          <a:ln w="0">
            <a:noFill/>
          </a:ln>
        </p:spPr>
        <p:txBody>
          <a:bodyPr wrap="square" lIns="0" tIns="0" rIns="0" bIns="0" anchor="t"/>
          <a:lstStyle/>
          <a:p>
            <a:pPr>
              <a:buNone/>
            </a:pPr>
            <a:r>
              <a:rPr lang="en-US" sz="1400" b="1" dirty="0">
                <a:solidFill>
                  <a:srgbClr val="D4622B"/>
                </a:solidFill>
                <a:latin typeface="Aptos Display"/>
              </a:rPr>
              <a:t>Start: Opus 5  |  Escalate: Fable 5.1  |  Budget: Sonnet 5</a:t>
            </a:r>
          </a:p>
        </p:txBody>
      </p:sp>
      <p:sp>
        <p:nvSpPr>
          <p:cNvPr id="307" name="T307"/>
          <p:cNvSpPr/>
          <p:nvPr/>
        </p:nvSpPr>
        <p:spPr>
          <a:xfrm>
            <a:off x="558800" y="1752600"/>
            <a:ext cx="5207000" cy="177800"/>
          </a:xfrm>
          <a:prstGeom prst="rect">
            <a:avLst/>
          </a:prstGeom>
          <a:noFill/>
          <a:ln w="0">
            <a:noFill/>
          </a:ln>
        </p:spPr>
        <p:txBody>
          <a:bodyPr wrap="square" lIns="0" tIns="0" rIns="0" bIns="0" anchor="t"/>
          <a:lstStyle/>
          <a:p>
            <a:pPr>
              <a:buNone/>
            </a:pPr>
            <a:r>
              <a:rPr lang="en-US" sz="1000" b="1" dirty="0">
                <a:solidFill>
                  <a:srgbClr val="92400E"/>
                </a:solidFill>
                <a:latin typeface="Aptos Display"/>
              </a:rPr>
              <a:t>THIS TASK REQUIRES</a:t>
            </a:r>
          </a:p>
        </p:txBody>
      </p:sp>
      <p:sp>
        <p:nvSpPr>
          <p:cNvPr id="308" name="C308"/>
          <p:cNvSpPr/>
          <p:nvPr/>
        </p:nvSpPr>
        <p:spPr>
          <a:xfrm>
            <a:off x="609600" y="2032000"/>
            <a:ext cx="76200" cy="76200"/>
          </a:xfrm>
          <a:prstGeom prst="ellipse">
            <a:avLst/>
          </a:prstGeom>
          <a:solidFill>
            <a:srgbClr val="D4622B"/>
          </a:solidFill>
          <a:ln w="0">
            <a:noFill/>
          </a:ln>
          <a:effectLst>
            <a:outerShdw blurRad="25400" dist="12700" dir="5400000" algn="tl" rotWithShape="0">
              <a:srgbClr val="000000">
                <a:alpha val="10000"/>
              </a:srgbClr>
            </a:outerShdw>
          </a:effectLst>
        </p:spPr>
        <p:txBody>
          <a:bodyPr wrap="square" lIns="0" tIns="0" rIns="0" bIns="0" anchor="ctr"/>
          <a:lstStyle/>
          <a:p>
            <a:endParaRPr lang="en-US"/>
          </a:p>
        </p:txBody>
      </p:sp>
      <p:sp>
        <p:nvSpPr>
          <p:cNvPr id="309" name="T309"/>
          <p:cNvSpPr/>
          <p:nvPr/>
        </p:nvSpPr>
        <p:spPr>
          <a:xfrm>
            <a:off x="762000" y="1981200"/>
            <a:ext cx="4953000" cy="203200"/>
          </a:xfrm>
          <a:prstGeom prst="rect">
            <a:avLst/>
          </a:prstGeom>
          <a:noFill/>
          <a:ln w="0">
            <a:noFill/>
          </a:ln>
        </p:spPr>
        <p:txBody>
          <a:bodyPr wrap="square" lIns="0" tIns="0" rIns="0" bIns="0" anchor="t"/>
          <a:lstStyle/>
          <a:p>
            <a:pPr>
              <a:buNone/>
            </a:pPr>
            <a:r>
              <a:rPr lang="en-US" sz="1200" dirty="0">
                <a:solidFill>
                  <a:srgbClr val="475569"/>
                </a:solidFill>
                <a:latin typeface="Aptos"/>
              </a:rPr>
              <a:t>Reading long documents or ticket threads</a:t>
            </a:r>
          </a:p>
        </p:txBody>
      </p:sp>
      <p:sp>
        <p:nvSpPr>
          <p:cNvPr id="310" name="C310"/>
          <p:cNvSpPr/>
          <p:nvPr/>
        </p:nvSpPr>
        <p:spPr>
          <a:xfrm>
            <a:off x="609600" y="2260600"/>
            <a:ext cx="76200" cy="76200"/>
          </a:xfrm>
          <a:prstGeom prst="ellipse">
            <a:avLst/>
          </a:prstGeom>
          <a:solidFill>
            <a:srgbClr val="D4622B"/>
          </a:solidFill>
          <a:ln w="0">
            <a:noFill/>
          </a:ln>
          <a:effectLst>
            <a:outerShdw blurRad="25400" dist="12700" dir="5400000" algn="tl" rotWithShape="0">
              <a:srgbClr val="000000">
                <a:alpha val="10000"/>
              </a:srgbClr>
            </a:outerShdw>
          </a:effectLst>
        </p:spPr>
        <p:txBody>
          <a:bodyPr wrap="square" lIns="0" tIns="0" rIns="0" bIns="0" anchor="ctr"/>
          <a:lstStyle/>
          <a:p>
            <a:endParaRPr lang="en-US"/>
          </a:p>
        </p:txBody>
      </p:sp>
      <p:sp>
        <p:nvSpPr>
          <p:cNvPr id="311" name="T311"/>
          <p:cNvSpPr/>
          <p:nvPr/>
        </p:nvSpPr>
        <p:spPr>
          <a:xfrm>
            <a:off x="762000" y="2209800"/>
            <a:ext cx="4953000" cy="203200"/>
          </a:xfrm>
          <a:prstGeom prst="rect">
            <a:avLst/>
          </a:prstGeom>
          <a:noFill/>
          <a:ln w="0">
            <a:noFill/>
          </a:ln>
        </p:spPr>
        <p:txBody>
          <a:bodyPr wrap="square" lIns="0" tIns="0" rIns="0" bIns="0" anchor="t"/>
          <a:lstStyle/>
          <a:p>
            <a:pPr>
              <a:buNone/>
            </a:pPr>
            <a:r>
              <a:rPr lang="en-US" sz="1200" dirty="0">
                <a:solidFill>
                  <a:srgbClr val="475569"/>
                </a:solidFill>
                <a:latin typeface="Aptos"/>
              </a:rPr>
              <a:t>Decomposing ambiguous requirements into stories</a:t>
            </a:r>
          </a:p>
        </p:txBody>
      </p:sp>
      <p:sp>
        <p:nvSpPr>
          <p:cNvPr id="312" name="C312"/>
          <p:cNvSpPr/>
          <p:nvPr/>
        </p:nvSpPr>
        <p:spPr>
          <a:xfrm>
            <a:off x="609600" y="2489200"/>
            <a:ext cx="76200" cy="76200"/>
          </a:xfrm>
          <a:prstGeom prst="ellipse">
            <a:avLst/>
          </a:prstGeom>
          <a:solidFill>
            <a:srgbClr val="D4622B"/>
          </a:solidFill>
          <a:ln w="0">
            <a:noFill/>
          </a:ln>
          <a:effectLst>
            <a:outerShdw blurRad="25400" dist="12700" dir="5400000" algn="tl" rotWithShape="0">
              <a:srgbClr val="000000">
                <a:alpha val="10000"/>
              </a:srgbClr>
            </a:outerShdw>
          </a:effectLst>
        </p:spPr>
        <p:txBody>
          <a:bodyPr wrap="square" lIns="0" tIns="0" rIns="0" bIns="0" anchor="ctr"/>
          <a:lstStyle/>
          <a:p>
            <a:endParaRPr lang="en-US"/>
          </a:p>
        </p:txBody>
      </p:sp>
      <p:sp>
        <p:nvSpPr>
          <p:cNvPr id="313" name="T313"/>
          <p:cNvSpPr/>
          <p:nvPr/>
        </p:nvSpPr>
        <p:spPr>
          <a:xfrm>
            <a:off x="762000" y="2438400"/>
            <a:ext cx="4953000" cy="203200"/>
          </a:xfrm>
          <a:prstGeom prst="rect">
            <a:avLst/>
          </a:prstGeom>
          <a:noFill/>
          <a:ln w="0">
            <a:noFill/>
          </a:ln>
        </p:spPr>
        <p:txBody>
          <a:bodyPr wrap="square" lIns="0" tIns="0" rIns="0" bIns="0" anchor="t"/>
          <a:lstStyle/>
          <a:p>
            <a:pPr>
              <a:buNone/>
            </a:pPr>
            <a:r>
              <a:rPr lang="en-US" sz="1200" dirty="0">
                <a:solidFill>
                  <a:srgbClr val="475569"/>
                </a:solidFill>
                <a:latin typeface="Aptos"/>
              </a:rPr>
              <a:t>Writing acceptance criteria per story</a:t>
            </a:r>
          </a:p>
        </p:txBody>
      </p:sp>
      <p:sp>
        <p:nvSpPr>
          <p:cNvPr id="314" name="C314"/>
          <p:cNvSpPr/>
          <p:nvPr/>
        </p:nvSpPr>
        <p:spPr>
          <a:xfrm>
            <a:off x="609600" y="2717800"/>
            <a:ext cx="76200" cy="76200"/>
          </a:xfrm>
          <a:prstGeom prst="ellipse">
            <a:avLst/>
          </a:prstGeom>
          <a:solidFill>
            <a:srgbClr val="D4622B"/>
          </a:solidFill>
          <a:ln w="0">
            <a:noFill/>
          </a:ln>
          <a:effectLst>
            <a:outerShdw blurRad="25400" dist="12700" dir="5400000" algn="tl" rotWithShape="0">
              <a:srgbClr val="000000">
                <a:alpha val="10000"/>
              </a:srgbClr>
            </a:outerShdw>
          </a:effectLst>
        </p:spPr>
        <p:txBody>
          <a:bodyPr wrap="square" lIns="0" tIns="0" rIns="0" bIns="0" anchor="ctr"/>
          <a:lstStyle/>
          <a:p>
            <a:endParaRPr lang="en-US"/>
          </a:p>
        </p:txBody>
      </p:sp>
      <p:sp>
        <p:nvSpPr>
          <p:cNvPr id="315" name="T315"/>
          <p:cNvSpPr/>
          <p:nvPr/>
        </p:nvSpPr>
        <p:spPr>
          <a:xfrm>
            <a:off x="762000" y="2667000"/>
            <a:ext cx="4953000" cy="203200"/>
          </a:xfrm>
          <a:prstGeom prst="rect">
            <a:avLst/>
          </a:prstGeom>
          <a:noFill/>
          <a:ln w="0">
            <a:noFill/>
          </a:ln>
        </p:spPr>
        <p:txBody>
          <a:bodyPr wrap="square" lIns="0" tIns="0" rIns="0" bIns="0" anchor="t"/>
          <a:lstStyle/>
          <a:p>
            <a:pPr>
              <a:buNone/>
            </a:pPr>
            <a:r>
              <a:rPr lang="en-US" sz="1200" dirty="0">
                <a:solidFill>
                  <a:srgbClr val="475569"/>
                </a:solidFill>
                <a:latin typeface="Aptos"/>
              </a:rPr>
              <a:t>Identifying technical risks and stack limitations</a:t>
            </a:r>
          </a:p>
        </p:txBody>
      </p:sp>
      <p:sp>
        <p:nvSpPr>
          <p:cNvPr id="316" name="C316"/>
          <p:cNvSpPr/>
          <p:nvPr/>
        </p:nvSpPr>
        <p:spPr>
          <a:xfrm>
            <a:off x="609600" y="2946400"/>
            <a:ext cx="76200" cy="76200"/>
          </a:xfrm>
          <a:prstGeom prst="ellipse">
            <a:avLst/>
          </a:prstGeom>
          <a:solidFill>
            <a:srgbClr val="D4622B"/>
          </a:solidFill>
          <a:ln w="0">
            <a:noFill/>
          </a:ln>
          <a:effectLst>
            <a:outerShdw blurRad="25400" dist="12700" dir="5400000" algn="tl" rotWithShape="0">
              <a:srgbClr val="000000">
                <a:alpha val="10000"/>
              </a:srgbClr>
            </a:outerShdw>
          </a:effectLst>
        </p:spPr>
        <p:txBody>
          <a:bodyPr wrap="square" lIns="0" tIns="0" rIns="0" bIns="0" anchor="ctr"/>
          <a:lstStyle/>
          <a:p>
            <a:endParaRPr lang="en-US"/>
          </a:p>
        </p:txBody>
      </p:sp>
      <p:sp>
        <p:nvSpPr>
          <p:cNvPr id="317" name="T317"/>
          <p:cNvSpPr/>
          <p:nvPr/>
        </p:nvSpPr>
        <p:spPr>
          <a:xfrm>
            <a:off x="762000" y="2895600"/>
            <a:ext cx="4953000" cy="203200"/>
          </a:xfrm>
          <a:prstGeom prst="rect">
            <a:avLst/>
          </a:prstGeom>
          <a:noFill/>
          <a:ln w="0">
            <a:noFill/>
          </a:ln>
        </p:spPr>
        <p:txBody>
          <a:bodyPr wrap="square" lIns="0" tIns="0" rIns="0" bIns="0" anchor="t"/>
          <a:lstStyle/>
          <a:p>
            <a:pPr>
              <a:buNone/>
            </a:pPr>
            <a:r>
              <a:rPr lang="en-US" sz="1200" dirty="0">
                <a:solidFill>
                  <a:srgbClr val="475569"/>
                </a:solidFill>
                <a:latin typeface="Aptos"/>
              </a:rPr>
              <a:t>Surfacing alternatives and trade-offs</a:t>
            </a:r>
          </a:p>
        </p:txBody>
      </p:sp>
      <p:sp>
        <p:nvSpPr>
          <p:cNvPr id="318" name="C318"/>
          <p:cNvSpPr/>
          <p:nvPr/>
        </p:nvSpPr>
        <p:spPr>
          <a:xfrm>
            <a:off x="609600" y="3175000"/>
            <a:ext cx="76200" cy="76200"/>
          </a:xfrm>
          <a:prstGeom prst="ellipse">
            <a:avLst/>
          </a:prstGeom>
          <a:solidFill>
            <a:srgbClr val="D4622B"/>
          </a:solidFill>
          <a:ln w="0">
            <a:noFill/>
          </a:ln>
          <a:effectLst>
            <a:outerShdw blurRad="25400" dist="12700" dir="5400000" algn="tl" rotWithShape="0">
              <a:srgbClr val="000000">
                <a:alpha val="10000"/>
              </a:srgbClr>
            </a:outerShdw>
          </a:effectLst>
        </p:spPr>
        <p:txBody>
          <a:bodyPr wrap="square" lIns="0" tIns="0" rIns="0" bIns="0" anchor="ctr"/>
          <a:lstStyle/>
          <a:p>
            <a:endParaRPr lang="en-US"/>
          </a:p>
        </p:txBody>
      </p:sp>
      <p:sp>
        <p:nvSpPr>
          <p:cNvPr id="319" name="T319"/>
          <p:cNvSpPr/>
          <p:nvPr/>
        </p:nvSpPr>
        <p:spPr>
          <a:xfrm>
            <a:off x="762000" y="3124200"/>
            <a:ext cx="4953000" cy="203200"/>
          </a:xfrm>
          <a:prstGeom prst="rect">
            <a:avLst/>
          </a:prstGeom>
          <a:noFill/>
          <a:ln w="0">
            <a:noFill/>
          </a:ln>
        </p:spPr>
        <p:txBody>
          <a:bodyPr wrap="square" lIns="0" tIns="0" rIns="0" bIns="0" anchor="t"/>
          <a:lstStyle/>
          <a:p>
            <a:pPr>
              <a:buNone/>
            </a:pPr>
            <a:r>
              <a:rPr lang="en-US" sz="1200" dirty="0">
                <a:solidFill>
                  <a:srgbClr val="475569"/>
                </a:solidFill>
                <a:latin typeface="Aptos"/>
              </a:rPr>
              <a:t>Multi-document synthesis and strategic analysis</a:t>
            </a:r>
          </a:p>
        </p:txBody>
      </p:sp>
      <p:cxnSp>
        <p:nvCxnSpPr>
          <p:cNvPr id="320" name="L320"/>
          <p:cNvCxnSpPr/>
          <p:nvPr/>
        </p:nvCxnSpPr>
        <p:spPr>
          <a:xfrm>
            <a:off x="558800" y="3429000"/>
            <a:ext cx="5207000" cy="0"/>
          </a:xfrm>
          <a:prstGeom prst="straightConnector1">
            <a:avLst/>
          </a:prstGeom>
          <a:ln w="9525">
            <a:solidFill>
              <a:srgbClr val="D4622B"/>
            </a:solidFill>
          </a:ln>
        </p:spPr>
      </p:cxnSp>
      <p:sp>
        <p:nvSpPr>
          <p:cNvPr id="321" name="T321"/>
          <p:cNvSpPr/>
          <p:nvPr/>
        </p:nvSpPr>
        <p:spPr>
          <a:xfrm>
            <a:off x="558800" y="3530600"/>
            <a:ext cx="5207000" cy="177800"/>
          </a:xfrm>
          <a:prstGeom prst="rect">
            <a:avLst/>
          </a:prstGeom>
          <a:noFill/>
          <a:ln w="0">
            <a:noFill/>
          </a:ln>
        </p:spPr>
        <p:txBody>
          <a:bodyPr wrap="square" lIns="0" tIns="0" rIns="0" bIns="0" anchor="t"/>
          <a:lstStyle/>
          <a:p>
            <a:pPr>
              <a:buNone/>
            </a:pPr>
            <a:r>
              <a:rPr lang="en-US" sz="1000" b="1" dirty="0">
                <a:solidFill>
                  <a:srgbClr val="92400E"/>
                </a:solidFill>
                <a:latin typeface="Aptos Display"/>
              </a:rPr>
              <a:t>EXAMPLE PROMPT</a:t>
            </a:r>
          </a:p>
        </p:txBody>
      </p:sp>
      <p:sp>
        <p:nvSpPr>
          <p:cNvPr id="322" name="S322"/>
          <p:cNvSpPr/>
          <p:nvPr/>
        </p:nvSpPr>
        <p:spPr>
          <a:xfrm>
            <a:off x="508000" y="3759199"/>
            <a:ext cx="5334000" cy="711199"/>
          </a:xfrm>
          <a:prstGeom prst="roundRect">
            <a:avLst>
              <a:gd name="adj" fmla="val 4000"/>
            </a:avLst>
          </a:prstGeom>
          <a:solidFill>
            <a:srgbClr val="FFFF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323" name="T323"/>
          <p:cNvSpPr/>
          <p:nvPr/>
        </p:nvSpPr>
        <p:spPr>
          <a:xfrm>
            <a:off x="635000" y="3835399"/>
            <a:ext cx="5080000" cy="635000"/>
          </a:xfrm>
          <a:prstGeom prst="rect">
            <a:avLst/>
          </a:prstGeom>
          <a:noFill/>
          <a:ln w="0">
            <a:noFill/>
          </a:ln>
        </p:spPr>
        <p:txBody>
          <a:bodyPr wrap="square" lIns="0" tIns="0" rIns="0" bIns="0" anchor="t"/>
          <a:lstStyle/>
          <a:p>
            <a:pPr>
              <a:buNone/>
            </a:pPr>
            <a:r>
              <a:rPr lang="en-US" sz="1200" dirty="0">
                <a:solidFill>
                  <a:srgbClr val="475569"/>
                </a:solidFill>
                <a:latin typeface="Consolas"/>
              </a:rPr>
              <a:t>Read these 3 Rally epics and 12 linked tickets. Convert to user stories with acceptance criteria. Add dependencies, risks, limitations, alternatives, and trade-offs.</a:t>
            </a:r>
          </a:p>
        </p:txBody>
      </p:sp>
      <p:sp>
        <p:nvSpPr>
          <p:cNvPr id="324" name="T324"/>
          <p:cNvSpPr/>
          <p:nvPr/>
        </p:nvSpPr>
        <p:spPr>
          <a:xfrm>
            <a:off x="6350000" y="1041400"/>
            <a:ext cx="3175000" cy="203200"/>
          </a:xfrm>
          <a:prstGeom prst="rect">
            <a:avLst/>
          </a:prstGeom>
          <a:noFill/>
          <a:ln w="0">
            <a:noFill/>
          </a:ln>
        </p:spPr>
        <p:txBody>
          <a:bodyPr wrap="square" lIns="0" tIns="0" rIns="0" bIns="0" anchor="t"/>
          <a:lstStyle/>
          <a:p>
            <a:pPr>
              <a:buNone/>
            </a:pPr>
            <a:r>
              <a:rPr lang="en-US" sz="1100" b="1" dirty="0">
                <a:solidFill>
                  <a:srgbClr val="64748B"/>
                </a:solidFill>
                <a:latin typeface="Aptos Display"/>
              </a:rPr>
              <a:t>TASK-TO-MODEL CHEAT SHEET</a:t>
            </a:r>
          </a:p>
        </p:txBody>
      </p:sp>
      <p:grpSp>
        <p:nvGrpSpPr>
          <p:cNvPr id="5" name="Group 4">
            <a:extLst>
              <a:ext uri="{FF2B5EF4-FFF2-40B4-BE49-F238E27FC236}">
                <a16:creationId xmlns:a16="http://schemas.microsoft.com/office/drawing/2014/main" id="{20904044-8B34-B0DD-0E4C-87F9745F6351}"/>
              </a:ext>
            </a:extLst>
          </p:cNvPr>
          <p:cNvGrpSpPr/>
          <p:nvPr/>
        </p:nvGrpSpPr>
        <p:grpSpPr>
          <a:xfrm>
            <a:off x="6350000" y="2315829"/>
            <a:ext cx="5461000" cy="435055"/>
            <a:chOff x="6350000" y="2050898"/>
            <a:chExt cx="5461000" cy="435055"/>
          </a:xfrm>
        </p:grpSpPr>
        <p:sp>
          <p:nvSpPr>
            <p:cNvPr id="329" name="S329"/>
            <p:cNvSpPr/>
            <p:nvPr/>
          </p:nvSpPr>
          <p:spPr>
            <a:xfrm>
              <a:off x="6350000" y="2050898"/>
              <a:ext cx="5461000" cy="435055"/>
            </a:xfrm>
            <a:prstGeom prst="roundRect">
              <a:avLst>
                <a:gd name="adj" fmla="val 3000"/>
              </a:avLst>
            </a:prstGeom>
            <a:solidFill>
              <a:srgbClr val="EBF5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330" name="R330"/>
            <p:cNvSpPr/>
            <p:nvPr/>
          </p:nvSpPr>
          <p:spPr>
            <a:xfrm>
              <a:off x="6350000" y="2050898"/>
              <a:ext cx="50800" cy="435054"/>
            </a:xfrm>
            <a:prstGeom prst="rect">
              <a:avLst/>
            </a:prstGeom>
            <a:solidFill>
              <a:srgbClr val="1565C0"/>
            </a:solidFill>
            <a:ln w="0">
              <a:noFill/>
            </a:ln>
          </p:spPr>
          <p:txBody>
            <a:bodyPr/>
            <a:lstStyle/>
            <a:p>
              <a:endParaRPr lang="en-US"/>
            </a:p>
          </p:txBody>
        </p:sp>
        <p:sp>
          <p:nvSpPr>
            <p:cNvPr id="331" name="T331"/>
            <p:cNvSpPr/>
            <p:nvPr/>
          </p:nvSpPr>
          <p:spPr>
            <a:xfrm>
              <a:off x="6502400" y="2084865"/>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Well-specified features, refactoring, review</a:t>
              </a:r>
            </a:p>
          </p:txBody>
        </p:sp>
        <p:sp>
          <p:nvSpPr>
            <p:cNvPr id="332" name="S332"/>
            <p:cNvSpPr/>
            <p:nvPr/>
          </p:nvSpPr>
          <p:spPr>
            <a:xfrm>
              <a:off x="10109200" y="2096101"/>
              <a:ext cx="1524000" cy="355600"/>
            </a:xfrm>
            <a:prstGeom prst="roundRect">
              <a:avLst>
                <a:gd name="adj" fmla="val 50000"/>
              </a:avLst>
            </a:prstGeom>
            <a:solidFill>
              <a:srgbClr val="1565C0"/>
            </a:solidFill>
            <a:ln w="0">
              <a:noFill/>
            </a:ln>
            <a:effectLst>
              <a:outerShdw blurRad="25400" dist="12700" dir="5400000" algn="tl" rotWithShape="0">
                <a:srgbClr val="000000">
                  <a:alpha val="10000"/>
                </a:srgbClr>
              </a:outerShdw>
            </a:effectLst>
          </p:spPr>
          <p:txBody>
            <a:bodyPr wrap="square" lIns="72000" tIns="54000" rIns="72000" bIns="54000" anchor="t"/>
            <a:lstStyle/>
            <a:p>
              <a:pPr algn="ctr">
                <a:buNone/>
              </a:pPr>
              <a:r>
                <a:rPr lang="en-US" sz="900" b="1" dirty="0">
                  <a:solidFill>
                    <a:srgbClr val="FFFFFF"/>
                  </a:solidFill>
                  <a:latin typeface="Aptos Display"/>
                </a:rPr>
                <a:t>Sonnet 5</a:t>
              </a:r>
            </a:p>
          </p:txBody>
        </p:sp>
      </p:grpSp>
      <p:grpSp>
        <p:nvGrpSpPr>
          <p:cNvPr id="3" name="Group 2">
            <a:extLst>
              <a:ext uri="{FF2B5EF4-FFF2-40B4-BE49-F238E27FC236}">
                <a16:creationId xmlns:a16="http://schemas.microsoft.com/office/drawing/2014/main" id="{8819222A-A636-C4F8-AFD1-E15D4A8B6B58}"/>
              </a:ext>
            </a:extLst>
          </p:cNvPr>
          <p:cNvGrpSpPr/>
          <p:nvPr/>
        </p:nvGrpSpPr>
        <p:grpSpPr>
          <a:xfrm>
            <a:off x="6350000" y="3002819"/>
            <a:ext cx="5461000" cy="482600"/>
            <a:chOff x="6350000" y="2737000"/>
            <a:chExt cx="5461000" cy="482600"/>
          </a:xfrm>
        </p:grpSpPr>
        <p:sp>
          <p:nvSpPr>
            <p:cNvPr id="333" name="S333"/>
            <p:cNvSpPr/>
            <p:nvPr/>
          </p:nvSpPr>
          <p:spPr>
            <a:xfrm>
              <a:off x="6350000" y="2737000"/>
              <a:ext cx="5461000" cy="482600"/>
            </a:xfrm>
            <a:prstGeom prst="roundRect">
              <a:avLst>
                <a:gd name="adj" fmla="val 3000"/>
              </a:avLst>
            </a:prstGeom>
            <a:solidFill>
              <a:srgbClr val="F5F3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334" name="R334"/>
            <p:cNvSpPr/>
            <p:nvPr/>
          </p:nvSpPr>
          <p:spPr>
            <a:xfrm>
              <a:off x="6350000" y="2737000"/>
              <a:ext cx="50800" cy="482600"/>
            </a:xfrm>
            <a:prstGeom prst="rect">
              <a:avLst/>
            </a:prstGeom>
            <a:solidFill>
              <a:srgbClr val="7C3AED"/>
            </a:solidFill>
            <a:ln w="0">
              <a:noFill/>
            </a:ln>
          </p:spPr>
          <p:txBody>
            <a:bodyPr/>
            <a:lstStyle/>
            <a:p>
              <a:endParaRPr lang="en-US"/>
            </a:p>
          </p:txBody>
        </p:sp>
        <p:sp>
          <p:nvSpPr>
            <p:cNvPr id="335" name="T335"/>
            <p:cNvSpPr/>
            <p:nvPr/>
          </p:nvSpPr>
          <p:spPr>
            <a:xfrm>
              <a:off x="6527800" y="2775100"/>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Complex debugging, architecture decisions</a:t>
              </a:r>
            </a:p>
          </p:txBody>
        </p:sp>
        <p:sp>
          <p:nvSpPr>
            <p:cNvPr id="336" name="S336"/>
            <p:cNvSpPr/>
            <p:nvPr/>
          </p:nvSpPr>
          <p:spPr>
            <a:xfrm>
              <a:off x="10109200" y="2809066"/>
              <a:ext cx="1524000" cy="355600"/>
            </a:xfrm>
            <a:prstGeom prst="roundRect">
              <a:avLst>
                <a:gd name="adj" fmla="val 50000"/>
              </a:avLst>
            </a:prstGeom>
            <a:solidFill>
              <a:srgbClr val="7C3AED"/>
            </a:solidFill>
            <a:ln w="0">
              <a:noFill/>
            </a:ln>
            <a:effectLst>
              <a:outerShdw blurRad="25400" dist="12700" dir="5400000" algn="tl" rotWithShape="0">
                <a:srgbClr val="000000">
                  <a:alpha val="10000"/>
                </a:srgbClr>
              </a:outerShdw>
            </a:effectLst>
          </p:spPr>
          <p:txBody>
            <a:bodyPr wrap="square" lIns="72000" tIns="54000" rIns="72000" bIns="54000" anchor="t"/>
            <a:lstStyle/>
            <a:p>
              <a:pPr algn="ctr">
                <a:buNone/>
              </a:pPr>
              <a:r>
                <a:rPr lang="en-US" sz="900" b="1" dirty="0">
                  <a:solidFill>
                    <a:srgbClr val="FFFFFF"/>
                  </a:solidFill>
                  <a:latin typeface="Aptos Display"/>
                </a:rPr>
                <a:t>Opus 5</a:t>
              </a:r>
            </a:p>
          </p:txBody>
        </p:sp>
      </p:grpSp>
      <p:grpSp>
        <p:nvGrpSpPr>
          <p:cNvPr id="4" name="Group 3">
            <a:extLst>
              <a:ext uri="{FF2B5EF4-FFF2-40B4-BE49-F238E27FC236}">
                <a16:creationId xmlns:a16="http://schemas.microsoft.com/office/drawing/2014/main" id="{DE4B2D15-E623-C76A-A54B-95077F20C2CC}"/>
              </a:ext>
            </a:extLst>
          </p:cNvPr>
          <p:cNvGrpSpPr/>
          <p:nvPr/>
        </p:nvGrpSpPr>
        <p:grpSpPr>
          <a:xfrm>
            <a:off x="6350000" y="3703379"/>
            <a:ext cx="5461000" cy="787098"/>
            <a:chOff x="6350000" y="3660847"/>
            <a:chExt cx="5461000" cy="787098"/>
          </a:xfrm>
        </p:grpSpPr>
        <p:sp>
          <p:nvSpPr>
            <p:cNvPr id="337" name="S337"/>
            <p:cNvSpPr/>
            <p:nvPr/>
          </p:nvSpPr>
          <p:spPr>
            <a:xfrm>
              <a:off x="6350000" y="3660847"/>
              <a:ext cx="5461000" cy="787098"/>
            </a:xfrm>
            <a:prstGeom prst="roundRect">
              <a:avLst>
                <a:gd name="adj" fmla="val 3000"/>
              </a:avLst>
            </a:prstGeom>
            <a:solidFill>
              <a:srgbClr val="F5F3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338" name="R338"/>
            <p:cNvSpPr/>
            <p:nvPr/>
          </p:nvSpPr>
          <p:spPr>
            <a:xfrm>
              <a:off x="6350000" y="3660847"/>
              <a:ext cx="50800" cy="787098"/>
            </a:xfrm>
            <a:prstGeom prst="rect">
              <a:avLst/>
            </a:prstGeom>
            <a:solidFill>
              <a:srgbClr val="7C3AED"/>
            </a:solidFill>
            <a:ln w="0">
              <a:noFill/>
            </a:ln>
          </p:spPr>
          <p:txBody>
            <a:bodyPr/>
            <a:lstStyle/>
            <a:p>
              <a:endParaRPr lang="en-US"/>
            </a:p>
          </p:txBody>
        </p:sp>
        <p:sp>
          <p:nvSpPr>
            <p:cNvPr id="339" name="T339"/>
            <p:cNvSpPr/>
            <p:nvPr/>
          </p:nvSpPr>
          <p:spPr>
            <a:xfrm>
              <a:off x="6527800" y="3698947"/>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Architecture, design trade-off analysis</a:t>
              </a:r>
            </a:p>
          </p:txBody>
        </p:sp>
        <p:sp>
          <p:nvSpPr>
            <p:cNvPr id="340" name="S340"/>
            <p:cNvSpPr/>
            <p:nvPr/>
          </p:nvSpPr>
          <p:spPr>
            <a:xfrm>
              <a:off x="10109200" y="3862719"/>
              <a:ext cx="1524000" cy="355600"/>
            </a:xfrm>
            <a:prstGeom prst="roundRect">
              <a:avLst>
                <a:gd name="adj" fmla="val 50000"/>
              </a:avLst>
            </a:prstGeom>
            <a:solidFill>
              <a:srgbClr val="7C3AED"/>
            </a:solidFill>
            <a:ln w="0">
              <a:noFill/>
            </a:ln>
            <a:effectLst>
              <a:outerShdw blurRad="25400" dist="12700" dir="5400000" algn="tl" rotWithShape="0">
                <a:srgbClr val="000000">
                  <a:alpha val="10000"/>
                </a:srgbClr>
              </a:outerShdw>
            </a:effectLst>
          </p:spPr>
          <p:txBody>
            <a:bodyPr wrap="square" lIns="72000" tIns="54000" rIns="72000" bIns="54000" anchor="t"/>
            <a:lstStyle/>
            <a:p>
              <a:pPr algn="ctr">
                <a:buNone/>
              </a:pPr>
              <a:r>
                <a:rPr lang="en-US" sz="900" b="1" dirty="0">
                  <a:solidFill>
                    <a:srgbClr val="FFFFFF"/>
                  </a:solidFill>
                  <a:latin typeface="Aptos Display"/>
                </a:rPr>
                <a:t>Fable 5.1</a:t>
              </a:r>
            </a:p>
          </p:txBody>
        </p:sp>
        <p:sp>
          <p:nvSpPr>
            <p:cNvPr id="343" name="T343"/>
            <p:cNvSpPr/>
            <p:nvPr/>
          </p:nvSpPr>
          <p:spPr>
            <a:xfrm>
              <a:off x="6502400" y="4216694"/>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Epic decomposition, story generation</a:t>
              </a:r>
            </a:p>
          </p:txBody>
        </p:sp>
        <p:sp>
          <p:nvSpPr>
            <p:cNvPr id="355" name="T355"/>
            <p:cNvSpPr/>
            <p:nvPr/>
          </p:nvSpPr>
          <p:spPr>
            <a:xfrm>
              <a:off x="6502400" y="3965647"/>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Long-running agentic coding sessions</a:t>
              </a:r>
            </a:p>
          </p:txBody>
        </p:sp>
      </p:grpSp>
      <p:sp>
        <p:nvSpPr>
          <p:cNvPr id="357" name="S357"/>
          <p:cNvSpPr/>
          <p:nvPr/>
        </p:nvSpPr>
        <p:spPr>
          <a:xfrm>
            <a:off x="381000" y="5689600"/>
            <a:ext cx="11430000" cy="371549"/>
          </a:xfrm>
          <a:prstGeom prst="roundRect">
            <a:avLst>
              <a:gd name="adj" fmla="val 6000"/>
            </a:avLst>
          </a:prstGeom>
          <a:solidFill>
            <a:srgbClr val="EFF6FF"/>
          </a:solidFill>
          <a:ln w="0">
            <a:noFill/>
          </a:ln>
          <a:effectLst>
            <a:outerShdw blurRad="25400" dist="12700" dir="5400000" algn="tl" rotWithShape="0">
              <a:srgbClr val="000000">
                <a:alpha val="10000"/>
              </a:srgbClr>
            </a:outerShdw>
          </a:effectLst>
        </p:spPr>
        <p:txBody>
          <a:bodyPr wrap="square" lIns="72000" tIns="54000" rIns="72000" bIns="54000" anchor="ctr"/>
          <a:lstStyle/>
          <a:p>
            <a:pPr algn="ctr">
              <a:buNone/>
            </a:pPr>
            <a:r>
              <a:rPr lang="en-US" sz="1400" b="1" dirty="0">
                <a:solidFill>
                  <a:srgbClr val="1565C0"/>
                </a:solidFill>
                <a:latin typeface="Aptos Display"/>
              </a:rPr>
              <a:t>Haiku = Fast Specialist   |   Sonnet = Balanced   |   Opus = Default (start here)   |   Fable = Principal Architect</a:t>
            </a:r>
          </a:p>
        </p:txBody>
      </p:sp>
      <p:grpSp>
        <p:nvGrpSpPr>
          <p:cNvPr id="6" name="Group 5">
            <a:extLst>
              <a:ext uri="{FF2B5EF4-FFF2-40B4-BE49-F238E27FC236}">
                <a16:creationId xmlns:a16="http://schemas.microsoft.com/office/drawing/2014/main" id="{1642D7D4-3195-C139-34D0-46F4D4C502C4}"/>
              </a:ext>
            </a:extLst>
          </p:cNvPr>
          <p:cNvGrpSpPr/>
          <p:nvPr/>
        </p:nvGrpSpPr>
        <p:grpSpPr>
          <a:xfrm>
            <a:off x="6350000" y="1346193"/>
            <a:ext cx="5461000" cy="717699"/>
            <a:chOff x="6350000" y="1269999"/>
            <a:chExt cx="5461000" cy="717699"/>
          </a:xfrm>
        </p:grpSpPr>
        <p:sp>
          <p:nvSpPr>
            <p:cNvPr id="325" name="S325"/>
            <p:cNvSpPr/>
            <p:nvPr/>
          </p:nvSpPr>
          <p:spPr>
            <a:xfrm>
              <a:off x="6350000" y="1269999"/>
              <a:ext cx="5461000" cy="711199"/>
            </a:xfrm>
            <a:prstGeom prst="roundRect">
              <a:avLst>
                <a:gd name="adj" fmla="val 3000"/>
              </a:avLst>
            </a:prstGeom>
            <a:solidFill>
              <a:srgbClr val="F0F9FF"/>
            </a:solidFill>
            <a:ln w="0">
              <a:noFill/>
            </a:ln>
            <a:effectLst>
              <a:outerShdw blurRad="25400" dist="12700" dir="5400000" algn="tl" rotWithShape="0">
                <a:srgbClr val="000000">
                  <a:alpha val="10000"/>
                </a:srgbClr>
              </a:outerShdw>
            </a:effectLst>
          </p:spPr>
          <p:txBody>
            <a:bodyPr wrap="square" lIns="72000" tIns="54000" rIns="72000" bIns="54000" anchor="t"/>
            <a:lstStyle/>
            <a:p>
              <a:endParaRPr lang="en-US"/>
            </a:p>
          </p:txBody>
        </p:sp>
        <p:sp>
          <p:nvSpPr>
            <p:cNvPr id="326" name="R326"/>
            <p:cNvSpPr/>
            <p:nvPr/>
          </p:nvSpPr>
          <p:spPr>
            <a:xfrm>
              <a:off x="6350000" y="1270000"/>
              <a:ext cx="50800" cy="711198"/>
            </a:xfrm>
            <a:prstGeom prst="rect">
              <a:avLst/>
            </a:prstGeom>
            <a:solidFill>
              <a:srgbClr val="0EA5E9"/>
            </a:solidFill>
            <a:ln w="0">
              <a:noFill/>
            </a:ln>
          </p:spPr>
          <p:txBody>
            <a:bodyPr/>
            <a:lstStyle/>
            <a:p>
              <a:endParaRPr lang="en-US"/>
            </a:p>
          </p:txBody>
        </p:sp>
        <p:sp>
          <p:nvSpPr>
            <p:cNvPr id="327" name="T327"/>
            <p:cNvSpPr/>
            <p:nvPr/>
          </p:nvSpPr>
          <p:spPr>
            <a:xfrm>
              <a:off x="6527800" y="1308100"/>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Quick bug triage, logs, small fixes</a:t>
              </a:r>
            </a:p>
          </p:txBody>
        </p:sp>
        <p:sp>
          <p:nvSpPr>
            <p:cNvPr id="328" name="S328"/>
            <p:cNvSpPr/>
            <p:nvPr/>
          </p:nvSpPr>
          <p:spPr>
            <a:xfrm>
              <a:off x="10109200" y="1458433"/>
              <a:ext cx="1524000" cy="355600"/>
            </a:xfrm>
            <a:prstGeom prst="roundRect">
              <a:avLst>
                <a:gd name="adj" fmla="val 50000"/>
              </a:avLst>
            </a:prstGeom>
            <a:solidFill>
              <a:srgbClr val="0EA5E9"/>
            </a:solidFill>
            <a:ln w="0">
              <a:noFill/>
            </a:ln>
            <a:effectLst>
              <a:outerShdw blurRad="25400" dist="12700" dir="5400000" algn="tl" rotWithShape="0">
                <a:srgbClr val="000000">
                  <a:alpha val="10000"/>
                </a:srgbClr>
              </a:outerShdw>
            </a:effectLst>
          </p:spPr>
          <p:txBody>
            <a:bodyPr wrap="square" lIns="72000" tIns="54000" rIns="72000" bIns="54000" anchor="t"/>
            <a:lstStyle/>
            <a:p>
              <a:pPr algn="ctr">
                <a:buNone/>
              </a:pPr>
              <a:r>
                <a:rPr lang="en-US" sz="900" b="1" dirty="0">
                  <a:solidFill>
                    <a:srgbClr val="FFFFFF"/>
                  </a:solidFill>
                  <a:latin typeface="Aptos Display"/>
                </a:rPr>
                <a:t>Haiku 4.5</a:t>
              </a:r>
            </a:p>
          </p:txBody>
        </p:sp>
        <p:sp>
          <p:nvSpPr>
            <p:cNvPr id="347" name="T347"/>
            <p:cNvSpPr/>
            <p:nvPr/>
          </p:nvSpPr>
          <p:spPr>
            <a:xfrm>
              <a:off x="6502400" y="1568595"/>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Fast scaffolding, boilerplate, test gen</a:t>
              </a:r>
            </a:p>
          </p:txBody>
        </p:sp>
        <p:sp>
          <p:nvSpPr>
            <p:cNvPr id="2" name="T351">
              <a:extLst>
                <a:ext uri="{FF2B5EF4-FFF2-40B4-BE49-F238E27FC236}">
                  <a16:creationId xmlns:a16="http://schemas.microsoft.com/office/drawing/2014/main" id="{5111F681-F1F1-39AD-6F7E-867EBFF1C935}"/>
                </a:ext>
              </a:extLst>
            </p:cNvPr>
            <p:cNvSpPr/>
            <p:nvPr/>
          </p:nvSpPr>
          <p:spPr>
            <a:xfrm>
              <a:off x="6502400" y="1784498"/>
              <a:ext cx="3505200" cy="203200"/>
            </a:xfrm>
            <a:prstGeom prst="rect">
              <a:avLst/>
            </a:prstGeom>
            <a:noFill/>
            <a:ln w="0">
              <a:noFill/>
            </a:ln>
          </p:spPr>
          <p:txBody>
            <a:bodyPr wrap="square" lIns="0" tIns="0" rIns="0" bIns="0" anchor="t"/>
            <a:lstStyle/>
            <a:p>
              <a:pPr>
                <a:buNone/>
              </a:pPr>
              <a:r>
                <a:rPr lang="en-US" sz="1100" dirty="0">
                  <a:solidFill>
                    <a:srgbClr val="1E293B"/>
                  </a:solidFill>
                  <a:latin typeface="Aptos"/>
                </a:rPr>
                <a:t>Parallel subagent investigations</a:t>
              </a:r>
            </a:p>
          </p:txBody>
        </p:sp>
      </p:grpSp>
    </p:spTree>
    <p:extLst>
      <p:ext uri="{BB962C8B-B14F-4D97-AF65-F5344CB8AC3E}">
        <p14:creationId xmlns:p14="http://schemas.microsoft.com/office/powerpoint/2010/main" val="2872639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Group 68">
            <a:extLst>
              <a:ext uri="{FF2B5EF4-FFF2-40B4-BE49-F238E27FC236}">
                <a16:creationId xmlns:a16="http://schemas.microsoft.com/office/drawing/2014/main" id="{CEAFEB3D-682B-FC90-937A-0D137F33A6C8}"/>
              </a:ext>
            </a:extLst>
          </p:cNvPr>
          <p:cNvGrpSpPr/>
          <p:nvPr/>
        </p:nvGrpSpPr>
        <p:grpSpPr>
          <a:xfrm>
            <a:off x="510764" y="1024201"/>
            <a:ext cx="10831496" cy="5385995"/>
            <a:chOff x="523141" y="968227"/>
            <a:chExt cx="10831496" cy="5554681"/>
          </a:xfrm>
        </p:grpSpPr>
        <p:grpSp>
          <p:nvGrpSpPr>
            <p:cNvPr id="60" name="Group 59">
              <a:extLst>
                <a:ext uri="{FF2B5EF4-FFF2-40B4-BE49-F238E27FC236}">
                  <a16:creationId xmlns:a16="http://schemas.microsoft.com/office/drawing/2014/main" id="{F9F42A89-10F9-44D1-A609-837DCE3D9166}"/>
                </a:ext>
              </a:extLst>
            </p:cNvPr>
            <p:cNvGrpSpPr/>
            <p:nvPr/>
          </p:nvGrpSpPr>
          <p:grpSpPr>
            <a:xfrm>
              <a:off x="523141" y="968227"/>
              <a:ext cx="10831496" cy="5554681"/>
              <a:chOff x="300623" y="980102"/>
              <a:chExt cx="10831496" cy="5554681"/>
            </a:xfrm>
          </p:grpSpPr>
          <p:grpSp>
            <p:nvGrpSpPr>
              <p:cNvPr id="48" name="Group 47">
                <a:extLst>
                  <a:ext uri="{FF2B5EF4-FFF2-40B4-BE49-F238E27FC236}">
                    <a16:creationId xmlns:a16="http://schemas.microsoft.com/office/drawing/2014/main" id="{9CEA9C85-51BA-4FC0-9933-806E99BCFBD5}"/>
                  </a:ext>
                </a:extLst>
              </p:cNvPr>
              <p:cNvGrpSpPr/>
              <p:nvPr/>
            </p:nvGrpSpPr>
            <p:grpSpPr>
              <a:xfrm>
                <a:off x="308340" y="980102"/>
                <a:ext cx="10823779" cy="4689868"/>
                <a:chOff x="291359" y="881386"/>
                <a:chExt cx="11289585" cy="4891699"/>
              </a:xfrm>
            </p:grpSpPr>
            <p:sp>
              <p:nvSpPr>
                <p:cNvPr id="7" name="Isosceles Triangle 6">
                  <a:extLst>
                    <a:ext uri="{FF2B5EF4-FFF2-40B4-BE49-F238E27FC236}">
                      <a16:creationId xmlns:a16="http://schemas.microsoft.com/office/drawing/2014/main" id="{C5470C5E-FEB3-4921-87C5-1A7310F36F46}"/>
                    </a:ext>
                  </a:extLst>
                </p:cNvPr>
                <p:cNvSpPr/>
                <p:nvPr/>
              </p:nvSpPr>
              <p:spPr>
                <a:xfrm>
                  <a:off x="291359" y="881386"/>
                  <a:ext cx="11289584" cy="1364575"/>
                </a:xfrm>
                <a:prstGeom prst="triangle">
                  <a:avLst>
                    <a:gd name="adj" fmla="val 50289"/>
                  </a:avLst>
                </a:prstGeom>
                <a:solidFill>
                  <a:schemeClr val="bg1">
                    <a:lumMod val="85000"/>
                  </a:schemeClr>
                </a:solidFill>
                <a:ln w="762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61DB1FB-E9FF-4984-95C2-59825E97BFF9}"/>
                    </a:ext>
                  </a:extLst>
                </p:cNvPr>
                <p:cNvSpPr/>
                <p:nvPr/>
              </p:nvSpPr>
              <p:spPr>
                <a:xfrm>
                  <a:off x="291360" y="2303292"/>
                  <a:ext cx="11289584" cy="3066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83BDB9D0-FAC8-4652-A9F8-58D75224EB78}"/>
                    </a:ext>
                  </a:extLst>
                </p:cNvPr>
                <p:cNvGrpSpPr/>
                <p:nvPr/>
              </p:nvGrpSpPr>
              <p:grpSpPr>
                <a:xfrm>
                  <a:off x="434860" y="2653717"/>
                  <a:ext cx="1637238" cy="2612167"/>
                  <a:chOff x="92246" y="2660073"/>
                  <a:chExt cx="1646108" cy="2626318"/>
                </a:xfrm>
              </p:grpSpPr>
              <p:grpSp>
                <p:nvGrpSpPr>
                  <p:cNvPr id="12" name="Group 11">
                    <a:extLst>
                      <a:ext uri="{FF2B5EF4-FFF2-40B4-BE49-F238E27FC236}">
                        <a16:creationId xmlns:a16="http://schemas.microsoft.com/office/drawing/2014/main" id="{79747934-5CE5-4926-88FF-2D660A9636E0}"/>
                      </a:ext>
                    </a:extLst>
                  </p:cNvPr>
                  <p:cNvGrpSpPr/>
                  <p:nvPr/>
                </p:nvGrpSpPr>
                <p:grpSpPr>
                  <a:xfrm>
                    <a:off x="92246" y="2660073"/>
                    <a:ext cx="1646108" cy="2626318"/>
                    <a:chOff x="121900" y="3032271"/>
                    <a:chExt cx="2310291" cy="2846889"/>
                  </a:xfrm>
                </p:grpSpPr>
                <p:sp>
                  <p:nvSpPr>
                    <p:cNvPr id="8" name="Rectangle 7">
                      <a:extLst>
                        <a:ext uri="{FF2B5EF4-FFF2-40B4-BE49-F238E27FC236}">
                          <a16:creationId xmlns:a16="http://schemas.microsoft.com/office/drawing/2014/main" id="{85ECE798-698C-4C0B-8661-7076ADFE30AC}"/>
                        </a:ext>
                      </a:extLst>
                    </p:cNvPr>
                    <p:cNvSpPr/>
                    <p:nvPr/>
                  </p:nvSpPr>
                  <p:spPr>
                    <a:xfrm>
                      <a:off x="447736" y="3458913"/>
                      <a:ext cx="1658617" cy="2054431"/>
                    </a:xfrm>
                    <a:prstGeom prst="rect">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rapezoid 8">
                      <a:extLst>
                        <a:ext uri="{FF2B5EF4-FFF2-40B4-BE49-F238E27FC236}">
                          <a16:creationId xmlns:a16="http://schemas.microsoft.com/office/drawing/2014/main" id="{938B9715-3F5A-4DC8-A365-A70941EB1103}"/>
                        </a:ext>
                      </a:extLst>
                    </p:cNvPr>
                    <p:cNvSpPr/>
                    <p:nvPr/>
                  </p:nvSpPr>
                  <p:spPr>
                    <a:xfrm rot="10800000">
                      <a:off x="121900" y="3032271"/>
                      <a:ext cx="2310291" cy="404536"/>
                    </a:xfrm>
                    <a:prstGeom prst="trapezoid">
                      <a:avLst>
                        <a:gd name="adj" fmla="val 62913"/>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rapezoid 9">
                      <a:extLst>
                        <a:ext uri="{FF2B5EF4-FFF2-40B4-BE49-F238E27FC236}">
                          <a16:creationId xmlns:a16="http://schemas.microsoft.com/office/drawing/2014/main" id="{BEAD024A-0104-4B70-9A15-81BD029A3DF0}"/>
                        </a:ext>
                      </a:extLst>
                    </p:cNvPr>
                    <p:cNvSpPr/>
                    <p:nvPr/>
                  </p:nvSpPr>
                  <p:spPr>
                    <a:xfrm rot="10800000" flipV="1">
                      <a:off x="121900" y="5474624"/>
                      <a:ext cx="2310291" cy="404536"/>
                    </a:xfrm>
                    <a:prstGeom prst="trapezoid">
                      <a:avLst>
                        <a:gd name="adj" fmla="val 62913"/>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Oval 17">
                    <a:extLst>
                      <a:ext uri="{FF2B5EF4-FFF2-40B4-BE49-F238E27FC236}">
                        <a16:creationId xmlns:a16="http://schemas.microsoft.com/office/drawing/2014/main" id="{AEDCA492-302F-488D-A5A3-6F3E2E5B4454}"/>
                      </a:ext>
                    </a:extLst>
                  </p:cNvPr>
                  <p:cNvSpPr/>
                  <p:nvPr/>
                </p:nvSpPr>
                <p:spPr>
                  <a:xfrm>
                    <a:off x="472906" y="3458717"/>
                    <a:ext cx="914400" cy="914400"/>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65E16074-5E05-42D8-B0CD-6372B0C019B7}"/>
                    </a:ext>
                  </a:extLst>
                </p:cNvPr>
                <p:cNvSpPr/>
                <p:nvPr/>
              </p:nvSpPr>
              <p:spPr>
                <a:xfrm>
                  <a:off x="291360" y="5355404"/>
                  <a:ext cx="11289583" cy="1987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B1CF5AD-0FEC-4B41-B9C9-BEBD3D9A184E}"/>
                    </a:ext>
                  </a:extLst>
                </p:cNvPr>
                <p:cNvSpPr/>
                <p:nvPr/>
              </p:nvSpPr>
              <p:spPr>
                <a:xfrm>
                  <a:off x="291360" y="5574384"/>
                  <a:ext cx="11289584" cy="198701"/>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560BD02-5CAB-4908-8D76-ED75C61A2E26}"/>
                    </a:ext>
                  </a:extLst>
                </p:cNvPr>
                <p:cNvGrpSpPr/>
                <p:nvPr/>
              </p:nvGrpSpPr>
              <p:grpSpPr>
                <a:xfrm>
                  <a:off x="2255044" y="2653717"/>
                  <a:ext cx="1637239" cy="2612167"/>
                  <a:chOff x="-118509" y="2660073"/>
                  <a:chExt cx="1646109" cy="2626318"/>
                </a:xfrm>
              </p:grpSpPr>
              <p:grpSp>
                <p:nvGrpSpPr>
                  <p:cNvPr id="23" name="Group 22">
                    <a:extLst>
                      <a:ext uri="{FF2B5EF4-FFF2-40B4-BE49-F238E27FC236}">
                        <a16:creationId xmlns:a16="http://schemas.microsoft.com/office/drawing/2014/main" id="{DC84A0B8-91BE-4936-A42B-1A9F09337E15}"/>
                      </a:ext>
                    </a:extLst>
                  </p:cNvPr>
                  <p:cNvGrpSpPr/>
                  <p:nvPr/>
                </p:nvGrpSpPr>
                <p:grpSpPr>
                  <a:xfrm>
                    <a:off x="-118509" y="2660073"/>
                    <a:ext cx="1646109" cy="2626318"/>
                    <a:chOff x="-173892" y="3032271"/>
                    <a:chExt cx="2310297" cy="2846889"/>
                  </a:xfrm>
                </p:grpSpPr>
                <p:sp>
                  <p:nvSpPr>
                    <p:cNvPr id="25" name="Rectangle 24">
                      <a:extLst>
                        <a:ext uri="{FF2B5EF4-FFF2-40B4-BE49-F238E27FC236}">
                          <a16:creationId xmlns:a16="http://schemas.microsoft.com/office/drawing/2014/main" id="{C161E3FA-57D9-453F-986D-A41F4093A0D4}"/>
                        </a:ext>
                      </a:extLst>
                    </p:cNvPr>
                    <p:cNvSpPr/>
                    <p:nvPr/>
                  </p:nvSpPr>
                  <p:spPr>
                    <a:xfrm>
                      <a:off x="151950" y="3429000"/>
                      <a:ext cx="1658620" cy="2054431"/>
                    </a:xfrm>
                    <a:prstGeom prst="rect">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rapezoid 25">
                      <a:extLst>
                        <a:ext uri="{FF2B5EF4-FFF2-40B4-BE49-F238E27FC236}">
                          <a16:creationId xmlns:a16="http://schemas.microsoft.com/office/drawing/2014/main" id="{25F4B071-274C-4AE6-888E-C80C9D3A821E}"/>
                        </a:ext>
                      </a:extLst>
                    </p:cNvPr>
                    <p:cNvSpPr/>
                    <p:nvPr/>
                  </p:nvSpPr>
                  <p:spPr>
                    <a:xfrm rot="10800000">
                      <a:off x="-173885" y="3032271"/>
                      <a:ext cx="2310290" cy="404535"/>
                    </a:xfrm>
                    <a:prstGeom prst="trapezoid">
                      <a:avLst>
                        <a:gd name="adj" fmla="val 62913"/>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rapezoid 26">
                      <a:extLst>
                        <a:ext uri="{FF2B5EF4-FFF2-40B4-BE49-F238E27FC236}">
                          <a16:creationId xmlns:a16="http://schemas.microsoft.com/office/drawing/2014/main" id="{586942EE-AE78-4117-A7A6-FF60B8C158CE}"/>
                        </a:ext>
                      </a:extLst>
                    </p:cNvPr>
                    <p:cNvSpPr/>
                    <p:nvPr/>
                  </p:nvSpPr>
                  <p:spPr>
                    <a:xfrm rot="10800000" flipV="1">
                      <a:off x="-173892" y="5474625"/>
                      <a:ext cx="2310293" cy="404535"/>
                    </a:xfrm>
                    <a:prstGeom prst="trapezoid">
                      <a:avLst>
                        <a:gd name="adj" fmla="val 62913"/>
                      </a:avLst>
                    </a:prstGeom>
                    <a:solidFill>
                      <a:schemeClr val="accent2"/>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Oval 23">
                    <a:extLst>
                      <a:ext uri="{FF2B5EF4-FFF2-40B4-BE49-F238E27FC236}">
                        <a16:creationId xmlns:a16="http://schemas.microsoft.com/office/drawing/2014/main" id="{007656AA-BA0D-43D2-AF61-023AA0A6AABD}"/>
                      </a:ext>
                    </a:extLst>
                  </p:cNvPr>
                  <p:cNvSpPr/>
                  <p:nvPr/>
                </p:nvSpPr>
                <p:spPr>
                  <a:xfrm>
                    <a:off x="262152" y="3531967"/>
                    <a:ext cx="914400" cy="914400"/>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7C04C91C-8868-4C55-BB01-77A9170EBAC4}"/>
                    </a:ext>
                  </a:extLst>
                </p:cNvPr>
                <p:cNvGrpSpPr/>
                <p:nvPr/>
              </p:nvGrpSpPr>
              <p:grpSpPr>
                <a:xfrm>
                  <a:off x="4085717" y="2673999"/>
                  <a:ext cx="1637248" cy="2612167"/>
                  <a:chOff x="-318719" y="2660073"/>
                  <a:chExt cx="1646117" cy="2626318"/>
                </a:xfrm>
              </p:grpSpPr>
              <p:grpSp>
                <p:nvGrpSpPr>
                  <p:cNvPr id="29" name="Group 28">
                    <a:extLst>
                      <a:ext uri="{FF2B5EF4-FFF2-40B4-BE49-F238E27FC236}">
                        <a16:creationId xmlns:a16="http://schemas.microsoft.com/office/drawing/2014/main" id="{5CBD5C2D-4D6A-4D71-8DD1-370C97DC306D}"/>
                      </a:ext>
                    </a:extLst>
                  </p:cNvPr>
                  <p:cNvGrpSpPr/>
                  <p:nvPr/>
                </p:nvGrpSpPr>
                <p:grpSpPr>
                  <a:xfrm>
                    <a:off x="-318719" y="2660073"/>
                    <a:ext cx="1646117" cy="2626318"/>
                    <a:chOff x="-454886" y="3032271"/>
                    <a:chExt cx="2310304" cy="2846889"/>
                  </a:xfrm>
                </p:grpSpPr>
                <p:sp>
                  <p:nvSpPr>
                    <p:cNvPr id="31" name="Rectangle 30">
                      <a:extLst>
                        <a:ext uri="{FF2B5EF4-FFF2-40B4-BE49-F238E27FC236}">
                          <a16:creationId xmlns:a16="http://schemas.microsoft.com/office/drawing/2014/main" id="{4C77EAB2-69BF-4373-80BF-E6ABC5ADF022}"/>
                        </a:ext>
                      </a:extLst>
                    </p:cNvPr>
                    <p:cNvSpPr/>
                    <p:nvPr/>
                  </p:nvSpPr>
                  <p:spPr>
                    <a:xfrm>
                      <a:off x="-129054" y="3429000"/>
                      <a:ext cx="1658620" cy="2054431"/>
                    </a:xfrm>
                    <a:prstGeom prst="rect">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rapezoid 31">
                      <a:extLst>
                        <a:ext uri="{FF2B5EF4-FFF2-40B4-BE49-F238E27FC236}">
                          <a16:creationId xmlns:a16="http://schemas.microsoft.com/office/drawing/2014/main" id="{A3840862-6D1F-48A3-9A45-03C9EAF3825A}"/>
                        </a:ext>
                      </a:extLst>
                    </p:cNvPr>
                    <p:cNvSpPr/>
                    <p:nvPr/>
                  </p:nvSpPr>
                  <p:spPr>
                    <a:xfrm rot="10800000">
                      <a:off x="-454873" y="3032271"/>
                      <a:ext cx="2310291" cy="404535"/>
                    </a:xfrm>
                    <a:prstGeom prst="trapezoid">
                      <a:avLst>
                        <a:gd name="adj" fmla="val 62913"/>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rapezoid 32">
                      <a:extLst>
                        <a:ext uri="{FF2B5EF4-FFF2-40B4-BE49-F238E27FC236}">
                          <a16:creationId xmlns:a16="http://schemas.microsoft.com/office/drawing/2014/main" id="{C941709B-1620-4E1E-A611-55F2263252E2}"/>
                        </a:ext>
                      </a:extLst>
                    </p:cNvPr>
                    <p:cNvSpPr/>
                    <p:nvPr/>
                  </p:nvSpPr>
                  <p:spPr>
                    <a:xfrm rot="10800000" flipV="1">
                      <a:off x="-454886" y="5474625"/>
                      <a:ext cx="2310291" cy="404535"/>
                    </a:xfrm>
                    <a:prstGeom prst="trapezoid">
                      <a:avLst>
                        <a:gd name="adj" fmla="val 62913"/>
                      </a:avLst>
                    </a:prstGeom>
                    <a:solidFill>
                      <a:schemeClr val="accent3"/>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Oval 29">
                    <a:extLst>
                      <a:ext uri="{FF2B5EF4-FFF2-40B4-BE49-F238E27FC236}">
                        <a16:creationId xmlns:a16="http://schemas.microsoft.com/office/drawing/2014/main" id="{0F3C414A-C863-49C5-ABC3-FC451E0C1845}"/>
                      </a:ext>
                    </a:extLst>
                  </p:cNvPr>
                  <p:cNvSpPr/>
                  <p:nvPr/>
                </p:nvSpPr>
                <p:spPr>
                  <a:xfrm>
                    <a:off x="47125" y="3521969"/>
                    <a:ext cx="914401" cy="914400"/>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F30447DC-B269-4D41-A400-F6189A8548F7}"/>
                    </a:ext>
                  </a:extLst>
                </p:cNvPr>
                <p:cNvGrpSpPr/>
                <p:nvPr/>
              </p:nvGrpSpPr>
              <p:grpSpPr>
                <a:xfrm>
                  <a:off x="5958302" y="2653717"/>
                  <a:ext cx="1637239" cy="2612167"/>
                  <a:chOff x="-476790" y="2660073"/>
                  <a:chExt cx="1646109" cy="2626318"/>
                </a:xfrm>
              </p:grpSpPr>
              <p:grpSp>
                <p:nvGrpSpPr>
                  <p:cNvPr id="35" name="Group 34">
                    <a:extLst>
                      <a:ext uri="{FF2B5EF4-FFF2-40B4-BE49-F238E27FC236}">
                        <a16:creationId xmlns:a16="http://schemas.microsoft.com/office/drawing/2014/main" id="{FD173557-1746-4EA9-ACBF-5CEF113AD846}"/>
                      </a:ext>
                    </a:extLst>
                  </p:cNvPr>
                  <p:cNvGrpSpPr/>
                  <p:nvPr/>
                </p:nvGrpSpPr>
                <p:grpSpPr>
                  <a:xfrm>
                    <a:off x="-476790" y="2660073"/>
                    <a:ext cx="1646109" cy="2626318"/>
                    <a:chOff x="-676723" y="3032271"/>
                    <a:chExt cx="2310295" cy="2846889"/>
                  </a:xfrm>
                </p:grpSpPr>
                <p:sp>
                  <p:nvSpPr>
                    <p:cNvPr id="37" name="Rectangle 36">
                      <a:extLst>
                        <a:ext uri="{FF2B5EF4-FFF2-40B4-BE49-F238E27FC236}">
                          <a16:creationId xmlns:a16="http://schemas.microsoft.com/office/drawing/2014/main" id="{E3BF32E3-59B6-48D9-9796-F88342CF3E8F}"/>
                        </a:ext>
                      </a:extLst>
                    </p:cNvPr>
                    <p:cNvSpPr/>
                    <p:nvPr/>
                  </p:nvSpPr>
                  <p:spPr>
                    <a:xfrm>
                      <a:off x="-350884" y="3429000"/>
                      <a:ext cx="1658624" cy="2054431"/>
                    </a:xfrm>
                    <a:prstGeom prst="rect">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rapezoid 37">
                      <a:extLst>
                        <a:ext uri="{FF2B5EF4-FFF2-40B4-BE49-F238E27FC236}">
                          <a16:creationId xmlns:a16="http://schemas.microsoft.com/office/drawing/2014/main" id="{FB70BF17-B2C9-48F1-B5D1-6E2C54357915}"/>
                        </a:ext>
                      </a:extLst>
                    </p:cNvPr>
                    <p:cNvSpPr/>
                    <p:nvPr/>
                  </p:nvSpPr>
                  <p:spPr>
                    <a:xfrm rot="10800000">
                      <a:off x="-676720" y="3032271"/>
                      <a:ext cx="2310292" cy="404535"/>
                    </a:xfrm>
                    <a:prstGeom prst="trapezoid">
                      <a:avLst>
                        <a:gd name="adj" fmla="val 62913"/>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rapezoid 38">
                      <a:extLst>
                        <a:ext uri="{FF2B5EF4-FFF2-40B4-BE49-F238E27FC236}">
                          <a16:creationId xmlns:a16="http://schemas.microsoft.com/office/drawing/2014/main" id="{5FAE7D8E-65A1-4D30-AC64-8BAE231C32A2}"/>
                        </a:ext>
                      </a:extLst>
                    </p:cNvPr>
                    <p:cNvSpPr/>
                    <p:nvPr/>
                  </p:nvSpPr>
                  <p:spPr>
                    <a:xfrm rot="10800000" flipV="1">
                      <a:off x="-676723" y="5474625"/>
                      <a:ext cx="2310289" cy="404535"/>
                    </a:xfrm>
                    <a:prstGeom prst="trapezoid">
                      <a:avLst>
                        <a:gd name="adj" fmla="val 62913"/>
                      </a:avLst>
                    </a:prstGeom>
                    <a:solidFill>
                      <a:schemeClr val="accent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Oval 35">
                    <a:extLst>
                      <a:ext uri="{FF2B5EF4-FFF2-40B4-BE49-F238E27FC236}">
                        <a16:creationId xmlns:a16="http://schemas.microsoft.com/office/drawing/2014/main" id="{65D3F067-6BCC-4B1E-8D36-B81A4DFDC99D}"/>
                      </a:ext>
                    </a:extLst>
                  </p:cNvPr>
                  <p:cNvSpPr/>
                  <p:nvPr/>
                </p:nvSpPr>
                <p:spPr>
                  <a:xfrm>
                    <a:off x="-110938" y="3521969"/>
                    <a:ext cx="914400" cy="914400"/>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0" name="Group 39">
                  <a:extLst>
                    <a:ext uri="{FF2B5EF4-FFF2-40B4-BE49-F238E27FC236}">
                      <a16:creationId xmlns:a16="http://schemas.microsoft.com/office/drawing/2014/main" id="{177372CA-A638-4510-BDB1-8D42A2F0CEBC}"/>
                    </a:ext>
                  </a:extLst>
                </p:cNvPr>
                <p:cNvGrpSpPr/>
                <p:nvPr/>
              </p:nvGrpSpPr>
              <p:grpSpPr>
                <a:xfrm>
                  <a:off x="7862341" y="2653717"/>
                  <a:ext cx="1637241" cy="2612167"/>
                  <a:chOff x="-603236" y="2660073"/>
                  <a:chExt cx="1646111" cy="2626318"/>
                </a:xfrm>
              </p:grpSpPr>
              <p:grpSp>
                <p:nvGrpSpPr>
                  <p:cNvPr id="41" name="Group 40">
                    <a:extLst>
                      <a:ext uri="{FF2B5EF4-FFF2-40B4-BE49-F238E27FC236}">
                        <a16:creationId xmlns:a16="http://schemas.microsoft.com/office/drawing/2014/main" id="{E812B10A-4D47-48F4-B080-2951B1EA8C92}"/>
                      </a:ext>
                    </a:extLst>
                  </p:cNvPr>
                  <p:cNvGrpSpPr/>
                  <p:nvPr/>
                </p:nvGrpSpPr>
                <p:grpSpPr>
                  <a:xfrm>
                    <a:off x="-603236" y="2660073"/>
                    <a:ext cx="1646111" cy="2626318"/>
                    <a:chOff x="-854193" y="3032271"/>
                    <a:chExt cx="2310297" cy="2846889"/>
                  </a:xfrm>
                </p:grpSpPr>
                <p:sp>
                  <p:nvSpPr>
                    <p:cNvPr id="43" name="Rectangle 42">
                      <a:extLst>
                        <a:ext uri="{FF2B5EF4-FFF2-40B4-BE49-F238E27FC236}">
                          <a16:creationId xmlns:a16="http://schemas.microsoft.com/office/drawing/2014/main" id="{9DC531C2-A19C-4F69-A163-596E6676A322}"/>
                        </a:ext>
                      </a:extLst>
                    </p:cNvPr>
                    <p:cNvSpPr/>
                    <p:nvPr/>
                  </p:nvSpPr>
                  <p:spPr>
                    <a:xfrm>
                      <a:off x="-528352" y="3429000"/>
                      <a:ext cx="1658620" cy="2054431"/>
                    </a:xfrm>
                    <a:prstGeom prst="rect">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rapezoid 43">
                      <a:extLst>
                        <a:ext uri="{FF2B5EF4-FFF2-40B4-BE49-F238E27FC236}">
                          <a16:creationId xmlns:a16="http://schemas.microsoft.com/office/drawing/2014/main" id="{FFC01C50-5699-4406-AB57-481844493A89}"/>
                        </a:ext>
                      </a:extLst>
                    </p:cNvPr>
                    <p:cNvSpPr/>
                    <p:nvPr/>
                  </p:nvSpPr>
                  <p:spPr>
                    <a:xfrm rot="10800000">
                      <a:off x="-854186" y="3032271"/>
                      <a:ext cx="2310290" cy="404535"/>
                    </a:xfrm>
                    <a:prstGeom prst="trapezoid">
                      <a:avLst>
                        <a:gd name="adj" fmla="val 62913"/>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rapezoid 44">
                      <a:extLst>
                        <a:ext uri="{FF2B5EF4-FFF2-40B4-BE49-F238E27FC236}">
                          <a16:creationId xmlns:a16="http://schemas.microsoft.com/office/drawing/2014/main" id="{AB4E36B1-A5DB-4030-9009-73DA3BFD7138}"/>
                        </a:ext>
                      </a:extLst>
                    </p:cNvPr>
                    <p:cNvSpPr/>
                    <p:nvPr/>
                  </p:nvSpPr>
                  <p:spPr>
                    <a:xfrm rot="10800000" flipV="1">
                      <a:off x="-854193" y="5474625"/>
                      <a:ext cx="2310293" cy="404535"/>
                    </a:xfrm>
                    <a:prstGeom prst="trapezoid">
                      <a:avLst>
                        <a:gd name="adj" fmla="val 62913"/>
                      </a:avLst>
                    </a:prstGeom>
                    <a:solidFill>
                      <a:schemeClr val="accent5"/>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Oval 41">
                    <a:extLst>
                      <a:ext uri="{FF2B5EF4-FFF2-40B4-BE49-F238E27FC236}">
                        <a16:creationId xmlns:a16="http://schemas.microsoft.com/office/drawing/2014/main" id="{1C34C599-17F3-4EB5-A15D-FB61B6E45855}"/>
                      </a:ext>
                    </a:extLst>
                  </p:cNvPr>
                  <p:cNvSpPr/>
                  <p:nvPr/>
                </p:nvSpPr>
                <p:spPr>
                  <a:xfrm>
                    <a:off x="-236122" y="3531967"/>
                    <a:ext cx="914400" cy="914400"/>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47" name="TextBox 46">
                <a:extLst>
                  <a:ext uri="{FF2B5EF4-FFF2-40B4-BE49-F238E27FC236}">
                    <a16:creationId xmlns:a16="http://schemas.microsoft.com/office/drawing/2014/main" id="{7AC84682-5AED-4164-87A9-C275F7B7EF1B}"/>
                  </a:ext>
                </a:extLst>
              </p:cNvPr>
              <p:cNvSpPr txBox="1"/>
              <p:nvPr/>
            </p:nvSpPr>
            <p:spPr>
              <a:xfrm>
                <a:off x="300623" y="5772986"/>
                <a:ext cx="1714983" cy="553998"/>
              </a:xfrm>
              <a:prstGeom prst="rect">
                <a:avLst/>
              </a:prstGeom>
              <a:noFill/>
            </p:spPr>
            <p:txBody>
              <a:bodyPr wrap="square" lIns="0" tIns="0" rIns="0" bIns="0" rtlCol="0">
                <a:spAutoFit/>
              </a:bodyPr>
              <a:lstStyle/>
              <a:p>
                <a:pPr algn="ctr">
                  <a:spcBef>
                    <a:spcPts val="600"/>
                  </a:spcBef>
                </a:pPr>
                <a:r>
                  <a:rPr lang="en-US" sz="1200" b="1" dirty="0">
                    <a:latin typeface="Georgia" panose="02040502050405020303" pitchFamily="18" charset="0"/>
                  </a:rPr>
                  <a:t>Context Engineering</a:t>
                </a:r>
              </a:p>
              <a:p>
                <a:pPr algn="ctr">
                  <a:buNone/>
                </a:pPr>
                <a:r>
                  <a:rPr lang="en-US" sz="1200" dirty="0">
                    <a:solidFill>
                      <a:srgbClr val="8899AA"/>
                    </a:solidFill>
                    <a:latin typeface="Aptos"/>
                  </a:rPr>
                  <a:t>Targeted file references and scoped rules.</a:t>
                </a:r>
              </a:p>
            </p:txBody>
          </p:sp>
          <p:sp>
            <p:nvSpPr>
              <p:cNvPr id="49" name="TextBox 48">
                <a:extLst>
                  <a:ext uri="{FF2B5EF4-FFF2-40B4-BE49-F238E27FC236}">
                    <a16:creationId xmlns:a16="http://schemas.microsoft.com/office/drawing/2014/main" id="{7C4512F2-3A51-4437-AA92-5E71B69CEB43}"/>
                  </a:ext>
                </a:extLst>
              </p:cNvPr>
              <p:cNvSpPr txBox="1"/>
              <p:nvPr/>
            </p:nvSpPr>
            <p:spPr>
              <a:xfrm>
                <a:off x="2081406" y="5772986"/>
                <a:ext cx="1387570" cy="738664"/>
              </a:xfrm>
              <a:prstGeom prst="rect">
                <a:avLst/>
              </a:prstGeom>
              <a:noFill/>
            </p:spPr>
            <p:txBody>
              <a:bodyPr wrap="square" lIns="0" tIns="0" rIns="0" bIns="0" rtlCol="0">
                <a:spAutoFit/>
              </a:bodyPr>
              <a:lstStyle/>
              <a:p>
                <a:pPr algn="ctr">
                  <a:spcBef>
                    <a:spcPts val="600"/>
                  </a:spcBef>
                </a:pPr>
                <a:r>
                  <a:rPr lang="en-US" sz="1200" b="1" dirty="0">
                    <a:latin typeface="Georgia" panose="02040502050405020303" pitchFamily="18" charset="0"/>
                  </a:rPr>
                  <a:t>Prompt Design</a:t>
                </a:r>
              </a:p>
              <a:p>
                <a:pPr algn="ctr">
                  <a:buNone/>
                </a:pPr>
                <a:r>
                  <a:rPr lang="en-US" sz="1200" dirty="0">
                    <a:solidFill>
                      <a:srgbClr val="8899AA"/>
                    </a:solidFill>
                    <a:latin typeface="Aptos"/>
                  </a:rPr>
                  <a:t>Goal, scope, constraints, and validation.</a:t>
                </a:r>
              </a:p>
            </p:txBody>
          </p:sp>
          <p:sp>
            <p:nvSpPr>
              <p:cNvPr id="50" name="TextBox 49">
                <a:extLst>
                  <a:ext uri="{FF2B5EF4-FFF2-40B4-BE49-F238E27FC236}">
                    <a16:creationId xmlns:a16="http://schemas.microsoft.com/office/drawing/2014/main" id="{7F48FDBC-E6B0-4470-B6C6-84720058CA0E}"/>
                  </a:ext>
                </a:extLst>
              </p:cNvPr>
              <p:cNvSpPr txBox="1"/>
              <p:nvPr/>
            </p:nvSpPr>
            <p:spPr>
              <a:xfrm>
                <a:off x="3688952" y="5777432"/>
                <a:ext cx="1515064" cy="553998"/>
              </a:xfrm>
              <a:prstGeom prst="rect">
                <a:avLst/>
              </a:prstGeom>
              <a:noFill/>
            </p:spPr>
            <p:txBody>
              <a:bodyPr wrap="square" lIns="0" tIns="0" rIns="0" bIns="0" rtlCol="0">
                <a:spAutoFit/>
              </a:bodyPr>
              <a:lstStyle/>
              <a:p>
                <a:pPr algn="ctr">
                  <a:spcBef>
                    <a:spcPts val="600"/>
                  </a:spcBef>
                </a:pPr>
                <a:r>
                  <a:rPr lang="en-US" sz="1200" b="1" dirty="0">
                    <a:latin typeface="Georgia" panose="02040502050405020303" pitchFamily="18" charset="0"/>
                  </a:rPr>
                  <a:t>Delegation at Scale</a:t>
                </a:r>
              </a:p>
              <a:p>
                <a:pPr algn="ctr">
                  <a:buNone/>
                </a:pPr>
                <a:r>
                  <a:rPr lang="en-US" sz="1200" dirty="0">
                    <a:solidFill>
                      <a:srgbClr val="8899AA"/>
                    </a:solidFill>
                    <a:latin typeface="Aptos"/>
                  </a:rPr>
                  <a:t>Subagents and parallel workflows.</a:t>
                </a:r>
              </a:p>
            </p:txBody>
          </p:sp>
          <p:sp>
            <p:nvSpPr>
              <p:cNvPr id="51" name="TextBox 50">
                <a:extLst>
                  <a:ext uri="{FF2B5EF4-FFF2-40B4-BE49-F238E27FC236}">
                    <a16:creationId xmlns:a16="http://schemas.microsoft.com/office/drawing/2014/main" id="{32C16DAA-57B6-4663-9600-AA7353BB1192}"/>
                  </a:ext>
                </a:extLst>
              </p:cNvPr>
              <p:cNvSpPr txBox="1"/>
              <p:nvPr/>
            </p:nvSpPr>
            <p:spPr>
              <a:xfrm>
                <a:off x="5423992" y="5772987"/>
                <a:ext cx="1739028" cy="553998"/>
              </a:xfrm>
              <a:prstGeom prst="rect">
                <a:avLst/>
              </a:prstGeom>
              <a:noFill/>
            </p:spPr>
            <p:txBody>
              <a:bodyPr wrap="square" lIns="0" tIns="0" rIns="0" bIns="0" rtlCol="0">
                <a:spAutoFit/>
              </a:bodyPr>
              <a:lstStyle/>
              <a:p>
                <a:pPr algn="ctr">
                  <a:spcBef>
                    <a:spcPts val="600"/>
                  </a:spcBef>
                </a:pPr>
                <a:r>
                  <a:rPr lang="en-US" sz="1200" b="1" dirty="0">
                    <a:latin typeface="Georgia" panose="02040502050405020303" pitchFamily="18" charset="0"/>
                  </a:rPr>
                  <a:t>Connected Workflows</a:t>
                </a:r>
              </a:p>
              <a:p>
                <a:pPr algn="ctr">
                  <a:buNone/>
                </a:pPr>
                <a:r>
                  <a:rPr lang="en-US" sz="1200" dirty="0">
                    <a:solidFill>
                      <a:srgbClr val="8899AA"/>
                    </a:solidFill>
                    <a:latin typeface="Aptos"/>
                  </a:rPr>
                  <a:t>MCP servers, hooks, and managed configs.</a:t>
                </a:r>
              </a:p>
            </p:txBody>
          </p:sp>
          <p:sp>
            <p:nvSpPr>
              <p:cNvPr id="52" name="TextBox 51">
                <a:extLst>
                  <a:ext uri="{FF2B5EF4-FFF2-40B4-BE49-F238E27FC236}">
                    <a16:creationId xmlns:a16="http://schemas.microsoft.com/office/drawing/2014/main" id="{3C2FA048-3B84-46B7-A341-EBE0DD910D79}"/>
                  </a:ext>
                </a:extLst>
              </p:cNvPr>
              <p:cNvSpPr txBox="1"/>
              <p:nvPr/>
            </p:nvSpPr>
            <p:spPr>
              <a:xfrm>
                <a:off x="7476516" y="5772985"/>
                <a:ext cx="1569686" cy="761798"/>
              </a:xfrm>
              <a:prstGeom prst="rect">
                <a:avLst/>
              </a:prstGeom>
              <a:noFill/>
            </p:spPr>
            <p:txBody>
              <a:bodyPr wrap="square" lIns="0" tIns="0" rIns="0" bIns="0" rtlCol="0">
                <a:spAutoFit/>
              </a:bodyPr>
              <a:lstStyle/>
              <a:p>
                <a:pPr algn="ctr">
                  <a:spcBef>
                    <a:spcPts val="600"/>
                  </a:spcBef>
                </a:pPr>
                <a:r>
                  <a:rPr lang="en-US" sz="1200" b="1" dirty="0">
                    <a:latin typeface="Georgia" panose="02040502050405020303" pitchFamily="18" charset="0"/>
                  </a:rPr>
                  <a:t>Trust &amp; Verification</a:t>
                </a:r>
              </a:p>
              <a:p>
                <a:pPr algn="ctr">
                  <a:buNone/>
                </a:pPr>
                <a:r>
                  <a:rPr lang="en-US" sz="1200" dirty="0">
                    <a:solidFill>
                      <a:srgbClr val="8899AA"/>
                    </a:solidFill>
                    <a:latin typeface="Aptos"/>
                  </a:rPr>
                  <a:t>Prevent hallucinations by grounding in files, evidence, and tests.</a:t>
                </a:r>
              </a:p>
            </p:txBody>
          </p:sp>
          <p:sp>
            <p:nvSpPr>
              <p:cNvPr id="59" name="TextBox 58">
                <a:extLst>
                  <a:ext uri="{FF2B5EF4-FFF2-40B4-BE49-F238E27FC236}">
                    <a16:creationId xmlns:a16="http://schemas.microsoft.com/office/drawing/2014/main" id="{86A756DC-A98B-4B3D-AB2B-DFF29FF3C0F3}"/>
                  </a:ext>
                </a:extLst>
              </p:cNvPr>
              <p:cNvSpPr txBox="1"/>
              <p:nvPr/>
            </p:nvSpPr>
            <p:spPr>
              <a:xfrm>
                <a:off x="3824067" y="1505379"/>
                <a:ext cx="3895107" cy="476124"/>
              </a:xfrm>
              <a:prstGeom prst="rect">
                <a:avLst/>
              </a:prstGeom>
              <a:noFill/>
            </p:spPr>
            <p:txBody>
              <a:bodyPr wrap="square" rtlCol="0">
                <a:spAutoFit/>
              </a:bodyPr>
              <a:lstStyle/>
              <a:p>
                <a:pPr algn="ctr">
                  <a:buNone/>
                </a:pPr>
                <a:r>
                  <a:rPr lang="en-US" sz="2400" b="1" dirty="0">
                    <a:solidFill>
                      <a:srgbClr val="1A2332"/>
                    </a:solidFill>
                    <a:latin typeface="Aptos Display"/>
                  </a:rPr>
                  <a:t>Agentic Engineering Pillers</a:t>
                </a:r>
              </a:p>
            </p:txBody>
          </p:sp>
        </p:grpSp>
        <p:grpSp>
          <p:nvGrpSpPr>
            <p:cNvPr id="68" name="Group 67">
              <a:extLst>
                <a:ext uri="{FF2B5EF4-FFF2-40B4-BE49-F238E27FC236}">
                  <a16:creationId xmlns:a16="http://schemas.microsoft.com/office/drawing/2014/main" id="{EA432F8F-2879-616A-2383-3D188D144BF6}"/>
                </a:ext>
              </a:extLst>
            </p:cNvPr>
            <p:cNvGrpSpPr/>
            <p:nvPr/>
          </p:nvGrpSpPr>
          <p:grpSpPr>
            <a:xfrm>
              <a:off x="1286472" y="2688301"/>
              <a:ext cx="9957633" cy="3644159"/>
              <a:chOff x="1286472" y="2688301"/>
              <a:chExt cx="9957633" cy="3644159"/>
            </a:xfrm>
          </p:grpSpPr>
          <p:sp>
            <p:nvSpPr>
              <p:cNvPr id="2" name="Rectangle 1">
                <a:extLst>
                  <a:ext uri="{FF2B5EF4-FFF2-40B4-BE49-F238E27FC236}">
                    <a16:creationId xmlns:a16="http://schemas.microsoft.com/office/drawing/2014/main" id="{3348BC61-B9BC-6802-C10C-00DF5E478799}"/>
                  </a:ext>
                </a:extLst>
              </p:cNvPr>
              <p:cNvSpPr/>
              <p:nvPr/>
            </p:nvSpPr>
            <p:spPr>
              <a:xfrm>
                <a:off x="9786094" y="3037301"/>
                <a:ext cx="1126918" cy="1807270"/>
              </a:xfrm>
              <a:prstGeom prst="rect">
                <a:avLst/>
              </a:prstGeom>
              <a:solidFill>
                <a:schemeClr val="accent6">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rapezoid 2">
                <a:extLst>
                  <a:ext uri="{FF2B5EF4-FFF2-40B4-BE49-F238E27FC236}">
                    <a16:creationId xmlns:a16="http://schemas.microsoft.com/office/drawing/2014/main" id="{4F01D6C5-E1D4-FB05-922E-1003EB3D01FA}"/>
                  </a:ext>
                </a:extLst>
              </p:cNvPr>
              <p:cNvSpPr/>
              <p:nvPr/>
            </p:nvSpPr>
            <p:spPr>
              <a:xfrm rot="10800000">
                <a:off x="9564712" y="2688301"/>
                <a:ext cx="1569684" cy="355868"/>
              </a:xfrm>
              <a:prstGeom prst="trapezoid">
                <a:avLst>
                  <a:gd name="adj" fmla="val 62913"/>
                </a:avLst>
              </a:prstGeom>
              <a:solidFill>
                <a:schemeClr val="accent6">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rapezoid 3">
                <a:extLst>
                  <a:ext uri="{FF2B5EF4-FFF2-40B4-BE49-F238E27FC236}">
                    <a16:creationId xmlns:a16="http://schemas.microsoft.com/office/drawing/2014/main" id="{80A49A76-2D19-973F-BD35-0CB9C42D7A17}"/>
                  </a:ext>
                </a:extLst>
              </p:cNvPr>
              <p:cNvSpPr/>
              <p:nvPr/>
            </p:nvSpPr>
            <p:spPr>
              <a:xfrm rot="10800000" flipV="1">
                <a:off x="9564707" y="4836823"/>
                <a:ext cx="1569686" cy="355868"/>
              </a:xfrm>
              <a:prstGeom prst="trapezoid">
                <a:avLst>
                  <a:gd name="adj" fmla="val 62913"/>
                </a:avLst>
              </a:prstGeom>
              <a:solidFill>
                <a:schemeClr val="accent6">
                  <a:lumMod val="60000"/>
                  <a:lumOff val="40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C0E97FB0-BB12-B3C6-3837-4191F7AE5A81}"/>
                  </a:ext>
                </a:extLst>
              </p:cNvPr>
              <p:cNvSpPr/>
              <p:nvPr/>
            </p:nvSpPr>
            <p:spPr>
              <a:xfrm>
                <a:off x="9965016" y="3519717"/>
                <a:ext cx="871948" cy="871949"/>
              </a:xfrm>
              <a:prstGeom prst="ellips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FB19B03-3C35-1C83-825E-5F3B144A0508}"/>
                  </a:ext>
                </a:extLst>
              </p:cNvPr>
              <p:cNvSpPr txBox="1"/>
              <p:nvPr/>
            </p:nvSpPr>
            <p:spPr>
              <a:xfrm>
                <a:off x="9369009" y="5761111"/>
                <a:ext cx="1875096" cy="571349"/>
              </a:xfrm>
              <a:prstGeom prst="rect">
                <a:avLst/>
              </a:prstGeom>
              <a:noFill/>
            </p:spPr>
            <p:txBody>
              <a:bodyPr wrap="square" lIns="0" tIns="0" rIns="0" bIns="0" rtlCol="0">
                <a:spAutoFit/>
              </a:bodyPr>
              <a:lstStyle/>
              <a:p>
                <a:pPr algn="ctr">
                  <a:spcBef>
                    <a:spcPts val="600"/>
                  </a:spcBef>
                </a:pPr>
                <a:r>
                  <a:rPr lang="en-US" sz="1200" b="1" dirty="0">
                    <a:latin typeface="Georgia" panose="02040502050405020303" pitchFamily="18" charset="0"/>
                  </a:rPr>
                  <a:t>Enterprise Governance</a:t>
                </a:r>
              </a:p>
              <a:p>
                <a:pPr algn="ctr">
                  <a:buNone/>
                </a:pPr>
                <a:r>
                  <a:rPr lang="en-US" sz="1200" dirty="0">
                    <a:solidFill>
                      <a:srgbClr val="8899AA"/>
                    </a:solidFill>
                    <a:latin typeface="Aptos"/>
                  </a:rPr>
                  <a:t>SSO, SCIM, Spend Controls, Compliance API.</a:t>
                </a:r>
              </a:p>
            </p:txBody>
          </p:sp>
          <p:pic>
            <p:nvPicPr>
              <p:cNvPr id="16" name="Graphic 989" descr="Context Engineering">
                <a:extLst>
                  <a:ext uri="{FF2B5EF4-FFF2-40B4-BE49-F238E27FC236}">
                    <a16:creationId xmlns:a16="http://schemas.microsoft.com/office/drawing/2014/main" id="{69529313-D3B5-BB91-62C0-1266254A6E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86472" y="3688579"/>
                <a:ext cx="355600" cy="355600"/>
              </a:xfrm>
              <a:prstGeom prst="rect">
                <a:avLst/>
              </a:prstGeom>
            </p:spPr>
          </p:pic>
          <p:pic>
            <p:nvPicPr>
              <p:cNvPr id="17" name="Graphic 990" descr="Prompt Design">
                <a:extLst>
                  <a:ext uri="{FF2B5EF4-FFF2-40B4-BE49-F238E27FC236}">
                    <a16:creationId xmlns:a16="http://schemas.microsoft.com/office/drawing/2014/main" id="{720DFB95-EEA8-F7B3-304C-7F8FD4F8C50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09488" y="3688585"/>
                <a:ext cx="412984" cy="412984"/>
              </a:xfrm>
              <a:prstGeom prst="rect">
                <a:avLst/>
              </a:prstGeom>
            </p:spPr>
          </p:pic>
          <p:pic>
            <p:nvPicPr>
              <p:cNvPr id="46" name="Graphic 991" descr="Delegation at Scale">
                <a:extLst>
                  <a:ext uri="{FF2B5EF4-FFF2-40B4-BE49-F238E27FC236}">
                    <a16:creationId xmlns:a16="http://schemas.microsoft.com/office/drawing/2014/main" id="{855311A1-8EB8-C8CD-0FF5-1A62EA193C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52592" y="3738823"/>
                <a:ext cx="412258" cy="412258"/>
              </a:xfrm>
              <a:prstGeom prst="rect">
                <a:avLst/>
              </a:prstGeom>
            </p:spPr>
          </p:pic>
          <p:pic>
            <p:nvPicPr>
              <p:cNvPr id="56" name="Graphic 992" descr="Connected Workflows">
                <a:extLst>
                  <a:ext uri="{FF2B5EF4-FFF2-40B4-BE49-F238E27FC236}">
                    <a16:creationId xmlns:a16="http://schemas.microsoft.com/office/drawing/2014/main" id="{BB0D6F32-F98B-8653-0CAD-3A28162CF9B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11328" y="3684107"/>
                <a:ext cx="480648" cy="480648"/>
              </a:xfrm>
              <a:prstGeom prst="rect">
                <a:avLst/>
              </a:prstGeom>
            </p:spPr>
          </p:pic>
          <p:pic>
            <p:nvPicPr>
              <p:cNvPr id="65" name="Graphic 993" descr="Trust and Verification">
                <a:extLst>
                  <a:ext uri="{FF2B5EF4-FFF2-40B4-BE49-F238E27FC236}">
                    <a16:creationId xmlns:a16="http://schemas.microsoft.com/office/drawing/2014/main" id="{18FD1A2B-8155-4001-1F69-00FCFC3C1CD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59392" y="3698630"/>
                <a:ext cx="442961" cy="442961"/>
              </a:xfrm>
              <a:prstGeom prst="rect">
                <a:avLst/>
              </a:prstGeom>
            </p:spPr>
          </p:pic>
          <p:pic>
            <p:nvPicPr>
              <p:cNvPr id="66" name="Graphic 994" descr="Enterprise Governance">
                <a:extLst>
                  <a:ext uri="{FF2B5EF4-FFF2-40B4-BE49-F238E27FC236}">
                    <a16:creationId xmlns:a16="http://schemas.microsoft.com/office/drawing/2014/main" id="{39E3291E-E14C-7107-79C9-49AE35A2A56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62793" y="3708680"/>
                <a:ext cx="458313" cy="458313"/>
              </a:xfrm>
              <a:prstGeom prst="rect">
                <a:avLst/>
              </a:prstGeom>
            </p:spPr>
          </p:pic>
        </p:grpSp>
      </p:grpSp>
      <p:sp>
        <p:nvSpPr>
          <p:cNvPr id="200" name="Text 0"/>
          <p:cNvSpPr/>
          <p:nvPr/>
        </p:nvSpPr>
        <p:spPr>
          <a:xfrm>
            <a:off x="660400" y="76200"/>
            <a:ext cx="8051800" cy="381000"/>
          </a:xfrm>
          <a:prstGeom prst="rect">
            <a:avLst/>
          </a:prstGeom>
          <a:noFill/>
          <a:ln>
            <a:noFill/>
          </a:ln>
        </p:spPr>
        <p:txBody>
          <a:bodyPr wrap="square" lIns="0" tIns="0" rIns="0" bIns="0" anchor="t"/>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What this session covers</a:t>
            </a:r>
            <a:endParaRPr lang="en-US" sz="2700" dirty="0">
              <a:solidFill>
                <a:srgbClr val="FFFFFF"/>
              </a:solidFill>
            </a:endParaRPr>
          </a:p>
        </p:txBody>
      </p:sp>
      <p:sp>
        <p:nvSpPr>
          <p:cNvPr id="201" name="Text 1"/>
          <p:cNvSpPr/>
          <p:nvPr/>
        </p:nvSpPr>
        <p:spPr>
          <a:xfrm>
            <a:off x="660400" y="609600"/>
            <a:ext cx="9512300" cy="254000"/>
          </a:xfrm>
          <a:prstGeom prst="rect">
            <a:avLst/>
          </a:prstGeom>
          <a:noFill/>
          <a:ln>
            <a:noFill/>
          </a:ln>
        </p:spPr>
        <p:txBody>
          <a:bodyPr wrap="square" lIns="0" tIns="0" rIns="0" bIns="0" anchor="t"/>
          <a:lstStyle/>
          <a:p>
            <a:pPr marL="0" indent="0">
              <a:buNone/>
            </a:pPr>
            <a:r>
              <a:rPr lang="en-US" sz="1400" dirty="0">
                <a:solidFill>
                  <a:srgbClr val="3972C1"/>
                </a:solidFill>
                <a:latin typeface="Aptos" pitchFamily="34" charset="0"/>
                <a:ea typeface="Aptos" pitchFamily="34" charset="-122"/>
                <a:cs typeface="Aptos" pitchFamily="34" charset="-120"/>
              </a:rPr>
              <a:t>Six pillars for deploying Claude Code effectively across enterprise engineering teams</a:t>
            </a:r>
            <a:endParaRPr lang="en-US" sz="1400" dirty="0">
              <a:solidFill>
                <a:srgbClr val="3972C1"/>
              </a:solidFill>
            </a:endParaRPr>
          </a:p>
        </p:txBody>
      </p:sp>
      <p:cxnSp>
        <p:nvCxnSpPr>
          <p:cNvPr id="202" name="Shape 2"/>
          <p:cNvCxnSpPr/>
          <p:nvPr/>
        </p:nvCxnSpPr>
        <p:spPr>
          <a:xfrm>
            <a:off x="0" y="901700"/>
            <a:ext cx="12192000" cy="0"/>
          </a:xfrm>
          <a:prstGeom prst="line">
            <a:avLst/>
          </a:prstGeom>
          <a:ln w="12700">
            <a:solidFill>
              <a:srgbClr val="3972C1"/>
            </a:solidFill>
          </a:ln>
        </p:spPr>
      </p:cxnSp>
      <p:sp>
        <p:nvSpPr>
          <p:cNvPr id="203" name="Text 31"/>
          <p:cNvSpPr/>
          <p:nvPr/>
        </p:nvSpPr>
        <p:spPr>
          <a:xfrm>
            <a:off x="660400" y="6426200"/>
            <a:ext cx="3835400" cy="177800"/>
          </a:xfrm>
          <a:prstGeom prst="rect">
            <a:avLst/>
          </a:prstGeom>
          <a:noFill/>
          <a:ln>
            <a:noFill/>
          </a:ln>
        </p:spPr>
        <p:txBody>
          <a:bodyPr wrap="square" lIns="0" tIns="0" rIns="0" bIns="0" anchor="t"/>
          <a:lstStyle/>
          <a:p>
            <a:pPr marL="0" indent="0">
              <a:buNone/>
            </a:pPr>
            <a:r>
              <a:rPr lang="en-US" sz="850" dirty="0">
                <a:solidFill>
                  <a:srgbClr val="FFFFFF"/>
                </a:solidFill>
              </a:rPr>
              <a:t>Session map</a:t>
            </a:r>
          </a:p>
        </p:txBody>
      </p:sp>
      <p:sp>
        <p:nvSpPr>
          <p:cNvPr id="204" name="Text 32"/>
          <p:cNvSpPr/>
          <p:nvPr/>
        </p:nvSpPr>
        <p:spPr>
          <a:xfrm>
            <a:off x="10426700" y="6426200"/>
            <a:ext cx="1092200" cy="177800"/>
          </a:xfrm>
          <a:prstGeom prst="rect">
            <a:avLst/>
          </a:prstGeom>
          <a:noFill/>
          <a:ln>
            <a:noFill/>
          </a:ln>
        </p:spPr>
        <p:txBody>
          <a:bodyPr wrap="square" lIns="0" tIns="0" rIns="0" bIns="0" anchor="t"/>
          <a:lstStyle/>
          <a:p>
            <a:pPr marL="0" indent="0" algn="r">
              <a:buNone/>
            </a:pPr>
            <a:r>
              <a:rPr lang="en-US" sz="850" dirty="0">
                <a:solidFill>
                  <a:srgbClr val="FFFFFF"/>
                </a:solidFill>
              </a:rPr>
              <a:t>3</a:t>
            </a:r>
          </a:p>
        </p:txBody>
      </p:sp>
    </p:spTree>
    <p:extLst>
      <p:ext uri="{BB962C8B-B14F-4D97-AF65-F5344CB8AC3E}">
        <p14:creationId xmlns:p14="http://schemas.microsoft.com/office/powerpoint/2010/main" val="4027984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alpha val="100000"/>
          </a:srgbClr>
        </a:solidFill>
        <a:effectLst/>
      </p:bgPr>
    </p:bg>
    <p:spTree>
      <p:nvGrpSpPr>
        <p:cNvPr id="1" name=""/>
        <p:cNvGrpSpPr/>
        <p:nvPr/>
      </p:nvGrpSpPr>
      <p:grpSpPr>
        <a:xfrm>
          <a:off x="0" y="0"/>
          <a:ext cx="0" cy="0"/>
          <a:chOff x="0" y="0"/>
          <a:chExt cx="0" cy="0"/>
        </a:xfrm>
      </p:grpSpPr>
      <p:sp>
        <p:nvSpPr>
          <p:cNvPr id="2" name="Text 0"/>
          <p:cNvSpPr/>
          <p:nvPr/>
        </p:nvSpPr>
        <p:spPr>
          <a:xfrm>
            <a:off x="658368" y="76200"/>
            <a:ext cx="8046720" cy="38100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Claude Code operating model</a:t>
            </a:r>
            <a:endParaRPr lang="en-US" sz="2700" dirty="0">
              <a:solidFill>
                <a:srgbClr val="FFFFFF"/>
              </a:solidFill>
            </a:endParaRPr>
          </a:p>
        </p:txBody>
      </p:sp>
      <p:sp>
        <p:nvSpPr>
          <p:cNvPr id="3" name="Text 1"/>
          <p:cNvSpPr/>
          <p:nvPr/>
        </p:nvSpPr>
        <p:spPr>
          <a:xfrm>
            <a:off x="658368" y="609600"/>
            <a:ext cx="9509760" cy="254000"/>
          </a:xfrm>
          <a:prstGeom prst="rect">
            <a:avLst/>
          </a:prstGeom>
          <a:noFill/>
          <a:ln/>
        </p:spPr>
        <p:txBody>
          <a:bodyPr wrap="square" lIns="0" tIns="0" rIns="0" bIns="0" rtlCol="0" anchor="ctr"/>
          <a:lstStyle/>
          <a:p>
            <a:pPr marL="0" indent="0">
              <a:buNone/>
            </a:pPr>
            <a:r>
              <a:rPr lang="en-US" sz="1400" dirty="0">
                <a:solidFill>
                  <a:srgbClr val="3972C1"/>
                </a:solidFill>
                <a:latin typeface="Aptos" pitchFamily="34" charset="0"/>
                <a:ea typeface="Aptos" pitchFamily="34" charset="-122"/>
                <a:cs typeface="Aptos" pitchFamily="34" charset="-120"/>
              </a:rPr>
              <a:t>Claude Code is an agent with tools, memory, delegation, Agent Teams, and a verification loop</a:t>
            </a:r>
            <a:endParaRPr lang="en-US" sz="1400" dirty="0">
              <a:solidFill>
                <a:srgbClr val="3972C1"/>
              </a:solidFill>
            </a:endParaRPr>
          </a:p>
        </p:txBody>
      </p:sp>
      <p:sp>
        <p:nvSpPr>
          <p:cNvPr id="4" name="Shape 2"/>
          <p:cNvSpPr/>
          <p:nvPr/>
        </p:nvSpPr>
        <p:spPr>
          <a:xfrm>
            <a:off x="0" y="914400"/>
            <a:ext cx="12192000" cy="0"/>
          </a:xfrm>
          <a:prstGeom prst="line">
            <a:avLst/>
          </a:prstGeom>
          <a:noFill/>
          <a:ln w="12700">
            <a:solidFill>
              <a:srgbClr val="1565C0"/>
            </a:solidFill>
            <a:prstDash val="solid"/>
          </a:ln>
        </p:spPr>
        <p:txBody>
          <a:bodyPr/>
          <a:lstStyle/>
          <a:p>
            <a:endParaRPr lang="en-US"/>
          </a:p>
        </p:txBody>
      </p:sp>
      <p:sp>
        <p:nvSpPr>
          <p:cNvPr id="26" name="Text 24"/>
          <p:cNvSpPr/>
          <p:nvPr/>
        </p:nvSpPr>
        <p:spPr>
          <a:xfrm>
            <a:off x="10424160" y="6428232"/>
            <a:ext cx="1097280" cy="182880"/>
          </a:xfrm>
          <a:prstGeom prst="rect">
            <a:avLst/>
          </a:prstGeom>
          <a:noFill/>
          <a:ln/>
        </p:spPr>
        <p:txBody>
          <a:bodyPr wrap="square" lIns="0" tIns="0" rIns="0" bIns="0" rtlCol="0" anchor="ctr"/>
          <a:lstStyle/>
          <a:p>
            <a:pPr marL="0" indent="0" algn="r">
              <a:buNone/>
            </a:pPr>
            <a:r>
              <a:rPr lang="en-US" sz="850" dirty="0">
                <a:solidFill>
                  <a:srgbClr val="FFFFFF"/>
                </a:solidFill>
              </a:rPr>
              <a:t>6</a:t>
            </a:r>
          </a:p>
        </p:txBody>
      </p:sp>
      <p:sp>
        <p:nvSpPr>
          <p:cNvPr id="700" name="Hero"/>
          <p:cNvSpPr/>
          <p:nvPr/>
        </p:nvSpPr>
        <p:spPr>
          <a:xfrm>
            <a:off x="221064" y="1079500"/>
            <a:ext cx="11793136" cy="622297"/>
          </a:xfrm>
          <a:prstGeom prst="roundRect">
            <a:avLst>
              <a:gd name="adj" fmla="val 12000"/>
            </a:avLst>
          </a:prstGeom>
          <a:gradFill>
            <a:gsLst>
              <a:gs pos="0">
                <a:srgbClr val="5B6ABF"/>
              </a:gs>
              <a:gs pos="100000">
                <a:srgbClr val="3B4A9E"/>
              </a:gs>
            </a:gsLst>
            <a:lin ang="0" scaled="1"/>
          </a:gradFill>
          <a:ln w="0">
            <a:noFill/>
          </a:ln>
        </p:spPr>
        <p:txBody>
          <a:bodyPr wrap="square" lIns="0" tIns="0" rIns="0" bIns="0" anchor="ctr" anchorCtr="1"/>
          <a:lstStyle/>
          <a:p>
            <a:pPr algn="ctr">
              <a:buNone/>
            </a:pPr>
            <a:r>
              <a:rPr lang="en-US" sz="2200" b="1" dirty="0">
                <a:solidFill>
                  <a:srgbClr val="FFFFFF"/>
                </a:solidFill>
                <a:latin typeface="Aptos Display"/>
              </a:rPr>
              <a:t>Claude Code</a:t>
            </a:r>
            <a:r>
              <a:rPr lang="en-US" sz="1400" dirty="0">
                <a:solidFill>
                  <a:srgbClr val="E8EDF5"/>
                </a:solidFill>
                <a:latin typeface="Aptos"/>
              </a:rPr>
              <a:t>   agent with tools, memory, delegation, and verification</a:t>
            </a:r>
          </a:p>
        </p:txBody>
      </p:sp>
      <p:sp>
        <p:nvSpPr>
          <p:cNvPr id="701" name="DownArrow"/>
          <p:cNvSpPr/>
          <p:nvPr/>
        </p:nvSpPr>
        <p:spPr>
          <a:xfrm>
            <a:off x="5969000" y="1701797"/>
            <a:ext cx="254000" cy="419100"/>
          </a:xfrm>
          <a:prstGeom prst="downArrow">
            <a:avLst/>
          </a:prstGeom>
          <a:solidFill>
            <a:srgbClr val="5B6ABF">
              <a:alpha val="50000"/>
            </a:srgbClr>
          </a:solidFill>
          <a:ln w="0">
            <a:noFill/>
          </a:ln>
        </p:spPr>
        <p:txBody>
          <a:bodyPr/>
          <a:lstStyle/>
          <a:p>
            <a:endParaRPr lang="en-US"/>
          </a:p>
        </p:txBody>
      </p:sp>
      <p:grpSp>
        <p:nvGrpSpPr>
          <p:cNvPr id="6" name="Group 5">
            <a:extLst>
              <a:ext uri="{FF2B5EF4-FFF2-40B4-BE49-F238E27FC236}">
                <a16:creationId xmlns:a16="http://schemas.microsoft.com/office/drawing/2014/main" id="{35415EDF-CC3A-3820-C4FE-2E91DE9F3A28}"/>
              </a:ext>
            </a:extLst>
          </p:cNvPr>
          <p:cNvGrpSpPr/>
          <p:nvPr/>
        </p:nvGrpSpPr>
        <p:grpSpPr>
          <a:xfrm>
            <a:off x="221064" y="2120897"/>
            <a:ext cx="11793136" cy="2095500"/>
            <a:chOff x="221064" y="2057400"/>
            <a:chExt cx="11793136" cy="2095500"/>
          </a:xfrm>
        </p:grpSpPr>
        <p:sp>
          <p:nvSpPr>
            <p:cNvPr id="5" name="Rectangle 4">
              <a:extLst>
                <a:ext uri="{FF2B5EF4-FFF2-40B4-BE49-F238E27FC236}">
                  <a16:creationId xmlns:a16="http://schemas.microsoft.com/office/drawing/2014/main" id="{2A424EB0-A961-A98C-963F-B2E5FF8F224B}"/>
                </a:ext>
              </a:extLst>
            </p:cNvPr>
            <p:cNvSpPr/>
            <p:nvPr/>
          </p:nvSpPr>
          <p:spPr>
            <a:xfrm>
              <a:off x="221064" y="2057400"/>
              <a:ext cx="11793136" cy="2095500"/>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Pillar0"/>
            <p:cNvSpPr/>
            <p:nvPr/>
          </p:nvSpPr>
          <p:spPr>
            <a:xfrm>
              <a:off x="357691" y="2216150"/>
              <a:ext cx="2476500" cy="1778000"/>
            </a:xfrm>
            <a:prstGeom prst="roundRect">
              <a:avLst>
                <a:gd name="adj" fmla="val 8000"/>
              </a:avLst>
            </a:prstGeom>
            <a:solidFill>
              <a:srgbClr val="3B82F6">
                <a:alpha val="20000"/>
              </a:srgbClr>
            </a:solidFill>
            <a:ln w="12700">
              <a:solidFill>
                <a:srgbClr val="3B82F6">
                  <a:alpha val="40000"/>
                </a:srgbClr>
              </a:solidFill>
            </a:ln>
          </p:spPr>
          <p:txBody>
            <a:bodyPr/>
            <a:lstStyle/>
            <a:p>
              <a:endParaRPr lang="en-US"/>
            </a:p>
          </p:txBody>
        </p:sp>
        <p:sp>
          <p:nvSpPr>
            <p:cNvPr id="711" name="PIcon0"/>
            <p:cNvSpPr/>
            <p:nvPr/>
          </p:nvSpPr>
          <p:spPr>
            <a:xfrm>
              <a:off x="1326662" y="2296668"/>
              <a:ext cx="482600" cy="482600"/>
            </a:xfrm>
            <a:prstGeom prst="ellipse">
              <a:avLst/>
            </a:prstGeom>
            <a:solidFill>
              <a:srgbClr val="3B82F6"/>
            </a:solidFill>
            <a:ln w="0">
              <a:noFill/>
            </a:ln>
          </p:spPr>
          <p:txBody>
            <a:bodyPr wrap="none" lIns="0" tIns="0" rIns="0" bIns="0" anchor="ctr" anchorCtr="1"/>
            <a:lstStyle/>
            <a:p>
              <a:pPr algn="ctr">
                <a:buNone/>
              </a:pPr>
              <a:r>
                <a:rPr lang="en-US" sz="1600" b="1" dirty="0">
                  <a:solidFill>
                    <a:srgbClr val="FFFFFF"/>
                  </a:solidFill>
                  <a:latin typeface="Aptos Display"/>
                </a:rPr>
                <a:t>C</a:t>
              </a:r>
            </a:p>
          </p:txBody>
        </p:sp>
        <p:sp>
          <p:nvSpPr>
            <p:cNvPr id="712" name="PTitle0"/>
            <p:cNvSpPr/>
            <p:nvPr/>
          </p:nvSpPr>
          <p:spPr>
            <a:xfrm>
              <a:off x="381000" y="2863850"/>
              <a:ext cx="2222500" cy="304800"/>
            </a:xfrm>
            <a:prstGeom prst="rect">
              <a:avLst/>
            </a:prstGeom>
            <a:noFill/>
            <a:ln w="0">
              <a:noFill/>
            </a:ln>
          </p:spPr>
          <p:txBody>
            <a:bodyPr wrap="square" lIns="0" tIns="0" rIns="0" bIns="0" anchor="t"/>
            <a:lstStyle/>
            <a:p>
              <a:pPr algn="ctr">
                <a:buNone/>
              </a:pPr>
              <a:r>
                <a:rPr lang="en-US" sz="1500" b="1" dirty="0">
                  <a:solidFill>
                    <a:srgbClr val="1A2332"/>
                  </a:solidFill>
                  <a:latin typeface="Aptos Display"/>
                </a:rPr>
                <a:t>Context</a:t>
              </a:r>
            </a:p>
          </p:txBody>
        </p:sp>
        <p:sp>
          <p:nvSpPr>
            <p:cNvPr id="713" name="PDesc0"/>
            <p:cNvSpPr/>
            <p:nvPr/>
          </p:nvSpPr>
          <p:spPr>
            <a:xfrm>
              <a:off x="482112" y="3175000"/>
              <a:ext cx="2171700" cy="558800"/>
            </a:xfrm>
            <a:prstGeom prst="rect">
              <a:avLst/>
            </a:prstGeom>
            <a:noFill/>
            <a:ln w="0">
              <a:noFill/>
            </a:ln>
          </p:spPr>
          <p:txBody>
            <a:bodyPr wrap="square" lIns="0" tIns="0" rIns="0" bIns="0" anchor="t"/>
            <a:lstStyle/>
            <a:p>
              <a:pPr algn="ctr">
                <a:buNone/>
              </a:pPr>
              <a:r>
                <a:rPr lang="en-US" sz="1200" dirty="0">
                  <a:solidFill>
                    <a:srgbClr val="4A5568"/>
                  </a:solidFill>
                  <a:latin typeface="Aptos"/>
                </a:rPr>
                <a:t>CLAUDE.md, rules, @file refs, /context</a:t>
              </a:r>
            </a:p>
          </p:txBody>
        </p:sp>
        <p:sp>
          <p:nvSpPr>
            <p:cNvPr id="714" name="Arrow0"/>
            <p:cNvSpPr/>
            <p:nvPr/>
          </p:nvSpPr>
          <p:spPr>
            <a:xfrm>
              <a:off x="3000413" y="3050791"/>
              <a:ext cx="228600" cy="254000"/>
            </a:xfrm>
            <a:prstGeom prst="rightArrow">
              <a:avLst>
                <a:gd name="adj1" fmla="val 50000"/>
                <a:gd name="adj2" fmla="val 50000"/>
              </a:avLst>
            </a:prstGeom>
            <a:solidFill>
              <a:srgbClr val="4A5568">
                <a:alpha val="40000"/>
              </a:srgbClr>
            </a:solidFill>
            <a:ln w="0">
              <a:noFill/>
            </a:ln>
          </p:spPr>
          <p:txBody>
            <a:bodyPr/>
            <a:lstStyle/>
            <a:p>
              <a:endParaRPr lang="en-US"/>
            </a:p>
          </p:txBody>
        </p:sp>
        <p:sp>
          <p:nvSpPr>
            <p:cNvPr id="720" name="Pillar1"/>
            <p:cNvSpPr/>
            <p:nvPr/>
          </p:nvSpPr>
          <p:spPr>
            <a:xfrm>
              <a:off x="3406814" y="2216150"/>
              <a:ext cx="2476500" cy="1778000"/>
            </a:xfrm>
            <a:prstGeom prst="roundRect">
              <a:avLst>
                <a:gd name="adj" fmla="val 8000"/>
              </a:avLst>
            </a:prstGeom>
            <a:solidFill>
              <a:srgbClr val="10B981">
                <a:alpha val="20000"/>
              </a:srgbClr>
            </a:solidFill>
            <a:ln w="12700">
              <a:solidFill>
                <a:srgbClr val="10B981">
                  <a:alpha val="40000"/>
                </a:srgbClr>
              </a:solidFill>
            </a:ln>
          </p:spPr>
          <p:txBody>
            <a:bodyPr/>
            <a:lstStyle/>
            <a:p>
              <a:endParaRPr lang="en-US"/>
            </a:p>
          </p:txBody>
        </p:sp>
        <p:sp>
          <p:nvSpPr>
            <p:cNvPr id="721" name="PIcon1"/>
            <p:cNvSpPr/>
            <p:nvPr/>
          </p:nvSpPr>
          <p:spPr>
            <a:xfrm>
              <a:off x="4423860" y="2307030"/>
              <a:ext cx="482600" cy="482600"/>
            </a:xfrm>
            <a:prstGeom prst="ellipse">
              <a:avLst/>
            </a:prstGeom>
            <a:solidFill>
              <a:srgbClr val="10B981"/>
            </a:solidFill>
            <a:ln w="0">
              <a:noFill/>
            </a:ln>
          </p:spPr>
          <p:txBody>
            <a:bodyPr wrap="none" lIns="0" tIns="0" rIns="0" bIns="0" anchor="ctr" anchorCtr="1"/>
            <a:lstStyle/>
            <a:p>
              <a:pPr algn="ctr">
                <a:buNone/>
              </a:pPr>
              <a:r>
                <a:rPr lang="en-US" sz="1600" b="1" dirty="0">
                  <a:solidFill>
                    <a:srgbClr val="FFFFFF"/>
                  </a:solidFill>
                  <a:latin typeface="Aptos Display"/>
                </a:rPr>
                <a:t>T</a:t>
              </a:r>
            </a:p>
          </p:txBody>
        </p:sp>
        <p:sp>
          <p:nvSpPr>
            <p:cNvPr id="722" name="PTitle1"/>
            <p:cNvSpPr/>
            <p:nvPr/>
          </p:nvSpPr>
          <p:spPr>
            <a:xfrm>
              <a:off x="3523204" y="2854917"/>
              <a:ext cx="2222500" cy="304800"/>
            </a:xfrm>
            <a:prstGeom prst="rect">
              <a:avLst/>
            </a:prstGeom>
            <a:noFill/>
            <a:ln w="0">
              <a:noFill/>
            </a:ln>
          </p:spPr>
          <p:txBody>
            <a:bodyPr wrap="square" lIns="0" tIns="0" rIns="0" bIns="0" anchor="t"/>
            <a:lstStyle/>
            <a:p>
              <a:pPr algn="ctr">
                <a:buNone/>
              </a:pPr>
              <a:r>
                <a:rPr lang="en-US" sz="1500" b="1" dirty="0">
                  <a:solidFill>
                    <a:srgbClr val="1A2332"/>
                  </a:solidFill>
                  <a:latin typeface="Aptos Display"/>
                </a:rPr>
                <a:t>Tools</a:t>
              </a:r>
            </a:p>
          </p:txBody>
        </p:sp>
        <p:sp>
          <p:nvSpPr>
            <p:cNvPr id="723" name="PDesc1"/>
            <p:cNvSpPr/>
            <p:nvPr/>
          </p:nvSpPr>
          <p:spPr>
            <a:xfrm>
              <a:off x="3574004" y="3188594"/>
              <a:ext cx="2171700" cy="558800"/>
            </a:xfrm>
            <a:prstGeom prst="rect">
              <a:avLst/>
            </a:prstGeom>
            <a:noFill/>
            <a:ln w="0">
              <a:noFill/>
            </a:ln>
          </p:spPr>
          <p:txBody>
            <a:bodyPr wrap="square" lIns="0" tIns="0" rIns="0" bIns="0" anchor="t"/>
            <a:lstStyle/>
            <a:p>
              <a:pPr algn="ctr">
                <a:buNone/>
              </a:pPr>
              <a:r>
                <a:rPr lang="en-US" sz="1200" dirty="0">
                  <a:solidFill>
                    <a:srgbClr val="4A5568"/>
                  </a:solidFill>
                  <a:latin typeface="Aptos"/>
                </a:rPr>
                <a:t>read, edit, bash, git, hooks, MCP</a:t>
              </a:r>
            </a:p>
          </p:txBody>
        </p:sp>
        <p:sp>
          <p:nvSpPr>
            <p:cNvPr id="724" name="Arrow1"/>
            <p:cNvSpPr/>
            <p:nvPr/>
          </p:nvSpPr>
          <p:spPr>
            <a:xfrm>
              <a:off x="6049388" y="3050791"/>
              <a:ext cx="228600" cy="254000"/>
            </a:xfrm>
            <a:prstGeom prst="rightArrow">
              <a:avLst>
                <a:gd name="adj1" fmla="val 50000"/>
                <a:gd name="adj2" fmla="val 50000"/>
              </a:avLst>
            </a:prstGeom>
            <a:solidFill>
              <a:srgbClr val="4A5568">
                <a:alpha val="40000"/>
              </a:srgbClr>
            </a:solidFill>
            <a:ln w="0">
              <a:noFill/>
            </a:ln>
          </p:spPr>
          <p:txBody>
            <a:bodyPr/>
            <a:lstStyle/>
            <a:p>
              <a:endParaRPr lang="en-US"/>
            </a:p>
          </p:txBody>
        </p:sp>
        <p:sp>
          <p:nvSpPr>
            <p:cNvPr id="730" name="Pillar2"/>
            <p:cNvSpPr/>
            <p:nvPr/>
          </p:nvSpPr>
          <p:spPr>
            <a:xfrm>
              <a:off x="6436808" y="2216150"/>
              <a:ext cx="2476500" cy="1778000"/>
            </a:xfrm>
            <a:prstGeom prst="roundRect">
              <a:avLst>
                <a:gd name="adj" fmla="val 8000"/>
              </a:avLst>
            </a:prstGeom>
            <a:solidFill>
              <a:srgbClr val="F59E0B">
                <a:alpha val="20000"/>
              </a:srgbClr>
            </a:solidFill>
            <a:ln w="12700">
              <a:solidFill>
                <a:srgbClr val="F59E0B">
                  <a:alpha val="40000"/>
                </a:srgbClr>
              </a:solidFill>
            </a:ln>
          </p:spPr>
          <p:txBody>
            <a:bodyPr/>
            <a:lstStyle/>
            <a:p>
              <a:endParaRPr lang="en-US"/>
            </a:p>
          </p:txBody>
        </p:sp>
        <p:sp>
          <p:nvSpPr>
            <p:cNvPr id="731" name="PIcon2"/>
            <p:cNvSpPr/>
            <p:nvPr/>
          </p:nvSpPr>
          <p:spPr>
            <a:xfrm>
              <a:off x="7443806" y="2296668"/>
              <a:ext cx="482600" cy="482600"/>
            </a:xfrm>
            <a:prstGeom prst="ellipse">
              <a:avLst/>
            </a:prstGeom>
            <a:solidFill>
              <a:srgbClr val="F59E0B"/>
            </a:solidFill>
            <a:ln w="0">
              <a:noFill/>
            </a:ln>
          </p:spPr>
          <p:txBody>
            <a:bodyPr wrap="none" lIns="0" tIns="0" rIns="0" bIns="0" anchor="ctr" anchorCtr="1"/>
            <a:lstStyle/>
            <a:p>
              <a:pPr algn="ctr">
                <a:buNone/>
              </a:pPr>
              <a:r>
                <a:rPr lang="en-US" sz="1600" b="1" dirty="0">
                  <a:solidFill>
                    <a:srgbClr val="FFFFFF"/>
                  </a:solidFill>
                  <a:latin typeface="Aptos Display"/>
                </a:rPr>
                <a:t>M</a:t>
              </a:r>
            </a:p>
          </p:txBody>
        </p:sp>
        <p:sp>
          <p:nvSpPr>
            <p:cNvPr id="732" name="PTitle2"/>
            <p:cNvSpPr/>
            <p:nvPr/>
          </p:nvSpPr>
          <p:spPr>
            <a:xfrm>
              <a:off x="6502398" y="2863850"/>
              <a:ext cx="2222500" cy="304800"/>
            </a:xfrm>
            <a:prstGeom prst="rect">
              <a:avLst/>
            </a:prstGeom>
            <a:noFill/>
            <a:ln w="0">
              <a:noFill/>
            </a:ln>
          </p:spPr>
          <p:txBody>
            <a:bodyPr wrap="square" lIns="0" tIns="0" rIns="0" bIns="0" anchor="t"/>
            <a:lstStyle/>
            <a:p>
              <a:pPr algn="ctr">
                <a:buNone/>
              </a:pPr>
              <a:r>
                <a:rPr lang="en-US" sz="1500" b="1" dirty="0">
                  <a:solidFill>
                    <a:srgbClr val="1A2332"/>
                  </a:solidFill>
                  <a:latin typeface="Aptos Display"/>
                </a:rPr>
                <a:t>Memory</a:t>
              </a:r>
            </a:p>
          </p:txBody>
        </p:sp>
        <p:sp>
          <p:nvSpPr>
            <p:cNvPr id="733" name="PDesc2"/>
            <p:cNvSpPr/>
            <p:nvPr/>
          </p:nvSpPr>
          <p:spPr>
            <a:xfrm>
              <a:off x="6527798" y="3188716"/>
              <a:ext cx="2171700" cy="558800"/>
            </a:xfrm>
            <a:prstGeom prst="rect">
              <a:avLst/>
            </a:prstGeom>
            <a:noFill/>
            <a:ln w="0">
              <a:noFill/>
            </a:ln>
          </p:spPr>
          <p:txBody>
            <a:bodyPr wrap="square" lIns="0" tIns="0" rIns="0" bIns="0" anchor="t"/>
            <a:lstStyle/>
            <a:p>
              <a:pPr algn="ctr">
                <a:buNone/>
              </a:pPr>
              <a:r>
                <a:rPr lang="en-US" sz="1200" dirty="0">
                  <a:solidFill>
                    <a:srgbClr val="4A5568"/>
                  </a:solidFill>
                  <a:latin typeface="Aptos"/>
                </a:rPr>
                <a:t>auto memory, timestamps, custom dirs</a:t>
              </a:r>
            </a:p>
          </p:txBody>
        </p:sp>
        <p:sp>
          <p:nvSpPr>
            <p:cNvPr id="734" name="Arrow2"/>
            <p:cNvSpPr/>
            <p:nvPr/>
          </p:nvSpPr>
          <p:spPr>
            <a:xfrm>
              <a:off x="9055100" y="3048000"/>
              <a:ext cx="228600" cy="254000"/>
            </a:xfrm>
            <a:prstGeom prst="rightArrow">
              <a:avLst>
                <a:gd name="adj1" fmla="val 50000"/>
                <a:gd name="adj2" fmla="val 50000"/>
              </a:avLst>
            </a:prstGeom>
            <a:solidFill>
              <a:srgbClr val="4A5568">
                <a:alpha val="40000"/>
              </a:srgbClr>
            </a:solidFill>
            <a:ln w="0">
              <a:noFill/>
            </a:ln>
          </p:spPr>
          <p:txBody>
            <a:bodyPr/>
            <a:lstStyle/>
            <a:p>
              <a:endParaRPr lang="en-US"/>
            </a:p>
          </p:txBody>
        </p:sp>
        <p:sp>
          <p:nvSpPr>
            <p:cNvPr id="740" name="Pillar3"/>
            <p:cNvSpPr/>
            <p:nvPr/>
          </p:nvSpPr>
          <p:spPr>
            <a:xfrm>
              <a:off x="9415444" y="2216150"/>
              <a:ext cx="2476500" cy="1778000"/>
            </a:xfrm>
            <a:prstGeom prst="roundRect">
              <a:avLst>
                <a:gd name="adj" fmla="val 8000"/>
              </a:avLst>
            </a:prstGeom>
            <a:solidFill>
              <a:srgbClr val="8B5CF6">
                <a:alpha val="20000"/>
              </a:srgbClr>
            </a:solidFill>
            <a:ln w="12700">
              <a:solidFill>
                <a:srgbClr val="8B5CF6">
                  <a:alpha val="40000"/>
                </a:srgbClr>
              </a:solidFill>
            </a:ln>
          </p:spPr>
          <p:txBody>
            <a:bodyPr/>
            <a:lstStyle/>
            <a:p>
              <a:endParaRPr lang="en-US"/>
            </a:p>
          </p:txBody>
        </p:sp>
        <p:sp>
          <p:nvSpPr>
            <p:cNvPr id="741" name="PIcon3"/>
            <p:cNvSpPr/>
            <p:nvPr/>
          </p:nvSpPr>
          <p:spPr>
            <a:xfrm>
              <a:off x="10412394" y="2296668"/>
              <a:ext cx="482600" cy="482600"/>
            </a:xfrm>
            <a:prstGeom prst="ellipse">
              <a:avLst/>
            </a:prstGeom>
            <a:solidFill>
              <a:srgbClr val="8B5CF6"/>
            </a:solidFill>
            <a:ln w="0">
              <a:noFill/>
            </a:ln>
          </p:spPr>
          <p:txBody>
            <a:bodyPr wrap="none" lIns="0" tIns="0" rIns="0" bIns="0" anchor="ctr" anchorCtr="1"/>
            <a:lstStyle/>
            <a:p>
              <a:pPr algn="ctr">
                <a:buNone/>
              </a:pPr>
              <a:r>
                <a:rPr lang="en-US" sz="1600" b="1" dirty="0">
                  <a:solidFill>
                    <a:srgbClr val="FFFFFF"/>
                  </a:solidFill>
                  <a:latin typeface="Aptos Display"/>
                </a:rPr>
                <a:t>D</a:t>
              </a:r>
            </a:p>
          </p:txBody>
        </p:sp>
        <p:sp>
          <p:nvSpPr>
            <p:cNvPr id="742" name="PTitle3"/>
            <p:cNvSpPr/>
            <p:nvPr/>
          </p:nvSpPr>
          <p:spPr>
            <a:xfrm>
              <a:off x="9517044" y="2850854"/>
              <a:ext cx="2222500" cy="304800"/>
            </a:xfrm>
            <a:prstGeom prst="rect">
              <a:avLst/>
            </a:prstGeom>
            <a:noFill/>
            <a:ln w="0">
              <a:noFill/>
            </a:ln>
          </p:spPr>
          <p:txBody>
            <a:bodyPr wrap="square" lIns="0" tIns="0" rIns="0" bIns="0" anchor="t"/>
            <a:lstStyle/>
            <a:p>
              <a:pPr algn="ctr">
                <a:buNone/>
              </a:pPr>
              <a:r>
                <a:rPr lang="en-US" sz="1500" b="1" dirty="0">
                  <a:solidFill>
                    <a:srgbClr val="1A2332"/>
                  </a:solidFill>
                  <a:latin typeface="Aptos Display"/>
                </a:rPr>
                <a:t>Delegation</a:t>
              </a:r>
            </a:p>
          </p:txBody>
        </p:sp>
        <p:sp>
          <p:nvSpPr>
            <p:cNvPr id="743" name="PDesc3"/>
            <p:cNvSpPr/>
            <p:nvPr/>
          </p:nvSpPr>
          <p:spPr>
            <a:xfrm>
              <a:off x="9567844" y="3175000"/>
              <a:ext cx="2171700" cy="558800"/>
            </a:xfrm>
            <a:prstGeom prst="rect">
              <a:avLst/>
            </a:prstGeom>
            <a:noFill/>
            <a:ln w="0">
              <a:noFill/>
            </a:ln>
          </p:spPr>
          <p:txBody>
            <a:bodyPr wrap="square" lIns="0" tIns="0" rIns="0" bIns="0" anchor="t"/>
            <a:lstStyle/>
            <a:p>
              <a:pPr algn="ctr">
                <a:buNone/>
              </a:pPr>
              <a:r>
                <a:rPr lang="en-US" sz="1200" dirty="0">
                  <a:solidFill>
                    <a:srgbClr val="4A5568"/>
                  </a:solidFill>
                  <a:latin typeface="Aptos"/>
                </a:rPr>
                <a:t>subagents, Agent Teams, worktrees</a:t>
              </a:r>
            </a:p>
          </p:txBody>
        </p:sp>
      </p:grpSp>
      <p:sp>
        <p:nvSpPr>
          <p:cNvPr id="760" name="DownArrow2"/>
          <p:cNvSpPr/>
          <p:nvPr/>
        </p:nvSpPr>
        <p:spPr>
          <a:xfrm>
            <a:off x="5978351" y="4223236"/>
            <a:ext cx="254000" cy="419100"/>
          </a:xfrm>
          <a:prstGeom prst="downArrow">
            <a:avLst/>
          </a:prstGeom>
          <a:solidFill>
            <a:srgbClr val="5B6ABF">
              <a:alpha val="50000"/>
            </a:srgbClr>
          </a:solidFill>
          <a:ln w="0">
            <a:noFill/>
          </a:ln>
        </p:spPr>
        <p:txBody>
          <a:bodyPr/>
          <a:lstStyle/>
          <a:p>
            <a:endParaRPr lang="en-US"/>
          </a:p>
        </p:txBody>
      </p:sp>
      <p:sp>
        <p:nvSpPr>
          <p:cNvPr id="770" name="VerBar"/>
          <p:cNvSpPr/>
          <p:nvPr/>
        </p:nvSpPr>
        <p:spPr>
          <a:xfrm>
            <a:off x="221064" y="4642336"/>
            <a:ext cx="11793136" cy="952500"/>
          </a:xfrm>
          <a:prstGeom prst="roundRect">
            <a:avLst>
              <a:gd name="adj" fmla="val 10000"/>
            </a:avLst>
          </a:prstGeom>
          <a:solidFill>
            <a:srgbClr val="5B6ABF">
              <a:alpha val="20000"/>
            </a:srgbClr>
          </a:solidFill>
          <a:ln w="12700">
            <a:solidFill>
              <a:srgbClr val="5B6ABF">
                <a:alpha val="30000"/>
              </a:srgbClr>
            </a:solidFill>
            <a:prstDash val="dash"/>
          </a:ln>
        </p:spPr>
        <p:txBody>
          <a:bodyPr wrap="square" lIns="177800" tIns="101600" rIns="177800" bIns="101600" anchor="ctr"/>
          <a:lstStyle/>
          <a:p>
            <a:pPr algn="ctr">
              <a:buNone/>
            </a:pPr>
            <a:r>
              <a:rPr lang="en-US" sz="1500" b="1" dirty="0">
                <a:solidFill>
                  <a:srgbClr val="3B4A9E"/>
                </a:solidFill>
                <a:latin typeface="Aptos Display"/>
              </a:rPr>
              <a:t>Verification Loop</a:t>
            </a:r>
          </a:p>
          <a:p>
            <a:pPr algn="ctr">
              <a:buNone/>
            </a:pPr>
            <a:r>
              <a:rPr lang="en-US" sz="1200" dirty="0">
                <a:solidFill>
                  <a:srgbClr val="4A5568"/>
                </a:solidFill>
                <a:latin typeface="Aptos"/>
              </a:rPr>
              <a:t>Main session holds decisions and final changes  |  Offload noisy work (logs, tests, docs) to isolated subagents</a:t>
            </a:r>
          </a:p>
        </p:txBody>
      </p:sp>
      <p:sp>
        <p:nvSpPr>
          <p:cNvPr id="780" name="RuleOfThumb"/>
          <p:cNvSpPr/>
          <p:nvPr/>
        </p:nvSpPr>
        <p:spPr>
          <a:xfrm>
            <a:off x="221064" y="6032500"/>
            <a:ext cx="11793136" cy="330200"/>
          </a:xfrm>
          <a:prstGeom prst="roundRect">
            <a:avLst>
              <a:gd name="adj" fmla="val 12000"/>
            </a:avLst>
          </a:prstGeom>
          <a:solidFill>
            <a:srgbClr val="D4622B">
              <a:alpha val="25000"/>
            </a:srgbClr>
          </a:solidFill>
          <a:ln w="12700">
            <a:solidFill>
              <a:srgbClr val="D4622B">
                <a:alpha val="35000"/>
              </a:srgbClr>
            </a:solidFill>
          </a:ln>
        </p:spPr>
        <p:txBody>
          <a:bodyPr wrap="square" lIns="177800" tIns="76200" rIns="177800" bIns="76200" anchor="ctr"/>
          <a:lstStyle/>
          <a:p>
            <a:pPr marL="0" indent="0" algn="ctr">
              <a:buNone/>
            </a:pPr>
            <a:r>
              <a:rPr lang="en-US" sz="1400" b="1" dirty="0">
                <a:solidFill>
                  <a:srgbClr val="D4622B"/>
                </a:solidFill>
                <a:latin typeface="Aptos Display"/>
              </a:rPr>
              <a:t>Rule of thumb   </a:t>
            </a:r>
            <a:r>
              <a:rPr lang="en-US" sz="1400" dirty="0">
                <a:solidFill>
                  <a:srgbClr val="4A5568"/>
                </a:solidFill>
                <a:latin typeface="Aptos"/>
              </a:rPr>
              <a:t>Don't ask Claude to be correct. Ask it to prove correctness with tests and evidence.</a:t>
            </a:r>
          </a:p>
        </p:txBody>
      </p:sp>
    </p:spTree>
    <p:extLst>
      <p:ext uri="{BB962C8B-B14F-4D97-AF65-F5344CB8AC3E}">
        <p14:creationId xmlns:p14="http://schemas.microsoft.com/office/powerpoint/2010/main" val="725348613"/>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Four disciplines, one idea</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Four habits that decide whether you are driving the agent or following it.</a:t>
            </a:r>
          </a:p>
        </p:txBody>
      </p:sp>
      <p:sp>
        <p:nvSpPr>
          <p:cNvPr id="4" name="D2Card0"/>
          <p:cNvSpPr/>
          <p:nvPr/>
        </p:nvSpPr>
        <p:spPr>
          <a:xfrm>
            <a:off x="256032" y="1152144"/>
            <a:ext cx="2761488" cy="3657600"/>
          </a:xfrm>
          <a:prstGeom prst="roundRect">
            <a:avLst>
              <a:gd name="adj" fmla="val 6000"/>
            </a:avLst>
          </a:prstGeom>
          <a:solidFill>
            <a:srgbClr val="EFF6FF"/>
          </a:solidFill>
          <a:ln w="1270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D2Top0"/>
          <p:cNvSpPr/>
          <p:nvPr/>
        </p:nvSpPr>
        <p:spPr>
          <a:xfrm>
            <a:off x="347472" y="1152144"/>
            <a:ext cx="2578608" cy="731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D2Badge0"/>
          <p:cNvSpPr/>
          <p:nvPr/>
        </p:nvSpPr>
        <p:spPr>
          <a:xfrm>
            <a:off x="475488" y="1517904"/>
            <a:ext cx="475488" cy="475488"/>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Aptos Display"/>
              </a:rPr>
              <a:t>1</a:t>
            </a:r>
          </a:p>
        </p:txBody>
      </p:sp>
      <p:sp>
        <p:nvSpPr>
          <p:cNvPr id="7" name="D2Name0"/>
          <p:cNvSpPr txBox="1"/>
          <p:nvPr/>
        </p:nvSpPr>
        <p:spPr>
          <a:xfrm>
            <a:off x="475488" y="2249424"/>
            <a:ext cx="2340864" cy="640080"/>
          </a:xfrm>
          <a:prstGeom prst="rect">
            <a:avLst/>
          </a:prstGeom>
          <a:noFill/>
        </p:spPr>
        <p:txBody>
          <a:bodyPr wrap="square" lIns="0" tIns="0" rIns="0" bIns="0" anchor="t">
            <a:spAutoFit/>
          </a:bodyPr>
          <a:lstStyle/>
          <a:p>
            <a:pPr algn="l"/>
            <a:r>
              <a:rPr sz="1500" b="1" i="0" dirty="0">
                <a:solidFill>
                  <a:srgbClr val="1A2332"/>
                </a:solidFill>
                <a:latin typeface="Aptos Display"/>
              </a:rPr>
              <a:t>Permission Modes</a:t>
            </a:r>
          </a:p>
        </p:txBody>
      </p:sp>
      <p:sp>
        <p:nvSpPr>
          <p:cNvPr id="8" name="D2Thesis0"/>
          <p:cNvSpPr txBox="1"/>
          <p:nvPr/>
        </p:nvSpPr>
        <p:spPr>
          <a:xfrm>
            <a:off x="475488" y="2743200"/>
            <a:ext cx="2340864" cy="1737360"/>
          </a:xfrm>
          <a:prstGeom prst="rect">
            <a:avLst/>
          </a:prstGeom>
          <a:noFill/>
        </p:spPr>
        <p:txBody>
          <a:bodyPr wrap="square" lIns="0" tIns="0" rIns="0" bIns="0" anchor="t">
            <a:spAutoFit/>
          </a:bodyPr>
          <a:lstStyle/>
          <a:p>
            <a:pPr algn="l"/>
            <a:r>
              <a:rPr sz="1300" b="0" i="0" dirty="0">
                <a:solidFill>
                  <a:srgbClr val="475569"/>
                </a:solidFill>
                <a:latin typeface="Aptos"/>
              </a:rPr>
              <a:t>Who approves before anything happens — you, a classifier, or nobody at all.</a:t>
            </a:r>
          </a:p>
        </p:txBody>
      </p:sp>
      <p:sp>
        <p:nvSpPr>
          <p:cNvPr id="9" name="D2Card1"/>
          <p:cNvSpPr/>
          <p:nvPr/>
        </p:nvSpPr>
        <p:spPr>
          <a:xfrm>
            <a:off x="3200400" y="1152144"/>
            <a:ext cx="2761488" cy="3657600"/>
          </a:xfrm>
          <a:prstGeom prst="roundRect">
            <a:avLst>
              <a:gd name="adj" fmla="val 6000"/>
            </a:avLst>
          </a:prstGeom>
          <a:solidFill>
            <a:srgbClr val="F5F3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D2Top1"/>
          <p:cNvSpPr/>
          <p:nvPr/>
        </p:nvSpPr>
        <p:spPr>
          <a:xfrm>
            <a:off x="3291840" y="1152144"/>
            <a:ext cx="2578608"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2Badge1"/>
          <p:cNvSpPr/>
          <p:nvPr/>
        </p:nvSpPr>
        <p:spPr>
          <a:xfrm>
            <a:off x="3419856" y="1517904"/>
            <a:ext cx="475488" cy="475488"/>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Aptos Display"/>
              </a:rPr>
              <a:t>2</a:t>
            </a:r>
          </a:p>
        </p:txBody>
      </p:sp>
      <p:sp>
        <p:nvSpPr>
          <p:cNvPr id="12" name="D2Name1"/>
          <p:cNvSpPr txBox="1"/>
          <p:nvPr/>
        </p:nvSpPr>
        <p:spPr>
          <a:xfrm>
            <a:off x="3419856" y="2249424"/>
            <a:ext cx="2340864" cy="640080"/>
          </a:xfrm>
          <a:prstGeom prst="rect">
            <a:avLst/>
          </a:prstGeom>
          <a:noFill/>
        </p:spPr>
        <p:txBody>
          <a:bodyPr wrap="square" lIns="0" tIns="0" rIns="0" bIns="0" anchor="t">
            <a:spAutoFit/>
          </a:bodyPr>
          <a:lstStyle/>
          <a:p>
            <a:pPr algn="l"/>
            <a:r>
              <a:rPr sz="1500" b="1" i="0">
                <a:solidFill>
                  <a:srgbClr val="1A2332"/>
                </a:solidFill>
                <a:latin typeface="Aptos Display"/>
              </a:rPr>
              <a:t>Context Management</a:t>
            </a:r>
          </a:p>
        </p:txBody>
      </p:sp>
      <p:sp>
        <p:nvSpPr>
          <p:cNvPr id="13" name="D2Thesis1"/>
          <p:cNvSpPr txBox="1"/>
          <p:nvPr/>
        </p:nvSpPr>
        <p:spPr>
          <a:xfrm>
            <a:off x="3419856" y="2743200"/>
            <a:ext cx="2340864" cy="1737360"/>
          </a:xfrm>
          <a:prstGeom prst="rect">
            <a:avLst/>
          </a:prstGeom>
          <a:noFill/>
        </p:spPr>
        <p:txBody>
          <a:bodyPr wrap="square" lIns="0" tIns="0" rIns="0" bIns="0" anchor="t">
            <a:spAutoFit/>
          </a:bodyPr>
          <a:lstStyle/>
          <a:p>
            <a:pPr algn="l"/>
            <a:r>
              <a:rPr sz="1300" b="0" i="0" dirty="0">
                <a:solidFill>
                  <a:srgbClr val="475569"/>
                </a:solidFill>
                <a:latin typeface="Aptos"/>
              </a:rPr>
              <a:t>Your boundaries live in the transcript. The transcript gets trimmed.</a:t>
            </a:r>
          </a:p>
        </p:txBody>
      </p:sp>
      <p:sp>
        <p:nvSpPr>
          <p:cNvPr id="14" name="D2Card2"/>
          <p:cNvSpPr/>
          <p:nvPr/>
        </p:nvSpPr>
        <p:spPr>
          <a:xfrm>
            <a:off x="6144768" y="1152144"/>
            <a:ext cx="2761488" cy="3657600"/>
          </a:xfrm>
          <a:prstGeom prst="roundRect">
            <a:avLst>
              <a:gd name="adj" fmla="val 6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D2Top2"/>
          <p:cNvSpPr/>
          <p:nvPr/>
        </p:nvSpPr>
        <p:spPr>
          <a:xfrm>
            <a:off x="6236208" y="1152144"/>
            <a:ext cx="2578608"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D2Badge2"/>
          <p:cNvSpPr/>
          <p:nvPr/>
        </p:nvSpPr>
        <p:spPr>
          <a:xfrm>
            <a:off x="6364224" y="1517904"/>
            <a:ext cx="475488" cy="4754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Aptos Display"/>
              </a:rPr>
              <a:t>3</a:t>
            </a:r>
          </a:p>
        </p:txBody>
      </p:sp>
      <p:sp>
        <p:nvSpPr>
          <p:cNvPr id="17" name="D2Name2"/>
          <p:cNvSpPr txBox="1"/>
          <p:nvPr/>
        </p:nvSpPr>
        <p:spPr>
          <a:xfrm>
            <a:off x="6364224" y="2249424"/>
            <a:ext cx="2340864" cy="640080"/>
          </a:xfrm>
          <a:prstGeom prst="rect">
            <a:avLst/>
          </a:prstGeom>
          <a:noFill/>
        </p:spPr>
        <p:txBody>
          <a:bodyPr wrap="square" lIns="0" tIns="0" rIns="0" bIns="0" anchor="t">
            <a:spAutoFit/>
          </a:bodyPr>
          <a:lstStyle/>
          <a:p>
            <a:pPr algn="l"/>
            <a:r>
              <a:rPr sz="1500" b="1" i="0">
                <a:solidFill>
                  <a:srgbClr val="1A2332"/>
                </a:solidFill>
                <a:latin typeface="Aptos Display"/>
              </a:rPr>
              <a:t>Managing Quality</a:t>
            </a:r>
          </a:p>
        </p:txBody>
      </p:sp>
      <p:sp>
        <p:nvSpPr>
          <p:cNvPr id="18" name="D2Thesis2"/>
          <p:cNvSpPr txBox="1"/>
          <p:nvPr/>
        </p:nvSpPr>
        <p:spPr>
          <a:xfrm>
            <a:off x="6364224" y="2743200"/>
            <a:ext cx="2340864" cy="1737360"/>
          </a:xfrm>
          <a:prstGeom prst="rect">
            <a:avLst/>
          </a:prstGeom>
          <a:noFill/>
        </p:spPr>
        <p:txBody>
          <a:bodyPr wrap="square" lIns="0" tIns="0" rIns="0" bIns="0" anchor="t">
            <a:spAutoFit/>
          </a:bodyPr>
          <a:lstStyle/>
          <a:p>
            <a:pPr algn="l"/>
            <a:r>
              <a:rPr sz="1300" b="0" i="0" dirty="0">
                <a:solidFill>
                  <a:srgbClr val="475569"/>
                </a:solidFill>
                <a:latin typeface="Aptos"/>
              </a:rPr>
              <a:t>Nothing in the product checks whether your code is correct. That reviewer is you.</a:t>
            </a:r>
          </a:p>
        </p:txBody>
      </p:sp>
      <p:sp>
        <p:nvSpPr>
          <p:cNvPr id="19" name="D2Card3"/>
          <p:cNvSpPr/>
          <p:nvPr/>
        </p:nvSpPr>
        <p:spPr>
          <a:xfrm>
            <a:off x="9089136" y="1152144"/>
            <a:ext cx="2761488" cy="3657600"/>
          </a:xfrm>
          <a:prstGeom prst="roundRect">
            <a:avLst>
              <a:gd name="adj" fmla="val 6000"/>
            </a:avLst>
          </a:prstGeom>
          <a:solidFill>
            <a:srgbClr val="FFF7ED"/>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D2Top3"/>
          <p:cNvSpPr/>
          <p:nvPr/>
        </p:nvSpPr>
        <p:spPr>
          <a:xfrm>
            <a:off x="9180576" y="1152144"/>
            <a:ext cx="2578608" cy="73152"/>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2Badge3"/>
          <p:cNvSpPr/>
          <p:nvPr/>
        </p:nvSpPr>
        <p:spPr>
          <a:xfrm>
            <a:off x="9308592" y="1517904"/>
            <a:ext cx="475488" cy="475488"/>
          </a:xfrm>
          <a:prstGeom prst="roundRect">
            <a:avLst>
              <a:gd name="adj" fmla="val 50000"/>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Aptos Display"/>
              </a:rPr>
              <a:t>4</a:t>
            </a:r>
          </a:p>
        </p:txBody>
      </p:sp>
      <p:sp>
        <p:nvSpPr>
          <p:cNvPr id="22" name="D2Name3"/>
          <p:cNvSpPr txBox="1"/>
          <p:nvPr/>
        </p:nvSpPr>
        <p:spPr>
          <a:xfrm>
            <a:off x="9308592" y="2249424"/>
            <a:ext cx="2340864" cy="640080"/>
          </a:xfrm>
          <a:prstGeom prst="rect">
            <a:avLst/>
          </a:prstGeom>
          <a:noFill/>
        </p:spPr>
        <p:txBody>
          <a:bodyPr wrap="square" lIns="0" tIns="0" rIns="0" bIns="0" anchor="t">
            <a:spAutoFit/>
          </a:bodyPr>
          <a:lstStyle/>
          <a:p>
            <a:pPr algn="l"/>
            <a:r>
              <a:rPr sz="1500" b="1" i="0">
                <a:solidFill>
                  <a:srgbClr val="1A2332"/>
                </a:solidFill>
                <a:latin typeface="Aptos Display"/>
              </a:rPr>
              <a:t>Human Accountability</a:t>
            </a:r>
          </a:p>
        </p:txBody>
      </p:sp>
      <p:sp>
        <p:nvSpPr>
          <p:cNvPr id="23" name="D2Thesis3"/>
          <p:cNvSpPr txBox="1"/>
          <p:nvPr/>
        </p:nvSpPr>
        <p:spPr>
          <a:xfrm>
            <a:off x="9308592" y="2743200"/>
            <a:ext cx="2340864" cy="1737360"/>
          </a:xfrm>
          <a:prstGeom prst="rect">
            <a:avLst/>
          </a:prstGeom>
          <a:noFill/>
        </p:spPr>
        <p:txBody>
          <a:bodyPr wrap="square" lIns="0" tIns="0" rIns="0" bIns="0" anchor="t">
            <a:spAutoFit/>
          </a:bodyPr>
          <a:lstStyle/>
          <a:p>
            <a:pPr algn="l"/>
            <a:r>
              <a:rPr sz="1300" b="0" i="0" dirty="0">
                <a:solidFill>
                  <a:srgbClr val="475569"/>
                </a:solidFill>
                <a:latin typeface="Aptos"/>
              </a:rPr>
              <a:t>You own every change you approve. The volume went up; the ownership did not move.</a:t>
            </a:r>
          </a:p>
        </p:txBody>
      </p:sp>
      <p:sp>
        <p:nvSpPr>
          <p:cNvPr id="24" name="D2Spine"/>
          <p:cNvSpPr/>
          <p:nvPr/>
        </p:nvSpPr>
        <p:spPr>
          <a:xfrm>
            <a:off x="256032" y="5084064"/>
            <a:ext cx="11686032" cy="822960"/>
          </a:xfrm>
          <a:prstGeom prst="roundRect">
            <a:avLst>
              <a:gd name="adj" fmla="val 6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2SpineTxt"/>
          <p:cNvSpPr txBox="1"/>
          <p:nvPr/>
        </p:nvSpPr>
        <p:spPr>
          <a:xfrm>
            <a:off x="475488" y="5084064"/>
            <a:ext cx="11247120" cy="822960"/>
          </a:xfrm>
          <a:prstGeom prst="rect">
            <a:avLst/>
          </a:prstGeom>
          <a:noFill/>
        </p:spPr>
        <p:txBody>
          <a:bodyPr wrap="square" lIns="0" tIns="0" rIns="0" bIns="0" anchor="ctr">
            <a:spAutoFit/>
          </a:bodyPr>
          <a:lstStyle/>
          <a:p>
            <a:pPr algn="l"/>
            <a:r>
              <a:rPr sz="1400" b="1" i="0">
                <a:solidFill>
                  <a:srgbClr val="D4622B"/>
                </a:solidFill>
                <a:latin typeface="Aptos Display"/>
              </a:rPr>
              <a:t>The idea that connects them.  </a:t>
            </a:r>
            <a:r>
              <a:rPr sz="1400" b="0" i="0">
                <a:solidFill>
                  <a:srgbClr val="475569"/>
                </a:solidFill>
                <a:latin typeface="Aptos"/>
              </a:rPr>
              <a:t>All four fail the same way — the control you thought was in place was never written anywhere durable.</a:t>
            </a:r>
          </a:p>
        </p:txBody>
      </p:sp>
      <p:sp>
        <p:nvSpPr>
          <p:cNvPr id="26"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27" name="PageNum"/>
          <p:cNvSpPr txBox="1"/>
          <p:nvPr/>
        </p:nvSpPr>
        <p:spPr>
          <a:xfrm>
            <a:off x="10058400" y="6647688"/>
            <a:ext cx="1463040" cy="201168"/>
          </a:xfrm>
          <a:prstGeom prst="rect">
            <a:avLst/>
          </a:prstGeom>
          <a:noFill/>
        </p:spPr>
        <p:txBody>
          <a:bodyPr wrap="square" lIns="0" tIns="0" rIns="0" bIns="0" anchor="t">
            <a:spAutoFit/>
          </a:bodyPr>
          <a:lstStyle/>
          <a:p>
            <a:r>
              <a:t>7 / 52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The six permission modes</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There is no “safe mode”. The mode that asks you about everything is called Manual.</a:t>
            </a:r>
          </a:p>
        </p:txBody>
      </p:sp>
      <p:sp>
        <p:nvSpPr>
          <p:cNvPr id="4" name="M3HeadMODE"/>
          <p:cNvSpPr txBox="1"/>
          <p:nvPr/>
        </p:nvSpPr>
        <p:spPr>
          <a:xfrm>
            <a:off x="786384" y="1133856"/>
            <a:ext cx="1463040" cy="237744"/>
          </a:xfrm>
          <a:prstGeom prst="rect">
            <a:avLst/>
          </a:prstGeom>
          <a:noFill/>
        </p:spPr>
        <p:txBody>
          <a:bodyPr wrap="square" lIns="0" tIns="0" rIns="0" bIns="0" anchor="t">
            <a:spAutoFit/>
          </a:bodyPr>
          <a:lstStyle/>
          <a:p>
            <a:pPr algn="l"/>
            <a:r>
              <a:rPr sz="950" b="1" i="0">
                <a:solidFill>
                  <a:srgbClr val="64748B"/>
                </a:solidFill>
                <a:latin typeface="Aptos"/>
              </a:rPr>
              <a:t>MODE</a:t>
            </a:r>
          </a:p>
        </p:txBody>
      </p:sp>
      <p:sp>
        <p:nvSpPr>
          <p:cNvPr id="5" name="M3HeadCONF"/>
          <p:cNvSpPr txBox="1"/>
          <p:nvPr/>
        </p:nvSpPr>
        <p:spPr>
          <a:xfrm>
            <a:off x="2295144" y="1133856"/>
            <a:ext cx="1828800" cy="237744"/>
          </a:xfrm>
          <a:prstGeom prst="rect">
            <a:avLst/>
          </a:prstGeom>
          <a:noFill/>
        </p:spPr>
        <p:txBody>
          <a:bodyPr wrap="square" lIns="0" tIns="0" rIns="0" bIns="0" anchor="t">
            <a:spAutoFit/>
          </a:bodyPr>
          <a:lstStyle/>
          <a:p>
            <a:pPr algn="l"/>
            <a:r>
              <a:rPr sz="950" b="1" i="0">
                <a:solidFill>
                  <a:srgbClr val="64748B"/>
                </a:solidFill>
                <a:latin typeface="Aptos"/>
              </a:rPr>
              <a:t>CONFIG VALUE</a:t>
            </a:r>
          </a:p>
        </p:txBody>
      </p:sp>
      <p:sp>
        <p:nvSpPr>
          <p:cNvPr id="6" name="M3HeadRUNS"/>
          <p:cNvSpPr txBox="1"/>
          <p:nvPr/>
        </p:nvSpPr>
        <p:spPr>
          <a:xfrm>
            <a:off x="4215384" y="1133856"/>
            <a:ext cx="4663440" cy="237744"/>
          </a:xfrm>
          <a:prstGeom prst="rect">
            <a:avLst/>
          </a:prstGeom>
          <a:noFill/>
        </p:spPr>
        <p:txBody>
          <a:bodyPr wrap="square" lIns="0" tIns="0" rIns="0" bIns="0" anchor="t">
            <a:spAutoFit/>
          </a:bodyPr>
          <a:lstStyle/>
          <a:p>
            <a:pPr algn="l"/>
            <a:r>
              <a:rPr sz="950" b="1" i="0">
                <a:solidFill>
                  <a:srgbClr val="64748B"/>
                </a:solidFill>
                <a:latin typeface="Aptos"/>
              </a:rPr>
              <a:t>RUNS WITHOUT ASKING YOU</a:t>
            </a:r>
          </a:p>
        </p:txBody>
      </p:sp>
      <p:sp>
        <p:nvSpPr>
          <p:cNvPr id="7" name="M3HeadBEST"/>
          <p:cNvSpPr txBox="1"/>
          <p:nvPr/>
        </p:nvSpPr>
        <p:spPr>
          <a:xfrm>
            <a:off x="8924544" y="1133856"/>
            <a:ext cx="2743200" cy="237744"/>
          </a:xfrm>
          <a:prstGeom prst="rect">
            <a:avLst/>
          </a:prstGeom>
          <a:noFill/>
        </p:spPr>
        <p:txBody>
          <a:bodyPr wrap="square" lIns="0" tIns="0" rIns="0" bIns="0" anchor="t">
            <a:spAutoFit/>
          </a:bodyPr>
          <a:lstStyle/>
          <a:p>
            <a:pPr algn="l"/>
            <a:r>
              <a:rPr sz="950" b="1" i="0">
                <a:solidFill>
                  <a:srgbClr val="64748B"/>
                </a:solidFill>
                <a:latin typeface="Aptos"/>
              </a:rPr>
              <a:t>BEST FOR</a:t>
            </a:r>
          </a:p>
        </p:txBody>
      </p:sp>
      <p:sp>
        <p:nvSpPr>
          <p:cNvPr id="8" name="M3Rule"/>
          <p:cNvSpPr/>
          <p:nvPr/>
        </p:nvSpPr>
        <p:spPr>
          <a:xfrm>
            <a:off x="329184" y="1408176"/>
            <a:ext cx="11430000"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M3Row0"/>
          <p:cNvSpPr/>
          <p:nvPr/>
        </p:nvSpPr>
        <p:spPr>
          <a:xfrm>
            <a:off x="329184" y="1499616"/>
            <a:ext cx="11430000" cy="47548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M3Tick0"/>
          <p:cNvSpPr/>
          <p:nvPr/>
        </p:nvSpPr>
        <p:spPr>
          <a:xfrm>
            <a:off x="329184" y="1499616"/>
            <a:ext cx="54864" cy="47548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M3Glyph0"/>
          <p:cNvSpPr txBox="1"/>
          <p:nvPr/>
        </p:nvSpPr>
        <p:spPr>
          <a:xfrm>
            <a:off x="493776" y="1609344"/>
            <a:ext cx="279400" cy="256032"/>
          </a:xfrm>
          <a:prstGeom prst="rect">
            <a:avLst/>
          </a:prstGeom>
          <a:noFill/>
        </p:spPr>
        <p:txBody>
          <a:bodyPr wrap="none" lIns="0" tIns="0" rIns="0" bIns="0" anchor="t">
            <a:noAutofit/>
          </a:bodyPr>
          <a:lstStyle/>
          <a:p>
            <a:pPr algn="l"/>
            <a:r>
              <a:rPr sz="1100" b="1" i="0">
                <a:solidFill>
                  <a:srgbClr val="6B7280"/>
                </a:solidFill>
                <a:latin typeface="Arial"/>
              </a:rPr>
              <a:t>‖</a:t>
            </a:r>
          </a:p>
        </p:txBody>
      </p:sp>
      <p:sp>
        <p:nvSpPr>
          <p:cNvPr id="12" name="M3Mode0"/>
          <p:cNvSpPr txBox="1"/>
          <p:nvPr/>
        </p:nvSpPr>
        <p:spPr>
          <a:xfrm>
            <a:off x="786384" y="1618488"/>
            <a:ext cx="1371600" cy="256032"/>
          </a:xfrm>
          <a:prstGeom prst="rect">
            <a:avLst/>
          </a:prstGeom>
          <a:noFill/>
        </p:spPr>
        <p:txBody>
          <a:bodyPr wrap="square" lIns="0" tIns="0" rIns="0" bIns="0" anchor="t">
            <a:spAutoFit/>
          </a:bodyPr>
          <a:lstStyle/>
          <a:p>
            <a:pPr algn="l"/>
            <a:r>
              <a:rPr sz="1200" b="1" i="0">
                <a:solidFill>
                  <a:srgbClr val="6B7280"/>
                </a:solidFill>
                <a:latin typeface="Aptos Display"/>
              </a:rPr>
              <a:t>Manual</a:t>
            </a:r>
          </a:p>
        </p:txBody>
      </p:sp>
      <p:sp>
        <p:nvSpPr>
          <p:cNvPr id="13" name="M3Cfg0"/>
          <p:cNvSpPr txBox="1"/>
          <p:nvPr/>
        </p:nvSpPr>
        <p:spPr>
          <a:xfrm>
            <a:off x="2295144" y="1627632"/>
            <a:ext cx="1737360" cy="237744"/>
          </a:xfrm>
          <a:prstGeom prst="rect">
            <a:avLst/>
          </a:prstGeom>
          <a:noFill/>
        </p:spPr>
        <p:txBody>
          <a:bodyPr wrap="square" lIns="0" tIns="0" rIns="0" bIns="0" anchor="t">
            <a:spAutoFit/>
          </a:bodyPr>
          <a:lstStyle/>
          <a:p>
            <a:pPr algn="l"/>
            <a:r>
              <a:rPr sz="1050" b="0" i="0">
                <a:solidFill>
                  <a:srgbClr val="7C3AED"/>
                </a:solidFill>
                <a:latin typeface="Consolas"/>
              </a:rPr>
              <a:t>default</a:t>
            </a:r>
          </a:p>
        </p:txBody>
      </p:sp>
      <p:sp>
        <p:nvSpPr>
          <p:cNvPr id="14" name="M3Runs0"/>
          <p:cNvSpPr txBox="1"/>
          <p:nvPr/>
        </p:nvSpPr>
        <p:spPr>
          <a:xfrm>
            <a:off x="4215384" y="1627632"/>
            <a:ext cx="4617720" cy="237744"/>
          </a:xfrm>
          <a:prstGeom prst="rect">
            <a:avLst/>
          </a:prstGeom>
          <a:noFill/>
        </p:spPr>
        <p:txBody>
          <a:bodyPr wrap="square" lIns="0" tIns="0" rIns="0" bIns="0" anchor="t">
            <a:spAutoFit/>
          </a:bodyPr>
          <a:lstStyle/>
          <a:p>
            <a:pPr algn="l"/>
            <a:r>
              <a:rPr sz="1100" b="0" i="0">
                <a:solidFill>
                  <a:srgbClr val="475569"/>
                </a:solidFill>
                <a:latin typeface="Aptos"/>
              </a:rPr>
              <a:t>Reads only</a:t>
            </a:r>
          </a:p>
        </p:txBody>
      </p:sp>
      <p:sp>
        <p:nvSpPr>
          <p:cNvPr id="15" name="M3Best0"/>
          <p:cNvSpPr txBox="1"/>
          <p:nvPr/>
        </p:nvSpPr>
        <p:spPr>
          <a:xfrm>
            <a:off x="8924544" y="1636776"/>
            <a:ext cx="2743200" cy="237744"/>
          </a:xfrm>
          <a:prstGeom prst="rect">
            <a:avLst/>
          </a:prstGeom>
          <a:noFill/>
        </p:spPr>
        <p:txBody>
          <a:bodyPr wrap="square" lIns="0" tIns="0" rIns="0" bIns="0" anchor="t">
            <a:spAutoFit/>
          </a:bodyPr>
          <a:lstStyle/>
          <a:p>
            <a:pPr algn="l"/>
            <a:r>
              <a:rPr sz="1050" b="0" i="0">
                <a:solidFill>
                  <a:srgbClr val="64748B"/>
                </a:solidFill>
                <a:latin typeface="Aptos"/>
              </a:rPr>
              <a:t>Sensitive work, unfamiliar code</a:t>
            </a:r>
          </a:p>
        </p:txBody>
      </p:sp>
      <p:sp>
        <p:nvSpPr>
          <p:cNvPr id="16" name="M3Row1"/>
          <p:cNvSpPr/>
          <p:nvPr/>
        </p:nvSpPr>
        <p:spPr>
          <a:xfrm>
            <a:off x="329184" y="2048256"/>
            <a:ext cx="11430000" cy="475488"/>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M3Tick1"/>
          <p:cNvSpPr/>
          <p:nvPr/>
        </p:nvSpPr>
        <p:spPr>
          <a:xfrm>
            <a:off x="329184" y="2048256"/>
            <a:ext cx="54864" cy="475488"/>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M3Glyph1"/>
          <p:cNvSpPr txBox="1"/>
          <p:nvPr/>
        </p:nvSpPr>
        <p:spPr>
          <a:xfrm>
            <a:off x="493776" y="2157984"/>
            <a:ext cx="279400" cy="256032"/>
          </a:xfrm>
          <a:prstGeom prst="rect">
            <a:avLst/>
          </a:prstGeom>
          <a:noFill/>
        </p:spPr>
        <p:txBody>
          <a:bodyPr wrap="none" lIns="0" tIns="0" rIns="0" bIns="0" anchor="t">
            <a:noAutofit/>
          </a:bodyPr>
          <a:lstStyle/>
          <a:p>
            <a:pPr algn="l"/>
            <a:r>
              <a:rPr lang="en-IN" sz="1100" b="0" i="0" spc="-450" dirty="0">
                <a:solidFill>
                  <a:srgbClr val="15803D"/>
                </a:solidFill>
                <a:latin typeface="Aptos"/>
              </a:rPr>
              <a:t>⏵</a:t>
            </a:r>
            <a:r>
              <a:rPr sz="1100" b="0" i="0" spc="-450" dirty="0">
                <a:solidFill>
                  <a:srgbClr val="15803D"/>
                </a:solidFill>
                <a:latin typeface="Aptos"/>
              </a:rPr>
              <a:t>⏵</a:t>
            </a:r>
          </a:p>
        </p:txBody>
      </p:sp>
      <p:sp>
        <p:nvSpPr>
          <p:cNvPr id="19" name="M3Mode1"/>
          <p:cNvSpPr txBox="1"/>
          <p:nvPr/>
        </p:nvSpPr>
        <p:spPr>
          <a:xfrm>
            <a:off x="786384" y="2167128"/>
            <a:ext cx="1371600" cy="256032"/>
          </a:xfrm>
          <a:prstGeom prst="rect">
            <a:avLst/>
          </a:prstGeom>
          <a:noFill/>
        </p:spPr>
        <p:txBody>
          <a:bodyPr wrap="square" lIns="0" tIns="0" rIns="0" bIns="0" anchor="t">
            <a:spAutoFit/>
          </a:bodyPr>
          <a:lstStyle/>
          <a:p>
            <a:pPr algn="l"/>
            <a:r>
              <a:rPr sz="1200" b="1" i="0">
                <a:solidFill>
                  <a:srgbClr val="15803D"/>
                </a:solidFill>
                <a:latin typeface="Aptos Display"/>
              </a:rPr>
              <a:t>Accept edits</a:t>
            </a:r>
          </a:p>
        </p:txBody>
      </p:sp>
      <p:sp>
        <p:nvSpPr>
          <p:cNvPr id="20" name="M3Cfg1"/>
          <p:cNvSpPr txBox="1"/>
          <p:nvPr/>
        </p:nvSpPr>
        <p:spPr>
          <a:xfrm>
            <a:off x="2295144" y="2176272"/>
            <a:ext cx="1737360" cy="237744"/>
          </a:xfrm>
          <a:prstGeom prst="rect">
            <a:avLst/>
          </a:prstGeom>
          <a:noFill/>
        </p:spPr>
        <p:txBody>
          <a:bodyPr wrap="square" lIns="0" tIns="0" rIns="0" bIns="0" anchor="t">
            <a:spAutoFit/>
          </a:bodyPr>
          <a:lstStyle/>
          <a:p>
            <a:pPr algn="l"/>
            <a:r>
              <a:rPr sz="1050" b="0" i="0">
                <a:solidFill>
                  <a:srgbClr val="7C3AED"/>
                </a:solidFill>
                <a:latin typeface="Consolas"/>
              </a:rPr>
              <a:t>acceptEdits</a:t>
            </a:r>
          </a:p>
        </p:txBody>
      </p:sp>
      <p:sp>
        <p:nvSpPr>
          <p:cNvPr id="21" name="M3Runs1"/>
          <p:cNvSpPr txBox="1"/>
          <p:nvPr/>
        </p:nvSpPr>
        <p:spPr>
          <a:xfrm>
            <a:off x="4215384" y="2176272"/>
            <a:ext cx="4617720" cy="237744"/>
          </a:xfrm>
          <a:prstGeom prst="rect">
            <a:avLst/>
          </a:prstGeom>
          <a:noFill/>
        </p:spPr>
        <p:txBody>
          <a:bodyPr wrap="square" lIns="0" tIns="0" rIns="0" bIns="0" anchor="t">
            <a:spAutoFit/>
          </a:bodyPr>
          <a:lstStyle/>
          <a:p>
            <a:pPr algn="l"/>
            <a:r>
              <a:rPr sz="1100" b="0" i="0">
                <a:solidFill>
                  <a:srgbClr val="475569"/>
                </a:solidFill>
                <a:latin typeface="Aptos"/>
              </a:rPr>
              <a:t>Reads, file edits, mkdir touch mv cp rm sed</a:t>
            </a:r>
          </a:p>
        </p:txBody>
      </p:sp>
      <p:sp>
        <p:nvSpPr>
          <p:cNvPr id="22" name="M3Best1"/>
          <p:cNvSpPr txBox="1"/>
          <p:nvPr/>
        </p:nvSpPr>
        <p:spPr>
          <a:xfrm>
            <a:off x="8924544" y="2185416"/>
            <a:ext cx="2743200" cy="237744"/>
          </a:xfrm>
          <a:prstGeom prst="rect">
            <a:avLst/>
          </a:prstGeom>
          <a:noFill/>
        </p:spPr>
        <p:txBody>
          <a:bodyPr wrap="square" lIns="0" tIns="0" rIns="0" bIns="0" anchor="t">
            <a:spAutoFit/>
          </a:bodyPr>
          <a:lstStyle/>
          <a:p>
            <a:pPr algn="l"/>
            <a:r>
              <a:rPr sz="1050" b="0" i="0">
                <a:solidFill>
                  <a:srgbClr val="64748B"/>
                </a:solidFill>
                <a:latin typeface="Aptos"/>
              </a:rPr>
              <a:t>Iterating on code you watch</a:t>
            </a:r>
          </a:p>
        </p:txBody>
      </p:sp>
      <p:sp>
        <p:nvSpPr>
          <p:cNvPr id="23" name="M3Row2"/>
          <p:cNvSpPr/>
          <p:nvPr/>
        </p:nvSpPr>
        <p:spPr>
          <a:xfrm>
            <a:off x="329184" y="2596896"/>
            <a:ext cx="11430000" cy="47548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M3Tick2"/>
          <p:cNvSpPr/>
          <p:nvPr/>
        </p:nvSpPr>
        <p:spPr>
          <a:xfrm>
            <a:off x="329184" y="2596896"/>
            <a:ext cx="54864" cy="475488"/>
          </a:xfrm>
          <a:prstGeom prst="rect">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3Glyph2"/>
          <p:cNvSpPr txBox="1"/>
          <p:nvPr/>
        </p:nvSpPr>
        <p:spPr>
          <a:xfrm>
            <a:off x="493776" y="2706624"/>
            <a:ext cx="279400" cy="256032"/>
          </a:xfrm>
          <a:prstGeom prst="rect">
            <a:avLst/>
          </a:prstGeom>
          <a:noFill/>
        </p:spPr>
        <p:txBody>
          <a:bodyPr wrap="none" lIns="0" tIns="0" rIns="0" bIns="0" anchor="t">
            <a:noAutofit/>
          </a:bodyPr>
          <a:lstStyle/>
          <a:p>
            <a:pPr algn="l"/>
            <a:r>
              <a:rPr sz="1100" b="1" i="0">
                <a:solidFill>
                  <a:srgbClr val="1D4ED8"/>
                </a:solidFill>
                <a:latin typeface="Arial"/>
              </a:rPr>
              <a:t>‖</a:t>
            </a:r>
          </a:p>
        </p:txBody>
      </p:sp>
      <p:sp>
        <p:nvSpPr>
          <p:cNvPr id="26" name="M3Mode2"/>
          <p:cNvSpPr txBox="1"/>
          <p:nvPr/>
        </p:nvSpPr>
        <p:spPr>
          <a:xfrm>
            <a:off x="786384" y="2715768"/>
            <a:ext cx="1371600" cy="256032"/>
          </a:xfrm>
          <a:prstGeom prst="rect">
            <a:avLst/>
          </a:prstGeom>
          <a:noFill/>
        </p:spPr>
        <p:txBody>
          <a:bodyPr wrap="square" lIns="0" tIns="0" rIns="0" bIns="0" anchor="t">
            <a:spAutoFit/>
          </a:bodyPr>
          <a:lstStyle/>
          <a:p>
            <a:pPr algn="l"/>
            <a:r>
              <a:rPr sz="1200" b="1" i="0">
                <a:solidFill>
                  <a:srgbClr val="1D4ED8"/>
                </a:solidFill>
                <a:latin typeface="Aptos Display"/>
              </a:rPr>
              <a:t>Plan</a:t>
            </a:r>
          </a:p>
        </p:txBody>
      </p:sp>
      <p:sp>
        <p:nvSpPr>
          <p:cNvPr id="27" name="M3Cfg2"/>
          <p:cNvSpPr txBox="1"/>
          <p:nvPr/>
        </p:nvSpPr>
        <p:spPr>
          <a:xfrm>
            <a:off x="2295144" y="2724912"/>
            <a:ext cx="1737360" cy="237744"/>
          </a:xfrm>
          <a:prstGeom prst="rect">
            <a:avLst/>
          </a:prstGeom>
          <a:noFill/>
        </p:spPr>
        <p:txBody>
          <a:bodyPr wrap="square" lIns="0" tIns="0" rIns="0" bIns="0" anchor="t">
            <a:spAutoFit/>
          </a:bodyPr>
          <a:lstStyle/>
          <a:p>
            <a:pPr algn="l"/>
            <a:r>
              <a:rPr sz="1050" b="0" i="0">
                <a:solidFill>
                  <a:srgbClr val="7C3AED"/>
                </a:solidFill>
                <a:latin typeface="Consolas"/>
              </a:rPr>
              <a:t>plan</a:t>
            </a:r>
          </a:p>
        </p:txBody>
      </p:sp>
      <p:sp>
        <p:nvSpPr>
          <p:cNvPr id="28" name="M3Runs2"/>
          <p:cNvSpPr txBox="1"/>
          <p:nvPr/>
        </p:nvSpPr>
        <p:spPr>
          <a:xfrm>
            <a:off x="4215384" y="2724912"/>
            <a:ext cx="4617720" cy="237744"/>
          </a:xfrm>
          <a:prstGeom prst="rect">
            <a:avLst/>
          </a:prstGeom>
          <a:noFill/>
        </p:spPr>
        <p:txBody>
          <a:bodyPr wrap="square" lIns="0" tIns="0" rIns="0" bIns="0" anchor="t">
            <a:spAutoFit/>
          </a:bodyPr>
          <a:lstStyle/>
          <a:p>
            <a:pPr algn="l"/>
            <a:r>
              <a:rPr sz="1100" b="0" i="0">
                <a:solidFill>
                  <a:srgbClr val="475569"/>
                </a:solidFill>
                <a:latin typeface="Aptos"/>
              </a:rPr>
              <a:t>Reads, plus classifier-approved commands</a:t>
            </a:r>
          </a:p>
        </p:txBody>
      </p:sp>
      <p:sp>
        <p:nvSpPr>
          <p:cNvPr id="29" name="M3Best2"/>
          <p:cNvSpPr txBox="1"/>
          <p:nvPr/>
        </p:nvSpPr>
        <p:spPr>
          <a:xfrm>
            <a:off x="8924544" y="2734056"/>
            <a:ext cx="2743200" cy="237744"/>
          </a:xfrm>
          <a:prstGeom prst="rect">
            <a:avLst/>
          </a:prstGeom>
          <a:noFill/>
        </p:spPr>
        <p:txBody>
          <a:bodyPr wrap="square" lIns="0" tIns="0" rIns="0" bIns="0" anchor="t">
            <a:spAutoFit/>
          </a:bodyPr>
          <a:lstStyle/>
          <a:p>
            <a:pPr algn="l"/>
            <a:r>
              <a:rPr sz="1050" b="0" i="0">
                <a:solidFill>
                  <a:srgbClr val="64748B"/>
                </a:solidFill>
                <a:latin typeface="Aptos"/>
              </a:rPr>
              <a:t>Exploring before you change</a:t>
            </a:r>
          </a:p>
        </p:txBody>
      </p:sp>
      <p:sp>
        <p:nvSpPr>
          <p:cNvPr id="30" name="M3Row3"/>
          <p:cNvSpPr/>
          <p:nvPr/>
        </p:nvSpPr>
        <p:spPr>
          <a:xfrm>
            <a:off x="329184" y="3145536"/>
            <a:ext cx="11430000" cy="475488"/>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M3Tick3"/>
          <p:cNvSpPr/>
          <p:nvPr/>
        </p:nvSpPr>
        <p:spPr>
          <a:xfrm>
            <a:off x="329184" y="3145536"/>
            <a:ext cx="54864" cy="47548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M3Glyph3"/>
          <p:cNvSpPr txBox="1"/>
          <p:nvPr/>
        </p:nvSpPr>
        <p:spPr>
          <a:xfrm>
            <a:off x="493776" y="3255264"/>
            <a:ext cx="279400" cy="256032"/>
          </a:xfrm>
          <a:prstGeom prst="rect">
            <a:avLst/>
          </a:prstGeom>
          <a:noFill/>
        </p:spPr>
        <p:txBody>
          <a:bodyPr wrap="none" lIns="0" tIns="0" rIns="0" bIns="0" anchor="t">
            <a:noAutofit/>
          </a:bodyPr>
          <a:lstStyle/>
          <a:p>
            <a:pPr algn="l"/>
            <a:r>
              <a:rPr sz="1100" b="0" i="0" spc="-450" dirty="0">
                <a:solidFill>
                  <a:srgbClr val="0F766E"/>
                </a:solidFill>
                <a:latin typeface="Aptos"/>
              </a:rPr>
              <a:t>⏵⏵</a:t>
            </a:r>
          </a:p>
        </p:txBody>
      </p:sp>
      <p:sp>
        <p:nvSpPr>
          <p:cNvPr id="33" name="M3Mode3"/>
          <p:cNvSpPr txBox="1"/>
          <p:nvPr/>
        </p:nvSpPr>
        <p:spPr>
          <a:xfrm>
            <a:off x="786384" y="3264408"/>
            <a:ext cx="1371600" cy="256032"/>
          </a:xfrm>
          <a:prstGeom prst="rect">
            <a:avLst/>
          </a:prstGeom>
          <a:noFill/>
        </p:spPr>
        <p:txBody>
          <a:bodyPr wrap="square" lIns="0" tIns="0" rIns="0" bIns="0" anchor="t">
            <a:spAutoFit/>
          </a:bodyPr>
          <a:lstStyle/>
          <a:p>
            <a:pPr algn="l"/>
            <a:r>
              <a:rPr sz="1200" b="1" i="0">
                <a:solidFill>
                  <a:srgbClr val="0F766E"/>
                </a:solidFill>
                <a:latin typeface="Aptos Display"/>
              </a:rPr>
              <a:t>Auto</a:t>
            </a:r>
          </a:p>
        </p:txBody>
      </p:sp>
      <p:sp>
        <p:nvSpPr>
          <p:cNvPr id="34" name="M3Cfg3"/>
          <p:cNvSpPr txBox="1"/>
          <p:nvPr/>
        </p:nvSpPr>
        <p:spPr>
          <a:xfrm>
            <a:off x="2295144" y="3273552"/>
            <a:ext cx="1737360" cy="237744"/>
          </a:xfrm>
          <a:prstGeom prst="rect">
            <a:avLst/>
          </a:prstGeom>
          <a:noFill/>
        </p:spPr>
        <p:txBody>
          <a:bodyPr wrap="square" lIns="0" tIns="0" rIns="0" bIns="0" anchor="t">
            <a:spAutoFit/>
          </a:bodyPr>
          <a:lstStyle/>
          <a:p>
            <a:pPr algn="l"/>
            <a:r>
              <a:rPr sz="1050" b="0" i="0">
                <a:solidFill>
                  <a:srgbClr val="7C3AED"/>
                </a:solidFill>
                <a:latin typeface="Consolas"/>
              </a:rPr>
              <a:t>auto</a:t>
            </a:r>
          </a:p>
        </p:txBody>
      </p:sp>
      <p:sp>
        <p:nvSpPr>
          <p:cNvPr id="35" name="M3Runs3"/>
          <p:cNvSpPr txBox="1"/>
          <p:nvPr/>
        </p:nvSpPr>
        <p:spPr>
          <a:xfrm>
            <a:off x="4215384" y="3273552"/>
            <a:ext cx="4617720" cy="237744"/>
          </a:xfrm>
          <a:prstGeom prst="rect">
            <a:avLst/>
          </a:prstGeom>
          <a:noFill/>
        </p:spPr>
        <p:txBody>
          <a:bodyPr wrap="square" lIns="0" tIns="0" rIns="0" bIns="0" anchor="t">
            <a:spAutoFit/>
          </a:bodyPr>
          <a:lstStyle/>
          <a:p>
            <a:pPr algn="l"/>
            <a:r>
              <a:rPr sz="1100" b="0" i="0">
                <a:solidFill>
                  <a:srgbClr val="475569"/>
                </a:solidFill>
                <a:latin typeface="Aptos"/>
              </a:rPr>
              <a:t>Everything, with a classifier checking first</a:t>
            </a:r>
          </a:p>
        </p:txBody>
      </p:sp>
      <p:sp>
        <p:nvSpPr>
          <p:cNvPr id="36" name="M3Best3"/>
          <p:cNvSpPr txBox="1"/>
          <p:nvPr/>
        </p:nvSpPr>
        <p:spPr>
          <a:xfrm>
            <a:off x="8924544" y="3282696"/>
            <a:ext cx="2743200" cy="237744"/>
          </a:xfrm>
          <a:prstGeom prst="rect">
            <a:avLst/>
          </a:prstGeom>
          <a:noFill/>
        </p:spPr>
        <p:txBody>
          <a:bodyPr wrap="square" lIns="0" tIns="0" rIns="0" bIns="0" anchor="t">
            <a:spAutoFit/>
          </a:bodyPr>
          <a:lstStyle/>
          <a:p>
            <a:pPr algn="l"/>
            <a:r>
              <a:rPr sz="1050" b="0" i="0">
                <a:solidFill>
                  <a:srgbClr val="64748B"/>
                </a:solidFill>
                <a:latin typeface="Aptos"/>
              </a:rPr>
              <a:t>Long tasks, prompt fatigue</a:t>
            </a:r>
          </a:p>
        </p:txBody>
      </p:sp>
      <p:sp>
        <p:nvSpPr>
          <p:cNvPr id="37" name="M3Row4"/>
          <p:cNvSpPr/>
          <p:nvPr/>
        </p:nvSpPr>
        <p:spPr>
          <a:xfrm>
            <a:off x="329184" y="3694176"/>
            <a:ext cx="11430000" cy="47548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M3Tick4"/>
          <p:cNvSpPr/>
          <p:nvPr/>
        </p:nvSpPr>
        <p:spPr>
          <a:xfrm>
            <a:off x="329184" y="3694176"/>
            <a:ext cx="54864" cy="47548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M3Glyph4"/>
          <p:cNvSpPr txBox="1"/>
          <p:nvPr/>
        </p:nvSpPr>
        <p:spPr>
          <a:xfrm>
            <a:off x="493776" y="3803904"/>
            <a:ext cx="279400" cy="256032"/>
          </a:xfrm>
          <a:prstGeom prst="rect">
            <a:avLst/>
          </a:prstGeom>
          <a:noFill/>
        </p:spPr>
        <p:txBody>
          <a:bodyPr wrap="none" lIns="0" tIns="0" rIns="0" bIns="0" anchor="t">
            <a:noAutofit/>
          </a:bodyPr>
          <a:lstStyle/>
          <a:p>
            <a:pPr algn="l"/>
            <a:r>
              <a:rPr sz="1100" b="0" i="0" spc="-450" dirty="0">
                <a:solidFill>
                  <a:srgbClr val="C2410C"/>
                </a:solidFill>
                <a:latin typeface="Aptos"/>
              </a:rPr>
              <a:t>⏵⏵</a:t>
            </a:r>
          </a:p>
        </p:txBody>
      </p:sp>
      <p:sp>
        <p:nvSpPr>
          <p:cNvPr id="40" name="M3Mode4"/>
          <p:cNvSpPr txBox="1"/>
          <p:nvPr/>
        </p:nvSpPr>
        <p:spPr>
          <a:xfrm>
            <a:off x="786384" y="3813048"/>
            <a:ext cx="1371600" cy="256032"/>
          </a:xfrm>
          <a:prstGeom prst="rect">
            <a:avLst/>
          </a:prstGeom>
          <a:noFill/>
        </p:spPr>
        <p:txBody>
          <a:bodyPr wrap="square" lIns="0" tIns="0" rIns="0" bIns="0" anchor="t">
            <a:spAutoFit/>
          </a:bodyPr>
          <a:lstStyle/>
          <a:p>
            <a:pPr algn="l"/>
            <a:r>
              <a:rPr sz="1200" b="1" i="0">
                <a:solidFill>
                  <a:srgbClr val="C2410C"/>
                </a:solidFill>
                <a:latin typeface="Aptos Display"/>
              </a:rPr>
              <a:t>Don't ask</a:t>
            </a:r>
          </a:p>
        </p:txBody>
      </p:sp>
      <p:sp>
        <p:nvSpPr>
          <p:cNvPr id="41" name="M3Cfg4"/>
          <p:cNvSpPr txBox="1"/>
          <p:nvPr/>
        </p:nvSpPr>
        <p:spPr>
          <a:xfrm>
            <a:off x="2295144" y="3822192"/>
            <a:ext cx="1737360" cy="237744"/>
          </a:xfrm>
          <a:prstGeom prst="rect">
            <a:avLst/>
          </a:prstGeom>
          <a:noFill/>
        </p:spPr>
        <p:txBody>
          <a:bodyPr wrap="square" lIns="0" tIns="0" rIns="0" bIns="0" anchor="t">
            <a:spAutoFit/>
          </a:bodyPr>
          <a:lstStyle/>
          <a:p>
            <a:pPr algn="l"/>
            <a:r>
              <a:rPr sz="1050" b="0" i="0" dirty="0" err="1">
                <a:solidFill>
                  <a:srgbClr val="7C3AED"/>
                </a:solidFill>
                <a:latin typeface="Consolas"/>
              </a:rPr>
              <a:t>dontAsk</a:t>
            </a:r>
            <a:endParaRPr sz="1050" b="0" i="0" dirty="0">
              <a:solidFill>
                <a:srgbClr val="7C3AED"/>
              </a:solidFill>
              <a:latin typeface="Consolas"/>
            </a:endParaRPr>
          </a:p>
        </p:txBody>
      </p:sp>
      <p:sp>
        <p:nvSpPr>
          <p:cNvPr id="42" name="M3Runs4"/>
          <p:cNvSpPr txBox="1"/>
          <p:nvPr/>
        </p:nvSpPr>
        <p:spPr>
          <a:xfrm>
            <a:off x="4215384" y="3822192"/>
            <a:ext cx="4617720" cy="237744"/>
          </a:xfrm>
          <a:prstGeom prst="rect">
            <a:avLst/>
          </a:prstGeom>
          <a:noFill/>
        </p:spPr>
        <p:txBody>
          <a:bodyPr wrap="square" lIns="0" tIns="0" rIns="0" bIns="0" anchor="t">
            <a:spAutoFit/>
          </a:bodyPr>
          <a:lstStyle/>
          <a:p>
            <a:pPr algn="l"/>
            <a:r>
              <a:rPr sz="1100" b="0" i="0">
                <a:solidFill>
                  <a:srgbClr val="475569"/>
                </a:solidFill>
                <a:latin typeface="Aptos"/>
              </a:rPr>
              <a:t>Reads and pre-approved tools — the rest is DENIED</a:t>
            </a:r>
          </a:p>
        </p:txBody>
      </p:sp>
      <p:sp>
        <p:nvSpPr>
          <p:cNvPr id="43" name="M3Best4"/>
          <p:cNvSpPr txBox="1"/>
          <p:nvPr/>
        </p:nvSpPr>
        <p:spPr>
          <a:xfrm>
            <a:off x="8924544" y="3831336"/>
            <a:ext cx="2743200" cy="237744"/>
          </a:xfrm>
          <a:prstGeom prst="rect">
            <a:avLst/>
          </a:prstGeom>
          <a:noFill/>
        </p:spPr>
        <p:txBody>
          <a:bodyPr wrap="square" lIns="0" tIns="0" rIns="0" bIns="0" anchor="t">
            <a:spAutoFit/>
          </a:bodyPr>
          <a:lstStyle/>
          <a:p>
            <a:pPr algn="l"/>
            <a:r>
              <a:rPr sz="1050" b="0" i="0">
                <a:solidFill>
                  <a:srgbClr val="64748B"/>
                </a:solidFill>
                <a:latin typeface="Aptos"/>
              </a:rPr>
              <a:t>Locked-down CI and scripts</a:t>
            </a:r>
          </a:p>
        </p:txBody>
      </p:sp>
      <p:sp>
        <p:nvSpPr>
          <p:cNvPr id="44" name="M3Row5"/>
          <p:cNvSpPr/>
          <p:nvPr/>
        </p:nvSpPr>
        <p:spPr>
          <a:xfrm>
            <a:off x="329184" y="4242816"/>
            <a:ext cx="11430000" cy="475488"/>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M3Tick5"/>
          <p:cNvSpPr/>
          <p:nvPr/>
        </p:nvSpPr>
        <p:spPr>
          <a:xfrm>
            <a:off x="329184" y="4242816"/>
            <a:ext cx="54864" cy="47548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M3Glyph5"/>
          <p:cNvSpPr txBox="1"/>
          <p:nvPr/>
        </p:nvSpPr>
        <p:spPr>
          <a:xfrm>
            <a:off x="493776" y="4352544"/>
            <a:ext cx="279400" cy="256032"/>
          </a:xfrm>
          <a:prstGeom prst="rect">
            <a:avLst/>
          </a:prstGeom>
          <a:noFill/>
        </p:spPr>
        <p:txBody>
          <a:bodyPr wrap="none" lIns="0" tIns="0" rIns="0" bIns="0" anchor="t">
            <a:noAutofit/>
          </a:bodyPr>
          <a:lstStyle/>
          <a:p>
            <a:pPr algn="l"/>
            <a:r>
              <a:rPr sz="1100" b="0" i="0" spc="-450" dirty="0">
                <a:solidFill>
                  <a:srgbClr val="B91C1C"/>
                </a:solidFill>
                <a:latin typeface="Aptos"/>
              </a:rPr>
              <a:t>⏵⏵</a:t>
            </a:r>
          </a:p>
        </p:txBody>
      </p:sp>
      <p:sp>
        <p:nvSpPr>
          <p:cNvPr id="47" name="M3Mode5"/>
          <p:cNvSpPr txBox="1"/>
          <p:nvPr/>
        </p:nvSpPr>
        <p:spPr>
          <a:xfrm>
            <a:off x="786384" y="4361688"/>
            <a:ext cx="1371600" cy="256032"/>
          </a:xfrm>
          <a:prstGeom prst="rect">
            <a:avLst/>
          </a:prstGeom>
          <a:noFill/>
        </p:spPr>
        <p:txBody>
          <a:bodyPr wrap="square" lIns="0" tIns="0" rIns="0" bIns="0" anchor="t">
            <a:spAutoFit/>
          </a:bodyPr>
          <a:lstStyle/>
          <a:p>
            <a:pPr algn="l"/>
            <a:r>
              <a:rPr sz="1200" b="1" i="0">
                <a:solidFill>
                  <a:srgbClr val="B91C1C"/>
                </a:solidFill>
                <a:latin typeface="Aptos Display"/>
              </a:rPr>
              <a:t>Bypass</a:t>
            </a:r>
          </a:p>
        </p:txBody>
      </p:sp>
      <p:sp>
        <p:nvSpPr>
          <p:cNvPr id="48" name="M3Cfg5"/>
          <p:cNvSpPr txBox="1"/>
          <p:nvPr/>
        </p:nvSpPr>
        <p:spPr>
          <a:xfrm>
            <a:off x="2295144" y="4370832"/>
            <a:ext cx="1737360" cy="237744"/>
          </a:xfrm>
          <a:prstGeom prst="rect">
            <a:avLst/>
          </a:prstGeom>
          <a:noFill/>
        </p:spPr>
        <p:txBody>
          <a:bodyPr wrap="square" lIns="0" tIns="0" rIns="0" bIns="0" anchor="t">
            <a:spAutoFit/>
          </a:bodyPr>
          <a:lstStyle/>
          <a:p>
            <a:pPr algn="l"/>
            <a:r>
              <a:rPr sz="1050" b="0" i="0" dirty="0" err="1">
                <a:solidFill>
                  <a:srgbClr val="7C3AED"/>
                </a:solidFill>
                <a:latin typeface="Consolas"/>
              </a:rPr>
              <a:t>bypassPermissions</a:t>
            </a:r>
            <a:endParaRPr sz="1050" b="0" i="0" dirty="0">
              <a:solidFill>
                <a:srgbClr val="7C3AED"/>
              </a:solidFill>
              <a:latin typeface="Consolas"/>
            </a:endParaRPr>
          </a:p>
        </p:txBody>
      </p:sp>
      <p:sp>
        <p:nvSpPr>
          <p:cNvPr id="49" name="M3Runs5"/>
          <p:cNvSpPr txBox="1"/>
          <p:nvPr/>
        </p:nvSpPr>
        <p:spPr>
          <a:xfrm>
            <a:off x="4215384" y="4370832"/>
            <a:ext cx="4617720" cy="237744"/>
          </a:xfrm>
          <a:prstGeom prst="rect">
            <a:avLst/>
          </a:prstGeom>
          <a:noFill/>
        </p:spPr>
        <p:txBody>
          <a:bodyPr wrap="square" lIns="0" tIns="0" rIns="0" bIns="0" anchor="t">
            <a:spAutoFit/>
          </a:bodyPr>
          <a:lstStyle/>
          <a:p>
            <a:pPr algn="l"/>
            <a:r>
              <a:rPr sz="1100" b="0" i="0">
                <a:solidFill>
                  <a:srgbClr val="475569"/>
                </a:solidFill>
                <a:latin typeface="Aptos"/>
              </a:rPr>
              <a:t>Everything, with no checks at all</a:t>
            </a:r>
          </a:p>
        </p:txBody>
      </p:sp>
      <p:sp>
        <p:nvSpPr>
          <p:cNvPr id="50" name="M3Best5"/>
          <p:cNvSpPr txBox="1"/>
          <p:nvPr/>
        </p:nvSpPr>
        <p:spPr>
          <a:xfrm>
            <a:off x="8924544" y="4379976"/>
            <a:ext cx="2743200" cy="237744"/>
          </a:xfrm>
          <a:prstGeom prst="rect">
            <a:avLst/>
          </a:prstGeom>
          <a:noFill/>
        </p:spPr>
        <p:txBody>
          <a:bodyPr wrap="square" lIns="0" tIns="0" rIns="0" bIns="0" anchor="t">
            <a:spAutoFit/>
          </a:bodyPr>
          <a:lstStyle/>
          <a:p>
            <a:pPr algn="l"/>
            <a:r>
              <a:rPr sz="1050" b="0" i="0">
                <a:solidFill>
                  <a:srgbClr val="64748B"/>
                </a:solidFill>
                <a:latin typeface="Aptos"/>
              </a:rPr>
              <a:t>Throwaway containers only</a:t>
            </a:r>
          </a:p>
        </p:txBody>
      </p:sp>
      <p:sp>
        <p:nvSpPr>
          <p:cNvPr id="51" name="M3CycLabel"/>
          <p:cNvSpPr txBox="1"/>
          <p:nvPr/>
        </p:nvSpPr>
        <p:spPr>
          <a:xfrm>
            <a:off x="329184" y="4882896"/>
            <a:ext cx="2743200" cy="237744"/>
          </a:xfrm>
          <a:prstGeom prst="rect">
            <a:avLst/>
          </a:prstGeom>
          <a:noFill/>
        </p:spPr>
        <p:txBody>
          <a:bodyPr wrap="square" lIns="0" tIns="0" rIns="0" bIns="0" anchor="t">
            <a:spAutoFit/>
          </a:bodyPr>
          <a:lstStyle/>
          <a:p>
            <a:pPr algn="l"/>
            <a:r>
              <a:rPr sz="950" b="1" i="0">
                <a:solidFill>
                  <a:srgbClr val="64748B"/>
                </a:solidFill>
                <a:latin typeface="Aptos"/>
              </a:rPr>
              <a:t>SHIFT+TAB CYCLES</a:t>
            </a:r>
          </a:p>
        </p:txBody>
      </p:sp>
      <p:sp>
        <p:nvSpPr>
          <p:cNvPr id="52" name="M3Chev0"/>
          <p:cNvSpPr/>
          <p:nvPr/>
        </p:nvSpPr>
        <p:spPr>
          <a:xfrm>
            <a:off x="329184" y="5157216"/>
            <a:ext cx="1828800" cy="420624"/>
          </a:xfrm>
          <a:prstGeom prst="chevron">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dirty="0">
                <a:solidFill>
                  <a:srgbClr val="FFFFFF"/>
                </a:solidFill>
                <a:latin typeface="Aptos"/>
              </a:rPr>
              <a:t>Manual</a:t>
            </a:r>
          </a:p>
        </p:txBody>
      </p:sp>
      <p:sp>
        <p:nvSpPr>
          <p:cNvPr id="53" name="M3Chev1"/>
          <p:cNvSpPr/>
          <p:nvPr/>
        </p:nvSpPr>
        <p:spPr>
          <a:xfrm>
            <a:off x="2020824" y="5157216"/>
            <a:ext cx="1828800" cy="420624"/>
          </a:xfrm>
          <a:prstGeom prst="chevron">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dirty="0">
                <a:solidFill>
                  <a:srgbClr val="FFFFFF"/>
                </a:solidFill>
                <a:latin typeface="Aptos"/>
              </a:rPr>
              <a:t>Accept edits</a:t>
            </a:r>
          </a:p>
        </p:txBody>
      </p:sp>
      <p:sp>
        <p:nvSpPr>
          <p:cNvPr id="54" name="M3Chev2"/>
          <p:cNvSpPr/>
          <p:nvPr/>
        </p:nvSpPr>
        <p:spPr>
          <a:xfrm>
            <a:off x="3712464" y="5157216"/>
            <a:ext cx="1828800" cy="420624"/>
          </a:xfrm>
          <a:prstGeom prst="chevron">
            <a:avLst/>
          </a:prstGeom>
          <a:solidFill>
            <a:srgbClr val="1D4E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FFFFFF"/>
                </a:solidFill>
                <a:latin typeface="Aptos"/>
              </a:rPr>
              <a:t>Plan</a:t>
            </a:r>
          </a:p>
        </p:txBody>
      </p:sp>
      <p:sp>
        <p:nvSpPr>
          <p:cNvPr id="55" name="M3CycNote"/>
          <p:cNvSpPr txBox="1"/>
          <p:nvPr/>
        </p:nvSpPr>
        <p:spPr>
          <a:xfrm>
            <a:off x="5760720" y="5230368"/>
            <a:ext cx="6035040" cy="457200"/>
          </a:xfrm>
          <a:prstGeom prst="rect">
            <a:avLst/>
          </a:prstGeom>
          <a:noFill/>
        </p:spPr>
        <p:txBody>
          <a:bodyPr wrap="square" lIns="0" tIns="0" rIns="0" bIns="0" anchor="t">
            <a:spAutoFit/>
          </a:bodyPr>
          <a:lstStyle/>
          <a:p>
            <a:pPr algn="l"/>
            <a:r>
              <a:rPr sz="1150" b="1" i="0">
                <a:solidFill>
                  <a:srgbClr val="1A2332"/>
                </a:solidFill>
                <a:latin typeface="Aptos"/>
              </a:rPr>
              <a:t>↻ back to Manual.   </a:t>
            </a:r>
            <a:r>
              <a:rPr sz="1150" b="0" i="0">
                <a:solidFill>
                  <a:srgbClr val="475569"/>
                </a:solidFill>
                <a:latin typeface="Aptos"/>
              </a:rPr>
              <a:t>Auto and Bypass slot in after Plan when enabled.</a:t>
            </a:r>
          </a:p>
          <a:p>
            <a:pPr algn="l">
              <a:spcBef>
                <a:spcPts val="200"/>
              </a:spcBef>
            </a:pPr>
            <a:r>
              <a:rPr sz="1150" b="0" i="0">
                <a:solidFill>
                  <a:srgbClr val="475569"/>
                </a:solidFill>
                <a:latin typeface="Aptos"/>
              </a:rPr>
              <a:t>dontAsk never appears — the only way in is the flag.</a:t>
            </a:r>
          </a:p>
        </p:txBody>
      </p:sp>
      <p:sp>
        <p:nvSpPr>
          <p:cNvPr id="56" name="M3Warn"/>
          <p:cNvSpPr/>
          <p:nvPr/>
        </p:nvSpPr>
        <p:spPr>
          <a:xfrm>
            <a:off x="329184" y="5815584"/>
            <a:ext cx="11430000" cy="621792"/>
          </a:xfrm>
          <a:prstGeom prst="roundRect">
            <a:avLst>
              <a:gd name="adj" fmla="val 6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M3WarnTxt"/>
          <p:cNvSpPr txBox="1"/>
          <p:nvPr/>
        </p:nvSpPr>
        <p:spPr>
          <a:xfrm>
            <a:off x="512064" y="5925312"/>
            <a:ext cx="11064240" cy="420624"/>
          </a:xfrm>
          <a:prstGeom prst="rect">
            <a:avLst/>
          </a:prstGeom>
          <a:noFill/>
        </p:spPr>
        <p:txBody>
          <a:bodyPr wrap="square" lIns="0" tIns="0" rIns="0" bIns="0" anchor="t">
            <a:spAutoFit/>
          </a:bodyPr>
          <a:lstStyle/>
          <a:p>
            <a:pPr algn="l"/>
            <a:r>
              <a:rPr sz="1250" b="1" i="0">
                <a:solidFill>
                  <a:srgbClr val="DC2626"/>
                </a:solidFill>
                <a:latin typeface="Aptos Display"/>
              </a:rPr>
              <a:t>Gotcha.  </a:t>
            </a:r>
            <a:r>
              <a:rPr sz="1250" b="0" i="0">
                <a:solidFill>
                  <a:srgbClr val="475569"/>
                </a:solidFill>
                <a:latin typeface="Aptos"/>
              </a:rPr>
              <a:t>"defaultMode": "auto" has no effect in .claude/settings.json or .claude/settings.local.json — it only works from ~/.claude/settings.json. Sessions start in Manual instead, with no error.</a:t>
            </a:r>
          </a:p>
        </p:txBody>
      </p:sp>
      <p:sp>
        <p:nvSpPr>
          <p:cNvPr id="58"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59" name="PageNum"/>
          <p:cNvSpPr txBox="1"/>
          <p:nvPr/>
        </p:nvSpPr>
        <p:spPr>
          <a:xfrm>
            <a:off x="10058400" y="6647688"/>
            <a:ext cx="1463040" cy="201168"/>
          </a:xfrm>
          <a:prstGeom prst="rect">
            <a:avLst/>
          </a:prstGeom>
          <a:noFill/>
        </p:spPr>
        <p:txBody>
          <a:bodyPr wrap="square" lIns="0" tIns="0" rIns="0" bIns="0" anchor="t">
            <a:spAutoFit/>
          </a:bodyPr>
          <a:lstStyle/>
          <a:p>
            <a:r>
              <a:t>8 / 52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Plan mode: agree the drawings before the concrete</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You would never let a builder start from one sentence. The value is in the rounds you spend on the drawing.</a:t>
            </a:r>
          </a:p>
        </p:txBody>
      </p:sp>
      <p:sp>
        <p:nvSpPr>
          <p:cNvPr id="4"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Operating Discipline</a:t>
            </a:r>
          </a:p>
        </p:txBody>
      </p:sp>
      <p:sp>
        <p:nvSpPr>
          <p:cNvPr id="5" name="PageNum"/>
          <p:cNvSpPr txBox="1"/>
          <p:nvPr/>
        </p:nvSpPr>
        <p:spPr>
          <a:xfrm>
            <a:off x="10058400" y="6647688"/>
            <a:ext cx="1463040" cy="201168"/>
          </a:xfrm>
          <a:prstGeom prst="rect">
            <a:avLst/>
          </a:prstGeom>
          <a:noFill/>
        </p:spPr>
        <p:txBody>
          <a:bodyPr wrap="square" lIns="0" tIns="0" rIns="0" bIns="0" anchor="t">
            <a:spAutoFit/>
          </a:bodyPr>
          <a:lstStyle/>
          <a:p>
            <a:pPr algn="r"/>
            <a:r>
              <a:rPr sz="900" b="0" i="0">
                <a:solidFill>
                  <a:srgbClr val="8899AA"/>
                </a:solidFill>
                <a:latin typeface="Aptos"/>
              </a:rPr>
              <a:t>9 / 52</a:t>
            </a:r>
          </a:p>
        </p:txBody>
      </p:sp>
      <p:sp>
        <p:nvSpPr>
          <p:cNvPr id="6" name="H3NoPanel"/>
          <p:cNvSpPr/>
          <p:nvPr/>
        </p:nvSpPr>
        <p:spPr>
          <a:xfrm>
            <a:off x="329184" y="1097280"/>
            <a:ext cx="5614416" cy="44000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H3NoTop"/>
          <p:cNvSpPr/>
          <p:nvPr/>
        </p:nvSpPr>
        <p:spPr>
          <a:xfrm>
            <a:off x="420624" y="1097280"/>
            <a:ext cx="5431536" cy="731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H3NoHd"/>
          <p:cNvSpPr txBox="1"/>
          <p:nvPr/>
        </p:nvSpPr>
        <p:spPr>
          <a:xfrm>
            <a:off x="493776" y="1280160"/>
            <a:ext cx="5285232" cy="292608"/>
          </a:xfrm>
          <a:prstGeom prst="rect">
            <a:avLst/>
          </a:prstGeom>
          <a:noFill/>
        </p:spPr>
        <p:txBody>
          <a:bodyPr wrap="square" lIns="0" tIns="0" rIns="0" bIns="0" anchor="t">
            <a:spAutoFit/>
          </a:bodyPr>
          <a:lstStyle/>
          <a:p>
            <a:pPr algn="l"/>
            <a:r>
              <a:rPr sz="1300" b="1" i="0">
                <a:solidFill>
                  <a:srgbClr val="DC2626"/>
                </a:solidFill>
                <a:latin typeface="Aptos Display"/>
              </a:rPr>
              <a:t>No plan — you described it and walked away</a:t>
            </a:r>
          </a:p>
        </p:txBody>
      </p:sp>
      <p:sp>
        <p:nvSpPr>
          <p:cNvPr id="9" name="H3NoDreamFrame"/>
          <p:cNvSpPr/>
          <p:nvPr/>
        </p:nvSpPr>
        <p:spPr>
          <a:xfrm>
            <a:off x="1294813" y="1572568"/>
            <a:ext cx="968742" cy="1204864"/>
          </a:xfrm>
          <a:prstGeom prst="roundRect">
            <a:avLst>
              <a:gd name="adj" fmla="val 3000"/>
            </a:avLst>
          </a:prstGeom>
          <a:solidFill>
            <a:srgbClr val="F1F5F9"/>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34" name="H3NoDreamArt"/>
          <p:cNvGrpSpPr/>
          <p:nvPr/>
        </p:nvGrpSpPr>
        <p:grpSpPr>
          <a:xfrm>
            <a:off x="1333500" y="1676400"/>
            <a:ext cx="889000" cy="971550"/>
            <a:chOff x="1333500" y="1676400"/>
            <a:chExt cx="889000" cy="971550"/>
          </a:xfrm>
        </p:grpSpPr>
        <p:sp>
          <p:nvSpPr>
            <p:cNvPr id="1001" name="NoDream2Chimney"/>
            <p:cNvSpPr/>
            <p:nvPr/>
          </p:nvSpPr>
          <p:spPr>
            <a:xfrm>
              <a:off x="1930400" y="1676400"/>
              <a:ext cx="88900" cy="177800"/>
            </a:xfrm>
            <a:prstGeom prst="rect">
              <a:avLst/>
            </a:prstGeom>
            <a:solidFill>
              <a:srgbClr val="334155"/>
            </a:solidFill>
            <a:ln>
              <a:noFill/>
            </a:ln>
            <a:effectLst/>
          </p:spPr>
          <p:txBody>
            <a:bodyPr/>
            <a:lstStyle/>
            <a:p>
              <a:endParaRPr/>
            </a:p>
          </p:txBody>
        </p:sp>
        <p:sp>
          <p:nvSpPr>
            <p:cNvPr id="1002" name="NoDream2Roof"/>
            <p:cNvSpPr/>
            <p:nvPr/>
          </p:nvSpPr>
          <p:spPr>
            <a:xfrm>
              <a:off x="1333500" y="1701800"/>
              <a:ext cx="889000" cy="228600"/>
            </a:xfrm>
            <a:prstGeom prst="triangle">
              <a:avLst/>
            </a:prstGeom>
            <a:solidFill>
              <a:srgbClr val="334155"/>
            </a:solidFill>
            <a:ln>
              <a:noFill/>
            </a:ln>
            <a:effectLst/>
          </p:spPr>
          <p:txBody>
            <a:bodyPr/>
            <a:lstStyle/>
            <a:p>
              <a:endParaRPr/>
            </a:p>
          </p:txBody>
        </p:sp>
        <p:sp>
          <p:nvSpPr>
            <p:cNvPr id="1003" name="NoDream2Body"/>
            <p:cNvSpPr/>
            <p:nvPr/>
          </p:nvSpPr>
          <p:spPr>
            <a:xfrm>
              <a:off x="1435100" y="1930400"/>
              <a:ext cx="685800" cy="685800"/>
            </a:xfrm>
            <a:prstGeom prst="rect">
              <a:avLst/>
            </a:prstGeom>
            <a:solidFill>
              <a:srgbClr val="FFFFFF"/>
            </a:solidFill>
            <a:ln w="9525">
              <a:solidFill>
                <a:srgbClr val="334155"/>
              </a:solidFill>
            </a:ln>
            <a:effectLst/>
          </p:spPr>
          <p:txBody>
            <a:bodyPr/>
            <a:lstStyle/>
            <a:p>
              <a:endParaRPr/>
            </a:p>
          </p:txBody>
        </p:sp>
        <p:sp>
          <p:nvSpPr>
            <p:cNvPr id="1004" name="NoDream2U1"/>
            <p:cNvSpPr/>
            <p:nvPr/>
          </p:nvSpPr>
          <p:spPr>
            <a:xfrm>
              <a:off x="1498600" y="2006600"/>
              <a:ext cx="152400" cy="152400"/>
            </a:xfrm>
            <a:prstGeom prst="rect">
              <a:avLst/>
            </a:prstGeom>
            <a:solidFill>
              <a:srgbClr val="93C5FD"/>
            </a:solidFill>
            <a:ln w="6350">
              <a:solidFill>
                <a:srgbClr val="334155"/>
              </a:solidFill>
            </a:ln>
            <a:effectLst/>
          </p:spPr>
          <p:txBody>
            <a:bodyPr/>
            <a:lstStyle/>
            <a:p>
              <a:endParaRPr/>
            </a:p>
          </p:txBody>
        </p:sp>
        <p:sp>
          <p:nvSpPr>
            <p:cNvPr id="1005" name="NoDream2U2"/>
            <p:cNvSpPr/>
            <p:nvPr/>
          </p:nvSpPr>
          <p:spPr>
            <a:xfrm>
              <a:off x="1701800" y="2006600"/>
              <a:ext cx="152400" cy="152400"/>
            </a:xfrm>
            <a:prstGeom prst="rect">
              <a:avLst/>
            </a:prstGeom>
            <a:solidFill>
              <a:srgbClr val="93C5FD"/>
            </a:solidFill>
            <a:ln w="6350">
              <a:solidFill>
                <a:srgbClr val="334155"/>
              </a:solidFill>
            </a:ln>
            <a:effectLst/>
          </p:spPr>
          <p:txBody>
            <a:bodyPr/>
            <a:lstStyle/>
            <a:p>
              <a:endParaRPr/>
            </a:p>
          </p:txBody>
        </p:sp>
        <p:sp>
          <p:nvSpPr>
            <p:cNvPr id="1006" name="NoDream2U3"/>
            <p:cNvSpPr/>
            <p:nvPr/>
          </p:nvSpPr>
          <p:spPr>
            <a:xfrm>
              <a:off x="1905000" y="2006600"/>
              <a:ext cx="152400" cy="152400"/>
            </a:xfrm>
            <a:prstGeom prst="rect">
              <a:avLst/>
            </a:prstGeom>
            <a:solidFill>
              <a:srgbClr val="93C5FD"/>
            </a:solidFill>
            <a:ln w="6350">
              <a:solidFill>
                <a:srgbClr val="334155"/>
              </a:solidFill>
            </a:ln>
            <a:effectLst/>
          </p:spPr>
          <p:txBody>
            <a:bodyPr/>
            <a:lstStyle/>
            <a:p>
              <a:endParaRPr/>
            </a:p>
          </p:txBody>
        </p:sp>
        <p:sp>
          <p:nvSpPr>
            <p:cNvPr id="1007" name="NoDream2Floor"/>
            <p:cNvSpPr/>
            <p:nvPr/>
          </p:nvSpPr>
          <p:spPr>
            <a:xfrm>
              <a:off x="1435100" y="2235200"/>
              <a:ext cx="685800" cy="30480"/>
            </a:xfrm>
            <a:prstGeom prst="rect">
              <a:avLst/>
            </a:prstGeom>
            <a:solidFill>
              <a:srgbClr val="334155"/>
            </a:solidFill>
            <a:ln>
              <a:noFill/>
            </a:ln>
            <a:effectLst/>
          </p:spPr>
          <p:txBody>
            <a:bodyPr/>
            <a:lstStyle/>
            <a:p>
              <a:endParaRPr/>
            </a:p>
          </p:txBody>
        </p:sp>
        <p:sp>
          <p:nvSpPr>
            <p:cNvPr id="1008" name="NoDream2L1"/>
            <p:cNvSpPr/>
            <p:nvPr/>
          </p:nvSpPr>
          <p:spPr>
            <a:xfrm>
              <a:off x="1498600" y="2336800"/>
              <a:ext cx="152400" cy="152400"/>
            </a:xfrm>
            <a:prstGeom prst="rect">
              <a:avLst/>
            </a:prstGeom>
            <a:solidFill>
              <a:srgbClr val="93C5FD"/>
            </a:solidFill>
            <a:ln w="6350">
              <a:solidFill>
                <a:srgbClr val="334155"/>
              </a:solidFill>
            </a:ln>
            <a:effectLst/>
          </p:spPr>
          <p:txBody>
            <a:bodyPr/>
            <a:lstStyle/>
            <a:p>
              <a:endParaRPr/>
            </a:p>
          </p:txBody>
        </p:sp>
        <p:sp>
          <p:nvSpPr>
            <p:cNvPr id="1009" name="NoDream2Door"/>
            <p:cNvSpPr/>
            <p:nvPr/>
          </p:nvSpPr>
          <p:spPr>
            <a:xfrm>
              <a:off x="1714500" y="2336800"/>
              <a:ext cx="127000" cy="279400"/>
            </a:xfrm>
            <a:prstGeom prst="rect">
              <a:avLst/>
            </a:prstGeom>
            <a:solidFill>
              <a:srgbClr val="334155"/>
            </a:solidFill>
            <a:ln>
              <a:noFill/>
            </a:ln>
            <a:effectLst/>
          </p:spPr>
          <p:txBody>
            <a:bodyPr/>
            <a:lstStyle/>
            <a:p>
              <a:endParaRPr/>
            </a:p>
          </p:txBody>
        </p:sp>
        <p:sp>
          <p:nvSpPr>
            <p:cNvPr id="1010" name="NoDream2L2"/>
            <p:cNvSpPr/>
            <p:nvPr/>
          </p:nvSpPr>
          <p:spPr>
            <a:xfrm>
              <a:off x="1905000" y="2336800"/>
              <a:ext cx="152400" cy="152400"/>
            </a:xfrm>
            <a:prstGeom prst="rect">
              <a:avLst/>
            </a:prstGeom>
            <a:solidFill>
              <a:srgbClr val="93C5FD"/>
            </a:solidFill>
            <a:ln w="6350">
              <a:solidFill>
                <a:srgbClr val="334155"/>
              </a:solidFill>
            </a:ln>
            <a:effectLst/>
          </p:spPr>
          <p:txBody>
            <a:bodyPr/>
            <a:lstStyle/>
            <a:p>
              <a:endParaRPr/>
            </a:p>
          </p:txBody>
        </p:sp>
        <p:sp>
          <p:nvSpPr>
            <p:cNvPr id="1011" name="NoDream2Ground"/>
            <p:cNvSpPr/>
            <p:nvPr/>
          </p:nvSpPr>
          <p:spPr>
            <a:xfrm>
              <a:off x="1346200" y="2616200"/>
              <a:ext cx="863600" cy="31750"/>
            </a:xfrm>
            <a:prstGeom prst="rect">
              <a:avLst/>
            </a:prstGeom>
            <a:solidFill>
              <a:srgbClr val="CBD5E1"/>
            </a:solidFill>
            <a:ln>
              <a:noFill/>
            </a:ln>
            <a:effectLst/>
          </p:spPr>
          <p:txBody>
            <a:bodyPr/>
            <a:lstStyle/>
            <a:p>
              <a:endParaRPr/>
            </a:p>
          </p:txBody>
        </p:sp>
      </p:grpSp>
      <p:sp>
        <p:nvSpPr>
          <p:cNvPr id="11" name="H3NoBuiltFrame"/>
          <p:cNvSpPr/>
          <p:nvPr/>
        </p:nvSpPr>
        <p:spPr>
          <a:xfrm>
            <a:off x="3870502" y="1972568"/>
            <a:ext cx="1217364" cy="804864"/>
          </a:xfrm>
          <a:prstGeom prst="roundRect">
            <a:avLst>
              <a:gd name="adj" fmla="val 3000"/>
            </a:avLst>
          </a:prstGeom>
          <a:solidFill>
            <a:srgbClr val="F1F5F9"/>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937" name="H3NoBuiltArt"/>
          <p:cNvGrpSpPr/>
          <p:nvPr/>
        </p:nvGrpSpPr>
        <p:grpSpPr>
          <a:xfrm>
            <a:off x="3924300" y="2120900"/>
            <a:ext cx="1117600" cy="539750"/>
            <a:chOff x="3924300" y="2120900"/>
            <a:chExt cx="1117600" cy="539750"/>
          </a:xfrm>
        </p:grpSpPr>
        <p:sp>
          <p:nvSpPr>
            <p:cNvPr id="910" name="NoBuiltRoof"/>
            <p:cNvSpPr/>
            <p:nvPr/>
          </p:nvSpPr>
          <p:spPr>
            <a:xfrm>
              <a:off x="4025900" y="2120900"/>
              <a:ext cx="863600" cy="177800"/>
            </a:xfrm>
            <a:prstGeom prst="rtTriangle">
              <a:avLst/>
            </a:prstGeom>
            <a:solidFill>
              <a:srgbClr val="334155"/>
            </a:solidFill>
            <a:ln>
              <a:noFill/>
            </a:ln>
            <a:effectLst/>
          </p:spPr>
          <p:txBody>
            <a:bodyPr/>
            <a:lstStyle/>
            <a:p>
              <a:endParaRPr/>
            </a:p>
          </p:txBody>
        </p:sp>
        <p:sp>
          <p:nvSpPr>
            <p:cNvPr id="911" name="NoBuiltBody"/>
            <p:cNvSpPr/>
            <p:nvPr/>
          </p:nvSpPr>
          <p:spPr>
            <a:xfrm>
              <a:off x="4102100" y="2298700"/>
              <a:ext cx="736600" cy="330200"/>
            </a:xfrm>
            <a:prstGeom prst="rect">
              <a:avLst/>
            </a:prstGeom>
            <a:solidFill>
              <a:srgbClr val="FFFFFF"/>
            </a:solidFill>
            <a:ln w="9525">
              <a:solidFill>
                <a:srgbClr val="334155"/>
              </a:solidFill>
            </a:ln>
            <a:effectLst/>
          </p:spPr>
          <p:txBody>
            <a:bodyPr/>
            <a:lstStyle/>
            <a:p>
              <a:endParaRPr/>
            </a:p>
          </p:txBody>
        </p:sp>
        <p:sp>
          <p:nvSpPr>
            <p:cNvPr id="912" name="NoBuiltDoor"/>
            <p:cNvSpPr/>
            <p:nvPr/>
          </p:nvSpPr>
          <p:spPr>
            <a:xfrm>
              <a:off x="4165600" y="2425700"/>
              <a:ext cx="114300" cy="203200"/>
            </a:xfrm>
            <a:prstGeom prst="rect">
              <a:avLst/>
            </a:prstGeom>
            <a:solidFill>
              <a:srgbClr val="334155"/>
            </a:solidFill>
            <a:ln>
              <a:noFill/>
            </a:ln>
            <a:effectLst/>
          </p:spPr>
          <p:txBody>
            <a:bodyPr/>
            <a:lstStyle/>
            <a:p>
              <a:endParaRPr/>
            </a:p>
          </p:txBody>
        </p:sp>
        <p:sp>
          <p:nvSpPr>
            <p:cNvPr id="913" name="NoBuiltWin"/>
            <p:cNvSpPr/>
            <p:nvPr/>
          </p:nvSpPr>
          <p:spPr>
            <a:xfrm>
              <a:off x="4622800" y="2362200"/>
              <a:ext cx="114300" cy="101600"/>
            </a:xfrm>
            <a:prstGeom prst="rect">
              <a:avLst/>
            </a:prstGeom>
            <a:solidFill>
              <a:srgbClr val="93C5FD"/>
            </a:solidFill>
            <a:ln w="6350">
              <a:solidFill>
                <a:srgbClr val="334155"/>
              </a:solidFill>
            </a:ln>
            <a:effectLst/>
          </p:spPr>
          <p:txBody>
            <a:bodyPr/>
            <a:lstStyle/>
            <a:p>
              <a:endParaRPr/>
            </a:p>
          </p:txBody>
        </p:sp>
        <p:sp>
          <p:nvSpPr>
            <p:cNvPr id="914" name="NoBuiltCrack"/>
            <p:cNvSpPr/>
            <p:nvPr/>
          </p:nvSpPr>
          <p:spPr>
            <a:xfrm rot="720000">
              <a:off x="4419600" y="2324100"/>
              <a:ext cx="19050" cy="304800"/>
            </a:xfrm>
            <a:prstGeom prst="rect">
              <a:avLst/>
            </a:prstGeom>
            <a:solidFill>
              <a:srgbClr val="94A3B8"/>
            </a:solidFill>
            <a:ln>
              <a:noFill/>
            </a:ln>
            <a:effectLst/>
          </p:spPr>
          <p:txBody>
            <a:bodyPr/>
            <a:lstStyle/>
            <a:p>
              <a:endParaRPr/>
            </a:p>
          </p:txBody>
        </p:sp>
        <p:sp>
          <p:nvSpPr>
            <p:cNvPr id="915" name="NoBuiltRub1"/>
            <p:cNvSpPr/>
            <p:nvPr/>
          </p:nvSpPr>
          <p:spPr>
            <a:xfrm>
              <a:off x="4889500" y="2565400"/>
              <a:ext cx="88900" cy="63500"/>
            </a:xfrm>
            <a:prstGeom prst="rect">
              <a:avLst/>
            </a:prstGeom>
            <a:solidFill>
              <a:srgbClr val="CBD5E1"/>
            </a:solidFill>
            <a:ln>
              <a:noFill/>
            </a:ln>
            <a:effectLst/>
          </p:spPr>
          <p:txBody>
            <a:bodyPr/>
            <a:lstStyle/>
            <a:p>
              <a:endParaRPr/>
            </a:p>
          </p:txBody>
        </p:sp>
        <p:sp>
          <p:nvSpPr>
            <p:cNvPr id="916" name="NoBuiltRub2"/>
            <p:cNvSpPr/>
            <p:nvPr/>
          </p:nvSpPr>
          <p:spPr>
            <a:xfrm>
              <a:off x="4000500" y="2578100"/>
              <a:ext cx="63500" cy="50800"/>
            </a:xfrm>
            <a:prstGeom prst="rect">
              <a:avLst/>
            </a:prstGeom>
            <a:solidFill>
              <a:srgbClr val="CBD5E1"/>
            </a:solidFill>
            <a:ln>
              <a:noFill/>
            </a:ln>
            <a:effectLst/>
          </p:spPr>
          <p:txBody>
            <a:bodyPr/>
            <a:lstStyle/>
            <a:p>
              <a:endParaRPr/>
            </a:p>
          </p:txBody>
        </p:sp>
        <p:sp>
          <p:nvSpPr>
            <p:cNvPr id="917" name="NoBuiltGround"/>
            <p:cNvSpPr/>
            <p:nvPr/>
          </p:nvSpPr>
          <p:spPr>
            <a:xfrm>
              <a:off x="3924300" y="2628900"/>
              <a:ext cx="1117600" cy="31750"/>
            </a:xfrm>
            <a:prstGeom prst="rect">
              <a:avLst/>
            </a:prstGeom>
            <a:solidFill>
              <a:srgbClr val="CBD5E1"/>
            </a:solidFill>
            <a:ln>
              <a:noFill/>
            </a:ln>
            <a:effectLst/>
          </p:spPr>
          <p:txBody>
            <a:bodyPr/>
            <a:lstStyle/>
            <a:p>
              <a:endParaRPr/>
            </a:p>
          </p:txBody>
        </p:sp>
      </p:grpSp>
      <p:sp>
        <p:nvSpPr>
          <p:cNvPr id="13" name="H3NoStamp"/>
          <p:cNvSpPr/>
          <p:nvPr/>
        </p:nvSpPr>
        <p:spPr>
          <a:xfrm>
            <a:off x="4937866" y="1822568"/>
            <a:ext cx="300000" cy="30000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900" b="1">
                <a:solidFill>
                  <a:srgbClr val="FFFFFF"/>
                </a:solidFill>
                <a:latin typeface="Aptos Display"/>
              </a:rPr>
              <a:t>×</a:t>
            </a:r>
          </a:p>
        </p:txBody>
      </p:sp>
      <p:sp>
        <p:nvSpPr>
          <p:cNvPr id="14" name="H3NoCapA"/>
          <p:cNvSpPr txBox="1"/>
          <p:nvPr/>
        </p:nvSpPr>
        <p:spPr>
          <a:xfrm>
            <a:off x="879184" y="2810000"/>
            <a:ext cx="1800000" cy="219456"/>
          </a:xfrm>
          <a:prstGeom prst="rect">
            <a:avLst/>
          </a:prstGeom>
          <a:noFill/>
        </p:spPr>
        <p:txBody>
          <a:bodyPr wrap="square" lIns="0" tIns="0" rIns="0" bIns="0" anchor="t">
            <a:spAutoFit/>
          </a:bodyPr>
          <a:lstStyle/>
          <a:p>
            <a:pPr algn="ctr"/>
            <a:r>
              <a:rPr sz="950" b="1" i="0">
                <a:solidFill>
                  <a:srgbClr val="64748B"/>
                </a:solidFill>
                <a:latin typeface="Aptos"/>
              </a:rPr>
              <a:t>What you imagined</a:t>
            </a:r>
          </a:p>
        </p:txBody>
      </p:sp>
      <p:sp>
        <p:nvSpPr>
          <p:cNvPr id="15" name="H3NoCapB"/>
          <p:cNvSpPr txBox="1"/>
          <p:nvPr/>
        </p:nvSpPr>
        <p:spPr>
          <a:xfrm>
            <a:off x="3579184" y="2810000"/>
            <a:ext cx="1800000" cy="219456"/>
          </a:xfrm>
          <a:prstGeom prst="rect">
            <a:avLst/>
          </a:prstGeom>
          <a:noFill/>
        </p:spPr>
        <p:txBody>
          <a:bodyPr wrap="square" lIns="0" tIns="0" rIns="0" bIns="0" anchor="t">
            <a:spAutoFit/>
          </a:bodyPr>
          <a:lstStyle/>
          <a:p>
            <a:pPr algn="ctr"/>
            <a:r>
              <a:rPr sz="950" b="1" i="0">
                <a:solidFill>
                  <a:srgbClr val="DC2626"/>
                </a:solidFill>
                <a:latin typeface="Aptos"/>
              </a:rPr>
              <a:t>What got built</a:t>
            </a:r>
          </a:p>
        </p:txBody>
      </p:sp>
      <p:sp>
        <p:nvSpPr>
          <p:cNvPr id="16" name="H3NoSect"/>
          <p:cNvSpPr txBox="1"/>
          <p:nvPr/>
        </p:nvSpPr>
        <p:spPr>
          <a:xfrm>
            <a:off x="493776" y="3110000"/>
            <a:ext cx="5285232" cy="200000"/>
          </a:xfrm>
          <a:prstGeom prst="rect">
            <a:avLst/>
          </a:prstGeom>
          <a:noFill/>
        </p:spPr>
        <p:txBody>
          <a:bodyPr wrap="square" lIns="0" tIns="0" rIns="0" bIns="0" anchor="t">
            <a:spAutoFit/>
          </a:bodyPr>
          <a:lstStyle/>
          <a:p>
            <a:pPr algn="l"/>
            <a:r>
              <a:rPr sz="950" b="1" i="0" dirty="0">
                <a:solidFill>
                  <a:srgbClr val="64748B"/>
                </a:solidFill>
                <a:latin typeface="Aptos"/>
              </a:rPr>
              <a:t>THE WHOLE CONVERSATION</a:t>
            </a:r>
          </a:p>
        </p:txBody>
      </p:sp>
      <p:sp>
        <p:nvSpPr>
          <p:cNvPr id="17" name="H3NoYou"/>
          <p:cNvSpPr/>
          <p:nvPr/>
        </p:nvSpPr>
        <p:spPr>
          <a:xfrm>
            <a:off x="1379184" y="3370000"/>
            <a:ext cx="800000" cy="460000"/>
          </a:xfrm>
          <a:prstGeom prst="roundRect">
            <a:avLst>
              <a:gd name="adj" fmla="val 30000"/>
            </a:avLst>
          </a:prstGeom>
          <a:solidFill>
            <a:srgbClr val="F8FAFC"/>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64748B"/>
                </a:solidFill>
                <a:latin typeface="Aptos Display"/>
              </a:rPr>
              <a:t>You</a:t>
            </a:r>
          </a:p>
        </p:txBody>
      </p:sp>
      <p:sp>
        <p:nvSpPr>
          <p:cNvPr id="18" name="H3NoBuilder"/>
          <p:cNvSpPr/>
          <p:nvPr/>
        </p:nvSpPr>
        <p:spPr>
          <a:xfrm>
            <a:off x="4079184" y="3370000"/>
            <a:ext cx="800000" cy="460000"/>
          </a:xfrm>
          <a:prstGeom prst="roundRect">
            <a:avLst>
              <a:gd name="adj" fmla="val 30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DC2626"/>
                </a:solidFill>
                <a:latin typeface="Aptos Display"/>
              </a:rPr>
              <a:t>Builder</a:t>
            </a:r>
          </a:p>
        </p:txBody>
      </p:sp>
      <p:cxnSp>
        <p:nvCxnSpPr>
          <p:cNvPr id="19" name="H3NoAsk"/>
          <p:cNvCxnSpPr/>
          <p:nvPr/>
        </p:nvCxnSpPr>
        <p:spPr>
          <a:xfrm>
            <a:off x="2179184" y="3600000"/>
            <a:ext cx="1900000" cy="0"/>
          </a:xfrm>
          <a:prstGeom prst="line">
            <a:avLst/>
          </a:prstGeom>
          <a:ln w="1905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H3NoAskTxt"/>
          <p:cNvSpPr txBox="1"/>
          <p:nvPr/>
        </p:nvSpPr>
        <p:spPr>
          <a:xfrm>
            <a:off x="2179184" y="3300000"/>
            <a:ext cx="1900000" cy="219456"/>
          </a:xfrm>
          <a:prstGeom prst="rect">
            <a:avLst/>
          </a:prstGeom>
          <a:noFill/>
        </p:spPr>
        <p:txBody>
          <a:bodyPr wrap="square" lIns="0" tIns="0" rIns="0" bIns="0" anchor="t">
            <a:spAutoFit/>
          </a:bodyPr>
          <a:lstStyle/>
          <a:p>
            <a:pPr algn="ctr"/>
            <a:r>
              <a:rPr sz="900" b="0" i="0">
                <a:solidFill>
                  <a:srgbClr val="475569"/>
                </a:solidFill>
                <a:latin typeface="Aptos"/>
              </a:rPr>
              <a:t>“Build a home for me”</a:t>
            </a:r>
          </a:p>
        </p:txBody>
      </p:sp>
      <p:sp>
        <p:nvSpPr>
          <p:cNvPr id="21" name="H3NoNote"/>
          <p:cNvSpPr txBox="1"/>
          <p:nvPr/>
        </p:nvSpPr>
        <p:spPr>
          <a:xfrm>
            <a:off x="493776" y="4720000"/>
            <a:ext cx="5285232" cy="200000"/>
          </a:xfrm>
          <a:prstGeom prst="rect">
            <a:avLst/>
          </a:prstGeom>
          <a:noFill/>
        </p:spPr>
        <p:txBody>
          <a:bodyPr wrap="square" lIns="0" tIns="0" rIns="0" bIns="0" anchor="t">
            <a:spAutoFit/>
          </a:bodyPr>
          <a:lstStyle/>
          <a:p>
            <a:pPr algn="l"/>
            <a:r>
              <a:rPr sz="900" b="0" i="0">
                <a:solidFill>
                  <a:srgbClr val="64748B"/>
                </a:solidFill>
                <a:latin typeface="Aptos"/>
              </a:rPr>
              <a:t>One sentence. No drawings, no questions, no sign-off.</a:t>
            </a:r>
          </a:p>
        </p:txBody>
      </p:sp>
      <p:sp>
        <p:nvSpPr>
          <p:cNvPr id="22" name="H3NoBanner"/>
          <p:cNvSpPr/>
          <p:nvPr/>
        </p:nvSpPr>
        <p:spPr>
          <a:xfrm>
            <a:off x="493776" y="5000000"/>
            <a:ext cx="5285232" cy="440000"/>
          </a:xfrm>
          <a:prstGeom prst="roundRect">
            <a:avLst>
              <a:gd name="adj" fmla="val 8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H3NoBannerTxt"/>
          <p:cNvSpPr txBox="1"/>
          <p:nvPr/>
        </p:nvSpPr>
        <p:spPr>
          <a:xfrm>
            <a:off x="630936" y="5100000"/>
            <a:ext cx="5010912" cy="280000"/>
          </a:xfrm>
          <a:prstGeom prst="rect">
            <a:avLst/>
          </a:prstGeom>
          <a:noFill/>
        </p:spPr>
        <p:txBody>
          <a:bodyPr wrap="square" lIns="0" tIns="0" rIns="0" bIns="0" anchor="t">
            <a:spAutoFit/>
          </a:bodyPr>
          <a:lstStyle/>
          <a:p>
            <a:pPr algn="l"/>
            <a:r>
              <a:rPr sz="1100" b="1" i="0">
                <a:solidFill>
                  <a:srgbClr val="DC2626"/>
                </a:solidFill>
                <a:latin typeface="Aptos Display"/>
              </a:rPr>
              <a:t>Fixing it means demolition.  </a:t>
            </a:r>
            <a:r>
              <a:rPr sz="1050" b="0" i="0">
                <a:solidFill>
                  <a:srgbClr val="475569"/>
                </a:solidFill>
                <a:latin typeface="Aptos"/>
              </a:rPr>
              <a:t>The concrete has already set.</a:t>
            </a:r>
          </a:p>
        </p:txBody>
      </p:sp>
      <p:sp>
        <p:nvSpPr>
          <p:cNvPr id="24" name="H3YesPanel"/>
          <p:cNvSpPr/>
          <p:nvPr/>
        </p:nvSpPr>
        <p:spPr>
          <a:xfrm>
            <a:off x="6144768" y="1097280"/>
            <a:ext cx="5614416" cy="44000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H3YesTop"/>
          <p:cNvSpPr/>
          <p:nvPr/>
        </p:nvSpPr>
        <p:spPr>
          <a:xfrm>
            <a:off x="6236208" y="1097280"/>
            <a:ext cx="5431536"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H3YesHd"/>
          <p:cNvSpPr txBox="1"/>
          <p:nvPr/>
        </p:nvSpPr>
        <p:spPr>
          <a:xfrm>
            <a:off x="6309360" y="1280160"/>
            <a:ext cx="5285232" cy="292608"/>
          </a:xfrm>
          <a:prstGeom prst="rect">
            <a:avLst/>
          </a:prstGeom>
          <a:noFill/>
        </p:spPr>
        <p:txBody>
          <a:bodyPr wrap="square" lIns="0" tIns="0" rIns="0" bIns="0" anchor="t">
            <a:spAutoFit/>
          </a:bodyPr>
          <a:lstStyle/>
          <a:p>
            <a:pPr algn="l"/>
            <a:r>
              <a:rPr sz="1300" b="1" i="0">
                <a:solidFill>
                  <a:srgbClr val="059669"/>
                </a:solidFill>
                <a:latin typeface="Aptos Display"/>
              </a:rPr>
              <a:t>Plan first — and keep planning until it is right</a:t>
            </a:r>
          </a:p>
        </p:txBody>
      </p:sp>
      <p:sp>
        <p:nvSpPr>
          <p:cNvPr id="27" name="H3YesDreamFrame"/>
          <p:cNvSpPr/>
          <p:nvPr/>
        </p:nvSpPr>
        <p:spPr>
          <a:xfrm>
            <a:off x="7110397" y="1572568"/>
            <a:ext cx="968742" cy="1204864"/>
          </a:xfrm>
          <a:prstGeom prst="roundRect">
            <a:avLst>
              <a:gd name="adj" fmla="val 3000"/>
            </a:avLst>
          </a:prstGeom>
          <a:solidFill>
            <a:srgbClr val="F1F5F9"/>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35" name="H3YesDreamArt"/>
          <p:cNvGrpSpPr/>
          <p:nvPr/>
        </p:nvGrpSpPr>
        <p:grpSpPr>
          <a:xfrm>
            <a:off x="7150100" y="1676400"/>
            <a:ext cx="889000" cy="971550"/>
            <a:chOff x="7150100" y="1676400"/>
            <a:chExt cx="889000" cy="971550"/>
          </a:xfrm>
        </p:grpSpPr>
        <p:sp>
          <p:nvSpPr>
            <p:cNvPr id="1012" name="YesDream2Chimney"/>
            <p:cNvSpPr/>
            <p:nvPr/>
          </p:nvSpPr>
          <p:spPr>
            <a:xfrm>
              <a:off x="7747000" y="1676400"/>
              <a:ext cx="88900" cy="177800"/>
            </a:xfrm>
            <a:prstGeom prst="rect">
              <a:avLst/>
            </a:prstGeom>
            <a:solidFill>
              <a:srgbClr val="334155"/>
            </a:solidFill>
            <a:ln>
              <a:noFill/>
            </a:ln>
            <a:effectLst/>
          </p:spPr>
          <p:txBody>
            <a:bodyPr/>
            <a:lstStyle/>
            <a:p>
              <a:endParaRPr/>
            </a:p>
          </p:txBody>
        </p:sp>
        <p:sp>
          <p:nvSpPr>
            <p:cNvPr id="1013" name="YesDream2Roof"/>
            <p:cNvSpPr/>
            <p:nvPr/>
          </p:nvSpPr>
          <p:spPr>
            <a:xfrm>
              <a:off x="7150100" y="1701800"/>
              <a:ext cx="889000" cy="228600"/>
            </a:xfrm>
            <a:prstGeom prst="triangle">
              <a:avLst/>
            </a:prstGeom>
            <a:solidFill>
              <a:srgbClr val="334155"/>
            </a:solidFill>
            <a:ln>
              <a:noFill/>
            </a:ln>
            <a:effectLst/>
          </p:spPr>
          <p:txBody>
            <a:bodyPr/>
            <a:lstStyle/>
            <a:p>
              <a:endParaRPr/>
            </a:p>
          </p:txBody>
        </p:sp>
        <p:sp>
          <p:nvSpPr>
            <p:cNvPr id="1014" name="YesDream2Body"/>
            <p:cNvSpPr/>
            <p:nvPr/>
          </p:nvSpPr>
          <p:spPr>
            <a:xfrm>
              <a:off x="7251700" y="1930400"/>
              <a:ext cx="685800" cy="685800"/>
            </a:xfrm>
            <a:prstGeom prst="rect">
              <a:avLst/>
            </a:prstGeom>
            <a:solidFill>
              <a:srgbClr val="FFFFFF"/>
            </a:solidFill>
            <a:ln w="9525">
              <a:solidFill>
                <a:srgbClr val="334155"/>
              </a:solidFill>
            </a:ln>
            <a:effectLst/>
          </p:spPr>
          <p:txBody>
            <a:bodyPr/>
            <a:lstStyle/>
            <a:p>
              <a:endParaRPr/>
            </a:p>
          </p:txBody>
        </p:sp>
        <p:sp>
          <p:nvSpPr>
            <p:cNvPr id="1015" name="YesDream2U1"/>
            <p:cNvSpPr/>
            <p:nvPr/>
          </p:nvSpPr>
          <p:spPr>
            <a:xfrm>
              <a:off x="7315200" y="2006600"/>
              <a:ext cx="152400" cy="152400"/>
            </a:xfrm>
            <a:prstGeom prst="rect">
              <a:avLst/>
            </a:prstGeom>
            <a:solidFill>
              <a:srgbClr val="93C5FD"/>
            </a:solidFill>
            <a:ln w="6350">
              <a:solidFill>
                <a:srgbClr val="334155"/>
              </a:solidFill>
            </a:ln>
            <a:effectLst/>
          </p:spPr>
          <p:txBody>
            <a:bodyPr/>
            <a:lstStyle/>
            <a:p>
              <a:endParaRPr/>
            </a:p>
          </p:txBody>
        </p:sp>
        <p:sp>
          <p:nvSpPr>
            <p:cNvPr id="1016" name="YesDream2U2"/>
            <p:cNvSpPr/>
            <p:nvPr/>
          </p:nvSpPr>
          <p:spPr>
            <a:xfrm>
              <a:off x="7518400" y="2006600"/>
              <a:ext cx="152400" cy="152400"/>
            </a:xfrm>
            <a:prstGeom prst="rect">
              <a:avLst/>
            </a:prstGeom>
            <a:solidFill>
              <a:srgbClr val="93C5FD"/>
            </a:solidFill>
            <a:ln w="6350">
              <a:solidFill>
                <a:srgbClr val="334155"/>
              </a:solidFill>
            </a:ln>
            <a:effectLst/>
          </p:spPr>
          <p:txBody>
            <a:bodyPr/>
            <a:lstStyle/>
            <a:p>
              <a:endParaRPr/>
            </a:p>
          </p:txBody>
        </p:sp>
        <p:sp>
          <p:nvSpPr>
            <p:cNvPr id="1017" name="YesDream2U3"/>
            <p:cNvSpPr/>
            <p:nvPr/>
          </p:nvSpPr>
          <p:spPr>
            <a:xfrm>
              <a:off x="7721600" y="2006600"/>
              <a:ext cx="152400" cy="152400"/>
            </a:xfrm>
            <a:prstGeom prst="rect">
              <a:avLst/>
            </a:prstGeom>
            <a:solidFill>
              <a:srgbClr val="93C5FD"/>
            </a:solidFill>
            <a:ln w="6350">
              <a:solidFill>
                <a:srgbClr val="334155"/>
              </a:solidFill>
            </a:ln>
            <a:effectLst/>
          </p:spPr>
          <p:txBody>
            <a:bodyPr/>
            <a:lstStyle/>
            <a:p>
              <a:endParaRPr/>
            </a:p>
          </p:txBody>
        </p:sp>
        <p:sp>
          <p:nvSpPr>
            <p:cNvPr id="1018" name="YesDream2Floor"/>
            <p:cNvSpPr/>
            <p:nvPr/>
          </p:nvSpPr>
          <p:spPr>
            <a:xfrm>
              <a:off x="7251700" y="2235200"/>
              <a:ext cx="685800" cy="30480"/>
            </a:xfrm>
            <a:prstGeom prst="rect">
              <a:avLst/>
            </a:prstGeom>
            <a:solidFill>
              <a:srgbClr val="334155"/>
            </a:solidFill>
            <a:ln>
              <a:noFill/>
            </a:ln>
            <a:effectLst/>
          </p:spPr>
          <p:txBody>
            <a:bodyPr/>
            <a:lstStyle/>
            <a:p>
              <a:endParaRPr/>
            </a:p>
          </p:txBody>
        </p:sp>
        <p:sp>
          <p:nvSpPr>
            <p:cNvPr id="1019" name="YesDream2L1"/>
            <p:cNvSpPr/>
            <p:nvPr/>
          </p:nvSpPr>
          <p:spPr>
            <a:xfrm>
              <a:off x="7315200" y="2336800"/>
              <a:ext cx="152400" cy="152400"/>
            </a:xfrm>
            <a:prstGeom prst="rect">
              <a:avLst/>
            </a:prstGeom>
            <a:solidFill>
              <a:srgbClr val="93C5FD"/>
            </a:solidFill>
            <a:ln w="6350">
              <a:solidFill>
                <a:srgbClr val="334155"/>
              </a:solidFill>
            </a:ln>
            <a:effectLst/>
          </p:spPr>
          <p:txBody>
            <a:bodyPr/>
            <a:lstStyle/>
            <a:p>
              <a:endParaRPr/>
            </a:p>
          </p:txBody>
        </p:sp>
        <p:sp>
          <p:nvSpPr>
            <p:cNvPr id="1020" name="YesDream2Door"/>
            <p:cNvSpPr/>
            <p:nvPr/>
          </p:nvSpPr>
          <p:spPr>
            <a:xfrm>
              <a:off x="7531100" y="2336800"/>
              <a:ext cx="127000" cy="279400"/>
            </a:xfrm>
            <a:prstGeom prst="rect">
              <a:avLst/>
            </a:prstGeom>
            <a:solidFill>
              <a:srgbClr val="334155"/>
            </a:solidFill>
            <a:ln>
              <a:noFill/>
            </a:ln>
            <a:effectLst/>
          </p:spPr>
          <p:txBody>
            <a:bodyPr/>
            <a:lstStyle/>
            <a:p>
              <a:endParaRPr/>
            </a:p>
          </p:txBody>
        </p:sp>
        <p:sp>
          <p:nvSpPr>
            <p:cNvPr id="1021" name="YesDream2L2"/>
            <p:cNvSpPr/>
            <p:nvPr/>
          </p:nvSpPr>
          <p:spPr>
            <a:xfrm>
              <a:off x="7721600" y="2336800"/>
              <a:ext cx="152400" cy="152400"/>
            </a:xfrm>
            <a:prstGeom prst="rect">
              <a:avLst/>
            </a:prstGeom>
            <a:solidFill>
              <a:srgbClr val="93C5FD"/>
            </a:solidFill>
            <a:ln w="6350">
              <a:solidFill>
                <a:srgbClr val="334155"/>
              </a:solidFill>
            </a:ln>
            <a:effectLst/>
          </p:spPr>
          <p:txBody>
            <a:bodyPr/>
            <a:lstStyle/>
            <a:p>
              <a:endParaRPr/>
            </a:p>
          </p:txBody>
        </p:sp>
        <p:sp>
          <p:nvSpPr>
            <p:cNvPr id="1022" name="YesDream2Ground"/>
            <p:cNvSpPr/>
            <p:nvPr/>
          </p:nvSpPr>
          <p:spPr>
            <a:xfrm>
              <a:off x="7162800" y="2616200"/>
              <a:ext cx="863600" cy="31750"/>
            </a:xfrm>
            <a:prstGeom prst="rect">
              <a:avLst/>
            </a:prstGeom>
            <a:solidFill>
              <a:srgbClr val="CBD5E1"/>
            </a:solidFill>
            <a:ln>
              <a:noFill/>
            </a:ln>
            <a:effectLst/>
          </p:spPr>
          <p:txBody>
            <a:bodyPr/>
            <a:lstStyle/>
            <a:p>
              <a:endParaRPr/>
            </a:p>
          </p:txBody>
        </p:sp>
      </p:grpSp>
      <p:sp>
        <p:nvSpPr>
          <p:cNvPr id="29" name="H3YesBuiltFrame"/>
          <p:cNvSpPr/>
          <p:nvPr/>
        </p:nvSpPr>
        <p:spPr>
          <a:xfrm>
            <a:off x="9810397" y="1572568"/>
            <a:ext cx="968742" cy="1204864"/>
          </a:xfrm>
          <a:prstGeom prst="roundRect">
            <a:avLst>
              <a:gd name="adj" fmla="val 3000"/>
            </a:avLst>
          </a:prstGeom>
          <a:solidFill>
            <a:srgbClr val="F1F5F9"/>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1036" name="H3YesBuiltArt"/>
          <p:cNvGrpSpPr/>
          <p:nvPr/>
        </p:nvGrpSpPr>
        <p:grpSpPr>
          <a:xfrm>
            <a:off x="9855200" y="1676400"/>
            <a:ext cx="889000" cy="971550"/>
            <a:chOff x="9855200" y="1676400"/>
            <a:chExt cx="889000" cy="971550"/>
          </a:xfrm>
        </p:grpSpPr>
        <p:sp>
          <p:nvSpPr>
            <p:cNvPr id="1023" name="YesBuilt2Chimney"/>
            <p:cNvSpPr/>
            <p:nvPr/>
          </p:nvSpPr>
          <p:spPr>
            <a:xfrm>
              <a:off x="10452100" y="1676400"/>
              <a:ext cx="88900" cy="177800"/>
            </a:xfrm>
            <a:prstGeom prst="rect">
              <a:avLst/>
            </a:prstGeom>
            <a:solidFill>
              <a:srgbClr val="334155"/>
            </a:solidFill>
            <a:ln>
              <a:noFill/>
            </a:ln>
            <a:effectLst/>
          </p:spPr>
          <p:txBody>
            <a:bodyPr/>
            <a:lstStyle/>
            <a:p>
              <a:endParaRPr/>
            </a:p>
          </p:txBody>
        </p:sp>
        <p:sp>
          <p:nvSpPr>
            <p:cNvPr id="1024" name="YesBuilt2Roof"/>
            <p:cNvSpPr/>
            <p:nvPr/>
          </p:nvSpPr>
          <p:spPr>
            <a:xfrm>
              <a:off x="9855200" y="1701800"/>
              <a:ext cx="889000" cy="228600"/>
            </a:xfrm>
            <a:prstGeom prst="triangle">
              <a:avLst/>
            </a:prstGeom>
            <a:solidFill>
              <a:srgbClr val="334155"/>
            </a:solidFill>
            <a:ln>
              <a:noFill/>
            </a:ln>
            <a:effectLst/>
          </p:spPr>
          <p:txBody>
            <a:bodyPr/>
            <a:lstStyle/>
            <a:p>
              <a:endParaRPr/>
            </a:p>
          </p:txBody>
        </p:sp>
        <p:sp>
          <p:nvSpPr>
            <p:cNvPr id="1025" name="YesBuilt2Body"/>
            <p:cNvSpPr/>
            <p:nvPr/>
          </p:nvSpPr>
          <p:spPr>
            <a:xfrm>
              <a:off x="9956800" y="1930400"/>
              <a:ext cx="685800" cy="685800"/>
            </a:xfrm>
            <a:prstGeom prst="rect">
              <a:avLst/>
            </a:prstGeom>
            <a:solidFill>
              <a:srgbClr val="FFFFFF"/>
            </a:solidFill>
            <a:ln w="9525">
              <a:solidFill>
                <a:srgbClr val="334155"/>
              </a:solidFill>
            </a:ln>
            <a:effectLst/>
          </p:spPr>
          <p:txBody>
            <a:bodyPr/>
            <a:lstStyle/>
            <a:p>
              <a:endParaRPr/>
            </a:p>
          </p:txBody>
        </p:sp>
        <p:sp>
          <p:nvSpPr>
            <p:cNvPr id="1026" name="YesBuilt2U1"/>
            <p:cNvSpPr/>
            <p:nvPr/>
          </p:nvSpPr>
          <p:spPr>
            <a:xfrm>
              <a:off x="10020300" y="2006600"/>
              <a:ext cx="152400" cy="152400"/>
            </a:xfrm>
            <a:prstGeom prst="rect">
              <a:avLst/>
            </a:prstGeom>
            <a:solidFill>
              <a:srgbClr val="93C5FD"/>
            </a:solidFill>
            <a:ln w="6350">
              <a:solidFill>
                <a:srgbClr val="334155"/>
              </a:solidFill>
            </a:ln>
            <a:effectLst/>
          </p:spPr>
          <p:txBody>
            <a:bodyPr/>
            <a:lstStyle/>
            <a:p>
              <a:endParaRPr/>
            </a:p>
          </p:txBody>
        </p:sp>
        <p:sp>
          <p:nvSpPr>
            <p:cNvPr id="1027" name="YesBuilt2U2"/>
            <p:cNvSpPr/>
            <p:nvPr/>
          </p:nvSpPr>
          <p:spPr>
            <a:xfrm>
              <a:off x="10223500" y="2006600"/>
              <a:ext cx="152400" cy="152400"/>
            </a:xfrm>
            <a:prstGeom prst="rect">
              <a:avLst/>
            </a:prstGeom>
            <a:solidFill>
              <a:srgbClr val="93C5FD"/>
            </a:solidFill>
            <a:ln w="6350">
              <a:solidFill>
                <a:srgbClr val="334155"/>
              </a:solidFill>
            </a:ln>
            <a:effectLst/>
          </p:spPr>
          <p:txBody>
            <a:bodyPr/>
            <a:lstStyle/>
            <a:p>
              <a:endParaRPr/>
            </a:p>
          </p:txBody>
        </p:sp>
        <p:sp>
          <p:nvSpPr>
            <p:cNvPr id="1028" name="YesBuilt2U3"/>
            <p:cNvSpPr/>
            <p:nvPr/>
          </p:nvSpPr>
          <p:spPr>
            <a:xfrm>
              <a:off x="10426700" y="2006600"/>
              <a:ext cx="152400" cy="152400"/>
            </a:xfrm>
            <a:prstGeom prst="rect">
              <a:avLst/>
            </a:prstGeom>
            <a:solidFill>
              <a:srgbClr val="93C5FD"/>
            </a:solidFill>
            <a:ln w="6350">
              <a:solidFill>
                <a:srgbClr val="334155"/>
              </a:solidFill>
            </a:ln>
            <a:effectLst/>
          </p:spPr>
          <p:txBody>
            <a:bodyPr/>
            <a:lstStyle/>
            <a:p>
              <a:endParaRPr/>
            </a:p>
          </p:txBody>
        </p:sp>
        <p:sp>
          <p:nvSpPr>
            <p:cNvPr id="1029" name="YesBuilt2Floor"/>
            <p:cNvSpPr/>
            <p:nvPr/>
          </p:nvSpPr>
          <p:spPr>
            <a:xfrm>
              <a:off x="9956800" y="2235200"/>
              <a:ext cx="685800" cy="30480"/>
            </a:xfrm>
            <a:prstGeom prst="rect">
              <a:avLst/>
            </a:prstGeom>
            <a:solidFill>
              <a:srgbClr val="334155"/>
            </a:solidFill>
            <a:ln>
              <a:noFill/>
            </a:ln>
            <a:effectLst/>
          </p:spPr>
          <p:txBody>
            <a:bodyPr/>
            <a:lstStyle/>
            <a:p>
              <a:endParaRPr/>
            </a:p>
          </p:txBody>
        </p:sp>
        <p:sp>
          <p:nvSpPr>
            <p:cNvPr id="1030" name="YesBuilt2L1"/>
            <p:cNvSpPr/>
            <p:nvPr/>
          </p:nvSpPr>
          <p:spPr>
            <a:xfrm>
              <a:off x="10020300" y="2336800"/>
              <a:ext cx="152400" cy="152400"/>
            </a:xfrm>
            <a:prstGeom prst="rect">
              <a:avLst/>
            </a:prstGeom>
            <a:solidFill>
              <a:srgbClr val="93C5FD"/>
            </a:solidFill>
            <a:ln w="6350">
              <a:solidFill>
                <a:srgbClr val="334155"/>
              </a:solidFill>
            </a:ln>
            <a:effectLst/>
          </p:spPr>
          <p:txBody>
            <a:bodyPr/>
            <a:lstStyle/>
            <a:p>
              <a:endParaRPr/>
            </a:p>
          </p:txBody>
        </p:sp>
        <p:sp>
          <p:nvSpPr>
            <p:cNvPr id="1031" name="YesBuilt2Door"/>
            <p:cNvSpPr/>
            <p:nvPr/>
          </p:nvSpPr>
          <p:spPr>
            <a:xfrm>
              <a:off x="10236200" y="2336800"/>
              <a:ext cx="127000" cy="279400"/>
            </a:xfrm>
            <a:prstGeom prst="rect">
              <a:avLst/>
            </a:prstGeom>
            <a:solidFill>
              <a:srgbClr val="334155"/>
            </a:solidFill>
            <a:ln>
              <a:noFill/>
            </a:ln>
            <a:effectLst/>
          </p:spPr>
          <p:txBody>
            <a:bodyPr/>
            <a:lstStyle/>
            <a:p>
              <a:endParaRPr/>
            </a:p>
          </p:txBody>
        </p:sp>
        <p:sp>
          <p:nvSpPr>
            <p:cNvPr id="1032" name="YesBuilt2L2"/>
            <p:cNvSpPr/>
            <p:nvPr/>
          </p:nvSpPr>
          <p:spPr>
            <a:xfrm>
              <a:off x="10426700" y="2336800"/>
              <a:ext cx="152400" cy="152400"/>
            </a:xfrm>
            <a:prstGeom prst="rect">
              <a:avLst/>
            </a:prstGeom>
            <a:solidFill>
              <a:srgbClr val="93C5FD"/>
            </a:solidFill>
            <a:ln w="6350">
              <a:solidFill>
                <a:srgbClr val="334155"/>
              </a:solidFill>
            </a:ln>
            <a:effectLst/>
          </p:spPr>
          <p:txBody>
            <a:bodyPr/>
            <a:lstStyle/>
            <a:p>
              <a:endParaRPr/>
            </a:p>
          </p:txBody>
        </p:sp>
        <p:sp>
          <p:nvSpPr>
            <p:cNvPr id="1033" name="YesBuilt2Ground"/>
            <p:cNvSpPr/>
            <p:nvPr/>
          </p:nvSpPr>
          <p:spPr>
            <a:xfrm>
              <a:off x="9867900" y="2616200"/>
              <a:ext cx="863600" cy="31750"/>
            </a:xfrm>
            <a:prstGeom prst="rect">
              <a:avLst/>
            </a:prstGeom>
            <a:solidFill>
              <a:srgbClr val="CBD5E1"/>
            </a:solidFill>
            <a:ln>
              <a:noFill/>
            </a:ln>
            <a:effectLst/>
          </p:spPr>
          <p:txBody>
            <a:bodyPr/>
            <a:lstStyle/>
            <a:p>
              <a:endParaRPr/>
            </a:p>
          </p:txBody>
        </p:sp>
      </p:grpSp>
      <p:sp>
        <p:nvSpPr>
          <p:cNvPr id="31" name="H3YesStamp"/>
          <p:cNvSpPr/>
          <p:nvPr/>
        </p:nvSpPr>
        <p:spPr>
          <a:xfrm>
            <a:off x="10629139" y="1422568"/>
            <a:ext cx="300000" cy="30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Display"/>
              </a:rPr>
              <a:t>✓</a:t>
            </a:r>
          </a:p>
        </p:txBody>
      </p:sp>
      <p:sp>
        <p:nvSpPr>
          <p:cNvPr id="32" name="H3YesCapA"/>
          <p:cNvSpPr txBox="1"/>
          <p:nvPr/>
        </p:nvSpPr>
        <p:spPr>
          <a:xfrm>
            <a:off x="6694768" y="2810000"/>
            <a:ext cx="1800000" cy="219456"/>
          </a:xfrm>
          <a:prstGeom prst="rect">
            <a:avLst/>
          </a:prstGeom>
          <a:noFill/>
        </p:spPr>
        <p:txBody>
          <a:bodyPr wrap="square" lIns="0" tIns="0" rIns="0" bIns="0" anchor="t">
            <a:spAutoFit/>
          </a:bodyPr>
          <a:lstStyle/>
          <a:p>
            <a:pPr algn="ctr"/>
            <a:r>
              <a:rPr sz="950" b="1" i="0">
                <a:solidFill>
                  <a:srgbClr val="64748B"/>
                </a:solidFill>
                <a:latin typeface="Aptos"/>
              </a:rPr>
              <a:t>What you imagined</a:t>
            </a:r>
          </a:p>
        </p:txBody>
      </p:sp>
      <p:sp>
        <p:nvSpPr>
          <p:cNvPr id="33" name="H3YesCapB"/>
          <p:cNvSpPr txBox="1"/>
          <p:nvPr/>
        </p:nvSpPr>
        <p:spPr>
          <a:xfrm>
            <a:off x="9394768" y="2810000"/>
            <a:ext cx="1800000" cy="219456"/>
          </a:xfrm>
          <a:prstGeom prst="rect">
            <a:avLst/>
          </a:prstGeom>
          <a:noFill/>
        </p:spPr>
        <p:txBody>
          <a:bodyPr wrap="square" lIns="0" tIns="0" rIns="0" bIns="0" anchor="t">
            <a:spAutoFit/>
          </a:bodyPr>
          <a:lstStyle/>
          <a:p>
            <a:pPr algn="ctr"/>
            <a:r>
              <a:rPr sz="950" b="1" i="0">
                <a:solidFill>
                  <a:srgbClr val="059669"/>
                </a:solidFill>
                <a:latin typeface="Aptos"/>
              </a:rPr>
              <a:t>What got built</a:t>
            </a:r>
          </a:p>
        </p:txBody>
      </p:sp>
      <p:sp>
        <p:nvSpPr>
          <p:cNvPr id="34" name="H3YesSect"/>
          <p:cNvSpPr txBox="1"/>
          <p:nvPr/>
        </p:nvSpPr>
        <p:spPr>
          <a:xfrm>
            <a:off x="6309360" y="3110000"/>
            <a:ext cx="5285232" cy="200000"/>
          </a:xfrm>
          <a:prstGeom prst="rect">
            <a:avLst/>
          </a:prstGeom>
          <a:noFill/>
        </p:spPr>
        <p:txBody>
          <a:bodyPr wrap="square" lIns="0" tIns="0" rIns="0" bIns="0" anchor="t">
            <a:spAutoFit/>
          </a:bodyPr>
          <a:lstStyle/>
          <a:p>
            <a:pPr algn="l"/>
            <a:r>
              <a:rPr sz="950" b="1" i="0">
                <a:solidFill>
                  <a:srgbClr val="64748B"/>
                </a:solidFill>
                <a:latin typeface="Aptos"/>
              </a:rPr>
              <a:t>THE BACK AND FORTH</a:t>
            </a:r>
          </a:p>
        </p:txBody>
      </p:sp>
      <p:sp>
        <p:nvSpPr>
          <p:cNvPr id="35" name="H3YesLoop"/>
          <p:cNvSpPr/>
          <p:nvPr/>
        </p:nvSpPr>
        <p:spPr>
          <a:xfrm>
            <a:off x="6309360" y="3780000"/>
            <a:ext cx="45720" cy="45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H3YesS0"/>
          <p:cNvSpPr txBox="1"/>
          <p:nvPr/>
        </p:nvSpPr>
        <p:spPr>
          <a:xfrm>
            <a:off x="6469360" y="3370000"/>
            <a:ext cx="5085232" cy="138499"/>
          </a:xfrm>
          <a:prstGeom prst="rect">
            <a:avLst/>
          </a:prstGeom>
          <a:noFill/>
        </p:spPr>
        <p:txBody>
          <a:bodyPr wrap="square" lIns="0" tIns="0" rIns="0" bIns="0" anchor="t">
            <a:spAutoFit/>
          </a:bodyPr>
          <a:lstStyle/>
          <a:p>
            <a:pPr algn="l"/>
            <a:r>
              <a:rPr sz="900" b="1" i="0" dirty="0">
                <a:solidFill>
                  <a:srgbClr val="059669"/>
                </a:solidFill>
                <a:latin typeface="Consolas"/>
              </a:rPr>
              <a:t>1   </a:t>
            </a:r>
            <a:r>
              <a:rPr sz="900" b="0" i="0" dirty="0">
                <a:solidFill>
                  <a:srgbClr val="475569"/>
                </a:solidFill>
                <a:latin typeface="Aptos"/>
              </a:rPr>
              <a:t>You explain the requirement in detail</a:t>
            </a:r>
            <a:r>
              <a:rPr lang="en-US" sz="900" b="0" i="0" dirty="0">
                <a:solidFill>
                  <a:srgbClr val="475569"/>
                </a:solidFill>
                <a:latin typeface="Aptos"/>
              </a:rPr>
              <a:t> to the builder</a:t>
            </a:r>
            <a:endParaRPr sz="900" b="0" i="0" dirty="0">
              <a:solidFill>
                <a:srgbClr val="475569"/>
              </a:solidFill>
              <a:latin typeface="Aptos"/>
            </a:endParaRPr>
          </a:p>
        </p:txBody>
      </p:sp>
      <p:sp>
        <p:nvSpPr>
          <p:cNvPr id="37" name="H3YesS1"/>
          <p:cNvSpPr txBox="1"/>
          <p:nvPr/>
        </p:nvSpPr>
        <p:spPr>
          <a:xfrm>
            <a:off x="6469360" y="3585000"/>
            <a:ext cx="5085232" cy="200000"/>
          </a:xfrm>
          <a:prstGeom prst="rect">
            <a:avLst/>
          </a:prstGeom>
          <a:noFill/>
        </p:spPr>
        <p:txBody>
          <a:bodyPr wrap="square" lIns="0" tIns="0" rIns="0" bIns="0" anchor="t">
            <a:spAutoFit/>
          </a:bodyPr>
          <a:lstStyle/>
          <a:p>
            <a:pPr algn="l"/>
            <a:r>
              <a:rPr sz="900" b="1" i="0" dirty="0">
                <a:solidFill>
                  <a:srgbClr val="059669"/>
                </a:solidFill>
                <a:latin typeface="Consolas"/>
              </a:rPr>
              <a:t>2   </a:t>
            </a:r>
            <a:r>
              <a:rPr sz="900" b="0" i="0" dirty="0">
                <a:solidFill>
                  <a:srgbClr val="475569"/>
                </a:solidFill>
                <a:latin typeface="Aptos"/>
              </a:rPr>
              <a:t>The builder comes back with a blueprint</a:t>
            </a:r>
          </a:p>
        </p:txBody>
      </p:sp>
      <p:sp>
        <p:nvSpPr>
          <p:cNvPr id="38" name="H3YesS2"/>
          <p:cNvSpPr txBox="1"/>
          <p:nvPr/>
        </p:nvSpPr>
        <p:spPr>
          <a:xfrm>
            <a:off x="6469360" y="3800000"/>
            <a:ext cx="5085232" cy="200000"/>
          </a:xfrm>
          <a:prstGeom prst="rect">
            <a:avLst/>
          </a:prstGeom>
          <a:noFill/>
        </p:spPr>
        <p:txBody>
          <a:bodyPr wrap="square" lIns="0" tIns="0" rIns="0" bIns="0" anchor="t">
            <a:spAutoFit/>
          </a:bodyPr>
          <a:lstStyle/>
          <a:p>
            <a:pPr algn="l"/>
            <a:r>
              <a:rPr sz="900" b="1" i="0" dirty="0">
                <a:solidFill>
                  <a:srgbClr val="059669"/>
                </a:solidFill>
                <a:latin typeface="Consolas"/>
              </a:rPr>
              <a:t>3   </a:t>
            </a:r>
            <a:r>
              <a:rPr sz="900" b="1" i="0" dirty="0">
                <a:solidFill>
                  <a:srgbClr val="1A2332"/>
                </a:solidFill>
                <a:latin typeface="Aptos"/>
              </a:rPr>
              <a:t>You review it, clear your doubts, ask for changes</a:t>
            </a:r>
          </a:p>
        </p:txBody>
      </p:sp>
      <p:sp>
        <p:nvSpPr>
          <p:cNvPr id="39" name="H3YesS3"/>
          <p:cNvSpPr txBox="1"/>
          <p:nvPr/>
        </p:nvSpPr>
        <p:spPr>
          <a:xfrm>
            <a:off x="6469360" y="4015000"/>
            <a:ext cx="5085232" cy="200000"/>
          </a:xfrm>
          <a:prstGeom prst="rect">
            <a:avLst/>
          </a:prstGeom>
          <a:noFill/>
        </p:spPr>
        <p:txBody>
          <a:bodyPr wrap="square" lIns="0" tIns="0" rIns="0" bIns="0" anchor="t">
            <a:spAutoFit/>
          </a:bodyPr>
          <a:lstStyle/>
          <a:p>
            <a:pPr algn="l"/>
            <a:r>
              <a:rPr sz="900" b="1" i="0" dirty="0">
                <a:solidFill>
                  <a:srgbClr val="059669"/>
                </a:solidFill>
                <a:latin typeface="Consolas"/>
              </a:rPr>
              <a:t>4   </a:t>
            </a:r>
            <a:r>
              <a:rPr sz="900" b="1" i="0" dirty="0">
                <a:solidFill>
                  <a:srgbClr val="1A2332"/>
                </a:solidFill>
                <a:latin typeface="Aptos"/>
              </a:rPr>
              <a:t>The builder shares the revised blueprint</a:t>
            </a:r>
          </a:p>
        </p:txBody>
      </p:sp>
      <p:sp>
        <p:nvSpPr>
          <p:cNvPr id="40" name="H3YesS4"/>
          <p:cNvSpPr txBox="1"/>
          <p:nvPr/>
        </p:nvSpPr>
        <p:spPr>
          <a:xfrm>
            <a:off x="6469360" y="4230000"/>
            <a:ext cx="5085232" cy="200000"/>
          </a:xfrm>
          <a:prstGeom prst="rect">
            <a:avLst/>
          </a:prstGeom>
          <a:noFill/>
        </p:spPr>
        <p:txBody>
          <a:bodyPr wrap="square" lIns="0" tIns="0" rIns="0" bIns="0" anchor="t">
            <a:spAutoFit/>
          </a:bodyPr>
          <a:lstStyle/>
          <a:p>
            <a:pPr algn="l"/>
            <a:r>
              <a:rPr sz="900" b="1" i="0" dirty="0">
                <a:solidFill>
                  <a:srgbClr val="059669"/>
                </a:solidFill>
                <a:latin typeface="Consolas"/>
              </a:rPr>
              <a:t>5   </a:t>
            </a:r>
            <a:r>
              <a:rPr sz="900" b="0" i="0" dirty="0">
                <a:solidFill>
                  <a:srgbClr val="475569"/>
                </a:solidFill>
                <a:latin typeface="Aptos"/>
              </a:rPr>
              <a:t>You approve the blueprint</a:t>
            </a:r>
          </a:p>
        </p:txBody>
      </p:sp>
      <p:sp>
        <p:nvSpPr>
          <p:cNvPr id="41" name="H3YesS5"/>
          <p:cNvSpPr txBox="1"/>
          <p:nvPr/>
        </p:nvSpPr>
        <p:spPr>
          <a:xfrm>
            <a:off x="6469360" y="4445000"/>
            <a:ext cx="5085232" cy="200000"/>
          </a:xfrm>
          <a:prstGeom prst="rect">
            <a:avLst/>
          </a:prstGeom>
          <a:noFill/>
        </p:spPr>
        <p:txBody>
          <a:bodyPr wrap="square" lIns="0" tIns="0" rIns="0" bIns="0" anchor="t">
            <a:spAutoFit/>
          </a:bodyPr>
          <a:lstStyle/>
          <a:p>
            <a:pPr algn="l"/>
            <a:r>
              <a:rPr sz="900" b="1" i="0" dirty="0">
                <a:solidFill>
                  <a:srgbClr val="059669"/>
                </a:solidFill>
                <a:latin typeface="Consolas"/>
              </a:rPr>
              <a:t>6   </a:t>
            </a:r>
            <a:r>
              <a:rPr sz="900" b="0" i="0" dirty="0">
                <a:solidFill>
                  <a:srgbClr val="475569"/>
                </a:solidFill>
                <a:latin typeface="Aptos"/>
              </a:rPr>
              <a:t>The home gets built — near 100% of what you imagined</a:t>
            </a:r>
          </a:p>
        </p:txBody>
      </p:sp>
      <p:sp>
        <p:nvSpPr>
          <p:cNvPr id="42" name="H3YesLoopTxt"/>
          <p:cNvSpPr txBox="1"/>
          <p:nvPr/>
        </p:nvSpPr>
        <p:spPr>
          <a:xfrm>
            <a:off x="6469360" y="4720000"/>
            <a:ext cx="5085232" cy="138499"/>
          </a:xfrm>
          <a:prstGeom prst="rect">
            <a:avLst/>
          </a:prstGeom>
          <a:noFill/>
        </p:spPr>
        <p:txBody>
          <a:bodyPr wrap="square" lIns="0" tIns="0" rIns="0" bIns="0" anchor="t">
            <a:spAutoFit/>
          </a:bodyPr>
          <a:lstStyle/>
          <a:p>
            <a:pPr algn="l"/>
            <a:r>
              <a:rPr sz="900" b="0" i="0" dirty="0">
                <a:solidFill>
                  <a:srgbClr val="64748B"/>
                </a:solidFill>
                <a:latin typeface="Aptos"/>
              </a:rPr>
              <a:t>Steps 3 and 4 repeat as often as you need — every round is on paper, and </a:t>
            </a:r>
            <a:r>
              <a:rPr lang="en-US" sz="900" b="0" i="0" dirty="0">
                <a:solidFill>
                  <a:srgbClr val="64748B"/>
                </a:solidFill>
                <a:latin typeface="Aptos"/>
              </a:rPr>
              <a:t>costs you less charges</a:t>
            </a:r>
            <a:r>
              <a:rPr sz="900" b="0" i="0" dirty="0">
                <a:solidFill>
                  <a:srgbClr val="64748B"/>
                </a:solidFill>
                <a:latin typeface="Aptos"/>
              </a:rPr>
              <a:t>.</a:t>
            </a:r>
          </a:p>
        </p:txBody>
      </p:sp>
      <p:sp>
        <p:nvSpPr>
          <p:cNvPr id="43" name="H3YesBanner"/>
          <p:cNvSpPr/>
          <p:nvPr/>
        </p:nvSpPr>
        <p:spPr>
          <a:xfrm>
            <a:off x="6309360" y="5000000"/>
            <a:ext cx="5285232" cy="440000"/>
          </a:xfrm>
          <a:prstGeom prst="roundRect">
            <a:avLst>
              <a:gd name="adj" fmla="val 8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H3YesBannerTxt"/>
          <p:cNvSpPr txBox="1"/>
          <p:nvPr/>
        </p:nvSpPr>
        <p:spPr>
          <a:xfrm>
            <a:off x="6446520" y="5100000"/>
            <a:ext cx="5010912" cy="280000"/>
          </a:xfrm>
          <a:prstGeom prst="rect">
            <a:avLst/>
          </a:prstGeom>
          <a:noFill/>
        </p:spPr>
        <p:txBody>
          <a:bodyPr wrap="square" lIns="0" tIns="0" rIns="0" bIns="0" anchor="t">
            <a:spAutoFit/>
          </a:bodyPr>
          <a:lstStyle/>
          <a:p>
            <a:pPr algn="l"/>
            <a:r>
              <a:rPr sz="1100" b="1" i="0">
                <a:solidFill>
                  <a:srgbClr val="059669"/>
                </a:solidFill>
                <a:latin typeface="Aptos Display"/>
              </a:rPr>
              <a:t>Near 100% of what you imagined.  </a:t>
            </a:r>
            <a:r>
              <a:rPr sz="1050" b="0" i="0">
                <a:solidFill>
                  <a:srgbClr val="475569"/>
                </a:solidFill>
                <a:latin typeface="Aptos"/>
              </a:rPr>
              <a:t>Every revision was on paper.</a:t>
            </a:r>
          </a:p>
        </p:txBody>
      </p:sp>
      <p:sp>
        <p:nvSpPr>
          <p:cNvPr id="45" name="H3YesBPFrame"/>
          <p:cNvSpPr/>
          <p:nvPr/>
        </p:nvSpPr>
        <p:spPr>
          <a:xfrm>
            <a:off x="8417336" y="1972568"/>
            <a:ext cx="1054864" cy="804864"/>
          </a:xfrm>
          <a:prstGeom prst="roundRect">
            <a:avLst>
              <a:gd name="adj" fmla="val 3000"/>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H3YesBP" descr="blueprint.png"/>
          <p:cNvPicPr>
            <a:picLocks noChangeAspect="1"/>
          </p:cNvPicPr>
          <p:nvPr/>
        </p:nvPicPr>
        <p:blipFill>
          <a:blip r:embed="rId2"/>
          <a:stretch>
            <a:fillRect/>
          </a:stretch>
        </p:blipFill>
        <p:spPr>
          <a:xfrm>
            <a:off x="8444768" y="2000000"/>
            <a:ext cx="1000000" cy="750000"/>
          </a:xfrm>
          <a:prstGeom prst="rect">
            <a:avLst/>
          </a:prstGeom>
        </p:spPr>
      </p:pic>
      <p:sp>
        <p:nvSpPr>
          <p:cNvPr id="47" name="H3YesBPCap"/>
          <p:cNvSpPr txBox="1"/>
          <p:nvPr/>
        </p:nvSpPr>
        <p:spPr>
          <a:xfrm>
            <a:off x="8244768" y="2810000"/>
            <a:ext cx="1400000" cy="219456"/>
          </a:xfrm>
          <a:prstGeom prst="rect">
            <a:avLst/>
          </a:prstGeom>
          <a:noFill/>
        </p:spPr>
        <p:txBody>
          <a:bodyPr wrap="square" lIns="0" tIns="0" rIns="0" bIns="0" anchor="t">
            <a:spAutoFit/>
          </a:bodyPr>
          <a:lstStyle/>
          <a:p>
            <a:pPr algn="ctr"/>
            <a:r>
              <a:rPr sz="950" b="1" i="0">
                <a:solidFill>
                  <a:srgbClr val="059669"/>
                </a:solidFill>
                <a:latin typeface="Aptos"/>
              </a:rPr>
              <a:t>the blueprint</a:t>
            </a:r>
          </a:p>
        </p:txBody>
      </p:sp>
      <p:sp>
        <p:nvSpPr>
          <p:cNvPr id="48" name="H3Rule"/>
          <p:cNvSpPr/>
          <p:nvPr/>
        </p:nvSpPr>
        <p:spPr>
          <a:xfrm>
            <a:off x="329184" y="5650000"/>
            <a:ext cx="11430000" cy="750000"/>
          </a:xfrm>
          <a:prstGeom prst="roundRect">
            <a:avLst>
              <a:gd name="adj" fmla="val 6000"/>
            </a:avLst>
          </a:prstGeom>
          <a:solidFill>
            <a:srgbClr val="EFF6FF"/>
          </a:solidFill>
          <a:ln w="1270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H3RuleTxt"/>
          <p:cNvSpPr txBox="1"/>
          <p:nvPr/>
        </p:nvSpPr>
        <p:spPr>
          <a:xfrm>
            <a:off x="512064" y="5759728"/>
            <a:ext cx="11064240" cy="530544"/>
          </a:xfrm>
          <a:prstGeom prst="rect">
            <a:avLst/>
          </a:prstGeom>
          <a:noFill/>
        </p:spPr>
        <p:txBody>
          <a:bodyPr wrap="square" lIns="0" tIns="0" rIns="0" bIns="0" anchor="t">
            <a:spAutoFit/>
          </a:bodyPr>
          <a:lstStyle/>
          <a:p>
            <a:pPr algn="l"/>
            <a:r>
              <a:rPr sz="1200" b="1" i="0">
                <a:solidFill>
                  <a:srgbClr val="1565C0"/>
                </a:solidFill>
                <a:latin typeface="Aptos Display"/>
              </a:rPr>
              <a:t>Plan mode is the blueprint step.  </a:t>
            </a:r>
            <a:r>
              <a:rPr sz="1150" b="0" i="0">
                <a:solidFill>
                  <a:srgbClr val="475569"/>
                </a:solidFill>
                <a:latin typeface="Aptos"/>
              </a:rPr>
              <a:t>Claude reads your codebase and proposes an approach; you question it, ask for changes, and it revises — “No, keep planning” is one of the three answers when it asks to proceed. Not one file is written until you approve. Shift+Tab to enter, or /plan &lt;task&gt;.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Plan mode — look before you touch</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Claude researches and proposes. Your source is not edited until you approve the plan.</a:t>
            </a:r>
          </a:p>
        </p:txBody>
      </p:sp>
      <p:sp>
        <p:nvSpPr>
          <p:cNvPr id="4" name="P4Step0"/>
          <p:cNvSpPr/>
          <p:nvPr/>
        </p:nvSpPr>
        <p:spPr>
          <a:xfrm>
            <a:off x="329184" y="1115568"/>
            <a:ext cx="1993392" cy="1078992"/>
          </a:xfrm>
          <a:prstGeom prst="roundRect">
            <a:avLst>
              <a:gd name="adj" fmla="val 8000"/>
            </a:avLst>
          </a:prstGeom>
          <a:solidFill>
            <a:srgbClr val="FFFFFF"/>
          </a:solidFill>
          <a:ln w="1270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P4Top0"/>
          <p:cNvSpPr/>
          <p:nvPr/>
        </p:nvSpPr>
        <p:spPr>
          <a:xfrm>
            <a:off x="420624" y="1115568"/>
            <a:ext cx="1810512" cy="54864"/>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P4Nm0"/>
          <p:cNvSpPr txBox="1"/>
          <p:nvPr/>
        </p:nvSpPr>
        <p:spPr>
          <a:xfrm>
            <a:off x="475488" y="1280160"/>
            <a:ext cx="1700784" cy="274320"/>
          </a:xfrm>
          <a:prstGeom prst="rect">
            <a:avLst/>
          </a:prstGeom>
          <a:noFill/>
        </p:spPr>
        <p:txBody>
          <a:bodyPr wrap="square" lIns="0" tIns="0" rIns="0" bIns="0" anchor="t">
            <a:spAutoFit/>
          </a:bodyPr>
          <a:lstStyle/>
          <a:p>
            <a:pPr algn="l"/>
            <a:r>
              <a:rPr sz="1300" b="1" i="0">
                <a:solidFill>
                  <a:srgbClr val="1565C0"/>
                </a:solidFill>
                <a:latin typeface="Aptos Display"/>
              </a:rPr>
              <a:t>1. Enter</a:t>
            </a:r>
          </a:p>
        </p:txBody>
      </p:sp>
      <p:sp>
        <p:nvSpPr>
          <p:cNvPr id="7" name="P4Desc0"/>
          <p:cNvSpPr txBox="1"/>
          <p:nvPr/>
        </p:nvSpPr>
        <p:spPr>
          <a:xfrm>
            <a:off x="475488" y="1627632"/>
            <a:ext cx="1700784" cy="694944"/>
          </a:xfrm>
          <a:prstGeom prst="rect">
            <a:avLst/>
          </a:prstGeom>
          <a:noFill/>
        </p:spPr>
        <p:txBody>
          <a:bodyPr wrap="square" lIns="0" tIns="0" rIns="0" bIns="0" anchor="t">
            <a:spAutoFit/>
          </a:bodyPr>
          <a:lstStyle/>
          <a:p>
            <a:pPr algn="l"/>
            <a:r>
              <a:rPr sz="1050" b="0" i="0">
                <a:solidFill>
                  <a:srgbClr val="475569"/>
                </a:solidFill>
                <a:latin typeface="Aptos"/>
              </a:rPr>
              <a:t>Shift+Tab, or</a:t>
            </a:r>
          </a:p>
          <a:p>
            <a:pPr algn="l"/>
            <a:r>
              <a:rPr sz="1050" b="0" i="0">
                <a:solidFill>
                  <a:srgbClr val="475569"/>
                </a:solidFill>
                <a:latin typeface="Aptos"/>
              </a:rPr>
              <a:t>prefix with /plan</a:t>
            </a:r>
          </a:p>
        </p:txBody>
      </p:sp>
      <p:sp>
        <p:nvSpPr>
          <p:cNvPr id="8" name="P4Arr0"/>
          <p:cNvSpPr/>
          <p:nvPr/>
        </p:nvSpPr>
        <p:spPr>
          <a:xfrm>
            <a:off x="2395728" y="1527048"/>
            <a:ext cx="237744" cy="256032"/>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4Step1"/>
          <p:cNvSpPr/>
          <p:nvPr/>
        </p:nvSpPr>
        <p:spPr>
          <a:xfrm>
            <a:off x="2706624" y="1115568"/>
            <a:ext cx="1993392" cy="1078992"/>
          </a:xfrm>
          <a:prstGeom prst="roundRect">
            <a:avLst>
              <a:gd name="adj" fmla="val 8000"/>
            </a:avLst>
          </a:prstGeom>
          <a:solidFill>
            <a:srgbClr val="FFFFFF"/>
          </a:solidFill>
          <a:ln w="1270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4Top1"/>
          <p:cNvSpPr/>
          <p:nvPr/>
        </p:nvSpPr>
        <p:spPr>
          <a:xfrm>
            <a:off x="2798064" y="1115568"/>
            <a:ext cx="1810512" cy="54864"/>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4Nm1"/>
          <p:cNvSpPr txBox="1"/>
          <p:nvPr/>
        </p:nvSpPr>
        <p:spPr>
          <a:xfrm>
            <a:off x="2852928" y="1280160"/>
            <a:ext cx="1700784" cy="274320"/>
          </a:xfrm>
          <a:prstGeom prst="rect">
            <a:avLst/>
          </a:prstGeom>
          <a:noFill/>
        </p:spPr>
        <p:txBody>
          <a:bodyPr wrap="square" lIns="0" tIns="0" rIns="0" bIns="0" anchor="t">
            <a:spAutoFit/>
          </a:bodyPr>
          <a:lstStyle/>
          <a:p>
            <a:pPr algn="l"/>
            <a:r>
              <a:rPr sz="1300" b="1" i="0">
                <a:solidFill>
                  <a:srgbClr val="1565C0"/>
                </a:solidFill>
                <a:latin typeface="Aptos Display"/>
              </a:rPr>
              <a:t>2. Research</a:t>
            </a:r>
          </a:p>
        </p:txBody>
      </p:sp>
      <p:sp>
        <p:nvSpPr>
          <p:cNvPr id="12" name="P4Desc1"/>
          <p:cNvSpPr txBox="1"/>
          <p:nvPr/>
        </p:nvSpPr>
        <p:spPr>
          <a:xfrm>
            <a:off x="2852928" y="1627632"/>
            <a:ext cx="1700784" cy="694944"/>
          </a:xfrm>
          <a:prstGeom prst="rect">
            <a:avLst/>
          </a:prstGeom>
          <a:noFill/>
        </p:spPr>
        <p:txBody>
          <a:bodyPr wrap="square" lIns="0" tIns="0" rIns="0" bIns="0" anchor="t">
            <a:spAutoFit/>
          </a:bodyPr>
          <a:lstStyle/>
          <a:p>
            <a:pPr algn="l"/>
            <a:r>
              <a:rPr sz="1050" b="0" i="0">
                <a:solidFill>
                  <a:srgbClr val="475569"/>
                </a:solidFill>
                <a:latin typeface="Aptos"/>
              </a:rPr>
              <a:t>Reads files, runs</a:t>
            </a:r>
          </a:p>
          <a:p>
            <a:pPr algn="l"/>
            <a:r>
              <a:rPr sz="1050" b="0" i="0">
                <a:solidFill>
                  <a:srgbClr val="475569"/>
                </a:solidFill>
                <a:latin typeface="Aptos"/>
              </a:rPr>
              <a:t>commands to explore</a:t>
            </a:r>
          </a:p>
        </p:txBody>
      </p:sp>
      <p:sp>
        <p:nvSpPr>
          <p:cNvPr id="13" name="P4Arr1"/>
          <p:cNvSpPr/>
          <p:nvPr/>
        </p:nvSpPr>
        <p:spPr>
          <a:xfrm>
            <a:off x="4773168" y="1527048"/>
            <a:ext cx="237744" cy="256032"/>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P4Step2"/>
          <p:cNvSpPr/>
          <p:nvPr/>
        </p:nvSpPr>
        <p:spPr>
          <a:xfrm>
            <a:off x="5084064" y="1115568"/>
            <a:ext cx="1993392" cy="1078992"/>
          </a:xfrm>
          <a:prstGeom prst="roundRect">
            <a:avLst>
              <a:gd name="adj" fmla="val 8000"/>
            </a:avLst>
          </a:prstGeom>
          <a:solidFill>
            <a:srgbClr val="FFFF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4Top2"/>
          <p:cNvSpPr/>
          <p:nvPr/>
        </p:nvSpPr>
        <p:spPr>
          <a:xfrm>
            <a:off x="5175504" y="1115568"/>
            <a:ext cx="1810512" cy="548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4Nm2"/>
          <p:cNvSpPr txBox="1"/>
          <p:nvPr/>
        </p:nvSpPr>
        <p:spPr>
          <a:xfrm>
            <a:off x="5230368" y="1280160"/>
            <a:ext cx="1700784" cy="274320"/>
          </a:xfrm>
          <a:prstGeom prst="rect">
            <a:avLst/>
          </a:prstGeom>
          <a:noFill/>
        </p:spPr>
        <p:txBody>
          <a:bodyPr wrap="square" lIns="0" tIns="0" rIns="0" bIns="0" anchor="t">
            <a:spAutoFit/>
          </a:bodyPr>
          <a:lstStyle/>
          <a:p>
            <a:pPr algn="l"/>
            <a:r>
              <a:rPr sz="1300" b="1" i="0">
                <a:solidFill>
                  <a:srgbClr val="7C3AED"/>
                </a:solidFill>
                <a:latin typeface="Aptos Display"/>
              </a:rPr>
              <a:t>3. Propose</a:t>
            </a:r>
          </a:p>
        </p:txBody>
      </p:sp>
      <p:sp>
        <p:nvSpPr>
          <p:cNvPr id="17" name="P4Desc2"/>
          <p:cNvSpPr txBox="1"/>
          <p:nvPr/>
        </p:nvSpPr>
        <p:spPr>
          <a:xfrm>
            <a:off x="5230368" y="1627632"/>
            <a:ext cx="1700784" cy="694944"/>
          </a:xfrm>
          <a:prstGeom prst="rect">
            <a:avLst/>
          </a:prstGeom>
          <a:noFill/>
        </p:spPr>
        <p:txBody>
          <a:bodyPr wrap="square" lIns="0" tIns="0" rIns="0" bIns="0" anchor="t">
            <a:spAutoFit/>
          </a:bodyPr>
          <a:lstStyle/>
          <a:p>
            <a:pPr algn="l"/>
            <a:r>
              <a:rPr sz="1050" b="0" i="0">
                <a:solidFill>
                  <a:srgbClr val="475569"/>
                </a:solidFill>
                <a:latin typeface="Aptos"/>
              </a:rPr>
              <a:t>Writes a plan.</a:t>
            </a:r>
          </a:p>
          <a:p>
            <a:pPr algn="l"/>
            <a:r>
              <a:rPr sz="1050" b="0" i="0">
                <a:solidFill>
                  <a:srgbClr val="475569"/>
                </a:solidFill>
                <a:latin typeface="Aptos"/>
              </a:rPr>
              <a:t>No edits yet.</a:t>
            </a:r>
          </a:p>
        </p:txBody>
      </p:sp>
      <p:sp>
        <p:nvSpPr>
          <p:cNvPr id="18" name="P4Arr2"/>
          <p:cNvSpPr/>
          <p:nvPr/>
        </p:nvSpPr>
        <p:spPr>
          <a:xfrm>
            <a:off x="7150608" y="1527048"/>
            <a:ext cx="237744" cy="256032"/>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4Step3"/>
          <p:cNvSpPr/>
          <p:nvPr/>
        </p:nvSpPr>
        <p:spPr>
          <a:xfrm>
            <a:off x="7461504" y="1115568"/>
            <a:ext cx="1993392" cy="1078992"/>
          </a:xfrm>
          <a:prstGeom prst="roundRect">
            <a:avLst>
              <a:gd name="adj" fmla="val 8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4Top3"/>
          <p:cNvSpPr/>
          <p:nvPr/>
        </p:nvSpPr>
        <p:spPr>
          <a:xfrm>
            <a:off x="7552944" y="1115568"/>
            <a:ext cx="1810512" cy="54864"/>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P4Nm3"/>
          <p:cNvSpPr txBox="1"/>
          <p:nvPr/>
        </p:nvSpPr>
        <p:spPr>
          <a:xfrm>
            <a:off x="7607808" y="1280160"/>
            <a:ext cx="1700784" cy="274320"/>
          </a:xfrm>
          <a:prstGeom prst="rect">
            <a:avLst/>
          </a:prstGeom>
          <a:noFill/>
        </p:spPr>
        <p:txBody>
          <a:bodyPr wrap="square" lIns="0" tIns="0" rIns="0" bIns="0" anchor="t">
            <a:spAutoFit/>
          </a:bodyPr>
          <a:lstStyle/>
          <a:p>
            <a:pPr algn="l"/>
            <a:r>
              <a:rPr sz="1300" b="1" i="0">
                <a:solidFill>
                  <a:srgbClr val="D4622B"/>
                </a:solidFill>
                <a:latin typeface="Aptos Display"/>
              </a:rPr>
              <a:t>4. Edit it</a:t>
            </a:r>
          </a:p>
        </p:txBody>
      </p:sp>
      <p:sp>
        <p:nvSpPr>
          <p:cNvPr id="22" name="P4Desc3"/>
          <p:cNvSpPr txBox="1"/>
          <p:nvPr/>
        </p:nvSpPr>
        <p:spPr>
          <a:xfrm>
            <a:off x="7607808" y="1627632"/>
            <a:ext cx="1700784" cy="694944"/>
          </a:xfrm>
          <a:prstGeom prst="rect">
            <a:avLst/>
          </a:prstGeom>
          <a:noFill/>
        </p:spPr>
        <p:txBody>
          <a:bodyPr wrap="square" lIns="0" tIns="0" rIns="0" bIns="0" anchor="t">
            <a:spAutoFit/>
          </a:bodyPr>
          <a:lstStyle/>
          <a:p>
            <a:pPr algn="l"/>
            <a:r>
              <a:rPr sz="1050" b="0" i="0">
                <a:solidFill>
                  <a:srgbClr val="475569"/>
                </a:solidFill>
                <a:latin typeface="Aptos"/>
              </a:rPr>
              <a:t>Ctrl+G opens the plan</a:t>
            </a:r>
          </a:p>
          <a:p>
            <a:pPr algn="l"/>
            <a:r>
              <a:rPr sz="1050" b="0" i="0">
                <a:solidFill>
                  <a:srgbClr val="475569"/>
                </a:solidFill>
                <a:latin typeface="Aptos"/>
              </a:rPr>
              <a:t>in your editor</a:t>
            </a:r>
          </a:p>
        </p:txBody>
      </p:sp>
      <p:sp>
        <p:nvSpPr>
          <p:cNvPr id="23" name="P4Arr3"/>
          <p:cNvSpPr/>
          <p:nvPr/>
        </p:nvSpPr>
        <p:spPr>
          <a:xfrm>
            <a:off x="9528048" y="1527048"/>
            <a:ext cx="237744" cy="256032"/>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4Step4"/>
          <p:cNvSpPr/>
          <p:nvPr/>
        </p:nvSpPr>
        <p:spPr>
          <a:xfrm>
            <a:off x="9838944" y="1115568"/>
            <a:ext cx="1993392" cy="1078992"/>
          </a:xfrm>
          <a:prstGeom prst="roundRect">
            <a:avLst>
              <a:gd name="adj" fmla="val 8000"/>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4Top4"/>
          <p:cNvSpPr/>
          <p:nvPr/>
        </p:nvSpPr>
        <p:spPr>
          <a:xfrm>
            <a:off x="9930384" y="1115568"/>
            <a:ext cx="1810512" cy="54864"/>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P4Nm4"/>
          <p:cNvSpPr txBox="1"/>
          <p:nvPr/>
        </p:nvSpPr>
        <p:spPr>
          <a:xfrm>
            <a:off x="9985248" y="1280160"/>
            <a:ext cx="1700784" cy="274320"/>
          </a:xfrm>
          <a:prstGeom prst="rect">
            <a:avLst/>
          </a:prstGeom>
          <a:noFill/>
        </p:spPr>
        <p:txBody>
          <a:bodyPr wrap="square" lIns="0" tIns="0" rIns="0" bIns="0" anchor="t">
            <a:spAutoFit/>
          </a:bodyPr>
          <a:lstStyle/>
          <a:p>
            <a:pPr algn="l"/>
            <a:r>
              <a:rPr sz="1300" b="1" i="0">
                <a:solidFill>
                  <a:srgbClr val="059669"/>
                </a:solidFill>
                <a:latin typeface="Aptos Display"/>
              </a:rPr>
              <a:t>5. Approve</a:t>
            </a:r>
          </a:p>
        </p:txBody>
      </p:sp>
      <p:sp>
        <p:nvSpPr>
          <p:cNvPr id="27" name="P4Desc4"/>
          <p:cNvSpPr txBox="1"/>
          <p:nvPr/>
        </p:nvSpPr>
        <p:spPr>
          <a:xfrm>
            <a:off x="9985248" y="1627632"/>
            <a:ext cx="1700784" cy="694944"/>
          </a:xfrm>
          <a:prstGeom prst="rect">
            <a:avLst/>
          </a:prstGeom>
          <a:noFill/>
        </p:spPr>
        <p:txBody>
          <a:bodyPr wrap="square" lIns="0" tIns="0" rIns="0" bIns="0" anchor="t">
            <a:spAutoFit/>
          </a:bodyPr>
          <a:lstStyle/>
          <a:p>
            <a:pPr algn="l"/>
            <a:r>
              <a:rPr sz="1050" b="0" i="0">
                <a:solidFill>
                  <a:srgbClr val="475569"/>
                </a:solidFill>
                <a:latin typeface="Aptos"/>
              </a:rPr>
              <a:t>Plan mode exits.</a:t>
            </a:r>
          </a:p>
          <a:p>
            <a:pPr algn="l"/>
            <a:r>
              <a:rPr sz="1050" b="0" i="0">
                <a:solidFill>
                  <a:srgbClr val="475569"/>
                </a:solidFill>
                <a:latin typeface="Aptos"/>
              </a:rPr>
              <a:t>Claude starts editing.</a:t>
            </a:r>
          </a:p>
        </p:txBody>
      </p:sp>
      <p:sp>
        <p:nvSpPr>
          <p:cNvPr id="28" name="P4ChLabel"/>
          <p:cNvSpPr txBox="1"/>
          <p:nvPr/>
        </p:nvSpPr>
        <p:spPr>
          <a:xfrm>
            <a:off x="329184" y="2670048"/>
            <a:ext cx="5486400" cy="237744"/>
          </a:xfrm>
          <a:prstGeom prst="rect">
            <a:avLst/>
          </a:prstGeom>
          <a:noFill/>
        </p:spPr>
        <p:txBody>
          <a:bodyPr wrap="square" lIns="0" tIns="0" rIns="0" bIns="0" anchor="t">
            <a:spAutoFit/>
          </a:bodyPr>
          <a:lstStyle/>
          <a:p>
            <a:pPr algn="l"/>
            <a:r>
              <a:rPr sz="950" b="1" i="0">
                <a:solidFill>
                  <a:srgbClr val="64748B"/>
                </a:solidFill>
                <a:latin typeface="Aptos"/>
              </a:rPr>
              <a:t>WHEN YOU APPROVE, YOU GET THREE CHOICES</a:t>
            </a:r>
          </a:p>
        </p:txBody>
      </p:sp>
      <p:sp>
        <p:nvSpPr>
          <p:cNvPr id="29" name="P4Ch0"/>
          <p:cNvSpPr/>
          <p:nvPr/>
        </p:nvSpPr>
        <p:spPr>
          <a:xfrm>
            <a:off x="329184" y="2944368"/>
            <a:ext cx="3712464" cy="1078992"/>
          </a:xfrm>
          <a:prstGeom prst="roundRect">
            <a:avLst>
              <a:gd name="adj" fmla="val 8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P4ChNm0"/>
          <p:cNvSpPr txBox="1"/>
          <p:nvPr/>
        </p:nvSpPr>
        <p:spPr>
          <a:xfrm>
            <a:off x="493776" y="3072384"/>
            <a:ext cx="3383280" cy="274320"/>
          </a:xfrm>
          <a:prstGeom prst="rect">
            <a:avLst/>
          </a:prstGeom>
          <a:noFill/>
        </p:spPr>
        <p:txBody>
          <a:bodyPr wrap="square" lIns="0" tIns="0" rIns="0" bIns="0" anchor="t">
            <a:spAutoFit/>
          </a:bodyPr>
          <a:lstStyle/>
          <a:p>
            <a:pPr algn="l"/>
            <a:r>
              <a:rPr sz="1200" b="1" i="0">
                <a:solidFill>
                  <a:srgbClr val="059669"/>
                </a:solidFill>
                <a:latin typeface="Aptos Display"/>
              </a:rPr>
              <a:t>Yes, and use auto mode</a:t>
            </a:r>
          </a:p>
        </p:txBody>
      </p:sp>
      <p:sp>
        <p:nvSpPr>
          <p:cNvPr id="31" name="P4ChD0"/>
          <p:cNvSpPr txBox="1"/>
          <p:nvPr/>
        </p:nvSpPr>
        <p:spPr>
          <a:xfrm>
            <a:off x="493776" y="3383280"/>
            <a:ext cx="3383280" cy="566928"/>
          </a:xfrm>
          <a:prstGeom prst="rect">
            <a:avLst/>
          </a:prstGeom>
          <a:noFill/>
        </p:spPr>
        <p:txBody>
          <a:bodyPr wrap="square" lIns="0" tIns="0" rIns="0" bIns="0" anchor="t">
            <a:spAutoFit/>
          </a:bodyPr>
          <a:lstStyle/>
          <a:p>
            <a:pPr algn="l"/>
            <a:r>
              <a:rPr sz="1050" b="0" i="0">
                <a:solidFill>
                  <a:srgbClr val="475569"/>
                </a:solidFill>
                <a:latin typeface="Aptos"/>
              </a:rPr>
              <a:t>Approves, and the session continues in auto mode — a classifier reviews each action instead of you.</a:t>
            </a:r>
          </a:p>
        </p:txBody>
      </p:sp>
      <p:sp>
        <p:nvSpPr>
          <p:cNvPr id="32" name="P4Ch1"/>
          <p:cNvSpPr/>
          <p:nvPr/>
        </p:nvSpPr>
        <p:spPr>
          <a:xfrm>
            <a:off x="4187952" y="2944368"/>
            <a:ext cx="3712464" cy="1078992"/>
          </a:xfrm>
          <a:prstGeom prst="roundRect">
            <a:avLst>
              <a:gd name="adj" fmla="val 8000"/>
            </a:avLst>
          </a:prstGeom>
          <a:solidFill>
            <a:srgbClr val="EFF6FF"/>
          </a:solidFill>
          <a:ln w="1270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P4ChNm1"/>
          <p:cNvSpPr txBox="1"/>
          <p:nvPr/>
        </p:nvSpPr>
        <p:spPr>
          <a:xfrm>
            <a:off x="4352544" y="3072384"/>
            <a:ext cx="3383280" cy="274320"/>
          </a:xfrm>
          <a:prstGeom prst="rect">
            <a:avLst/>
          </a:prstGeom>
          <a:noFill/>
        </p:spPr>
        <p:txBody>
          <a:bodyPr wrap="square" lIns="0" tIns="0" rIns="0" bIns="0" anchor="t">
            <a:spAutoFit/>
          </a:bodyPr>
          <a:lstStyle/>
          <a:p>
            <a:pPr algn="l"/>
            <a:r>
              <a:rPr sz="1200" b="1" i="0">
                <a:solidFill>
                  <a:srgbClr val="1565C0"/>
                </a:solidFill>
                <a:latin typeface="Aptos Display"/>
              </a:rPr>
              <a:t>Yes, manually approve edits</a:t>
            </a:r>
          </a:p>
        </p:txBody>
      </p:sp>
      <p:sp>
        <p:nvSpPr>
          <p:cNvPr id="34" name="P4ChD1"/>
          <p:cNvSpPr txBox="1"/>
          <p:nvPr/>
        </p:nvSpPr>
        <p:spPr>
          <a:xfrm>
            <a:off x="4352544" y="3383280"/>
            <a:ext cx="3383280" cy="566928"/>
          </a:xfrm>
          <a:prstGeom prst="rect">
            <a:avLst/>
          </a:prstGeom>
          <a:noFill/>
        </p:spPr>
        <p:txBody>
          <a:bodyPr wrap="square" lIns="0" tIns="0" rIns="0" bIns="0" anchor="t">
            <a:spAutoFit/>
          </a:bodyPr>
          <a:lstStyle/>
          <a:p>
            <a:pPr algn="l"/>
            <a:r>
              <a:rPr sz="1050" b="0" i="0">
                <a:solidFill>
                  <a:srgbClr val="475569"/>
                </a:solidFill>
                <a:latin typeface="Aptos"/>
              </a:rPr>
              <a:t>Approves, and you review every edit individually. The slow, safe option.</a:t>
            </a:r>
          </a:p>
        </p:txBody>
      </p:sp>
      <p:sp>
        <p:nvSpPr>
          <p:cNvPr id="35" name="P4Ch2"/>
          <p:cNvSpPr/>
          <p:nvPr/>
        </p:nvSpPr>
        <p:spPr>
          <a:xfrm>
            <a:off x="8046720" y="2944368"/>
            <a:ext cx="3712464" cy="1078992"/>
          </a:xfrm>
          <a:prstGeom prst="roundRect">
            <a:avLst>
              <a:gd name="adj" fmla="val 8000"/>
            </a:avLst>
          </a:prstGeom>
          <a:solidFill>
            <a:srgbClr val="F8FAFC"/>
          </a:solidFill>
          <a:ln w="12700">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P4ChNm2"/>
          <p:cNvSpPr txBox="1"/>
          <p:nvPr/>
        </p:nvSpPr>
        <p:spPr>
          <a:xfrm>
            <a:off x="8211312" y="3072384"/>
            <a:ext cx="3383280" cy="274320"/>
          </a:xfrm>
          <a:prstGeom prst="rect">
            <a:avLst/>
          </a:prstGeom>
          <a:noFill/>
        </p:spPr>
        <p:txBody>
          <a:bodyPr wrap="square" lIns="0" tIns="0" rIns="0" bIns="0" anchor="t">
            <a:spAutoFit/>
          </a:bodyPr>
          <a:lstStyle/>
          <a:p>
            <a:pPr algn="l"/>
            <a:r>
              <a:rPr sz="1200" b="1" i="0">
                <a:solidFill>
                  <a:srgbClr val="64748B"/>
                </a:solidFill>
                <a:latin typeface="Aptos Display"/>
              </a:rPr>
              <a:t>No, keep planning</a:t>
            </a:r>
          </a:p>
        </p:txBody>
      </p:sp>
      <p:sp>
        <p:nvSpPr>
          <p:cNvPr id="37" name="P4ChD2"/>
          <p:cNvSpPr txBox="1"/>
          <p:nvPr/>
        </p:nvSpPr>
        <p:spPr>
          <a:xfrm>
            <a:off x="8211312" y="3383280"/>
            <a:ext cx="3383280" cy="566928"/>
          </a:xfrm>
          <a:prstGeom prst="rect">
            <a:avLst/>
          </a:prstGeom>
          <a:noFill/>
        </p:spPr>
        <p:txBody>
          <a:bodyPr wrap="square" lIns="0" tIns="0" rIns="0" bIns="0" anchor="t">
            <a:spAutoFit/>
          </a:bodyPr>
          <a:lstStyle/>
          <a:p>
            <a:pPr algn="l"/>
            <a:r>
              <a:rPr sz="1050" b="0" i="0">
                <a:solidFill>
                  <a:srgbClr val="475569"/>
                </a:solidFill>
                <a:latin typeface="Aptos"/>
              </a:rPr>
              <a:t>Stays in plan mode. Tell Claude what to change about the plan.</a:t>
            </a:r>
          </a:p>
        </p:txBody>
      </p:sp>
      <p:sp>
        <p:nvSpPr>
          <p:cNvPr id="38" name="P4Tip"/>
          <p:cNvSpPr/>
          <p:nvPr/>
        </p:nvSpPr>
        <p:spPr>
          <a:xfrm>
            <a:off x="329184" y="4224528"/>
            <a:ext cx="11430000" cy="566928"/>
          </a:xfrm>
          <a:prstGeom prst="roundRect">
            <a:avLst>
              <a:gd name="adj" fmla="val 6000"/>
            </a:avLst>
          </a:prstGeom>
          <a:solidFill>
            <a:srgbClr val="FFF7ED"/>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P4TipTxt"/>
          <p:cNvSpPr txBox="1"/>
          <p:nvPr/>
        </p:nvSpPr>
        <p:spPr>
          <a:xfrm>
            <a:off x="512064" y="4334256"/>
            <a:ext cx="11064240" cy="365760"/>
          </a:xfrm>
          <a:prstGeom prst="rect">
            <a:avLst/>
          </a:prstGeom>
          <a:noFill/>
        </p:spPr>
        <p:txBody>
          <a:bodyPr wrap="square" lIns="0" tIns="0" rIns="0" bIns="0" anchor="t">
            <a:spAutoFit/>
          </a:bodyPr>
          <a:lstStyle/>
          <a:p>
            <a:pPr algn="l"/>
            <a:r>
              <a:rPr sz="1250" b="1" i="0">
                <a:solidFill>
                  <a:srgbClr val="D4622B"/>
                </a:solidFill>
                <a:latin typeface="Aptos Display"/>
              </a:rPr>
              <a:t>Ctrl+G is the most under-used key in the product.  </a:t>
            </a:r>
            <a:r>
              <a:rPr sz="1250" b="0" i="0">
                <a:solidFill>
                  <a:srgbClr val="475569"/>
                </a:solidFill>
                <a:latin typeface="Aptos"/>
              </a:rPr>
              <a:t>It is far cheaper to delete a bad step from a plan than to review the commit that step produced.</a:t>
            </a:r>
          </a:p>
        </p:txBody>
      </p:sp>
      <p:sp>
        <p:nvSpPr>
          <p:cNvPr id="40" name="P4PLabel"/>
          <p:cNvSpPr txBox="1"/>
          <p:nvPr/>
        </p:nvSpPr>
        <p:spPr>
          <a:xfrm>
            <a:off x="329184" y="5010912"/>
            <a:ext cx="3657600" cy="237744"/>
          </a:xfrm>
          <a:prstGeom prst="rect">
            <a:avLst/>
          </a:prstGeom>
          <a:noFill/>
        </p:spPr>
        <p:txBody>
          <a:bodyPr wrap="square" lIns="0" tIns="0" rIns="0" bIns="0" anchor="t">
            <a:spAutoFit/>
          </a:bodyPr>
          <a:lstStyle/>
          <a:p>
            <a:pPr algn="l"/>
            <a:r>
              <a:rPr sz="950" b="1" i="0">
                <a:solidFill>
                  <a:srgbClr val="64748B"/>
                </a:solidFill>
                <a:latin typeface="Aptos"/>
              </a:rPr>
              <a:t>A WORKED PROMPT</a:t>
            </a:r>
          </a:p>
        </p:txBody>
      </p:sp>
      <p:sp>
        <p:nvSpPr>
          <p:cNvPr id="41" name="P4Code"/>
          <p:cNvSpPr/>
          <p:nvPr/>
        </p:nvSpPr>
        <p:spPr>
          <a:xfrm>
            <a:off x="329184" y="5285232"/>
            <a:ext cx="11430000" cy="1133856"/>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P4CodeTxt"/>
          <p:cNvSpPr txBox="1"/>
          <p:nvPr/>
        </p:nvSpPr>
        <p:spPr>
          <a:xfrm>
            <a:off x="530352" y="5413248"/>
            <a:ext cx="11064240" cy="914400"/>
          </a:xfrm>
          <a:prstGeom prst="rect">
            <a:avLst/>
          </a:prstGeom>
          <a:noFill/>
        </p:spPr>
        <p:txBody>
          <a:bodyPr wrap="square" lIns="0" tIns="0" rIns="0" bIns="0" anchor="t">
            <a:spAutoFit/>
          </a:bodyPr>
          <a:lstStyle/>
          <a:p>
            <a:pPr algn="l"/>
            <a:r>
              <a:rPr sz="1050" b="0" i="0">
                <a:solidFill>
                  <a:srgbClr val="CBD5E1"/>
                </a:solidFill>
                <a:latin typeface="Consolas"/>
              </a:rPr>
              <a:t>/plan</a:t>
            </a:r>
          </a:p>
          <a:p>
            <a:pPr algn="l">
              <a:spcBef>
                <a:spcPts val="100"/>
              </a:spcBef>
            </a:pPr>
            <a:r>
              <a:rPr sz="1050" b="0" i="0">
                <a:solidFill>
                  <a:srgbClr val="CBD5E1"/>
                </a:solidFill>
                <a:latin typeface="Consolas"/>
              </a:rPr>
              <a:t>Read @src/notifications/dispatch.ts and @src/notifications/channels/.</a:t>
            </a:r>
          </a:p>
          <a:p>
            <a:pPr algn="l">
              <a:spcBef>
                <a:spcPts val="100"/>
              </a:spcBef>
            </a:pPr>
            <a:r>
              <a:rPr sz="1050" b="0" i="0">
                <a:solidFill>
                  <a:srgbClr val="CBD5E1"/>
                </a:solidFill>
                <a:latin typeface="Consolas"/>
              </a:rPr>
              <a:t>We need SMS as a third channel alongside email and push. Propose the change as a</a:t>
            </a:r>
          </a:p>
          <a:p>
            <a:pPr algn="l">
              <a:spcBef>
                <a:spcPts val="100"/>
              </a:spcBef>
            </a:pPr>
            <a:r>
              <a:rPr sz="1050" b="0" i="0">
                <a:solidFill>
                  <a:srgbClr val="CBD5E1"/>
                </a:solidFill>
                <a:latin typeface="Consolas"/>
              </a:rPr>
              <a:t>sequence of steps, flag anything needing a migration, and tell me what you are</a:t>
            </a:r>
          </a:p>
          <a:p>
            <a:pPr algn="l">
              <a:spcBef>
                <a:spcPts val="100"/>
              </a:spcBef>
            </a:pPr>
            <a:r>
              <a:rPr sz="1050" b="0" i="0">
                <a:solidFill>
                  <a:srgbClr val="CBD5E1"/>
                </a:solidFill>
                <a:latin typeface="Consolas"/>
              </a:rPr>
              <a:t>unsure about. Do not write any code yet.</a:t>
            </a:r>
          </a:p>
        </p:txBody>
      </p:sp>
      <p:sp>
        <p:nvSpPr>
          <p:cNvPr id="43"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44" name="PageNum"/>
          <p:cNvSpPr txBox="1"/>
          <p:nvPr/>
        </p:nvSpPr>
        <p:spPr>
          <a:xfrm>
            <a:off x="10058400" y="6647688"/>
            <a:ext cx="1463040" cy="201168"/>
          </a:xfrm>
          <a:prstGeom prst="rect">
            <a:avLst/>
          </a:prstGeom>
          <a:noFill/>
        </p:spPr>
        <p:txBody>
          <a:bodyPr wrap="square" lIns="0" tIns="0" rIns="0" bIns="0" anchor="t">
            <a:spAutoFit/>
          </a:bodyPr>
          <a:lstStyle/>
          <a:p>
            <a:r>
              <a:t>10 / 52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Auto mode — the classifier</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A second model reviews each action before it runs. It asks “is this dangerous?”, never “is this correct?”</a:t>
            </a:r>
          </a:p>
        </p:txBody>
      </p:sp>
      <p:sp>
        <p:nvSpPr>
          <p:cNvPr id="4" name="A5Block"/>
          <p:cNvSpPr/>
          <p:nvPr/>
        </p:nvSpPr>
        <p:spPr>
          <a:xfrm>
            <a:off x="329184" y="1097280"/>
            <a:ext cx="5614416" cy="3584448"/>
          </a:xfrm>
          <a:prstGeom prst="roundRect">
            <a:avLst>
              <a:gd name="adj" fmla="val 8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A5BlockTop"/>
          <p:cNvSpPr/>
          <p:nvPr/>
        </p:nvSpPr>
        <p:spPr>
          <a:xfrm>
            <a:off x="420624" y="1097280"/>
            <a:ext cx="5431536" cy="731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A5BlockHead"/>
          <p:cNvSpPr txBox="1"/>
          <p:nvPr/>
        </p:nvSpPr>
        <p:spPr>
          <a:xfrm>
            <a:off x="530352" y="1280160"/>
            <a:ext cx="5212080" cy="292608"/>
          </a:xfrm>
          <a:prstGeom prst="rect">
            <a:avLst/>
          </a:prstGeom>
          <a:noFill/>
        </p:spPr>
        <p:txBody>
          <a:bodyPr wrap="square" lIns="0" tIns="0" rIns="0" bIns="0" anchor="t">
            <a:spAutoFit/>
          </a:bodyPr>
          <a:lstStyle/>
          <a:p>
            <a:pPr algn="l"/>
            <a:r>
              <a:rPr sz="1150" b="1" i="0">
                <a:solidFill>
                  <a:srgbClr val="DC2626"/>
                </a:solidFill>
                <a:latin typeface="Aptos Display"/>
              </a:rPr>
              <a:t>BLOCKED BY DEFAULT</a:t>
            </a:r>
          </a:p>
        </p:txBody>
      </p:sp>
      <p:sp>
        <p:nvSpPr>
          <p:cNvPr id="7" name="A5BlockList"/>
          <p:cNvSpPr txBox="1"/>
          <p:nvPr/>
        </p:nvSpPr>
        <p:spPr>
          <a:xfrm>
            <a:off x="530352" y="1645920"/>
            <a:ext cx="5212080" cy="2926080"/>
          </a:xfrm>
          <a:prstGeom prst="rect">
            <a:avLst/>
          </a:prstGeom>
          <a:noFill/>
        </p:spPr>
        <p:txBody>
          <a:bodyPr wrap="square" lIns="0" tIns="0" rIns="0" bIns="0" anchor="t">
            <a:spAutoFit/>
          </a:bodyPr>
          <a:lstStyle/>
          <a:p>
            <a:pPr algn="l"/>
            <a:r>
              <a:rPr sz="1050" b="0" i="0">
                <a:solidFill>
                  <a:srgbClr val="1A2332"/>
                </a:solidFill>
                <a:latin typeface="Consolas"/>
              </a:rPr>
              <a:t>curl | bash</a:t>
            </a:r>
            <a:r>
              <a:rPr sz="1050" b="0" i="0">
                <a:solidFill>
                  <a:srgbClr val="475569"/>
                </a:solidFill>
                <a:latin typeface="Aptos"/>
              </a:rPr>
              <a:t> — downloading and executing code</a:t>
            </a:r>
          </a:p>
          <a:p>
            <a:pPr algn="l">
              <a:spcBef>
                <a:spcPts val="400"/>
              </a:spcBef>
            </a:pPr>
            <a:r>
              <a:rPr sz="1050" b="0" i="0">
                <a:solidFill>
                  <a:srgbClr val="475569"/>
                </a:solidFill>
                <a:latin typeface="Aptos"/>
              </a:rPr>
              <a:t>Force push, </a:t>
            </a:r>
            <a:r>
              <a:rPr sz="1050" b="0" i="0">
                <a:solidFill>
                  <a:srgbClr val="1A2332"/>
                </a:solidFill>
                <a:latin typeface="Consolas"/>
              </a:rPr>
              <a:t>git reset --hard</a:t>
            </a:r>
            <a:r>
              <a:rPr sz="1050" b="0" i="0">
                <a:solidFill>
                  <a:srgbClr val="475569"/>
                </a:solidFill>
                <a:latin typeface="Aptos"/>
              </a:rPr>
              <a:t>, </a:t>
            </a:r>
            <a:r>
              <a:rPr sz="1050" b="0" i="0">
                <a:solidFill>
                  <a:srgbClr val="1A2332"/>
                </a:solidFill>
                <a:latin typeface="Consolas"/>
              </a:rPr>
              <a:t>git clean -fd</a:t>
            </a:r>
          </a:p>
          <a:p>
            <a:pPr algn="l">
              <a:spcBef>
                <a:spcPts val="400"/>
              </a:spcBef>
            </a:pPr>
            <a:r>
              <a:rPr sz="1050" b="0" i="0">
                <a:solidFill>
                  <a:srgbClr val="475569"/>
                </a:solidFill>
                <a:latin typeface="Aptos"/>
              </a:rPr>
              <a:t>Production deploys, migrations, terraform destroy</a:t>
            </a:r>
          </a:p>
          <a:p>
            <a:pPr algn="l">
              <a:spcBef>
                <a:spcPts val="400"/>
              </a:spcBef>
            </a:pPr>
            <a:r>
              <a:rPr sz="1050" b="0" i="0">
                <a:solidFill>
                  <a:srgbClr val="475569"/>
                </a:solidFill>
                <a:latin typeface="Aptos"/>
              </a:rPr>
              <a:t>Sending secrets or sensitive data to an external endpoint</a:t>
            </a:r>
          </a:p>
          <a:p>
            <a:pPr algn="l">
              <a:spcBef>
                <a:spcPts val="400"/>
              </a:spcBef>
            </a:pPr>
            <a:r>
              <a:rPr sz="1050" b="0" i="0">
                <a:solidFill>
                  <a:srgbClr val="475569"/>
                </a:solidFill>
                <a:latin typeface="Aptos"/>
              </a:rPr>
              <a:t>Committing a change that leaks a secret when CI runs it</a:t>
            </a:r>
          </a:p>
          <a:p>
            <a:pPr algn="l">
              <a:spcBef>
                <a:spcPts val="400"/>
              </a:spcBef>
            </a:pPr>
            <a:r>
              <a:rPr sz="1050" b="0" i="0">
                <a:solidFill>
                  <a:srgbClr val="475569"/>
                </a:solidFill>
                <a:latin typeface="Aptos"/>
              </a:rPr>
              <a:t>Merging a PR no human approved; approving Claude's own PR</a:t>
            </a:r>
          </a:p>
          <a:p>
            <a:pPr algn="l">
              <a:spcBef>
                <a:spcPts val="400"/>
              </a:spcBef>
            </a:pPr>
            <a:r>
              <a:rPr sz="1050" b="0" i="0">
                <a:solidFill>
                  <a:srgbClr val="475569"/>
                </a:solidFill>
                <a:latin typeface="Aptos"/>
              </a:rPr>
              <a:t>Disabling CI checks</a:t>
            </a:r>
          </a:p>
          <a:p>
            <a:pPr algn="l">
              <a:spcBef>
                <a:spcPts val="400"/>
              </a:spcBef>
            </a:pPr>
            <a:r>
              <a:rPr sz="1050" b="1" i="0">
                <a:solidFill>
                  <a:srgbClr val="DC2626"/>
                </a:solidFill>
                <a:latin typeface="Aptos"/>
              </a:rPr>
              <a:t>Commenting out a test that guards security behaviour</a:t>
            </a:r>
          </a:p>
          <a:p>
            <a:pPr algn="l">
              <a:spcBef>
                <a:spcPts val="400"/>
              </a:spcBef>
            </a:pPr>
            <a:r>
              <a:rPr sz="1050" b="0" i="0">
                <a:solidFill>
                  <a:srgbClr val="475569"/>
                </a:solidFill>
                <a:latin typeface="Aptos"/>
              </a:rPr>
              <a:t>Irreversibly destroying files that existed before the session</a:t>
            </a:r>
          </a:p>
          <a:p>
            <a:pPr algn="l">
              <a:spcBef>
                <a:spcPts val="400"/>
              </a:spcBef>
            </a:pPr>
            <a:r>
              <a:rPr sz="1050" b="0" i="0">
                <a:solidFill>
                  <a:srgbClr val="475569"/>
                </a:solidFill>
                <a:latin typeface="Aptos"/>
              </a:rPr>
              <a:t>Printing a live credential or token into the transcript</a:t>
            </a:r>
          </a:p>
          <a:p>
            <a:pPr algn="l">
              <a:spcBef>
                <a:spcPts val="400"/>
              </a:spcBef>
            </a:pPr>
            <a:r>
              <a:rPr sz="1050" b="0" i="0">
                <a:solidFill>
                  <a:srgbClr val="475569"/>
                </a:solidFill>
                <a:latin typeface="Aptos"/>
              </a:rPr>
              <a:t>Repointing a registry, webhook, or API base URL elsewhere</a:t>
            </a:r>
          </a:p>
        </p:txBody>
      </p:sp>
      <p:sp>
        <p:nvSpPr>
          <p:cNvPr id="8" name="A5Allow"/>
          <p:cNvSpPr/>
          <p:nvPr/>
        </p:nvSpPr>
        <p:spPr>
          <a:xfrm>
            <a:off x="6144768" y="1097280"/>
            <a:ext cx="5614416" cy="3584448"/>
          </a:xfrm>
          <a:prstGeom prst="roundRect">
            <a:avLst>
              <a:gd name="adj" fmla="val 8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A5AllowTop"/>
          <p:cNvSpPr/>
          <p:nvPr/>
        </p:nvSpPr>
        <p:spPr>
          <a:xfrm>
            <a:off x="6236208" y="1097280"/>
            <a:ext cx="5431536"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A5AllowHead"/>
          <p:cNvSpPr txBox="1"/>
          <p:nvPr/>
        </p:nvSpPr>
        <p:spPr>
          <a:xfrm>
            <a:off x="6345936" y="1280160"/>
            <a:ext cx="5212080" cy="292608"/>
          </a:xfrm>
          <a:prstGeom prst="rect">
            <a:avLst/>
          </a:prstGeom>
          <a:noFill/>
        </p:spPr>
        <p:txBody>
          <a:bodyPr wrap="square" lIns="0" tIns="0" rIns="0" bIns="0" anchor="t">
            <a:spAutoFit/>
          </a:bodyPr>
          <a:lstStyle/>
          <a:p>
            <a:pPr algn="l"/>
            <a:r>
              <a:rPr sz="1150" b="1" i="0">
                <a:solidFill>
                  <a:srgbClr val="059669"/>
                </a:solidFill>
                <a:latin typeface="Aptos Display"/>
              </a:rPr>
              <a:t>ALLOWED WITHOUT ASKING</a:t>
            </a:r>
          </a:p>
        </p:txBody>
      </p:sp>
      <p:sp>
        <p:nvSpPr>
          <p:cNvPr id="11" name="A5AllowList"/>
          <p:cNvSpPr txBox="1"/>
          <p:nvPr/>
        </p:nvSpPr>
        <p:spPr>
          <a:xfrm>
            <a:off x="6345936" y="1645920"/>
            <a:ext cx="5212080" cy="2011680"/>
          </a:xfrm>
          <a:prstGeom prst="rect">
            <a:avLst/>
          </a:prstGeom>
          <a:noFill/>
        </p:spPr>
        <p:txBody>
          <a:bodyPr wrap="square" lIns="0" tIns="0" rIns="0" bIns="0" anchor="t">
            <a:spAutoFit/>
          </a:bodyPr>
          <a:lstStyle/>
          <a:p>
            <a:pPr algn="l"/>
            <a:r>
              <a:rPr sz="1050" b="0" i="0">
                <a:solidFill>
                  <a:srgbClr val="475569"/>
                </a:solidFill>
                <a:latin typeface="Aptos"/>
              </a:rPr>
              <a:t>File operations inside your working directory</a:t>
            </a:r>
          </a:p>
          <a:p>
            <a:pPr algn="l">
              <a:spcBef>
                <a:spcPts val="400"/>
              </a:spcBef>
            </a:pPr>
            <a:r>
              <a:rPr sz="1050" b="0" i="0">
                <a:solidFill>
                  <a:srgbClr val="475569"/>
                </a:solidFill>
                <a:latin typeface="Aptos"/>
              </a:rPr>
              <a:t>Installing dependencies already in your lockfiles</a:t>
            </a:r>
          </a:p>
          <a:p>
            <a:pPr algn="l">
              <a:spcBef>
                <a:spcPts val="400"/>
              </a:spcBef>
            </a:pPr>
            <a:r>
              <a:rPr sz="1050" b="0" i="0">
                <a:solidFill>
                  <a:srgbClr val="475569"/>
                </a:solidFill>
                <a:latin typeface="Aptos"/>
              </a:rPr>
              <a:t>Reading </a:t>
            </a:r>
            <a:r>
              <a:rPr sz="1050" b="0" i="0">
                <a:solidFill>
                  <a:srgbClr val="1A2332"/>
                </a:solidFill>
                <a:latin typeface="Consolas"/>
              </a:rPr>
              <a:t>.env</a:t>
            </a:r>
            <a:r>
              <a:rPr sz="1050" b="0" i="0">
                <a:solidFill>
                  <a:srgbClr val="475569"/>
                </a:solidFill>
                <a:latin typeface="Aptos"/>
              </a:rPr>
              <a:t> and sending those credentials to their matching API</a:t>
            </a:r>
          </a:p>
          <a:p>
            <a:pPr algn="l">
              <a:spcBef>
                <a:spcPts val="400"/>
              </a:spcBef>
            </a:pPr>
            <a:r>
              <a:rPr sz="1050" b="0" i="0">
                <a:solidFill>
                  <a:srgbClr val="475569"/>
                </a:solidFill>
                <a:latin typeface="Aptos"/>
              </a:rPr>
              <a:t>Read-only HTTP requests</a:t>
            </a:r>
          </a:p>
          <a:p>
            <a:pPr algn="l">
              <a:spcBef>
                <a:spcPts val="400"/>
              </a:spcBef>
            </a:pPr>
            <a:r>
              <a:rPr sz="1050" b="0" i="0">
                <a:solidFill>
                  <a:srgbClr val="475569"/>
                </a:solidFill>
                <a:latin typeface="Aptos"/>
              </a:rPr>
              <a:t>Deleting the exact jobs Claude created earlier in the session</a:t>
            </a:r>
          </a:p>
          <a:p>
            <a:pPr algn="l">
              <a:spcBef>
                <a:spcPts val="400"/>
              </a:spcBef>
            </a:pPr>
            <a:r>
              <a:rPr sz="1050" b="0" i="0">
                <a:solidFill>
                  <a:srgbClr val="475569"/>
                </a:solidFill>
                <a:latin typeface="Aptos"/>
              </a:rPr>
              <a:t>Reading and writing security code as part of your task</a:t>
            </a:r>
          </a:p>
          <a:p>
            <a:pPr algn="l">
              <a:spcBef>
                <a:spcPts val="400"/>
              </a:spcBef>
            </a:pPr>
            <a:r>
              <a:rPr sz="1050" b="1" i="0">
                <a:solidFill>
                  <a:srgbClr val="059669"/>
                </a:solidFill>
                <a:latin typeface="Aptos"/>
              </a:rPr>
              <a:t>Pushing to any branch of your own repository — including main</a:t>
            </a:r>
          </a:p>
        </p:txBody>
      </p:sp>
      <p:sp>
        <p:nvSpPr>
          <p:cNvPr id="12" name="A5Note"/>
          <p:cNvSpPr/>
          <p:nvPr/>
        </p:nvSpPr>
        <p:spPr>
          <a:xfrm>
            <a:off x="6345936" y="3749040"/>
            <a:ext cx="5212080" cy="841248"/>
          </a:xfrm>
          <a:prstGeom prst="roundRect">
            <a:avLst>
              <a:gd name="adj" fmla="val 6000"/>
            </a:avLst>
          </a:prstGeom>
          <a:solidFill>
            <a:srgbClr val="FFFFFF"/>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A5NoteTxt"/>
          <p:cNvSpPr txBox="1"/>
          <p:nvPr/>
        </p:nvSpPr>
        <p:spPr>
          <a:xfrm>
            <a:off x="6492240" y="3840480"/>
            <a:ext cx="4919472" cy="694944"/>
          </a:xfrm>
          <a:prstGeom prst="rect">
            <a:avLst/>
          </a:prstGeom>
          <a:noFill/>
        </p:spPr>
        <p:txBody>
          <a:bodyPr wrap="square" lIns="0" tIns="0" rIns="0" bIns="0" anchor="t">
            <a:spAutoFit/>
          </a:bodyPr>
          <a:lstStyle/>
          <a:p>
            <a:pPr algn="l"/>
            <a:r>
              <a:rPr sz="1050" b="1" i="0">
                <a:solidFill>
                  <a:srgbClr val="059669"/>
                </a:solidFill>
                <a:latin typeface="Aptos"/>
              </a:rPr>
              <a:t>Read that last one twice.  </a:t>
            </a:r>
            <a:r>
              <a:rPr sz="1050" b="0" i="0">
                <a:solidFill>
                  <a:srgbClr val="475569"/>
                </a:solidFill>
                <a:latin typeface="Aptos"/>
              </a:rPr>
              <a:t>Pushing to main is not, by itself, an event the classifier flags. A human checkpoint on pushes is a rule you add.</a:t>
            </a:r>
          </a:p>
        </p:txBody>
      </p:sp>
      <p:sp>
        <p:nvSpPr>
          <p:cNvPr id="14" name="A5Back"/>
          <p:cNvSpPr/>
          <p:nvPr/>
        </p:nvSpPr>
        <p:spPr>
          <a:xfrm>
            <a:off x="329184" y="4846320"/>
            <a:ext cx="5614416" cy="786384"/>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A5BackTxt"/>
          <p:cNvSpPr txBox="1"/>
          <p:nvPr/>
        </p:nvSpPr>
        <p:spPr>
          <a:xfrm>
            <a:off x="512064" y="4956048"/>
            <a:ext cx="5303520" cy="585216"/>
          </a:xfrm>
          <a:prstGeom prst="rect">
            <a:avLst/>
          </a:prstGeom>
          <a:noFill/>
        </p:spPr>
        <p:txBody>
          <a:bodyPr wrap="square" lIns="0" tIns="0" rIns="0" bIns="0" anchor="t">
            <a:spAutoFit/>
          </a:bodyPr>
          <a:lstStyle/>
          <a:p>
            <a:pPr algn="l"/>
            <a:r>
              <a:rPr sz="1200" b="1" i="0">
                <a:solidFill>
                  <a:srgbClr val="1A2332"/>
                </a:solidFill>
                <a:latin typeface="Aptos Display"/>
              </a:rPr>
              <a:t>It backs off.  </a:t>
            </a:r>
            <a:r>
              <a:rPr sz="1150" b="0" i="0">
                <a:solidFill>
                  <a:srgbClr val="475569"/>
                </a:solidFill>
                <a:latin typeface="Aptos"/>
              </a:rPr>
              <a:t>Three blocks in a row, or twenty in a session, and auto mode pauses and starts prompting you again. The thresholds are not configurable.</a:t>
            </a:r>
          </a:p>
        </p:txBody>
      </p:sp>
      <p:sp>
        <p:nvSpPr>
          <p:cNvPr id="16" name="A5Cmd"/>
          <p:cNvSpPr/>
          <p:nvPr/>
        </p:nvSpPr>
        <p:spPr>
          <a:xfrm>
            <a:off x="6144768" y="4846320"/>
            <a:ext cx="5614416" cy="786384"/>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A5CmdTxt"/>
          <p:cNvSpPr txBox="1"/>
          <p:nvPr/>
        </p:nvSpPr>
        <p:spPr>
          <a:xfrm>
            <a:off x="6327648" y="4956048"/>
            <a:ext cx="5303520" cy="585216"/>
          </a:xfrm>
          <a:prstGeom prst="rect">
            <a:avLst/>
          </a:prstGeom>
          <a:noFill/>
        </p:spPr>
        <p:txBody>
          <a:bodyPr wrap="square" lIns="0" tIns="0" rIns="0" bIns="0" anchor="t">
            <a:spAutoFit/>
          </a:bodyPr>
          <a:lstStyle/>
          <a:p>
            <a:pPr algn="l"/>
            <a:r>
              <a:rPr sz="1200" b="1" i="0">
                <a:solidFill>
                  <a:srgbClr val="1A2332"/>
                </a:solidFill>
                <a:latin typeface="Aptos Display"/>
              </a:rPr>
              <a:t>See what it blocked.  </a:t>
            </a:r>
            <a:r>
              <a:rPr sz="1150" b="0" i="0">
                <a:solidFill>
                  <a:srgbClr val="475569"/>
                </a:solidFill>
                <a:latin typeface="Aptos"/>
              </a:rPr>
              <a:t>/permissions → Recently denied, then press r to retry. Or run </a:t>
            </a:r>
            <a:r>
              <a:rPr sz="1050" b="0" i="0">
                <a:solidFill>
                  <a:srgbClr val="7C3AED"/>
                </a:solidFill>
                <a:latin typeface="Consolas"/>
              </a:rPr>
              <a:t>claude auto-mode config</a:t>
            </a:r>
            <a:r>
              <a:rPr sz="1150" b="0" i="0">
                <a:solidFill>
                  <a:srgbClr val="475569"/>
                </a:solidFill>
                <a:latin typeface="Aptos"/>
              </a:rPr>
              <a:t>.</a:t>
            </a:r>
          </a:p>
        </p:txBody>
      </p:sp>
      <p:sp>
        <p:nvSpPr>
          <p:cNvPr id="18" name="A5Warn"/>
          <p:cNvSpPr/>
          <p:nvPr/>
        </p:nvSpPr>
        <p:spPr>
          <a:xfrm>
            <a:off x="329184" y="5779008"/>
            <a:ext cx="11430000" cy="640080"/>
          </a:xfrm>
          <a:prstGeom prst="roundRect">
            <a:avLst>
              <a:gd name="adj" fmla="val 6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A5WarnTxt"/>
          <p:cNvSpPr txBox="1"/>
          <p:nvPr/>
        </p:nvSpPr>
        <p:spPr>
          <a:xfrm>
            <a:off x="512064" y="5888736"/>
            <a:ext cx="11064240" cy="420624"/>
          </a:xfrm>
          <a:prstGeom prst="rect">
            <a:avLst/>
          </a:prstGeom>
          <a:noFill/>
        </p:spPr>
        <p:txBody>
          <a:bodyPr wrap="square" lIns="0" tIns="0" rIns="0" bIns="0" anchor="t">
            <a:spAutoFit/>
          </a:bodyPr>
          <a:lstStyle/>
          <a:p>
            <a:pPr algn="l"/>
            <a:r>
              <a:rPr sz="1250" b="1" i="0">
                <a:solidFill>
                  <a:srgbClr val="D4622B"/>
                </a:solidFill>
                <a:latin typeface="Aptos Display"/>
              </a:rPr>
              <a:t>Anthropic's own words:  </a:t>
            </a:r>
            <a:r>
              <a:rPr sz="1250" b="0" i="1">
                <a:solidFill>
                  <a:srgbClr val="E2E8F0"/>
                </a:solidFill>
                <a:latin typeface="Aptos"/>
              </a:rPr>
              <a:t>“Auto mode reduces permission prompts but does not guarantee safety. Use it for tasks where you trust the general direction, not as a replacement for review on sensitive operations.”</a:t>
            </a:r>
          </a:p>
        </p:txBody>
      </p:sp>
      <p:sp>
        <p:nvSpPr>
          <p:cNvPr id="20"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21" name="PageNum"/>
          <p:cNvSpPr txBox="1"/>
          <p:nvPr/>
        </p:nvSpPr>
        <p:spPr>
          <a:xfrm>
            <a:off x="10058400" y="6647688"/>
            <a:ext cx="1463040" cy="201168"/>
          </a:xfrm>
          <a:prstGeom prst="rect">
            <a:avLst/>
          </a:prstGeom>
          <a:noFill/>
        </p:spPr>
        <p:txBody>
          <a:bodyPr wrap="square" lIns="0" tIns="0" rIns="0" bIns="0" anchor="t">
            <a:spAutoFit/>
          </a:bodyPr>
          <a:lstStyle/>
          <a:p>
            <a:r>
              <a:t>11 / 52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Context management is a safety control</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The window is a budget. It also holds every boundary you stated in conversation.</a:t>
            </a:r>
          </a:p>
        </p:txBody>
      </p:sp>
      <p:sp>
        <p:nvSpPr>
          <p:cNvPr id="4" name="C6TrapLabel"/>
          <p:cNvSpPr txBox="1"/>
          <p:nvPr/>
        </p:nvSpPr>
        <p:spPr>
          <a:xfrm>
            <a:off x="329184" y="1097280"/>
            <a:ext cx="5669280" cy="237744"/>
          </a:xfrm>
          <a:prstGeom prst="rect">
            <a:avLst/>
          </a:prstGeom>
          <a:noFill/>
        </p:spPr>
        <p:txBody>
          <a:bodyPr wrap="square" lIns="0" tIns="0" rIns="0" bIns="0" anchor="t">
            <a:spAutoFit/>
          </a:bodyPr>
          <a:lstStyle/>
          <a:p>
            <a:pPr algn="l"/>
            <a:r>
              <a:rPr sz="950" b="1" i="0">
                <a:solidFill>
                  <a:srgbClr val="64748B"/>
                </a:solidFill>
                <a:latin typeface="Aptos"/>
              </a:rPr>
              <a:t>HOW A BOUNDARY DISAPPEARS</a:t>
            </a:r>
          </a:p>
        </p:txBody>
      </p:sp>
      <p:sp>
        <p:nvSpPr>
          <p:cNvPr id="5" name="C6Trap0"/>
          <p:cNvSpPr/>
          <p:nvPr/>
        </p:nvSpPr>
        <p:spPr>
          <a:xfrm>
            <a:off x="329184" y="1371600"/>
            <a:ext cx="5669280" cy="56692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C6TrapTick0"/>
          <p:cNvSpPr/>
          <p:nvPr/>
        </p:nvSpPr>
        <p:spPr>
          <a:xfrm>
            <a:off x="329184" y="1371600"/>
            <a:ext cx="54864" cy="566928"/>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6Who0"/>
          <p:cNvSpPr txBox="1"/>
          <p:nvPr/>
        </p:nvSpPr>
        <p:spPr>
          <a:xfrm>
            <a:off x="512064" y="1453896"/>
            <a:ext cx="731520" cy="237744"/>
          </a:xfrm>
          <a:prstGeom prst="rect">
            <a:avLst/>
          </a:prstGeom>
          <a:noFill/>
        </p:spPr>
        <p:txBody>
          <a:bodyPr wrap="square" lIns="0" tIns="0" rIns="0" bIns="0" anchor="t">
            <a:spAutoFit/>
          </a:bodyPr>
          <a:lstStyle/>
          <a:p>
            <a:pPr algn="l"/>
            <a:r>
              <a:rPr sz="1000" b="1" i="0">
                <a:solidFill>
                  <a:srgbClr val="1565C0"/>
                </a:solidFill>
                <a:latin typeface="Aptos Display"/>
              </a:rPr>
              <a:t>You</a:t>
            </a:r>
          </a:p>
        </p:txBody>
      </p:sp>
      <p:sp>
        <p:nvSpPr>
          <p:cNvPr id="8" name="C6Line0"/>
          <p:cNvSpPr txBox="1"/>
          <p:nvPr/>
        </p:nvSpPr>
        <p:spPr>
          <a:xfrm>
            <a:off x="1243584" y="1527048"/>
            <a:ext cx="4590288" cy="365760"/>
          </a:xfrm>
          <a:prstGeom prst="rect">
            <a:avLst/>
          </a:prstGeom>
          <a:noFill/>
        </p:spPr>
        <p:txBody>
          <a:bodyPr wrap="square" lIns="0" tIns="0" rIns="0" bIns="0" anchor="t">
            <a:spAutoFit/>
          </a:bodyPr>
          <a:lstStyle/>
          <a:p>
            <a:pPr algn="l"/>
            <a:r>
              <a:rPr sz="1050" b="0" i="0">
                <a:solidFill>
                  <a:srgbClr val="475569"/>
                </a:solidFill>
                <a:latin typeface="Consolas"/>
              </a:rPr>
              <a:t>Work through the migration. Don't push anything until I review it.</a:t>
            </a:r>
          </a:p>
        </p:txBody>
      </p:sp>
      <p:sp>
        <p:nvSpPr>
          <p:cNvPr id="9" name="C6Trap1"/>
          <p:cNvSpPr/>
          <p:nvPr/>
        </p:nvSpPr>
        <p:spPr>
          <a:xfrm>
            <a:off x="329184" y="2048256"/>
            <a:ext cx="5669280" cy="56692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6TrapTick1"/>
          <p:cNvSpPr/>
          <p:nvPr/>
        </p:nvSpPr>
        <p:spPr>
          <a:xfrm>
            <a:off x="329184" y="2048256"/>
            <a:ext cx="54864" cy="566928"/>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6Who1"/>
          <p:cNvSpPr txBox="1"/>
          <p:nvPr/>
        </p:nvSpPr>
        <p:spPr>
          <a:xfrm>
            <a:off x="512064" y="2130552"/>
            <a:ext cx="731520" cy="237744"/>
          </a:xfrm>
          <a:prstGeom prst="rect">
            <a:avLst/>
          </a:prstGeom>
          <a:noFill/>
        </p:spPr>
        <p:txBody>
          <a:bodyPr wrap="square" lIns="0" tIns="0" rIns="0" bIns="0" anchor="t">
            <a:spAutoFit/>
          </a:bodyPr>
          <a:lstStyle/>
          <a:p>
            <a:pPr algn="l"/>
            <a:r>
              <a:rPr sz="1000" b="1" i="0">
                <a:solidFill>
                  <a:srgbClr val="64748B"/>
                </a:solidFill>
                <a:latin typeface="Aptos Display"/>
              </a:rPr>
              <a:t>Claude</a:t>
            </a:r>
          </a:p>
        </p:txBody>
      </p:sp>
      <p:sp>
        <p:nvSpPr>
          <p:cNvPr id="12" name="C6Line1"/>
          <p:cNvSpPr txBox="1"/>
          <p:nvPr/>
        </p:nvSpPr>
        <p:spPr>
          <a:xfrm>
            <a:off x="1243584" y="2203704"/>
            <a:ext cx="4590288" cy="365760"/>
          </a:xfrm>
          <a:prstGeom prst="rect">
            <a:avLst/>
          </a:prstGeom>
          <a:noFill/>
        </p:spPr>
        <p:txBody>
          <a:bodyPr wrap="square" lIns="0" tIns="0" rIns="0" bIns="0" anchor="t">
            <a:spAutoFit/>
          </a:bodyPr>
          <a:lstStyle/>
          <a:p>
            <a:pPr algn="l"/>
            <a:r>
              <a:rPr sz="1050" b="0" i="0">
                <a:solidFill>
                  <a:srgbClr val="475569"/>
                </a:solidFill>
                <a:latin typeface="Aptos"/>
              </a:rPr>
              <a:t>Understood — I'll hold off on pushing.</a:t>
            </a:r>
          </a:p>
        </p:txBody>
      </p:sp>
      <p:sp>
        <p:nvSpPr>
          <p:cNvPr id="13" name="C6Trap2"/>
          <p:cNvSpPr/>
          <p:nvPr/>
        </p:nvSpPr>
        <p:spPr>
          <a:xfrm>
            <a:off x="329184" y="2724912"/>
            <a:ext cx="5669280" cy="56692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6TrapTick2"/>
          <p:cNvSpPr/>
          <p:nvPr/>
        </p:nvSpPr>
        <p:spPr>
          <a:xfrm>
            <a:off x="329184" y="2724912"/>
            <a:ext cx="54864" cy="566928"/>
          </a:xfrm>
          <a:prstGeom prst="rect">
            <a:avLst/>
          </a:prstGeom>
          <a:solidFill>
            <a:srgbClr val="8899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C6Who2"/>
          <p:cNvSpPr txBox="1"/>
          <p:nvPr/>
        </p:nvSpPr>
        <p:spPr>
          <a:xfrm>
            <a:off x="512064" y="2807208"/>
            <a:ext cx="731520" cy="237744"/>
          </a:xfrm>
          <a:prstGeom prst="rect">
            <a:avLst/>
          </a:prstGeom>
          <a:noFill/>
        </p:spPr>
        <p:txBody>
          <a:bodyPr wrap="square" lIns="0" tIns="0" rIns="0" bIns="0" anchor="t">
            <a:spAutoFit/>
          </a:bodyPr>
          <a:lstStyle/>
          <a:p>
            <a:pPr algn="l"/>
            <a:r>
              <a:rPr sz="1000" b="1" i="0">
                <a:solidFill>
                  <a:srgbClr val="8899AA"/>
                </a:solidFill>
                <a:latin typeface="Aptos Display"/>
              </a:rPr>
              <a:t>⋯</a:t>
            </a:r>
          </a:p>
        </p:txBody>
      </p:sp>
      <p:sp>
        <p:nvSpPr>
          <p:cNvPr id="16" name="C6Line2"/>
          <p:cNvSpPr txBox="1"/>
          <p:nvPr/>
        </p:nvSpPr>
        <p:spPr>
          <a:xfrm>
            <a:off x="1243584" y="2880360"/>
            <a:ext cx="4590288" cy="365760"/>
          </a:xfrm>
          <a:prstGeom prst="rect">
            <a:avLst/>
          </a:prstGeom>
          <a:noFill/>
        </p:spPr>
        <p:txBody>
          <a:bodyPr wrap="square" lIns="0" tIns="0" rIns="0" bIns="0" anchor="t">
            <a:spAutoFit/>
          </a:bodyPr>
          <a:lstStyle/>
          <a:p>
            <a:pPr algn="l"/>
            <a:r>
              <a:rPr sz="1050" b="0" i="0">
                <a:solidFill>
                  <a:srgbClr val="8899AA"/>
                </a:solidFill>
                <a:latin typeface="Aptos"/>
              </a:rPr>
              <a:t>forty minutes of work, many file reads, a long test log</a:t>
            </a:r>
          </a:p>
        </p:txBody>
      </p:sp>
      <p:sp>
        <p:nvSpPr>
          <p:cNvPr id="17" name="C6Trap3"/>
          <p:cNvSpPr/>
          <p:nvPr/>
        </p:nvSpPr>
        <p:spPr>
          <a:xfrm>
            <a:off x="329184" y="3401568"/>
            <a:ext cx="5669280" cy="566928"/>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6TrapTick3"/>
          <p:cNvSpPr/>
          <p:nvPr/>
        </p:nvSpPr>
        <p:spPr>
          <a:xfrm>
            <a:off x="329184" y="3401568"/>
            <a:ext cx="54864" cy="566928"/>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6Who3"/>
          <p:cNvSpPr txBox="1"/>
          <p:nvPr/>
        </p:nvSpPr>
        <p:spPr>
          <a:xfrm>
            <a:off x="512064" y="3483864"/>
            <a:ext cx="731520" cy="237744"/>
          </a:xfrm>
          <a:prstGeom prst="rect">
            <a:avLst/>
          </a:prstGeom>
          <a:noFill/>
        </p:spPr>
        <p:txBody>
          <a:bodyPr wrap="square" lIns="0" tIns="0" rIns="0" bIns="0" anchor="t">
            <a:spAutoFit/>
          </a:bodyPr>
          <a:lstStyle/>
          <a:p>
            <a:pPr algn="l"/>
            <a:r>
              <a:rPr sz="1000" b="1" i="0">
                <a:solidFill>
                  <a:srgbClr val="D4622B"/>
                </a:solidFill>
                <a:latin typeface="Aptos Display"/>
              </a:rPr>
              <a:t>You</a:t>
            </a:r>
          </a:p>
        </p:txBody>
      </p:sp>
      <p:sp>
        <p:nvSpPr>
          <p:cNvPr id="20" name="C6Line3"/>
          <p:cNvSpPr txBox="1"/>
          <p:nvPr/>
        </p:nvSpPr>
        <p:spPr>
          <a:xfrm>
            <a:off x="1243584" y="3557016"/>
            <a:ext cx="4590288" cy="365760"/>
          </a:xfrm>
          <a:prstGeom prst="rect">
            <a:avLst/>
          </a:prstGeom>
          <a:noFill/>
        </p:spPr>
        <p:txBody>
          <a:bodyPr wrap="square" lIns="0" tIns="0" rIns="0" bIns="0" anchor="t">
            <a:spAutoFit/>
          </a:bodyPr>
          <a:lstStyle/>
          <a:p>
            <a:pPr algn="l"/>
            <a:r>
              <a:rPr sz="1050" b="0" i="0">
                <a:solidFill>
                  <a:srgbClr val="475569"/>
                </a:solidFill>
                <a:latin typeface="Consolas"/>
              </a:rPr>
              <a:t>/compact</a:t>
            </a:r>
          </a:p>
        </p:txBody>
      </p:sp>
      <p:sp>
        <p:nvSpPr>
          <p:cNvPr id="21" name="C6Trap4"/>
          <p:cNvSpPr/>
          <p:nvPr/>
        </p:nvSpPr>
        <p:spPr>
          <a:xfrm>
            <a:off x="329184" y="4078224"/>
            <a:ext cx="5669280" cy="566928"/>
          </a:xfrm>
          <a:prstGeom prst="roundRect">
            <a:avLst>
              <a:gd name="adj" fmla="val 5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6TrapTick4"/>
          <p:cNvSpPr/>
          <p:nvPr/>
        </p:nvSpPr>
        <p:spPr>
          <a:xfrm>
            <a:off x="329184" y="4078224"/>
            <a:ext cx="54864" cy="5669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6Who4"/>
          <p:cNvSpPr txBox="1"/>
          <p:nvPr/>
        </p:nvSpPr>
        <p:spPr>
          <a:xfrm>
            <a:off x="512064" y="4160520"/>
            <a:ext cx="731520" cy="237744"/>
          </a:xfrm>
          <a:prstGeom prst="rect">
            <a:avLst/>
          </a:prstGeom>
          <a:noFill/>
        </p:spPr>
        <p:txBody>
          <a:bodyPr wrap="square" lIns="0" tIns="0" rIns="0" bIns="0" anchor="t">
            <a:spAutoFit/>
          </a:bodyPr>
          <a:lstStyle/>
          <a:p>
            <a:pPr algn="l"/>
            <a:r>
              <a:rPr sz="1000" b="1" i="0">
                <a:solidFill>
                  <a:srgbClr val="DC2626"/>
                </a:solidFill>
                <a:latin typeface="Aptos Display"/>
              </a:rPr>
              <a:t>Claude</a:t>
            </a:r>
          </a:p>
        </p:txBody>
      </p:sp>
      <p:sp>
        <p:nvSpPr>
          <p:cNvPr id="24" name="C6Line4"/>
          <p:cNvSpPr txBox="1"/>
          <p:nvPr/>
        </p:nvSpPr>
        <p:spPr>
          <a:xfrm>
            <a:off x="1243584" y="4233672"/>
            <a:ext cx="4590288" cy="365760"/>
          </a:xfrm>
          <a:prstGeom prst="rect">
            <a:avLst/>
          </a:prstGeom>
          <a:noFill/>
        </p:spPr>
        <p:txBody>
          <a:bodyPr wrap="square" lIns="0" tIns="0" rIns="0" bIns="0" anchor="t">
            <a:spAutoFit/>
          </a:bodyPr>
          <a:lstStyle/>
          <a:p>
            <a:pPr algn="l"/>
            <a:r>
              <a:rPr sz="1050" b="0" i="0">
                <a:solidFill>
                  <a:srgbClr val="475569"/>
                </a:solidFill>
                <a:latin typeface="Aptos"/>
              </a:rPr>
              <a:t>[ finishes the work, then pushes ]</a:t>
            </a:r>
          </a:p>
        </p:txBody>
      </p:sp>
      <p:sp>
        <p:nvSpPr>
          <p:cNvPr id="25" name="C6Rule"/>
          <p:cNvSpPr/>
          <p:nvPr/>
        </p:nvSpPr>
        <p:spPr>
          <a:xfrm>
            <a:off x="329184" y="4791456"/>
            <a:ext cx="5669280" cy="1024128"/>
          </a:xfrm>
          <a:prstGeom prst="roundRect">
            <a:avLst>
              <a:gd name="adj" fmla="val 6000"/>
            </a:avLst>
          </a:prstGeom>
          <a:solidFill>
            <a:srgbClr val="F5F3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6RuleTxt"/>
          <p:cNvSpPr txBox="1"/>
          <p:nvPr/>
        </p:nvSpPr>
        <p:spPr>
          <a:xfrm>
            <a:off x="512064" y="4937760"/>
            <a:ext cx="5303520" cy="804672"/>
          </a:xfrm>
          <a:prstGeom prst="rect">
            <a:avLst/>
          </a:prstGeom>
          <a:noFill/>
        </p:spPr>
        <p:txBody>
          <a:bodyPr wrap="square" lIns="0" tIns="0" rIns="0" bIns="0" anchor="t">
            <a:spAutoFit/>
          </a:bodyPr>
          <a:lstStyle/>
          <a:p>
            <a:pPr algn="l"/>
            <a:r>
              <a:rPr sz="1200" b="1" i="0">
                <a:solidFill>
                  <a:srgbClr val="7C3AED"/>
                </a:solidFill>
                <a:latin typeface="Aptos Display"/>
              </a:rPr>
              <a:t>Nobody did anything wrong.  </a:t>
            </a:r>
            <a:r>
              <a:rPr sz="1150" b="0" i="0">
                <a:solidFill>
                  <a:srgbClr val="475569"/>
                </a:solidFill>
                <a:latin typeface="Aptos"/>
              </a:rPr>
              <a:t>The boundary did not expire and was not overridden — the /compact removed the message holding it. The classifier re-reads boundaries from the transcript on every check, so it never saw one.</a:t>
            </a:r>
          </a:p>
        </p:txBody>
      </p:sp>
      <p:sp>
        <p:nvSpPr>
          <p:cNvPr id="27" name="C6CmdLabel"/>
          <p:cNvSpPr txBox="1"/>
          <p:nvPr/>
        </p:nvSpPr>
        <p:spPr>
          <a:xfrm>
            <a:off x="6144768" y="1097280"/>
            <a:ext cx="5669280" cy="237744"/>
          </a:xfrm>
          <a:prstGeom prst="rect">
            <a:avLst/>
          </a:prstGeom>
          <a:noFill/>
        </p:spPr>
        <p:txBody>
          <a:bodyPr wrap="square" lIns="0" tIns="0" rIns="0" bIns="0" anchor="t">
            <a:spAutoFit/>
          </a:bodyPr>
          <a:lstStyle/>
          <a:p>
            <a:pPr algn="l"/>
            <a:r>
              <a:rPr sz="950" b="1" i="0">
                <a:solidFill>
                  <a:srgbClr val="64748B"/>
                </a:solidFill>
                <a:latin typeface="Aptos"/>
              </a:rPr>
              <a:t>THE COMMANDS</a:t>
            </a:r>
          </a:p>
        </p:txBody>
      </p:sp>
      <p:sp>
        <p:nvSpPr>
          <p:cNvPr id="28" name="C6Cmd0"/>
          <p:cNvSpPr/>
          <p:nvPr/>
        </p:nvSpPr>
        <p:spPr>
          <a:xfrm>
            <a:off x="6144768" y="1371600"/>
            <a:ext cx="56692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6CmdN0"/>
          <p:cNvSpPr txBox="1"/>
          <p:nvPr/>
        </p:nvSpPr>
        <p:spPr>
          <a:xfrm>
            <a:off x="6309360" y="1508760"/>
            <a:ext cx="2286000" cy="237744"/>
          </a:xfrm>
          <a:prstGeom prst="rect">
            <a:avLst/>
          </a:prstGeom>
          <a:noFill/>
        </p:spPr>
        <p:txBody>
          <a:bodyPr wrap="square" lIns="0" tIns="0" rIns="0" bIns="0" anchor="t">
            <a:spAutoFit/>
          </a:bodyPr>
          <a:lstStyle/>
          <a:p>
            <a:pPr algn="l"/>
            <a:r>
              <a:rPr sz="1050" b="1" i="0">
                <a:solidFill>
                  <a:srgbClr val="1565C0"/>
                </a:solidFill>
                <a:latin typeface="Consolas"/>
              </a:rPr>
              <a:t>/context</a:t>
            </a:r>
          </a:p>
        </p:txBody>
      </p:sp>
      <p:sp>
        <p:nvSpPr>
          <p:cNvPr id="30" name="C6CmdD0"/>
          <p:cNvSpPr txBox="1"/>
          <p:nvPr/>
        </p:nvSpPr>
        <p:spPr>
          <a:xfrm>
            <a:off x="8650224" y="1517904"/>
            <a:ext cx="3017520" cy="237744"/>
          </a:xfrm>
          <a:prstGeom prst="rect">
            <a:avLst/>
          </a:prstGeom>
          <a:noFill/>
        </p:spPr>
        <p:txBody>
          <a:bodyPr wrap="square" lIns="0" tIns="0" rIns="0" bIns="0" anchor="t">
            <a:spAutoFit/>
          </a:bodyPr>
          <a:lstStyle/>
          <a:p>
            <a:pPr algn="l"/>
            <a:r>
              <a:rPr sz="1050" b="0" i="0">
                <a:solidFill>
                  <a:srgbClr val="475569"/>
                </a:solidFill>
                <a:latin typeface="Aptos"/>
              </a:rPr>
              <a:t>What is loaded, and what it costs you</a:t>
            </a:r>
          </a:p>
        </p:txBody>
      </p:sp>
      <p:sp>
        <p:nvSpPr>
          <p:cNvPr id="31" name="C6Cmd1"/>
          <p:cNvSpPr/>
          <p:nvPr/>
        </p:nvSpPr>
        <p:spPr>
          <a:xfrm>
            <a:off x="6144768" y="1956816"/>
            <a:ext cx="5669280" cy="493776"/>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C6CmdN1"/>
          <p:cNvSpPr txBox="1"/>
          <p:nvPr/>
        </p:nvSpPr>
        <p:spPr>
          <a:xfrm>
            <a:off x="6309360" y="2093976"/>
            <a:ext cx="2286000" cy="237744"/>
          </a:xfrm>
          <a:prstGeom prst="rect">
            <a:avLst/>
          </a:prstGeom>
          <a:noFill/>
        </p:spPr>
        <p:txBody>
          <a:bodyPr wrap="square" lIns="0" tIns="0" rIns="0" bIns="0" anchor="t">
            <a:spAutoFit/>
          </a:bodyPr>
          <a:lstStyle/>
          <a:p>
            <a:pPr algn="l"/>
            <a:r>
              <a:rPr sz="1050" b="1" i="0">
                <a:solidFill>
                  <a:srgbClr val="7C3AED"/>
                </a:solidFill>
                <a:latin typeface="Consolas"/>
              </a:rPr>
              <a:t>/compact &lt;what to keep&gt;</a:t>
            </a:r>
          </a:p>
        </p:txBody>
      </p:sp>
      <p:sp>
        <p:nvSpPr>
          <p:cNvPr id="33" name="C6CmdD1"/>
          <p:cNvSpPr txBox="1"/>
          <p:nvPr/>
        </p:nvSpPr>
        <p:spPr>
          <a:xfrm>
            <a:off x="8650224" y="2103120"/>
            <a:ext cx="3017520" cy="237744"/>
          </a:xfrm>
          <a:prstGeom prst="rect">
            <a:avLst/>
          </a:prstGeom>
          <a:noFill/>
        </p:spPr>
        <p:txBody>
          <a:bodyPr wrap="square" lIns="0" tIns="0" rIns="0" bIns="0" anchor="t">
            <a:spAutoFit/>
          </a:bodyPr>
          <a:lstStyle/>
          <a:p>
            <a:pPr algn="l"/>
            <a:r>
              <a:rPr sz="1050" b="0" i="0">
                <a:solidFill>
                  <a:srgbClr val="475569"/>
                </a:solidFill>
                <a:latin typeface="Aptos"/>
              </a:rPr>
              <a:t>Trim history — always say what matters</a:t>
            </a:r>
          </a:p>
        </p:txBody>
      </p:sp>
      <p:sp>
        <p:nvSpPr>
          <p:cNvPr id="34" name="C6Cmd2"/>
          <p:cNvSpPr/>
          <p:nvPr/>
        </p:nvSpPr>
        <p:spPr>
          <a:xfrm>
            <a:off x="6144768" y="2542032"/>
            <a:ext cx="56692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C6CmdN2"/>
          <p:cNvSpPr txBox="1"/>
          <p:nvPr/>
        </p:nvSpPr>
        <p:spPr>
          <a:xfrm>
            <a:off x="6309360" y="2679192"/>
            <a:ext cx="2286000" cy="237744"/>
          </a:xfrm>
          <a:prstGeom prst="rect">
            <a:avLst/>
          </a:prstGeom>
          <a:noFill/>
        </p:spPr>
        <p:txBody>
          <a:bodyPr wrap="square" lIns="0" tIns="0" rIns="0" bIns="0" anchor="t">
            <a:spAutoFit/>
          </a:bodyPr>
          <a:lstStyle/>
          <a:p>
            <a:pPr algn="l"/>
            <a:r>
              <a:rPr sz="1050" b="1" i="0">
                <a:solidFill>
                  <a:srgbClr val="7C3AED"/>
                </a:solidFill>
                <a:latin typeface="Consolas"/>
              </a:rPr>
              <a:t>/clear</a:t>
            </a:r>
          </a:p>
        </p:txBody>
      </p:sp>
      <p:sp>
        <p:nvSpPr>
          <p:cNvPr id="36" name="C6CmdD2"/>
          <p:cNvSpPr txBox="1"/>
          <p:nvPr/>
        </p:nvSpPr>
        <p:spPr>
          <a:xfrm>
            <a:off x="8650224" y="2688336"/>
            <a:ext cx="3017520" cy="237744"/>
          </a:xfrm>
          <a:prstGeom prst="rect">
            <a:avLst/>
          </a:prstGeom>
          <a:noFill/>
        </p:spPr>
        <p:txBody>
          <a:bodyPr wrap="square" lIns="0" tIns="0" rIns="0" bIns="0" anchor="t">
            <a:spAutoFit/>
          </a:bodyPr>
          <a:lstStyle/>
          <a:p>
            <a:pPr algn="l"/>
            <a:r>
              <a:rPr sz="1050" b="0" i="0">
                <a:solidFill>
                  <a:srgbClr val="475569"/>
                </a:solidFill>
                <a:latin typeface="Aptos"/>
              </a:rPr>
              <a:t>Reset for a genuinely different task</a:t>
            </a:r>
          </a:p>
        </p:txBody>
      </p:sp>
      <p:sp>
        <p:nvSpPr>
          <p:cNvPr id="37" name="C6Cmd3"/>
          <p:cNvSpPr/>
          <p:nvPr/>
        </p:nvSpPr>
        <p:spPr>
          <a:xfrm>
            <a:off x="6144768" y="3127248"/>
            <a:ext cx="5669280" cy="493776"/>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C6CmdN3"/>
          <p:cNvSpPr txBox="1"/>
          <p:nvPr/>
        </p:nvSpPr>
        <p:spPr>
          <a:xfrm>
            <a:off x="6309360" y="3264408"/>
            <a:ext cx="2286000" cy="237744"/>
          </a:xfrm>
          <a:prstGeom prst="rect">
            <a:avLst/>
          </a:prstGeom>
          <a:noFill/>
        </p:spPr>
        <p:txBody>
          <a:bodyPr wrap="square" lIns="0" tIns="0" rIns="0" bIns="0" anchor="t">
            <a:spAutoFit/>
          </a:bodyPr>
          <a:lstStyle/>
          <a:p>
            <a:pPr algn="l"/>
            <a:r>
              <a:rPr sz="1050" b="1" i="0">
                <a:solidFill>
                  <a:srgbClr val="D4622B"/>
                </a:solidFill>
                <a:latin typeface="Consolas"/>
              </a:rPr>
              <a:t>/rewind</a:t>
            </a:r>
          </a:p>
        </p:txBody>
      </p:sp>
      <p:sp>
        <p:nvSpPr>
          <p:cNvPr id="39" name="C6CmdD3"/>
          <p:cNvSpPr txBox="1"/>
          <p:nvPr/>
        </p:nvSpPr>
        <p:spPr>
          <a:xfrm>
            <a:off x="8650224" y="3273552"/>
            <a:ext cx="3017520" cy="237744"/>
          </a:xfrm>
          <a:prstGeom prst="rect">
            <a:avLst/>
          </a:prstGeom>
          <a:noFill/>
        </p:spPr>
        <p:txBody>
          <a:bodyPr wrap="square" lIns="0" tIns="0" rIns="0" bIns="0" anchor="t">
            <a:spAutoFit/>
          </a:bodyPr>
          <a:lstStyle/>
          <a:p>
            <a:pPr algn="l"/>
            <a:r>
              <a:rPr sz="1050" b="0" i="0">
                <a:solidFill>
                  <a:srgbClr val="475569"/>
                </a:solidFill>
                <a:latin typeface="Aptos"/>
              </a:rPr>
              <a:t>Undo a wrong path instead of patching it</a:t>
            </a:r>
          </a:p>
        </p:txBody>
      </p:sp>
      <p:sp>
        <p:nvSpPr>
          <p:cNvPr id="40" name="C6Cmd4"/>
          <p:cNvSpPr/>
          <p:nvPr/>
        </p:nvSpPr>
        <p:spPr>
          <a:xfrm>
            <a:off x="6144768" y="3712464"/>
            <a:ext cx="56692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C6CmdN4"/>
          <p:cNvSpPr txBox="1"/>
          <p:nvPr/>
        </p:nvSpPr>
        <p:spPr>
          <a:xfrm>
            <a:off x="6309360" y="3849624"/>
            <a:ext cx="2286000" cy="237744"/>
          </a:xfrm>
          <a:prstGeom prst="rect">
            <a:avLst/>
          </a:prstGeom>
          <a:noFill/>
        </p:spPr>
        <p:txBody>
          <a:bodyPr wrap="square" lIns="0" tIns="0" rIns="0" bIns="0" anchor="t">
            <a:spAutoFit/>
          </a:bodyPr>
          <a:lstStyle/>
          <a:p>
            <a:pPr algn="l"/>
            <a:r>
              <a:rPr sz="1050" b="1" i="0">
                <a:solidFill>
                  <a:srgbClr val="059669"/>
                </a:solidFill>
                <a:latin typeface="Consolas"/>
              </a:rPr>
              <a:t>/mcp</a:t>
            </a:r>
          </a:p>
        </p:txBody>
      </p:sp>
      <p:sp>
        <p:nvSpPr>
          <p:cNvPr id="42" name="C6CmdD4"/>
          <p:cNvSpPr txBox="1"/>
          <p:nvPr/>
        </p:nvSpPr>
        <p:spPr>
          <a:xfrm>
            <a:off x="8650224" y="3858768"/>
            <a:ext cx="3017520" cy="237744"/>
          </a:xfrm>
          <a:prstGeom prst="rect">
            <a:avLst/>
          </a:prstGeom>
          <a:noFill/>
        </p:spPr>
        <p:txBody>
          <a:bodyPr wrap="square" lIns="0" tIns="0" rIns="0" bIns="0" anchor="t">
            <a:spAutoFit/>
          </a:bodyPr>
          <a:lstStyle/>
          <a:p>
            <a:pPr algn="l"/>
            <a:r>
              <a:rPr sz="1050" b="0" i="0">
                <a:solidFill>
                  <a:srgbClr val="475569"/>
                </a:solidFill>
                <a:latin typeface="Aptos"/>
              </a:rPr>
              <a:t>Disconnect servers this task will never call</a:t>
            </a:r>
          </a:p>
        </p:txBody>
      </p:sp>
      <p:sp>
        <p:nvSpPr>
          <p:cNvPr id="43" name="C6Cmd5"/>
          <p:cNvSpPr/>
          <p:nvPr/>
        </p:nvSpPr>
        <p:spPr>
          <a:xfrm>
            <a:off x="6144768" y="4297680"/>
            <a:ext cx="5669280" cy="493776"/>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C6CmdN5"/>
          <p:cNvSpPr txBox="1"/>
          <p:nvPr/>
        </p:nvSpPr>
        <p:spPr>
          <a:xfrm>
            <a:off x="6309360" y="4434840"/>
            <a:ext cx="2286000" cy="237744"/>
          </a:xfrm>
          <a:prstGeom prst="rect">
            <a:avLst/>
          </a:prstGeom>
          <a:noFill/>
        </p:spPr>
        <p:txBody>
          <a:bodyPr wrap="square" lIns="0" tIns="0" rIns="0" bIns="0" anchor="t">
            <a:spAutoFit/>
          </a:bodyPr>
          <a:lstStyle/>
          <a:p>
            <a:pPr algn="l"/>
            <a:r>
              <a:rPr sz="1050" b="1" i="0">
                <a:solidFill>
                  <a:srgbClr val="059669"/>
                </a:solidFill>
                <a:latin typeface="Consolas"/>
              </a:rPr>
              <a:t>/effort</a:t>
            </a:r>
          </a:p>
        </p:txBody>
      </p:sp>
      <p:sp>
        <p:nvSpPr>
          <p:cNvPr id="45" name="C6CmdD5"/>
          <p:cNvSpPr txBox="1"/>
          <p:nvPr/>
        </p:nvSpPr>
        <p:spPr>
          <a:xfrm>
            <a:off x="8650224" y="4443984"/>
            <a:ext cx="3017520" cy="237744"/>
          </a:xfrm>
          <a:prstGeom prst="rect">
            <a:avLst/>
          </a:prstGeom>
          <a:noFill/>
        </p:spPr>
        <p:txBody>
          <a:bodyPr wrap="square" lIns="0" tIns="0" rIns="0" bIns="0" anchor="t">
            <a:spAutoFit/>
          </a:bodyPr>
          <a:lstStyle/>
          <a:p>
            <a:pPr algn="l"/>
            <a:r>
              <a:rPr sz="1050" b="0" i="0">
                <a:solidFill>
                  <a:srgbClr val="475569"/>
                </a:solidFill>
                <a:latin typeface="Aptos"/>
              </a:rPr>
              <a:t>Match depth to task, before switching models</a:t>
            </a:r>
          </a:p>
        </p:txBody>
      </p:sp>
      <p:sp>
        <p:nvSpPr>
          <p:cNvPr id="46" name="C6Habits"/>
          <p:cNvSpPr/>
          <p:nvPr/>
        </p:nvSpPr>
        <p:spPr>
          <a:xfrm>
            <a:off x="6144768" y="4937760"/>
            <a:ext cx="5669280" cy="877824"/>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C6HabitsTxt"/>
          <p:cNvSpPr txBox="1"/>
          <p:nvPr/>
        </p:nvSpPr>
        <p:spPr>
          <a:xfrm>
            <a:off x="6327648" y="5065776"/>
            <a:ext cx="5303520" cy="658368"/>
          </a:xfrm>
          <a:prstGeom prst="rect">
            <a:avLst/>
          </a:prstGeom>
          <a:noFill/>
        </p:spPr>
        <p:txBody>
          <a:bodyPr wrap="square" lIns="0" tIns="0" rIns="0" bIns="0" anchor="t">
            <a:spAutoFit/>
          </a:bodyPr>
          <a:lstStyle/>
          <a:p>
            <a:pPr algn="l"/>
            <a:r>
              <a:rPr sz="1200" b="1" i="0">
                <a:solidFill>
                  <a:srgbClr val="1A2332"/>
                </a:solidFill>
                <a:latin typeface="Aptos Display"/>
              </a:rPr>
              <a:t>Spend on purpose.  </a:t>
            </a:r>
            <a:r>
              <a:rPr sz="1150" b="0" i="0">
                <a:solidFill>
                  <a:srgbClr val="475569"/>
                </a:solidFill>
                <a:latin typeface="Aptos"/>
              </a:rPr>
              <a:t>Name your files with @refs. Put navigation rules in CLAUDE.md. Push noisy work into subagents. Disconnect idle MCP servers.</a:t>
            </a:r>
          </a:p>
        </p:txBody>
      </p:sp>
      <p:sp>
        <p:nvSpPr>
          <p:cNvPr id="48"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49" name="PageNum"/>
          <p:cNvSpPr txBox="1"/>
          <p:nvPr/>
        </p:nvSpPr>
        <p:spPr>
          <a:xfrm>
            <a:off x="10058400" y="6647688"/>
            <a:ext cx="1463040" cy="201168"/>
          </a:xfrm>
          <a:prstGeom prst="rect">
            <a:avLst/>
          </a:prstGeom>
          <a:noFill/>
        </p:spPr>
        <p:txBody>
          <a:bodyPr wrap="square" lIns="0" tIns="0" rIns="0" bIns="0" anchor="t">
            <a:spAutoFit/>
          </a:bodyPr>
          <a:lstStyle/>
          <a:p>
            <a:r>
              <a:t>12 / 52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A claim is not evidence</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Both sentences take one line. Only one of them can be checked.</a:t>
            </a:r>
          </a:p>
        </p:txBody>
      </p:sp>
      <p:sp>
        <p:nvSpPr>
          <p:cNvPr id="4" name="Q7Claim"/>
          <p:cNvSpPr/>
          <p:nvPr/>
        </p:nvSpPr>
        <p:spPr>
          <a:xfrm>
            <a:off x="329184" y="1097280"/>
            <a:ext cx="5614416" cy="1591056"/>
          </a:xfrm>
          <a:prstGeom prst="roundRect">
            <a:avLst>
              <a:gd name="adj" fmla="val 8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Q7ClaimHead"/>
          <p:cNvSpPr txBox="1"/>
          <p:nvPr/>
        </p:nvSpPr>
        <p:spPr>
          <a:xfrm>
            <a:off x="530352" y="1225296"/>
            <a:ext cx="5212080" cy="256032"/>
          </a:xfrm>
          <a:prstGeom prst="rect">
            <a:avLst/>
          </a:prstGeom>
          <a:noFill/>
        </p:spPr>
        <p:txBody>
          <a:bodyPr wrap="square" lIns="0" tIns="0" rIns="0" bIns="0" anchor="t">
            <a:spAutoFit/>
          </a:bodyPr>
          <a:lstStyle/>
          <a:p>
            <a:pPr algn="l"/>
            <a:r>
              <a:rPr sz="1000" b="1" i="0">
                <a:solidFill>
                  <a:srgbClr val="DC2626"/>
                </a:solidFill>
                <a:latin typeface="Aptos Display"/>
              </a:rPr>
              <a:t>CLAIM</a:t>
            </a:r>
          </a:p>
        </p:txBody>
      </p:sp>
      <p:sp>
        <p:nvSpPr>
          <p:cNvPr id="6" name="Q7ClaimTxt"/>
          <p:cNvSpPr txBox="1"/>
          <p:nvPr/>
        </p:nvSpPr>
        <p:spPr>
          <a:xfrm>
            <a:off x="530352" y="1517904"/>
            <a:ext cx="5212080" cy="457200"/>
          </a:xfrm>
          <a:prstGeom prst="rect">
            <a:avLst/>
          </a:prstGeom>
          <a:noFill/>
        </p:spPr>
        <p:txBody>
          <a:bodyPr wrap="square" lIns="0" tIns="0" rIns="0" bIns="0" anchor="t">
            <a:spAutoFit/>
          </a:bodyPr>
          <a:lstStyle/>
          <a:p>
            <a:pPr algn="l"/>
            <a:r>
              <a:rPr sz="1400" b="1" i="0">
                <a:solidFill>
                  <a:srgbClr val="1A2332"/>
                </a:solidFill>
                <a:latin typeface="Aptos"/>
              </a:rPr>
              <a:t>“I've fixed the bug and the tests pass.”</a:t>
            </a:r>
          </a:p>
        </p:txBody>
      </p:sp>
      <p:sp>
        <p:nvSpPr>
          <p:cNvPr id="7" name="Q7ClaimSub"/>
          <p:cNvSpPr txBox="1"/>
          <p:nvPr/>
        </p:nvSpPr>
        <p:spPr>
          <a:xfrm>
            <a:off x="530352" y="2194560"/>
            <a:ext cx="5212080" cy="384048"/>
          </a:xfrm>
          <a:prstGeom prst="rect">
            <a:avLst/>
          </a:prstGeom>
          <a:noFill/>
        </p:spPr>
        <p:txBody>
          <a:bodyPr wrap="square" lIns="0" tIns="0" rIns="0" bIns="0" anchor="t">
            <a:spAutoFit/>
          </a:bodyPr>
          <a:lstStyle/>
          <a:p>
            <a:pPr algn="l"/>
            <a:r>
              <a:rPr sz="1100" b="0" i="0">
                <a:solidFill>
                  <a:srgbClr val="475569"/>
                </a:solidFill>
                <a:latin typeface="Aptos"/>
              </a:rPr>
              <a:t>It might be true. There is no way to tell from here.</a:t>
            </a:r>
          </a:p>
        </p:txBody>
      </p:sp>
      <p:sp>
        <p:nvSpPr>
          <p:cNvPr id="8" name="Q7Ev"/>
          <p:cNvSpPr/>
          <p:nvPr/>
        </p:nvSpPr>
        <p:spPr>
          <a:xfrm>
            <a:off x="6144768" y="1097280"/>
            <a:ext cx="5614416" cy="1591056"/>
          </a:xfrm>
          <a:prstGeom prst="roundRect">
            <a:avLst>
              <a:gd name="adj" fmla="val 8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Q7EvHead"/>
          <p:cNvSpPr txBox="1"/>
          <p:nvPr/>
        </p:nvSpPr>
        <p:spPr>
          <a:xfrm>
            <a:off x="6345936" y="1225296"/>
            <a:ext cx="5212080" cy="256032"/>
          </a:xfrm>
          <a:prstGeom prst="rect">
            <a:avLst/>
          </a:prstGeom>
          <a:noFill/>
        </p:spPr>
        <p:txBody>
          <a:bodyPr wrap="square" lIns="0" tIns="0" rIns="0" bIns="0" anchor="t">
            <a:spAutoFit/>
          </a:bodyPr>
          <a:lstStyle/>
          <a:p>
            <a:pPr algn="l"/>
            <a:r>
              <a:rPr sz="1000" b="1" i="0">
                <a:solidFill>
                  <a:srgbClr val="059669"/>
                </a:solidFill>
                <a:latin typeface="Aptos Display"/>
              </a:rPr>
              <a:t>EVIDENCE</a:t>
            </a:r>
          </a:p>
        </p:txBody>
      </p:sp>
      <p:sp>
        <p:nvSpPr>
          <p:cNvPr id="10" name="Q7EvTxt"/>
          <p:cNvSpPr txBox="1"/>
          <p:nvPr/>
        </p:nvSpPr>
        <p:spPr>
          <a:xfrm>
            <a:off x="6345936" y="1481328"/>
            <a:ext cx="5212080" cy="512064"/>
          </a:xfrm>
          <a:prstGeom prst="rect">
            <a:avLst/>
          </a:prstGeom>
          <a:noFill/>
        </p:spPr>
        <p:txBody>
          <a:bodyPr wrap="square" lIns="0" tIns="0" rIns="0" bIns="0" anchor="t">
            <a:spAutoFit/>
          </a:bodyPr>
          <a:lstStyle/>
          <a:p>
            <a:pPr algn="l"/>
            <a:r>
              <a:rPr sz="1200" b="0" i="0">
                <a:solidFill>
                  <a:srgbClr val="1A2332"/>
                </a:solidFill>
                <a:latin typeface="Consolas"/>
              </a:rPr>
              <a:t>test_no_duplicates</a:t>
            </a:r>
            <a:r>
              <a:rPr sz="1200" b="0" i="0">
                <a:solidFill>
                  <a:srgbClr val="475569"/>
                </a:solidFill>
                <a:latin typeface="Aptos"/>
              </a:rPr>
              <a:t> — 1 passed. Before the fix: </a:t>
            </a:r>
            <a:r>
              <a:rPr sz="1100" b="0" i="0">
                <a:solidFill>
                  <a:srgbClr val="1A2332"/>
                </a:solidFill>
                <a:latin typeface="Consolas"/>
              </a:rPr>
              <a:t>AssertionError: 3 duplicate ids in page 2</a:t>
            </a:r>
          </a:p>
        </p:txBody>
      </p:sp>
      <p:sp>
        <p:nvSpPr>
          <p:cNvPr id="11" name="Q7EvSub"/>
          <p:cNvSpPr txBox="1"/>
          <p:nvPr/>
        </p:nvSpPr>
        <p:spPr>
          <a:xfrm>
            <a:off x="6345936" y="2194560"/>
            <a:ext cx="5212080" cy="384048"/>
          </a:xfrm>
          <a:prstGeom prst="rect">
            <a:avLst/>
          </a:prstGeom>
          <a:noFill/>
        </p:spPr>
        <p:txBody>
          <a:bodyPr wrap="square" lIns="0" tIns="0" rIns="0" bIns="0" anchor="t">
            <a:spAutoFit/>
          </a:bodyPr>
          <a:lstStyle/>
          <a:p>
            <a:pPr algn="l"/>
            <a:r>
              <a:rPr sz="1100" b="0" i="0">
                <a:solidFill>
                  <a:srgbClr val="475569"/>
                </a:solidFill>
                <a:latin typeface="Aptos"/>
              </a:rPr>
              <a:t>You can check it. That is the whole difference.</a:t>
            </a:r>
          </a:p>
        </p:txBody>
      </p:sp>
      <p:sp>
        <p:nvSpPr>
          <p:cNvPr id="12" name="Q7LoopLabel"/>
          <p:cNvSpPr txBox="1"/>
          <p:nvPr/>
        </p:nvSpPr>
        <p:spPr>
          <a:xfrm>
            <a:off x="329184" y="2871216"/>
            <a:ext cx="5486400" cy="237744"/>
          </a:xfrm>
          <a:prstGeom prst="rect">
            <a:avLst/>
          </a:prstGeom>
          <a:noFill/>
        </p:spPr>
        <p:txBody>
          <a:bodyPr wrap="square" lIns="0" tIns="0" rIns="0" bIns="0" anchor="t">
            <a:spAutoFit/>
          </a:bodyPr>
          <a:lstStyle/>
          <a:p>
            <a:pPr algn="l"/>
            <a:r>
              <a:rPr sz="950" b="1" i="0">
                <a:solidFill>
                  <a:srgbClr val="64748B"/>
                </a:solidFill>
                <a:latin typeface="Aptos"/>
              </a:rPr>
              <a:t>THE VERIFICATION LOOP</a:t>
            </a:r>
          </a:p>
        </p:txBody>
      </p:sp>
      <p:sp>
        <p:nvSpPr>
          <p:cNvPr id="13" name="Q7Chev0"/>
          <p:cNvSpPr/>
          <p:nvPr/>
        </p:nvSpPr>
        <p:spPr>
          <a:xfrm>
            <a:off x="329184" y="3145536"/>
            <a:ext cx="1554480" cy="475488"/>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change</a:t>
            </a:r>
          </a:p>
        </p:txBody>
      </p:sp>
      <p:sp>
        <p:nvSpPr>
          <p:cNvPr id="14" name="Q7Chev1"/>
          <p:cNvSpPr/>
          <p:nvPr/>
        </p:nvSpPr>
        <p:spPr>
          <a:xfrm>
            <a:off x="1755648" y="3145536"/>
            <a:ext cx="1554480" cy="475488"/>
          </a:xfrm>
          <a:prstGeom prst="chevron">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run</a:t>
            </a:r>
          </a:p>
        </p:txBody>
      </p:sp>
      <p:sp>
        <p:nvSpPr>
          <p:cNvPr id="15" name="Q7Chev2"/>
          <p:cNvSpPr/>
          <p:nvPr/>
        </p:nvSpPr>
        <p:spPr>
          <a:xfrm>
            <a:off x="3182112" y="3145536"/>
            <a:ext cx="1554480" cy="475488"/>
          </a:xfrm>
          <a:prstGeom prst="chevron">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read the failure</a:t>
            </a:r>
          </a:p>
        </p:txBody>
      </p:sp>
      <p:sp>
        <p:nvSpPr>
          <p:cNvPr id="16" name="Q7Chev3"/>
          <p:cNvSpPr/>
          <p:nvPr/>
        </p:nvSpPr>
        <p:spPr>
          <a:xfrm>
            <a:off x="4608576" y="3145536"/>
            <a:ext cx="1554480" cy="475488"/>
          </a:xfrm>
          <a:prstGeom prst="chevron">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a:rPr>
              <a:t>change</a:t>
            </a:r>
          </a:p>
        </p:txBody>
      </p:sp>
      <p:sp>
        <p:nvSpPr>
          <p:cNvPr id="17" name="Q7LoopNote"/>
          <p:cNvSpPr txBox="1"/>
          <p:nvPr/>
        </p:nvSpPr>
        <p:spPr>
          <a:xfrm>
            <a:off x="6355080" y="3218688"/>
            <a:ext cx="5440680" cy="402336"/>
          </a:xfrm>
          <a:prstGeom prst="rect">
            <a:avLst/>
          </a:prstGeom>
          <a:noFill/>
        </p:spPr>
        <p:txBody>
          <a:bodyPr wrap="square" lIns="0" tIns="0" rIns="0" bIns="0" anchor="t">
            <a:spAutoFit/>
          </a:bodyPr>
          <a:lstStyle/>
          <a:p>
            <a:pPr algn="l"/>
            <a:r>
              <a:rPr sz="1150" b="1" i="0">
                <a:solidFill>
                  <a:srgbClr val="1A2332"/>
                </a:solidFill>
                <a:latin typeface="Aptos"/>
              </a:rPr>
              <a:t>After any change, something must execute.  </a:t>
            </a:r>
            <a:r>
              <a:rPr sz="1150" b="0" i="0">
                <a:solidFill>
                  <a:srgbClr val="475569"/>
                </a:solidFill>
                <a:latin typeface="Aptos"/>
              </a:rPr>
              <a:t>If nothing ran, nothing was verified.</a:t>
            </a:r>
          </a:p>
        </p:txBody>
      </p:sp>
      <p:sp>
        <p:nvSpPr>
          <p:cNvPr id="18" name="Q7PLabel"/>
          <p:cNvSpPr txBox="1"/>
          <p:nvPr/>
        </p:nvSpPr>
        <p:spPr>
          <a:xfrm>
            <a:off x="329184" y="3913632"/>
            <a:ext cx="5486400" cy="237744"/>
          </a:xfrm>
          <a:prstGeom prst="rect">
            <a:avLst/>
          </a:prstGeom>
          <a:noFill/>
        </p:spPr>
        <p:txBody>
          <a:bodyPr wrap="square" lIns="0" tIns="0" rIns="0" bIns="0" anchor="t">
            <a:spAutoFit/>
          </a:bodyPr>
          <a:lstStyle/>
          <a:p>
            <a:pPr algn="l"/>
            <a:r>
              <a:rPr sz="950" b="1" i="0">
                <a:solidFill>
                  <a:srgbClr val="64748B"/>
                </a:solidFill>
                <a:latin typeface="Aptos"/>
              </a:rPr>
              <a:t>ASK FOR THE PROOF IN THE PROMPT</a:t>
            </a:r>
          </a:p>
        </p:txBody>
      </p:sp>
      <p:sp>
        <p:nvSpPr>
          <p:cNvPr id="19" name="Q7Code"/>
          <p:cNvSpPr/>
          <p:nvPr/>
        </p:nvSpPr>
        <p:spPr>
          <a:xfrm>
            <a:off x="329184" y="4187952"/>
            <a:ext cx="5614416" cy="1737360"/>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Q7CodeTxt"/>
          <p:cNvSpPr txBox="1"/>
          <p:nvPr/>
        </p:nvSpPr>
        <p:spPr>
          <a:xfrm>
            <a:off x="512064" y="4334256"/>
            <a:ext cx="5303520" cy="1481328"/>
          </a:xfrm>
          <a:prstGeom prst="rect">
            <a:avLst/>
          </a:prstGeom>
          <a:noFill/>
        </p:spPr>
        <p:txBody>
          <a:bodyPr wrap="square" lIns="0" tIns="0" rIns="0" bIns="0" anchor="t">
            <a:spAutoFit/>
          </a:bodyPr>
          <a:lstStyle/>
          <a:p>
            <a:pPr algn="l"/>
            <a:r>
              <a:rPr sz="1050" b="0" i="0">
                <a:solidFill>
                  <a:srgbClr val="CBD5E1"/>
                </a:solidFill>
                <a:latin typeface="Consolas"/>
              </a:rPr>
              <a:t>Identify the root cause and quote the</a:t>
            </a:r>
          </a:p>
          <a:p>
            <a:pPr algn="l"/>
            <a:r>
              <a:rPr sz="1050" b="0" i="0">
                <a:solidFill>
                  <a:srgbClr val="CBD5E1"/>
                </a:solidFill>
                <a:latin typeface="Consolas"/>
              </a:rPr>
              <a:t>lines responsible.</a:t>
            </a:r>
          </a:p>
          <a:p>
            <a:pPr algn="l"/>
            <a:r>
              <a:rPr sz="1050" b="0" i="0">
                <a:solidFill>
                  <a:srgbClr val="CBD5E1"/>
                </a:solidFill>
                <a:latin typeface="Consolas"/>
              </a:rPr>
              <a:t>Add a test that fails before your fix</a:t>
            </a:r>
          </a:p>
          <a:p>
            <a:pPr algn="l"/>
            <a:r>
              <a:rPr sz="1050" b="0" i="0">
                <a:solidFill>
                  <a:srgbClr val="CBD5E1"/>
                </a:solidFill>
                <a:latin typeface="Consolas"/>
              </a:rPr>
              <a:t>and passes after. Run it and paste the</a:t>
            </a:r>
          </a:p>
          <a:p>
            <a:pPr algn="l"/>
            <a:r>
              <a:rPr sz="1050" b="0" i="0">
                <a:solidFill>
                  <a:srgbClr val="CBD5E1"/>
                </a:solidFill>
                <a:latin typeface="Consolas"/>
              </a:rPr>
              <a:t>output, before and after.</a:t>
            </a:r>
          </a:p>
          <a:p>
            <a:pPr algn="l"/>
            <a:r>
              <a:rPr sz="1050" b="0" i="0">
                <a:solidFill>
                  <a:srgbClr val="CBD5E1"/>
                </a:solidFill>
                <a:latin typeface="Consolas"/>
              </a:rPr>
              <a:t>If you cannot reproduce it, stop and</a:t>
            </a:r>
          </a:p>
          <a:p>
            <a:pPr algn="l"/>
            <a:r>
              <a:rPr sz="1050" b="0" i="0">
                <a:solidFill>
                  <a:srgbClr val="CBD5E1"/>
                </a:solidFill>
                <a:latin typeface="Consolas"/>
              </a:rPr>
              <a:t>tell me — do not guess.</a:t>
            </a:r>
          </a:p>
        </p:txBody>
      </p:sp>
      <p:sp>
        <p:nvSpPr>
          <p:cNvPr id="21" name="Q7HLabel"/>
          <p:cNvSpPr txBox="1"/>
          <p:nvPr/>
        </p:nvSpPr>
        <p:spPr>
          <a:xfrm>
            <a:off x="6144768" y="3913632"/>
            <a:ext cx="5486400" cy="237744"/>
          </a:xfrm>
          <a:prstGeom prst="rect">
            <a:avLst/>
          </a:prstGeom>
          <a:noFill/>
        </p:spPr>
        <p:txBody>
          <a:bodyPr wrap="square" lIns="0" tIns="0" rIns="0" bIns="0" anchor="t">
            <a:spAutoFit/>
          </a:bodyPr>
          <a:lstStyle/>
          <a:p>
            <a:pPr algn="l"/>
            <a:r>
              <a:rPr sz="950" b="1" i="0">
                <a:solidFill>
                  <a:srgbClr val="64748B"/>
                </a:solidFill>
                <a:latin typeface="Aptos"/>
              </a:rPr>
              <a:t>THREE HOOK MISTAKES</a:t>
            </a:r>
          </a:p>
        </p:txBody>
      </p:sp>
      <p:sp>
        <p:nvSpPr>
          <p:cNvPr id="22" name="Q7Hook0"/>
          <p:cNvSpPr/>
          <p:nvPr/>
        </p:nvSpPr>
        <p:spPr>
          <a:xfrm>
            <a:off x="6144768" y="4187952"/>
            <a:ext cx="5614416" cy="53035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Q7HookTick0"/>
          <p:cNvSpPr/>
          <p:nvPr/>
        </p:nvSpPr>
        <p:spPr>
          <a:xfrm>
            <a:off x="6144768" y="4187952"/>
            <a:ext cx="54864" cy="530352"/>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Q7HookN0"/>
          <p:cNvSpPr txBox="1"/>
          <p:nvPr/>
        </p:nvSpPr>
        <p:spPr>
          <a:xfrm>
            <a:off x="6327648" y="4261104"/>
            <a:ext cx="5303520" cy="219456"/>
          </a:xfrm>
          <a:prstGeom prst="rect">
            <a:avLst/>
          </a:prstGeom>
          <a:noFill/>
        </p:spPr>
        <p:txBody>
          <a:bodyPr wrap="square" lIns="0" tIns="0" rIns="0" bIns="0" anchor="t">
            <a:spAutoFit/>
          </a:bodyPr>
          <a:lstStyle/>
          <a:p>
            <a:pPr algn="l"/>
            <a:r>
              <a:rPr sz="1050" b="1" i="0">
                <a:solidFill>
                  <a:srgbClr val="1A2332"/>
                </a:solidFill>
                <a:latin typeface="Aptos Display"/>
              </a:rPr>
              <a:t>The nesting is real</a:t>
            </a:r>
          </a:p>
        </p:txBody>
      </p:sp>
      <p:sp>
        <p:nvSpPr>
          <p:cNvPr id="25" name="Q7HookD0"/>
          <p:cNvSpPr txBox="1"/>
          <p:nvPr/>
        </p:nvSpPr>
        <p:spPr>
          <a:xfrm>
            <a:off x="6327648" y="4471416"/>
            <a:ext cx="5303520" cy="219456"/>
          </a:xfrm>
          <a:prstGeom prst="rect">
            <a:avLst/>
          </a:prstGeom>
          <a:noFill/>
        </p:spPr>
        <p:txBody>
          <a:bodyPr wrap="square" lIns="0" tIns="0" rIns="0" bIns="0" anchor="t">
            <a:spAutoFit/>
          </a:bodyPr>
          <a:lstStyle/>
          <a:p>
            <a:pPr algn="l"/>
            <a:r>
              <a:rPr sz="950" b="0" i="0">
                <a:solidFill>
                  <a:srgbClr val="475569"/>
                </a:solidFill>
                <a:latin typeface="Aptos"/>
              </a:rPr>
              <a:t>Each event holds matcher groups; each group holds its own hooks array.</a:t>
            </a:r>
          </a:p>
        </p:txBody>
      </p:sp>
      <p:sp>
        <p:nvSpPr>
          <p:cNvPr id="26" name="Q7Hook1"/>
          <p:cNvSpPr/>
          <p:nvPr/>
        </p:nvSpPr>
        <p:spPr>
          <a:xfrm>
            <a:off x="6144768" y="4791456"/>
            <a:ext cx="5614416" cy="53035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Q7HookTick1"/>
          <p:cNvSpPr/>
          <p:nvPr/>
        </p:nvSpPr>
        <p:spPr>
          <a:xfrm>
            <a:off x="6144768" y="4791456"/>
            <a:ext cx="54864" cy="530352"/>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Q7HookN1"/>
          <p:cNvSpPr txBox="1"/>
          <p:nvPr/>
        </p:nvSpPr>
        <p:spPr>
          <a:xfrm>
            <a:off x="6327648" y="4864608"/>
            <a:ext cx="5303520" cy="219456"/>
          </a:xfrm>
          <a:prstGeom prst="rect">
            <a:avLst/>
          </a:prstGeom>
          <a:noFill/>
        </p:spPr>
        <p:txBody>
          <a:bodyPr wrap="square" lIns="0" tIns="0" rIns="0" bIns="0" anchor="t">
            <a:spAutoFit/>
          </a:bodyPr>
          <a:lstStyle/>
          <a:p>
            <a:pPr algn="l"/>
            <a:r>
              <a:rPr sz="1050" b="1" i="0">
                <a:solidFill>
                  <a:srgbClr val="1A2332"/>
                </a:solidFill>
                <a:latin typeface="Aptos Display"/>
              </a:rPr>
              <a:t>Hooks read stdin, not env vars</a:t>
            </a:r>
          </a:p>
        </p:txBody>
      </p:sp>
      <p:sp>
        <p:nvSpPr>
          <p:cNvPr id="29" name="Q7HookD1"/>
          <p:cNvSpPr txBox="1"/>
          <p:nvPr/>
        </p:nvSpPr>
        <p:spPr>
          <a:xfrm>
            <a:off x="6327648" y="5074920"/>
            <a:ext cx="5303520" cy="219456"/>
          </a:xfrm>
          <a:prstGeom prst="rect">
            <a:avLst/>
          </a:prstGeom>
          <a:noFill/>
        </p:spPr>
        <p:txBody>
          <a:bodyPr wrap="square" lIns="0" tIns="0" rIns="0" bIns="0" anchor="t">
            <a:spAutoFit/>
          </a:bodyPr>
          <a:lstStyle/>
          <a:p>
            <a:pPr algn="l"/>
            <a:r>
              <a:rPr sz="950" b="0" i="0">
                <a:solidFill>
                  <a:srgbClr val="475569"/>
                </a:solidFill>
                <a:latin typeface="Aptos"/>
              </a:rPr>
              <a:t>The edited file is .tool_input.file_path. There is no $FILEPATH.</a:t>
            </a:r>
          </a:p>
        </p:txBody>
      </p:sp>
      <p:sp>
        <p:nvSpPr>
          <p:cNvPr id="30" name="Q7Hook2"/>
          <p:cNvSpPr/>
          <p:nvPr/>
        </p:nvSpPr>
        <p:spPr>
          <a:xfrm>
            <a:off x="6144768" y="5394960"/>
            <a:ext cx="5614416" cy="530352"/>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Q7HookTick2"/>
          <p:cNvSpPr/>
          <p:nvPr/>
        </p:nvSpPr>
        <p:spPr>
          <a:xfrm>
            <a:off x="6144768" y="5394960"/>
            <a:ext cx="54864" cy="530352"/>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Q7HookN2"/>
          <p:cNvSpPr txBox="1"/>
          <p:nvPr/>
        </p:nvSpPr>
        <p:spPr>
          <a:xfrm>
            <a:off x="6327648" y="5468112"/>
            <a:ext cx="5303520" cy="219456"/>
          </a:xfrm>
          <a:prstGeom prst="rect">
            <a:avLst/>
          </a:prstGeom>
          <a:noFill/>
        </p:spPr>
        <p:txBody>
          <a:bodyPr wrap="square" lIns="0" tIns="0" rIns="0" bIns="0" anchor="t">
            <a:spAutoFit/>
          </a:bodyPr>
          <a:lstStyle/>
          <a:p>
            <a:pPr algn="l"/>
            <a:r>
              <a:rPr sz="1050" b="1" i="0">
                <a:solidFill>
                  <a:srgbClr val="1A2332"/>
                </a:solidFill>
                <a:latin typeface="Aptos Display"/>
              </a:rPr>
              <a:t>Only exit 2 blocks</a:t>
            </a:r>
          </a:p>
        </p:txBody>
      </p:sp>
      <p:sp>
        <p:nvSpPr>
          <p:cNvPr id="33" name="Q7HookD2"/>
          <p:cNvSpPr txBox="1"/>
          <p:nvPr/>
        </p:nvSpPr>
        <p:spPr>
          <a:xfrm>
            <a:off x="6327648" y="5678424"/>
            <a:ext cx="5303520" cy="219456"/>
          </a:xfrm>
          <a:prstGeom prst="rect">
            <a:avLst/>
          </a:prstGeom>
          <a:noFill/>
        </p:spPr>
        <p:txBody>
          <a:bodyPr wrap="square" lIns="0" tIns="0" rIns="0" bIns="0" anchor="t">
            <a:spAutoFit/>
          </a:bodyPr>
          <a:lstStyle/>
          <a:p>
            <a:pPr algn="l"/>
            <a:r>
              <a:rPr sz="950" b="0" i="0">
                <a:solidFill>
                  <a:srgbClr val="475569"/>
                </a:solidFill>
                <a:latin typeface="Aptos"/>
              </a:rPr>
              <a:t>Exit 1 is non-blocking and the action proceeds. A gate that exits 1 is not a gate.</a:t>
            </a:r>
          </a:p>
        </p:txBody>
      </p:sp>
      <p:sp>
        <p:nvSpPr>
          <p:cNvPr id="34"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35" name="PageNum"/>
          <p:cNvSpPr txBox="1"/>
          <p:nvPr/>
        </p:nvSpPr>
        <p:spPr>
          <a:xfrm>
            <a:off x="10058400" y="6647688"/>
            <a:ext cx="1463040" cy="201168"/>
          </a:xfrm>
          <a:prstGeom prst="rect">
            <a:avLst/>
          </a:prstGeom>
          <a:noFill/>
        </p:spPr>
        <p:txBody>
          <a:bodyPr wrap="square" lIns="0" tIns="0" rIns="0" bIns="0" anchor="t">
            <a:spAutoFit/>
          </a:bodyPr>
          <a:lstStyle/>
          <a:p>
            <a:r>
              <a:t>13 / 52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The durability ladder</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Every control has a durability — and it has nothing to do with how firmly you phrased it.</a:t>
            </a:r>
          </a:p>
        </p:txBody>
      </p:sp>
      <p:sp>
        <p:nvSpPr>
          <p:cNvPr id="4" name="L8Rung0"/>
          <p:cNvSpPr/>
          <p:nvPr/>
        </p:nvSpPr>
        <p:spPr>
          <a:xfrm>
            <a:off x="329184" y="1115568"/>
            <a:ext cx="8778240" cy="603504"/>
          </a:xfrm>
          <a:prstGeom prst="roundRect">
            <a:avLst>
              <a:gd name="adj" fmla="val 6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L8Badge0"/>
          <p:cNvSpPr/>
          <p:nvPr/>
        </p:nvSpPr>
        <p:spPr>
          <a:xfrm>
            <a:off x="475488" y="1234440"/>
            <a:ext cx="365760" cy="365760"/>
          </a:xfrm>
          <a:prstGeom prst="roundRect">
            <a:avLst>
              <a:gd name="adj" fmla="val 50000"/>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Display"/>
              </a:rPr>
              <a:t>1</a:t>
            </a:r>
          </a:p>
        </p:txBody>
      </p:sp>
      <p:sp>
        <p:nvSpPr>
          <p:cNvPr id="6" name="L8Mech0"/>
          <p:cNvSpPr txBox="1"/>
          <p:nvPr/>
        </p:nvSpPr>
        <p:spPr>
          <a:xfrm>
            <a:off x="969264" y="1280160"/>
            <a:ext cx="2651760" cy="292608"/>
          </a:xfrm>
          <a:prstGeom prst="rect">
            <a:avLst/>
          </a:prstGeom>
          <a:noFill/>
        </p:spPr>
        <p:txBody>
          <a:bodyPr wrap="square" lIns="0" tIns="0" rIns="0" bIns="0" anchor="t">
            <a:spAutoFit/>
          </a:bodyPr>
          <a:lstStyle/>
          <a:p>
            <a:pPr algn="l"/>
            <a:r>
              <a:rPr sz="1250" b="1" i="0">
                <a:solidFill>
                  <a:srgbClr val="1A2332"/>
                </a:solidFill>
                <a:latin typeface="Aptos Display"/>
              </a:rPr>
              <a:t>Say it in conversation</a:t>
            </a:r>
          </a:p>
        </p:txBody>
      </p:sp>
      <p:sp>
        <p:nvSpPr>
          <p:cNvPr id="7" name="L8Dur0"/>
          <p:cNvSpPr txBox="1"/>
          <p:nvPr/>
        </p:nvSpPr>
        <p:spPr>
          <a:xfrm>
            <a:off x="3712464" y="1298448"/>
            <a:ext cx="3511296" cy="274320"/>
          </a:xfrm>
          <a:prstGeom prst="rect">
            <a:avLst/>
          </a:prstGeom>
          <a:noFill/>
        </p:spPr>
        <p:txBody>
          <a:bodyPr wrap="square" lIns="0" tIns="0" rIns="0" bIns="0" anchor="t">
            <a:spAutoFit/>
          </a:bodyPr>
          <a:lstStyle/>
          <a:p>
            <a:pPr algn="l"/>
            <a:r>
              <a:rPr sz="1100" b="0" i="0">
                <a:solidFill>
                  <a:srgbClr val="475569"/>
                </a:solidFill>
                <a:latin typeface="Aptos"/>
              </a:rPr>
              <a:t>Lost when /compact removes the message that said it</a:t>
            </a:r>
          </a:p>
        </p:txBody>
      </p:sp>
      <p:sp>
        <p:nvSpPr>
          <p:cNvPr id="8" name="L8Tag0"/>
          <p:cNvSpPr txBox="1"/>
          <p:nvPr/>
        </p:nvSpPr>
        <p:spPr>
          <a:xfrm>
            <a:off x="7589520" y="1289304"/>
            <a:ext cx="1371600" cy="274320"/>
          </a:xfrm>
          <a:prstGeom prst="rect">
            <a:avLst/>
          </a:prstGeom>
          <a:noFill/>
        </p:spPr>
        <p:txBody>
          <a:bodyPr wrap="square" lIns="0" tIns="0" rIns="0" bIns="0" anchor="t">
            <a:spAutoFit/>
          </a:bodyPr>
          <a:lstStyle/>
          <a:p>
            <a:pPr algn="r"/>
            <a:r>
              <a:rPr sz="1000" b="1" i="0">
                <a:solidFill>
                  <a:srgbClr val="DC2626"/>
                </a:solidFill>
                <a:latin typeface="Aptos"/>
              </a:rPr>
              <a:t>Not durable</a:t>
            </a:r>
          </a:p>
        </p:txBody>
      </p:sp>
      <p:sp>
        <p:nvSpPr>
          <p:cNvPr id="9" name="L8Rung1"/>
          <p:cNvSpPr/>
          <p:nvPr/>
        </p:nvSpPr>
        <p:spPr>
          <a:xfrm>
            <a:off x="329184" y="1828800"/>
            <a:ext cx="9363456" cy="603504"/>
          </a:xfrm>
          <a:prstGeom prst="roundRect">
            <a:avLst>
              <a:gd name="adj" fmla="val 6000"/>
            </a:avLst>
          </a:prstGeom>
          <a:solidFill>
            <a:srgbClr val="FFF7ED"/>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L8Badge1"/>
          <p:cNvSpPr/>
          <p:nvPr/>
        </p:nvSpPr>
        <p:spPr>
          <a:xfrm>
            <a:off x="475488" y="1947672"/>
            <a:ext cx="365760" cy="365760"/>
          </a:xfrm>
          <a:prstGeom prst="roundRect">
            <a:avLst>
              <a:gd name="adj" fmla="val 50000"/>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Display"/>
              </a:rPr>
              <a:t>2</a:t>
            </a:r>
          </a:p>
        </p:txBody>
      </p:sp>
      <p:sp>
        <p:nvSpPr>
          <p:cNvPr id="11" name="L8Mech1"/>
          <p:cNvSpPr txBox="1"/>
          <p:nvPr/>
        </p:nvSpPr>
        <p:spPr>
          <a:xfrm>
            <a:off x="969264" y="1993392"/>
            <a:ext cx="2651760" cy="292608"/>
          </a:xfrm>
          <a:prstGeom prst="rect">
            <a:avLst/>
          </a:prstGeom>
          <a:noFill/>
        </p:spPr>
        <p:txBody>
          <a:bodyPr wrap="square" lIns="0" tIns="0" rIns="0" bIns="0" anchor="t">
            <a:spAutoFit/>
          </a:bodyPr>
          <a:lstStyle/>
          <a:p>
            <a:pPr algn="l"/>
            <a:r>
              <a:rPr sz="1250" b="1" i="0">
                <a:solidFill>
                  <a:srgbClr val="1A2332"/>
                </a:solidFill>
                <a:latin typeface="Aptos Display"/>
              </a:rPr>
              <a:t>CLAUDE.md</a:t>
            </a:r>
          </a:p>
        </p:txBody>
      </p:sp>
      <p:sp>
        <p:nvSpPr>
          <p:cNvPr id="12" name="L8Dur1"/>
          <p:cNvSpPr txBox="1"/>
          <p:nvPr/>
        </p:nvSpPr>
        <p:spPr>
          <a:xfrm>
            <a:off x="3712464" y="2011680"/>
            <a:ext cx="4096512" cy="274320"/>
          </a:xfrm>
          <a:prstGeom prst="rect">
            <a:avLst/>
          </a:prstGeom>
          <a:noFill/>
        </p:spPr>
        <p:txBody>
          <a:bodyPr wrap="square" lIns="0" tIns="0" rIns="0" bIns="0" anchor="t">
            <a:spAutoFit/>
          </a:bodyPr>
          <a:lstStyle/>
          <a:p>
            <a:pPr algn="l"/>
            <a:r>
              <a:rPr sz="1100" b="0" i="0" dirty="0">
                <a:solidFill>
                  <a:srgbClr val="475569"/>
                </a:solidFill>
                <a:latin typeface="Aptos"/>
              </a:rPr>
              <a:t>Every session in this project — and the classifier reads it too</a:t>
            </a:r>
          </a:p>
        </p:txBody>
      </p:sp>
      <p:sp>
        <p:nvSpPr>
          <p:cNvPr id="13" name="L8Tag1"/>
          <p:cNvSpPr txBox="1"/>
          <p:nvPr/>
        </p:nvSpPr>
        <p:spPr>
          <a:xfrm>
            <a:off x="8174736" y="2002536"/>
            <a:ext cx="1371600" cy="274320"/>
          </a:xfrm>
          <a:prstGeom prst="rect">
            <a:avLst/>
          </a:prstGeom>
          <a:noFill/>
        </p:spPr>
        <p:txBody>
          <a:bodyPr wrap="square" lIns="0" tIns="0" rIns="0" bIns="0" anchor="t">
            <a:spAutoFit/>
          </a:bodyPr>
          <a:lstStyle/>
          <a:p>
            <a:pPr algn="r"/>
            <a:r>
              <a:rPr sz="1000" b="1" i="0">
                <a:solidFill>
                  <a:srgbClr val="D4622B"/>
                </a:solidFill>
                <a:latin typeface="Aptos"/>
              </a:rPr>
              <a:t>Durable</a:t>
            </a:r>
          </a:p>
        </p:txBody>
      </p:sp>
      <p:sp>
        <p:nvSpPr>
          <p:cNvPr id="14" name="L8Rung2"/>
          <p:cNvSpPr/>
          <p:nvPr/>
        </p:nvSpPr>
        <p:spPr>
          <a:xfrm>
            <a:off x="329184" y="2542032"/>
            <a:ext cx="9948672" cy="603504"/>
          </a:xfrm>
          <a:prstGeom prst="roundRect">
            <a:avLst>
              <a:gd name="adj" fmla="val 6000"/>
            </a:avLst>
          </a:prstGeom>
          <a:solidFill>
            <a:srgbClr val="EFF6FF"/>
          </a:solidFill>
          <a:ln w="1270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L8Badge2"/>
          <p:cNvSpPr/>
          <p:nvPr/>
        </p:nvSpPr>
        <p:spPr>
          <a:xfrm>
            <a:off x="475488" y="2660904"/>
            <a:ext cx="365760" cy="365760"/>
          </a:xfrm>
          <a:prstGeom prst="roundRect">
            <a:avLst>
              <a:gd name="adj" fmla="val 50000"/>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Display"/>
              </a:rPr>
              <a:t>3</a:t>
            </a:r>
          </a:p>
        </p:txBody>
      </p:sp>
      <p:sp>
        <p:nvSpPr>
          <p:cNvPr id="16" name="L8Mech2"/>
          <p:cNvSpPr txBox="1"/>
          <p:nvPr/>
        </p:nvSpPr>
        <p:spPr>
          <a:xfrm>
            <a:off x="969264" y="2706624"/>
            <a:ext cx="2651760" cy="292608"/>
          </a:xfrm>
          <a:prstGeom prst="rect">
            <a:avLst/>
          </a:prstGeom>
          <a:noFill/>
        </p:spPr>
        <p:txBody>
          <a:bodyPr wrap="square" lIns="0" tIns="0" rIns="0" bIns="0" anchor="t">
            <a:spAutoFit/>
          </a:bodyPr>
          <a:lstStyle/>
          <a:p>
            <a:pPr algn="l"/>
            <a:r>
              <a:rPr sz="1250" b="1" i="0" dirty="0" err="1">
                <a:solidFill>
                  <a:srgbClr val="1A2332"/>
                </a:solidFill>
                <a:latin typeface="Consolas"/>
              </a:rPr>
              <a:t>permissions.ask</a:t>
            </a:r>
            <a:endParaRPr sz="1250" b="1" i="0" dirty="0">
              <a:solidFill>
                <a:srgbClr val="1A2332"/>
              </a:solidFill>
              <a:latin typeface="Consolas"/>
            </a:endParaRPr>
          </a:p>
        </p:txBody>
      </p:sp>
      <p:sp>
        <p:nvSpPr>
          <p:cNvPr id="17" name="L8Dur2"/>
          <p:cNvSpPr txBox="1"/>
          <p:nvPr/>
        </p:nvSpPr>
        <p:spPr>
          <a:xfrm>
            <a:off x="3712464" y="2724912"/>
            <a:ext cx="4681728" cy="274320"/>
          </a:xfrm>
          <a:prstGeom prst="rect">
            <a:avLst/>
          </a:prstGeom>
          <a:noFill/>
        </p:spPr>
        <p:txBody>
          <a:bodyPr wrap="square" lIns="0" tIns="0" rIns="0" bIns="0" anchor="t">
            <a:spAutoFit/>
          </a:bodyPr>
          <a:lstStyle/>
          <a:p>
            <a:pPr algn="l"/>
            <a:r>
              <a:rPr sz="1100" b="0" i="0">
                <a:solidFill>
                  <a:srgbClr val="475569"/>
                </a:solidFill>
                <a:latin typeface="Aptos"/>
              </a:rPr>
              <a:t>Always prompts you; evaluated before the classifier runs</a:t>
            </a:r>
          </a:p>
        </p:txBody>
      </p:sp>
      <p:sp>
        <p:nvSpPr>
          <p:cNvPr id="18" name="L8Tag2"/>
          <p:cNvSpPr txBox="1"/>
          <p:nvPr/>
        </p:nvSpPr>
        <p:spPr>
          <a:xfrm>
            <a:off x="8759952" y="2715768"/>
            <a:ext cx="1371600" cy="274320"/>
          </a:xfrm>
          <a:prstGeom prst="rect">
            <a:avLst/>
          </a:prstGeom>
          <a:noFill/>
        </p:spPr>
        <p:txBody>
          <a:bodyPr wrap="square" lIns="0" tIns="0" rIns="0" bIns="0" anchor="t">
            <a:spAutoFit/>
          </a:bodyPr>
          <a:lstStyle/>
          <a:p>
            <a:pPr algn="r"/>
            <a:r>
              <a:rPr sz="1000" b="1" i="0">
                <a:solidFill>
                  <a:srgbClr val="1565C0"/>
                </a:solidFill>
                <a:latin typeface="Aptos"/>
              </a:rPr>
              <a:t>Enforced</a:t>
            </a:r>
          </a:p>
        </p:txBody>
      </p:sp>
      <p:sp>
        <p:nvSpPr>
          <p:cNvPr id="19" name="L8Rung3"/>
          <p:cNvSpPr/>
          <p:nvPr/>
        </p:nvSpPr>
        <p:spPr>
          <a:xfrm>
            <a:off x="329184" y="3255264"/>
            <a:ext cx="10533888" cy="603504"/>
          </a:xfrm>
          <a:prstGeom prst="roundRect">
            <a:avLst>
              <a:gd name="adj" fmla="val 6000"/>
            </a:avLst>
          </a:prstGeom>
          <a:solidFill>
            <a:srgbClr val="F5F3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L8Badge3"/>
          <p:cNvSpPr/>
          <p:nvPr/>
        </p:nvSpPr>
        <p:spPr>
          <a:xfrm>
            <a:off x="475488" y="3374136"/>
            <a:ext cx="365760" cy="365760"/>
          </a:xfrm>
          <a:prstGeom prst="roundRect">
            <a:avLst>
              <a:gd name="adj" fmla="val 50000"/>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Display"/>
              </a:rPr>
              <a:t>4</a:t>
            </a:r>
          </a:p>
        </p:txBody>
      </p:sp>
      <p:sp>
        <p:nvSpPr>
          <p:cNvPr id="21" name="L8Mech3"/>
          <p:cNvSpPr txBox="1"/>
          <p:nvPr/>
        </p:nvSpPr>
        <p:spPr>
          <a:xfrm>
            <a:off x="969264" y="3419856"/>
            <a:ext cx="2651760" cy="292608"/>
          </a:xfrm>
          <a:prstGeom prst="rect">
            <a:avLst/>
          </a:prstGeom>
          <a:noFill/>
        </p:spPr>
        <p:txBody>
          <a:bodyPr wrap="square" lIns="0" tIns="0" rIns="0" bIns="0" anchor="t">
            <a:spAutoFit/>
          </a:bodyPr>
          <a:lstStyle/>
          <a:p>
            <a:pPr algn="l"/>
            <a:r>
              <a:rPr sz="1250" b="1" i="0" dirty="0" err="1">
                <a:solidFill>
                  <a:srgbClr val="1A2332"/>
                </a:solidFill>
                <a:latin typeface="Consolas"/>
              </a:rPr>
              <a:t>permissions.deny</a:t>
            </a:r>
            <a:endParaRPr sz="1250" b="1" i="0" dirty="0">
              <a:solidFill>
                <a:srgbClr val="1A2332"/>
              </a:solidFill>
              <a:latin typeface="Consolas"/>
            </a:endParaRPr>
          </a:p>
        </p:txBody>
      </p:sp>
      <p:sp>
        <p:nvSpPr>
          <p:cNvPr id="22" name="L8Dur3"/>
          <p:cNvSpPr txBox="1"/>
          <p:nvPr/>
        </p:nvSpPr>
        <p:spPr>
          <a:xfrm>
            <a:off x="3712464" y="3438144"/>
            <a:ext cx="5266944" cy="274320"/>
          </a:xfrm>
          <a:prstGeom prst="rect">
            <a:avLst/>
          </a:prstGeom>
          <a:noFill/>
        </p:spPr>
        <p:txBody>
          <a:bodyPr wrap="square" lIns="0" tIns="0" rIns="0" bIns="0" anchor="t">
            <a:spAutoFit/>
          </a:bodyPr>
          <a:lstStyle/>
          <a:p>
            <a:pPr algn="l"/>
            <a:r>
              <a:rPr sz="1100" b="0" i="0">
                <a:solidFill>
                  <a:srgbClr val="475569"/>
                </a:solidFill>
                <a:latin typeface="Aptos"/>
              </a:rPr>
              <a:t>Never runs. Neither the classifier nor your own intent overrides it</a:t>
            </a:r>
          </a:p>
        </p:txBody>
      </p:sp>
      <p:sp>
        <p:nvSpPr>
          <p:cNvPr id="23" name="L8Tag3"/>
          <p:cNvSpPr txBox="1"/>
          <p:nvPr/>
        </p:nvSpPr>
        <p:spPr>
          <a:xfrm>
            <a:off x="9345168" y="3429000"/>
            <a:ext cx="1371600" cy="274320"/>
          </a:xfrm>
          <a:prstGeom prst="rect">
            <a:avLst/>
          </a:prstGeom>
          <a:noFill/>
        </p:spPr>
        <p:txBody>
          <a:bodyPr wrap="square" lIns="0" tIns="0" rIns="0" bIns="0" anchor="t">
            <a:spAutoFit/>
          </a:bodyPr>
          <a:lstStyle/>
          <a:p>
            <a:pPr algn="r"/>
            <a:r>
              <a:rPr sz="1000" b="1" i="0">
                <a:solidFill>
                  <a:srgbClr val="7C3AED"/>
                </a:solidFill>
                <a:latin typeface="Aptos"/>
              </a:rPr>
              <a:t>Absolute</a:t>
            </a:r>
          </a:p>
        </p:txBody>
      </p:sp>
      <p:sp>
        <p:nvSpPr>
          <p:cNvPr id="24" name="L8Rung4"/>
          <p:cNvSpPr/>
          <p:nvPr/>
        </p:nvSpPr>
        <p:spPr>
          <a:xfrm>
            <a:off x="329184" y="3968496"/>
            <a:ext cx="11119104" cy="603504"/>
          </a:xfrm>
          <a:prstGeom prst="roundRect">
            <a:avLst>
              <a:gd name="adj" fmla="val 6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L8Badge4"/>
          <p:cNvSpPr/>
          <p:nvPr/>
        </p:nvSpPr>
        <p:spPr>
          <a:xfrm>
            <a:off x="475488" y="4087368"/>
            <a:ext cx="365760" cy="365760"/>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FFFFFF"/>
                </a:solidFill>
                <a:latin typeface="Aptos Display"/>
              </a:rPr>
              <a:t>5</a:t>
            </a:r>
          </a:p>
        </p:txBody>
      </p:sp>
      <p:sp>
        <p:nvSpPr>
          <p:cNvPr id="26" name="L8Mech4"/>
          <p:cNvSpPr txBox="1"/>
          <p:nvPr/>
        </p:nvSpPr>
        <p:spPr>
          <a:xfrm>
            <a:off x="969264" y="4133088"/>
            <a:ext cx="2651760" cy="292608"/>
          </a:xfrm>
          <a:prstGeom prst="rect">
            <a:avLst/>
          </a:prstGeom>
          <a:noFill/>
        </p:spPr>
        <p:txBody>
          <a:bodyPr wrap="square" lIns="0" tIns="0" rIns="0" bIns="0" anchor="t">
            <a:spAutoFit/>
          </a:bodyPr>
          <a:lstStyle/>
          <a:p>
            <a:pPr algn="l"/>
            <a:r>
              <a:rPr sz="1250" b="1" i="0">
                <a:solidFill>
                  <a:srgbClr val="1A2332"/>
                </a:solidFill>
                <a:latin typeface="Consolas"/>
              </a:rPr>
              <a:t>PreToolUse hook</a:t>
            </a:r>
          </a:p>
        </p:txBody>
      </p:sp>
      <p:sp>
        <p:nvSpPr>
          <p:cNvPr id="27" name="L8Dur4"/>
          <p:cNvSpPr txBox="1"/>
          <p:nvPr/>
        </p:nvSpPr>
        <p:spPr>
          <a:xfrm>
            <a:off x="3712464" y="4151376"/>
            <a:ext cx="5852160" cy="274320"/>
          </a:xfrm>
          <a:prstGeom prst="rect">
            <a:avLst/>
          </a:prstGeom>
          <a:noFill/>
        </p:spPr>
        <p:txBody>
          <a:bodyPr wrap="square" lIns="0" tIns="0" rIns="0" bIns="0" anchor="t">
            <a:spAutoFit/>
          </a:bodyPr>
          <a:lstStyle/>
          <a:p>
            <a:pPr algn="l"/>
            <a:r>
              <a:rPr sz="1100" b="0" i="0">
                <a:solidFill>
                  <a:srgbClr val="475569"/>
                </a:solidFill>
                <a:latin typeface="Aptos"/>
              </a:rPr>
              <a:t>Deterministic — and it sees the full command text, however written</a:t>
            </a:r>
          </a:p>
        </p:txBody>
      </p:sp>
      <p:sp>
        <p:nvSpPr>
          <p:cNvPr id="28" name="L8Tag4"/>
          <p:cNvSpPr txBox="1"/>
          <p:nvPr/>
        </p:nvSpPr>
        <p:spPr>
          <a:xfrm>
            <a:off x="9930384" y="4142232"/>
            <a:ext cx="1371600" cy="274320"/>
          </a:xfrm>
          <a:prstGeom prst="rect">
            <a:avLst/>
          </a:prstGeom>
          <a:noFill/>
        </p:spPr>
        <p:txBody>
          <a:bodyPr wrap="square" lIns="0" tIns="0" rIns="0" bIns="0" anchor="t">
            <a:spAutoFit/>
          </a:bodyPr>
          <a:lstStyle/>
          <a:p>
            <a:pPr algn="r"/>
            <a:r>
              <a:rPr sz="1000" b="1" i="0">
                <a:solidFill>
                  <a:srgbClr val="059669"/>
                </a:solidFill>
                <a:latin typeface="Aptos"/>
              </a:rPr>
              <a:t>Absolute</a:t>
            </a:r>
          </a:p>
        </p:txBody>
      </p:sp>
      <p:sp>
        <p:nvSpPr>
          <p:cNvPr id="29" name="L8Recipe"/>
          <p:cNvSpPr/>
          <p:nvPr/>
        </p:nvSpPr>
        <p:spPr>
          <a:xfrm>
            <a:off x="329184" y="4773168"/>
            <a:ext cx="5614416" cy="1609344"/>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L8RecLabel"/>
          <p:cNvSpPr txBox="1"/>
          <p:nvPr/>
        </p:nvSpPr>
        <p:spPr>
          <a:xfrm>
            <a:off x="512064" y="4882896"/>
            <a:ext cx="5303520" cy="256032"/>
          </a:xfrm>
          <a:prstGeom prst="rect">
            <a:avLst/>
          </a:prstGeom>
          <a:noFill/>
        </p:spPr>
        <p:txBody>
          <a:bodyPr wrap="square" lIns="0" tIns="0" rIns="0" bIns="0" anchor="t">
            <a:spAutoFit/>
          </a:bodyPr>
          <a:lstStyle/>
          <a:p>
            <a:pPr algn="l"/>
            <a:r>
              <a:rPr sz="950" b="1" i="0">
                <a:solidFill>
                  <a:srgbClr val="64748B"/>
                </a:solidFill>
                <a:latin typeface="Aptos"/>
              </a:rPr>
              <a:t>THE RULE MOST TEAMS ACTUALLY WANT</a:t>
            </a:r>
          </a:p>
        </p:txBody>
      </p:sp>
      <p:sp>
        <p:nvSpPr>
          <p:cNvPr id="31" name="L8Code"/>
          <p:cNvSpPr/>
          <p:nvPr/>
        </p:nvSpPr>
        <p:spPr>
          <a:xfrm>
            <a:off x="512064" y="5157216"/>
            <a:ext cx="5248656" cy="1152144"/>
          </a:xfrm>
          <a:prstGeom prst="roundRect">
            <a:avLst>
              <a:gd name="adj" fmla="val 5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L8CodeTxt"/>
          <p:cNvSpPr txBox="1"/>
          <p:nvPr/>
        </p:nvSpPr>
        <p:spPr>
          <a:xfrm>
            <a:off x="676656" y="5248656"/>
            <a:ext cx="4937760" cy="987552"/>
          </a:xfrm>
          <a:prstGeom prst="rect">
            <a:avLst/>
          </a:prstGeom>
          <a:noFill/>
        </p:spPr>
        <p:txBody>
          <a:bodyPr wrap="square" lIns="0" tIns="0" rIns="0" bIns="0" anchor="t">
            <a:spAutoFit/>
          </a:bodyPr>
          <a:lstStyle/>
          <a:p>
            <a:pPr algn="l"/>
            <a:r>
              <a:rPr sz="1050" b="0" i="0">
                <a:solidFill>
                  <a:srgbClr val="CBD5E1"/>
                </a:solidFill>
                <a:latin typeface="Consolas"/>
              </a:rPr>
              <a:t>"permissions": {</a:t>
            </a:r>
          </a:p>
          <a:p>
            <a:pPr algn="l"/>
            <a:r>
              <a:rPr sz="1050" b="0" i="0">
                <a:solidFill>
                  <a:srgbClr val="CBD5E1"/>
                </a:solidFill>
                <a:latin typeface="Consolas"/>
              </a:rPr>
              <a:t>  "ask": [</a:t>
            </a:r>
          </a:p>
          <a:p>
            <a:pPr algn="l"/>
            <a:r>
              <a:rPr sz="1050" b="0" i="0">
                <a:solidFill>
                  <a:srgbClr val="CBD5E1"/>
                </a:solidFill>
                <a:latin typeface="Consolas"/>
              </a:rPr>
              <a:t>    "Bash(git push *)",</a:t>
            </a:r>
          </a:p>
          <a:p>
            <a:pPr algn="l"/>
            <a:r>
              <a:rPr sz="1050" b="0" i="0">
                <a:solidFill>
                  <a:srgbClr val="CBD5E1"/>
                </a:solidFill>
                <a:latin typeface="Consolas"/>
              </a:rPr>
              <a:t>    "Bash(gh pr create *)"</a:t>
            </a:r>
          </a:p>
          <a:p>
            <a:pPr algn="l"/>
            <a:r>
              <a:rPr sz="1050" b="0" i="0">
                <a:solidFill>
                  <a:srgbClr val="CBD5E1"/>
                </a:solidFill>
                <a:latin typeface="Consolas"/>
              </a:rPr>
              <a:t>  ]</a:t>
            </a:r>
          </a:p>
          <a:p>
            <a:pPr algn="l"/>
            <a:r>
              <a:rPr sz="1050" b="0" i="0">
                <a:solidFill>
                  <a:srgbClr val="CBD5E1"/>
                </a:solidFill>
                <a:latin typeface="Consolas"/>
              </a:rPr>
              <a:t>}</a:t>
            </a:r>
          </a:p>
        </p:txBody>
      </p:sp>
      <p:sp>
        <p:nvSpPr>
          <p:cNvPr id="33" name="L8Limit"/>
          <p:cNvSpPr/>
          <p:nvPr/>
        </p:nvSpPr>
        <p:spPr>
          <a:xfrm>
            <a:off x="6144768" y="4773168"/>
            <a:ext cx="5614416" cy="1609344"/>
          </a:xfrm>
          <a:prstGeom prst="roundRect">
            <a:avLst>
              <a:gd name="adj" fmla="val 6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L8LimLabel"/>
          <p:cNvSpPr txBox="1"/>
          <p:nvPr/>
        </p:nvSpPr>
        <p:spPr>
          <a:xfrm>
            <a:off x="6327648" y="4882896"/>
            <a:ext cx="5303520" cy="256032"/>
          </a:xfrm>
          <a:prstGeom prst="rect">
            <a:avLst/>
          </a:prstGeom>
          <a:noFill/>
        </p:spPr>
        <p:txBody>
          <a:bodyPr wrap="square" lIns="0" tIns="0" rIns="0" bIns="0" anchor="t">
            <a:spAutoFit/>
          </a:bodyPr>
          <a:lstStyle/>
          <a:p>
            <a:pPr algn="l"/>
            <a:r>
              <a:rPr sz="950" b="1" i="0">
                <a:solidFill>
                  <a:srgbClr val="DC2626"/>
                </a:solidFill>
                <a:latin typeface="Aptos"/>
              </a:rPr>
              <a:t>KNOW THE LIMITATION</a:t>
            </a:r>
          </a:p>
        </p:txBody>
      </p:sp>
      <p:sp>
        <p:nvSpPr>
          <p:cNvPr id="35" name="L8LimTxt"/>
          <p:cNvSpPr txBox="1"/>
          <p:nvPr/>
        </p:nvSpPr>
        <p:spPr>
          <a:xfrm>
            <a:off x="6327648" y="5175504"/>
            <a:ext cx="5303520" cy="1060704"/>
          </a:xfrm>
          <a:prstGeom prst="rect">
            <a:avLst/>
          </a:prstGeom>
          <a:noFill/>
        </p:spPr>
        <p:txBody>
          <a:bodyPr wrap="square" lIns="0" tIns="0" rIns="0" bIns="0" anchor="t">
            <a:spAutoFit/>
          </a:bodyPr>
          <a:lstStyle/>
          <a:p>
            <a:pPr algn="l"/>
            <a:r>
              <a:rPr sz="1150" b="1" i="0">
                <a:solidFill>
                  <a:srgbClr val="1A2332"/>
                </a:solidFill>
                <a:latin typeface="Aptos"/>
              </a:rPr>
              <a:t>Rules match the command as written.  </a:t>
            </a:r>
            <a:r>
              <a:rPr sz="1150" b="0" i="0">
                <a:solidFill>
                  <a:srgbClr val="475569"/>
                </a:solidFill>
                <a:latin typeface="Aptos"/>
              </a:rPr>
              <a:t>A push Claude phrases as </a:t>
            </a:r>
            <a:r>
              <a:rPr sz="1050" b="0" i="0">
                <a:solidFill>
                  <a:srgbClr val="7C3AED"/>
                </a:solidFill>
                <a:latin typeface="Consolas"/>
              </a:rPr>
              <a:t>git -C services/api push</a:t>
            </a:r>
            <a:r>
              <a:rPr sz="1150" b="0" i="0">
                <a:solidFill>
                  <a:srgbClr val="475569"/>
                </a:solidFill>
                <a:latin typeface="Aptos"/>
              </a:rPr>
              <a:t> does not match </a:t>
            </a:r>
            <a:r>
              <a:rPr sz="1050" b="0" i="0">
                <a:solidFill>
                  <a:srgbClr val="7C3AED"/>
                </a:solidFill>
                <a:latin typeface="Consolas"/>
              </a:rPr>
              <a:t>Bash(git push *)</a:t>
            </a:r>
            <a:r>
              <a:rPr sz="1150" b="0" i="0">
                <a:solidFill>
                  <a:srgbClr val="475569"/>
                </a:solidFill>
                <a:latin typeface="Aptos"/>
              </a:rPr>
              <a:t> and is not checkpointed.</a:t>
            </a:r>
          </a:p>
          <a:p>
            <a:pPr algn="l">
              <a:spcBef>
                <a:spcPts val="600"/>
              </a:spcBef>
            </a:pPr>
            <a:r>
              <a:rPr sz="1150" b="0" i="0">
                <a:solidFill>
                  <a:srgbClr val="475569"/>
                </a:solidFill>
                <a:latin typeface="Aptos"/>
              </a:rPr>
              <a:t>For a boundary that inspects the whole command however it is spelled, use a hook — rung 5.</a:t>
            </a:r>
          </a:p>
        </p:txBody>
      </p:sp>
      <p:sp>
        <p:nvSpPr>
          <p:cNvPr id="36"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37" name="PageNum"/>
          <p:cNvSpPr txBox="1"/>
          <p:nvPr/>
        </p:nvSpPr>
        <p:spPr>
          <a:xfrm>
            <a:off x="10058400" y="6647688"/>
            <a:ext cx="1463040" cy="201168"/>
          </a:xfrm>
          <a:prstGeom prst="rect">
            <a:avLst/>
          </a:prstGeom>
          <a:noFill/>
        </p:spPr>
        <p:txBody>
          <a:bodyPr wrap="square" lIns="0" tIns="0" rIns="0" bIns="0" anchor="t">
            <a:spAutoFit/>
          </a:bodyPr>
          <a:lstStyle/>
          <a:p>
            <a:r>
              <a:t>14 / 52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A budget is not a boundary</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Every spend control has a durability too — and the cheapest durable one is still a file you commit.</a:t>
            </a:r>
          </a:p>
        </p:txBody>
      </p:sp>
      <p:sp>
        <p:nvSpPr>
          <p:cNvPr id="4"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5" name="PageNum"/>
          <p:cNvSpPr txBox="1"/>
          <p:nvPr/>
        </p:nvSpPr>
        <p:spPr>
          <a:xfrm>
            <a:off x="10058400" y="6647688"/>
            <a:ext cx="1463040" cy="201168"/>
          </a:xfrm>
          <a:prstGeom prst="rect">
            <a:avLst/>
          </a:prstGeom>
          <a:noFill/>
        </p:spPr>
        <p:txBody>
          <a:bodyPr wrap="square" lIns="0" tIns="0" rIns="0" bIns="0" anchor="t">
            <a:spAutoFit/>
          </a:bodyPr>
          <a:lstStyle/>
          <a:p>
            <a:r>
              <a:t>15 / 52</a:t>
            </a:r>
          </a:p>
        </p:txBody>
      </p:sp>
      <p:sp>
        <p:nvSpPr>
          <p:cNvPr id="6" name="B10Col0"/>
          <p:cNvSpPr/>
          <p:nvPr/>
        </p:nvSpPr>
        <p:spPr>
          <a:xfrm>
            <a:off x="329184" y="1097280"/>
            <a:ext cx="3663696" cy="27000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B10Top0"/>
          <p:cNvSpPr/>
          <p:nvPr/>
        </p:nvSpPr>
        <p:spPr>
          <a:xfrm>
            <a:off x="420624" y="1097280"/>
            <a:ext cx="3480816" cy="731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B10Hd0"/>
          <p:cNvSpPr txBox="1"/>
          <p:nvPr/>
        </p:nvSpPr>
        <p:spPr>
          <a:xfrm>
            <a:off x="493776" y="1280160"/>
            <a:ext cx="3334512" cy="274320"/>
          </a:xfrm>
          <a:prstGeom prst="rect">
            <a:avLst/>
          </a:prstGeom>
          <a:noFill/>
        </p:spPr>
        <p:txBody>
          <a:bodyPr wrap="square" lIns="0" tIns="0" rIns="0" bIns="0" anchor="t">
            <a:spAutoFit/>
          </a:bodyPr>
          <a:lstStyle/>
          <a:p>
            <a:pPr algn="l"/>
            <a:r>
              <a:rPr sz="1300" b="1" i="0">
                <a:solidFill>
                  <a:srgbClr val="DC2626"/>
                </a:solidFill>
                <a:latin typeface="Aptos Display"/>
              </a:rPr>
              <a:t>What you only said</a:t>
            </a:r>
          </a:p>
        </p:txBody>
      </p:sp>
      <p:sp>
        <p:nvSpPr>
          <p:cNvPr id="9" name="B10Scope0"/>
          <p:cNvSpPr txBox="1"/>
          <p:nvPr/>
        </p:nvSpPr>
        <p:spPr>
          <a:xfrm>
            <a:off x="493776" y="1590000"/>
            <a:ext cx="3334512" cy="200000"/>
          </a:xfrm>
          <a:prstGeom prst="rect">
            <a:avLst/>
          </a:prstGeom>
          <a:noFill/>
        </p:spPr>
        <p:txBody>
          <a:bodyPr wrap="square" lIns="0" tIns="0" rIns="0" bIns="0" anchor="t">
            <a:spAutoFit/>
          </a:bodyPr>
          <a:lstStyle/>
          <a:p>
            <a:pPr algn="l"/>
            <a:r>
              <a:rPr sz="850" b="1" i="0">
                <a:solidFill>
                  <a:srgbClr val="64748B"/>
                </a:solidFill>
                <a:latin typeface="Aptos"/>
              </a:rPr>
              <a:t>SCOPE: NOTHING</a:t>
            </a:r>
          </a:p>
        </p:txBody>
      </p:sp>
      <p:sp>
        <p:nvSpPr>
          <p:cNvPr id="10" name="B10R00"/>
          <p:cNvSpPr/>
          <p:nvPr/>
        </p:nvSpPr>
        <p:spPr>
          <a:xfrm>
            <a:off x="493776" y="1850000"/>
            <a:ext cx="3334512" cy="640000"/>
          </a:xfrm>
          <a:prstGeom prst="roundRect">
            <a:avLst>
              <a:gd name="adj" fmla="val 7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B10N00"/>
          <p:cNvSpPr/>
          <p:nvPr/>
        </p:nvSpPr>
        <p:spPr>
          <a:xfrm>
            <a:off x="585216" y="1941440"/>
            <a:ext cx="250000" cy="250000"/>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1</a:t>
            </a:r>
          </a:p>
        </p:txBody>
      </p:sp>
      <p:sp>
        <p:nvSpPr>
          <p:cNvPr id="12" name="B10M00"/>
          <p:cNvSpPr txBox="1"/>
          <p:nvPr/>
        </p:nvSpPr>
        <p:spPr>
          <a:xfrm>
            <a:off x="926656" y="1950000"/>
            <a:ext cx="2810192" cy="219456"/>
          </a:xfrm>
          <a:prstGeom prst="rect">
            <a:avLst/>
          </a:prstGeom>
          <a:noFill/>
        </p:spPr>
        <p:txBody>
          <a:bodyPr wrap="square" lIns="0" tIns="0" rIns="0" bIns="0" anchor="t">
            <a:spAutoFit/>
          </a:bodyPr>
          <a:lstStyle/>
          <a:p>
            <a:pPr algn="l"/>
            <a:r>
              <a:rPr sz="900" b="1" i="0">
                <a:solidFill>
                  <a:srgbClr val="DC2626"/>
                </a:solidFill>
                <a:latin typeface="Aptos"/>
              </a:rPr>
              <a:t>An agreed norm</a:t>
            </a:r>
          </a:p>
        </p:txBody>
      </p:sp>
      <p:sp>
        <p:nvSpPr>
          <p:cNvPr id="13" name="B10H00"/>
          <p:cNvSpPr txBox="1"/>
          <p:nvPr/>
        </p:nvSpPr>
        <p:spPr>
          <a:xfrm>
            <a:off x="926656" y="2180000"/>
            <a:ext cx="2810192" cy="219456"/>
          </a:xfrm>
          <a:prstGeom prst="rect">
            <a:avLst/>
          </a:prstGeom>
          <a:noFill/>
        </p:spPr>
        <p:txBody>
          <a:bodyPr wrap="square" lIns="0" tIns="0" rIns="0" bIns="0" anchor="t">
            <a:spAutoFit/>
          </a:bodyPr>
          <a:lstStyle/>
          <a:p>
            <a:pPr algn="l"/>
            <a:r>
              <a:rPr sz="850" b="0" i="0">
                <a:solidFill>
                  <a:srgbClr val="475569"/>
                </a:solidFill>
                <a:latin typeface="Aptos"/>
              </a:rPr>
              <a:t>Until the week gets busy</a:t>
            </a:r>
          </a:p>
        </p:txBody>
      </p:sp>
      <p:sp>
        <p:nvSpPr>
          <p:cNvPr id="14" name="B10Budgets"/>
          <p:cNvSpPr/>
          <p:nvPr/>
        </p:nvSpPr>
        <p:spPr>
          <a:xfrm>
            <a:off x="493776" y="2550000"/>
            <a:ext cx="3334512" cy="640000"/>
          </a:xfrm>
          <a:prstGeom prst="roundRect">
            <a:avLst>
              <a:gd name="adj" fmla="val 7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B10BudgetsHd"/>
          <p:cNvSpPr txBox="1"/>
          <p:nvPr/>
        </p:nvSpPr>
        <p:spPr>
          <a:xfrm>
            <a:off x="603504" y="2623152"/>
            <a:ext cx="3115056" cy="200000"/>
          </a:xfrm>
          <a:prstGeom prst="rect">
            <a:avLst/>
          </a:prstGeom>
          <a:noFill/>
        </p:spPr>
        <p:txBody>
          <a:bodyPr wrap="square" lIns="0" tIns="0" rIns="0" bIns="0" anchor="t">
            <a:spAutoFit/>
          </a:bodyPr>
          <a:lstStyle/>
          <a:p>
            <a:pPr algn="l"/>
            <a:r>
              <a:rPr sz="800" b="1" i="0">
                <a:solidFill>
                  <a:srgbClr val="DC2626"/>
                </a:solidFill>
                <a:latin typeface="Aptos"/>
              </a:rPr>
              <a:t>ALL BUDGETS. NONE OF THEM BOUNDARIES.</a:t>
            </a:r>
          </a:p>
        </p:txBody>
      </p:sp>
      <p:sp>
        <p:nvSpPr>
          <p:cNvPr id="16" name="B10Budget0"/>
          <p:cNvSpPr txBox="1"/>
          <p:nvPr/>
        </p:nvSpPr>
        <p:spPr>
          <a:xfrm>
            <a:off x="603504" y="2810000"/>
            <a:ext cx="3115056" cy="150000"/>
          </a:xfrm>
          <a:prstGeom prst="rect">
            <a:avLst/>
          </a:prstGeom>
          <a:noFill/>
        </p:spPr>
        <p:txBody>
          <a:bodyPr wrap="square" lIns="0" tIns="0" rIns="0" bIns="0" anchor="t">
            <a:spAutoFit/>
          </a:bodyPr>
          <a:lstStyle/>
          <a:p>
            <a:pPr algn="l"/>
            <a:r>
              <a:rPr sz="800" b="0" i="0">
                <a:solidFill>
                  <a:srgbClr val="475569"/>
                </a:solidFill>
                <a:latin typeface="Aptos"/>
              </a:rPr>
              <a:t>“We'll all use Sonnet for routine work”</a:t>
            </a:r>
          </a:p>
        </p:txBody>
      </p:sp>
      <p:sp>
        <p:nvSpPr>
          <p:cNvPr id="17" name="B10Budget1"/>
          <p:cNvSpPr txBox="1"/>
          <p:nvPr/>
        </p:nvSpPr>
        <p:spPr>
          <a:xfrm>
            <a:off x="603504" y="2938016"/>
            <a:ext cx="3115056" cy="150000"/>
          </a:xfrm>
          <a:prstGeom prst="rect">
            <a:avLst/>
          </a:prstGeom>
          <a:noFill/>
        </p:spPr>
        <p:txBody>
          <a:bodyPr wrap="square" lIns="0" tIns="0" rIns="0" bIns="0" anchor="t">
            <a:spAutoFit/>
          </a:bodyPr>
          <a:lstStyle/>
          <a:p>
            <a:pPr algn="l"/>
            <a:r>
              <a:rPr sz="800" b="0" i="0">
                <a:solidFill>
                  <a:srgbClr val="475569"/>
                </a:solidFill>
                <a:latin typeface="Aptos"/>
              </a:rPr>
              <a:t>“Keep your sessions short”</a:t>
            </a:r>
          </a:p>
        </p:txBody>
      </p:sp>
      <p:sp>
        <p:nvSpPr>
          <p:cNvPr id="18" name="B10Budget2"/>
          <p:cNvSpPr txBox="1"/>
          <p:nvPr/>
        </p:nvSpPr>
        <p:spPr>
          <a:xfrm>
            <a:off x="603504" y="3066032"/>
            <a:ext cx="3115056" cy="150000"/>
          </a:xfrm>
          <a:prstGeom prst="rect">
            <a:avLst/>
          </a:prstGeom>
          <a:noFill/>
        </p:spPr>
        <p:txBody>
          <a:bodyPr wrap="square" lIns="0" tIns="0" rIns="0" bIns="0" anchor="t">
            <a:spAutoFit/>
          </a:bodyPr>
          <a:lstStyle/>
          <a:p>
            <a:pPr algn="l"/>
            <a:r>
              <a:rPr sz="800" b="0" i="0">
                <a:solidFill>
                  <a:srgbClr val="475569"/>
                </a:solidFill>
                <a:latin typeface="Aptos"/>
              </a:rPr>
              <a:t>A number agreed in a planning meeting</a:t>
            </a:r>
          </a:p>
        </p:txBody>
      </p:sp>
      <p:sp>
        <p:nvSpPr>
          <p:cNvPr id="19" name="B10Foot0"/>
          <p:cNvSpPr txBox="1"/>
          <p:nvPr/>
        </p:nvSpPr>
        <p:spPr>
          <a:xfrm>
            <a:off x="493776" y="3290000"/>
            <a:ext cx="3334512" cy="480000"/>
          </a:xfrm>
          <a:prstGeom prst="rect">
            <a:avLst/>
          </a:prstGeom>
          <a:noFill/>
        </p:spPr>
        <p:txBody>
          <a:bodyPr wrap="square" lIns="0" tIns="0" rIns="0" bIns="0" anchor="t">
            <a:spAutoFit/>
          </a:bodyPr>
          <a:lstStyle/>
          <a:p>
            <a:pPr algn="l"/>
            <a:r>
              <a:rPr sz="850" b="0" i="0">
                <a:solidFill>
                  <a:srgbClr val="64748B"/>
                </a:solidFill>
                <a:latin typeface="Aptos"/>
              </a:rPr>
              <a:t>Anthropic's own diagnosis of a surprise bill: long sessions that were never cleared, or Opus left as the default model.</a:t>
            </a:r>
          </a:p>
        </p:txBody>
      </p:sp>
      <p:sp>
        <p:nvSpPr>
          <p:cNvPr id="20" name="B10Col1"/>
          <p:cNvSpPr/>
          <p:nvPr/>
        </p:nvSpPr>
        <p:spPr>
          <a:xfrm>
            <a:off x="4212336" y="1097280"/>
            <a:ext cx="3663696" cy="27000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B10Top1"/>
          <p:cNvSpPr/>
          <p:nvPr/>
        </p:nvSpPr>
        <p:spPr>
          <a:xfrm>
            <a:off x="4303776" y="1097280"/>
            <a:ext cx="3480816" cy="731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B10Hd1"/>
          <p:cNvSpPr txBox="1"/>
          <p:nvPr/>
        </p:nvSpPr>
        <p:spPr>
          <a:xfrm>
            <a:off x="4376928" y="1280160"/>
            <a:ext cx="3334512" cy="274320"/>
          </a:xfrm>
          <a:prstGeom prst="rect">
            <a:avLst/>
          </a:prstGeom>
          <a:noFill/>
        </p:spPr>
        <p:txBody>
          <a:bodyPr wrap="square" lIns="0" tIns="0" rIns="0" bIns="0" anchor="t">
            <a:spAutoFit/>
          </a:bodyPr>
          <a:lstStyle/>
          <a:p>
            <a:pPr algn="l"/>
            <a:r>
              <a:rPr sz="1300" b="1" i="0">
                <a:solidFill>
                  <a:srgbClr val="1565C0"/>
                </a:solidFill>
                <a:latin typeface="Aptos Display"/>
              </a:rPr>
              <a:t>What you committed</a:t>
            </a:r>
          </a:p>
        </p:txBody>
      </p:sp>
      <p:sp>
        <p:nvSpPr>
          <p:cNvPr id="23" name="B10Scope1"/>
          <p:cNvSpPr txBox="1"/>
          <p:nvPr/>
        </p:nvSpPr>
        <p:spPr>
          <a:xfrm>
            <a:off x="4376928" y="1590000"/>
            <a:ext cx="3334512" cy="200000"/>
          </a:xfrm>
          <a:prstGeom prst="rect">
            <a:avLst/>
          </a:prstGeom>
          <a:noFill/>
        </p:spPr>
        <p:txBody>
          <a:bodyPr wrap="square" lIns="0" tIns="0" rIns="0" bIns="0" anchor="t">
            <a:spAutoFit/>
          </a:bodyPr>
          <a:lstStyle/>
          <a:p>
            <a:pPr algn="l"/>
            <a:r>
              <a:rPr sz="850" b="1" i="0">
                <a:solidFill>
                  <a:srgbClr val="64748B"/>
                </a:solidFill>
                <a:latin typeface="Aptos"/>
              </a:rPr>
              <a:t>SCOPE: THIS PROJECT, EVERY SESSION</a:t>
            </a:r>
          </a:p>
        </p:txBody>
      </p:sp>
      <p:sp>
        <p:nvSpPr>
          <p:cNvPr id="24" name="B10R10"/>
          <p:cNvSpPr/>
          <p:nvPr/>
        </p:nvSpPr>
        <p:spPr>
          <a:xfrm>
            <a:off x="4376928" y="1850000"/>
            <a:ext cx="3334512" cy="640000"/>
          </a:xfrm>
          <a:prstGeom prst="roundRect">
            <a:avLst>
              <a:gd name="adj" fmla="val 7000"/>
            </a:avLst>
          </a:prstGeom>
          <a:solidFill>
            <a:srgbClr val="FFF7ED"/>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B10N10"/>
          <p:cNvSpPr/>
          <p:nvPr/>
        </p:nvSpPr>
        <p:spPr>
          <a:xfrm>
            <a:off x="4468368" y="1941440"/>
            <a:ext cx="250000" cy="250000"/>
          </a:xfrm>
          <a:prstGeom prst="ellipse">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2</a:t>
            </a:r>
          </a:p>
        </p:txBody>
      </p:sp>
      <p:sp>
        <p:nvSpPr>
          <p:cNvPr id="26" name="B10M10"/>
          <p:cNvSpPr txBox="1"/>
          <p:nvPr/>
        </p:nvSpPr>
        <p:spPr>
          <a:xfrm>
            <a:off x="4809808" y="1950000"/>
            <a:ext cx="2810192" cy="219456"/>
          </a:xfrm>
          <a:prstGeom prst="rect">
            <a:avLst/>
          </a:prstGeom>
          <a:noFill/>
        </p:spPr>
        <p:txBody>
          <a:bodyPr wrap="square" lIns="0" tIns="0" rIns="0" bIns="0" anchor="t">
            <a:spAutoFit/>
          </a:bodyPr>
          <a:lstStyle/>
          <a:p>
            <a:pPr algn="l"/>
            <a:r>
              <a:rPr sz="900" b="1" i="0">
                <a:solidFill>
                  <a:srgbClr val="D4622B"/>
                </a:solidFill>
                <a:latin typeface="Consolas"/>
              </a:rPr>
              <a:t>/clear · /effort · /model</a:t>
            </a:r>
          </a:p>
        </p:txBody>
      </p:sp>
      <p:sp>
        <p:nvSpPr>
          <p:cNvPr id="27" name="B10H10"/>
          <p:cNvSpPr txBox="1"/>
          <p:nvPr/>
        </p:nvSpPr>
        <p:spPr>
          <a:xfrm>
            <a:off x="4809808" y="2180000"/>
            <a:ext cx="2810192" cy="219456"/>
          </a:xfrm>
          <a:prstGeom prst="rect">
            <a:avLst/>
          </a:prstGeom>
          <a:noFill/>
        </p:spPr>
        <p:txBody>
          <a:bodyPr wrap="square" lIns="0" tIns="0" rIns="0" bIns="0" anchor="t">
            <a:spAutoFit/>
          </a:bodyPr>
          <a:lstStyle/>
          <a:p>
            <a:pPr algn="l"/>
            <a:r>
              <a:rPr sz="850" b="0" i="0">
                <a:solidFill>
                  <a:srgbClr val="475569"/>
                </a:solidFill>
                <a:latin typeface="Aptos"/>
              </a:rPr>
              <a:t>This session only</a:t>
            </a:r>
          </a:p>
        </p:txBody>
      </p:sp>
      <p:sp>
        <p:nvSpPr>
          <p:cNvPr id="28" name="B10R11"/>
          <p:cNvSpPr/>
          <p:nvPr/>
        </p:nvSpPr>
        <p:spPr>
          <a:xfrm>
            <a:off x="4376928" y="2550000"/>
            <a:ext cx="3334512" cy="640000"/>
          </a:xfrm>
          <a:prstGeom prst="roundRect">
            <a:avLst>
              <a:gd name="adj" fmla="val 7000"/>
            </a:avLst>
          </a:prstGeom>
          <a:solidFill>
            <a:srgbClr val="EFF6FF"/>
          </a:solidFill>
          <a:ln w="1270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B10N11"/>
          <p:cNvSpPr/>
          <p:nvPr/>
        </p:nvSpPr>
        <p:spPr>
          <a:xfrm>
            <a:off x="4468368" y="2641440"/>
            <a:ext cx="250000" cy="25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3</a:t>
            </a:r>
          </a:p>
        </p:txBody>
      </p:sp>
      <p:sp>
        <p:nvSpPr>
          <p:cNvPr id="30" name="B10M11"/>
          <p:cNvSpPr txBox="1"/>
          <p:nvPr/>
        </p:nvSpPr>
        <p:spPr>
          <a:xfrm>
            <a:off x="4809808" y="2650000"/>
            <a:ext cx="2810192" cy="219456"/>
          </a:xfrm>
          <a:prstGeom prst="rect">
            <a:avLst/>
          </a:prstGeom>
          <a:noFill/>
        </p:spPr>
        <p:txBody>
          <a:bodyPr wrap="square" lIns="0" tIns="0" rIns="0" bIns="0" anchor="t">
            <a:spAutoFit/>
          </a:bodyPr>
          <a:lstStyle/>
          <a:p>
            <a:pPr algn="l"/>
            <a:r>
              <a:rPr sz="900" b="1" i="0">
                <a:solidFill>
                  <a:srgbClr val="1565C0"/>
                </a:solidFill>
                <a:latin typeface="Consolas"/>
              </a:rPr>
              <a:t>.claude/settings.json</a:t>
            </a:r>
          </a:p>
        </p:txBody>
      </p:sp>
      <p:sp>
        <p:nvSpPr>
          <p:cNvPr id="31" name="B10H11"/>
          <p:cNvSpPr txBox="1"/>
          <p:nvPr/>
        </p:nvSpPr>
        <p:spPr>
          <a:xfrm>
            <a:off x="4809808" y="2880000"/>
            <a:ext cx="2810192" cy="219456"/>
          </a:xfrm>
          <a:prstGeom prst="rect">
            <a:avLst/>
          </a:prstGeom>
          <a:noFill/>
        </p:spPr>
        <p:txBody>
          <a:bodyPr wrap="square" lIns="0" tIns="0" rIns="0" bIns="0" anchor="t">
            <a:spAutoFit/>
          </a:bodyPr>
          <a:lstStyle/>
          <a:p>
            <a:pPr algn="l"/>
            <a:r>
              <a:rPr sz="850" b="0" i="0">
                <a:solidFill>
                  <a:srgbClr val="475569"/>
                </a:solidFill>
                <a:latin typeface="Aptos"/>
              </a:rPr>
              <a:t>Every session, everyone</a:t>
            </a:r>
          </a:p>
        </p:txBody>
      </p:sp>
      <p:sp>
        <p:nvSpPr>
          <p:cNvPr id="32" name="B10Foot1"/>
          <p:cNvSpPr txBox="1"/>
          <p:nvPr/>
        </p:nvSpPr>
        <p:spPr>
          <a:xfrm>
            <a:off x="4376928" y="3290000"/>
            <a:ext cx="3334512" cy="480000"/>
          </a:xfrm>
          <a:prstGeom prst="rect">
            <a:avLst/>
          </a:prstGeom>
          <a:noFill/>
        </p:spPr>
        <p:txBody>
          <a:bodyPr wrap="square" lIns="0" tIns="0" rIns="0" bIns="0" anchor="t">
            <a:spAutoFit/>
          </a:bodyPr>
          <a:lstStyle/>
          <a:p>
            <a:pPr algn="l"/>
            <a:r>
              <a:rPr sz="850" b="0" i="0">
                <a:solidFill>
                  <a:srgbClr val="64748B"/>
                </a:solidFill>
                <a:latin typeface="Aptos"/>
              </a:rPr>
              <a:t>A default in settings.json survives a new session and a new colleague. A habit survives neither. Keep CLAUDE.md under 200 lines.</a:t>
            </a:r>
          </a:p>
        </p:txBody>
      </p:sp>
      <p:sp>
        <p:nvSpPr>
          <p:cNvPr id="33" name="B10Col2"/>
          <p:cNvSpPr/>
          <p:nvPr/>
        </p:nvSpPr>
        <p:spPr>
          <a:xfrm>
            <a:off x="8095488" y="1097280"/>
            <a:ext cx="3663696" cy="27000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B10Top2"/>
          <p:cNvSpPr/>
          <p:nvPr/>
        </p:nvSpPr>
        <p:spPr>
          <a:xfrm>
            <a:off x="8186928" y="1097280"/>
            <a:ext cx="3480816"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B10Hd2"/>
          <p:cNvSpPr txBox="1"/>
          <p:nvPr/>
        </p:nvSpPr>
        <p:spPr>
          <a:xfrm>
            <a:off x="8260080" y="1280160"/>
            <a:ext cx="3334512" cy="274320"/>
          </a:xfrm>
          <a:prstGeom prst="rect">
            <a:avLst/>
          </a:prstGeom>
          <a:noFill/>
        </p:spPr>
        <p:txBody>
          <a:bodyPr wrap="square" lIns="0" tIns="0" rIns="0" bIns="0" anchor="t">
            <a:spAutoFit/>
          </a:bodyPr>
          <a:lstStyle/>
          <a:p>
            <a:pPr algn="l"/>
            <a:r>
              <a:rPr sz="1300" b="1" i="0">
                <a:solidFill>
                  <a:srgbClr val="059669"/>
                </a:solidFill>
                <a:latin typeface="Aptos Display"/>
              </a:rPr>
              <a:t>What cannot be exceeded</a:t>
            </a:r>
          </a:p>
        </p:txBody>
      </p:sp>
      <p:sp>
        <p:nvSpPr>
          <p:cNvPr id="36" name="B10Scope2"/>
          <p:cNvSpPr txBox="1"/>
          <p:nvPr/>
        </p:nvSpPr>
        <p:spPr>
          <a:xfrm>
            <a:off x="8260080" y="1590000"/>
            <a:ext cx="3334512" cy="200000"/>
          </a:xfrm>
          <a:prstGeom prst="rect">
            <a:avLst/>
          </a:prstGeom>
          <a:noFill/>
        </p:spPr>
        <p:txBody>
          <a:bodyPr wrap="square" lIns="0" tIns="0" rIns="0" bIns="0" anchor="t">
            <a:spAutoFit/>
          </a:bodyPr>
          <a:lstStyle/>
          <a:p>
            <a:pPr algn="l"/>
            <a:r>
              <a:rPr sz="850" b="1" i="0">
                <a:solidFill>
                  <a:srgbClr val="64748B"/>
                </a:solidFill>
                <a:latin typeface="Aptos"/>
              </a:rPr>
              <a:t>SCOPE: THE FLEET, AND A HARD STOP</a:t>
            </a:r>
          </a:p>
        </p:txBody>
      </p:sp>
      <p:sp>
        <p:nvSpPr>
          <p:cNvPr id="37" name="B10R20"/>
          <p:cNvSpPr/>
          <p:nvPr/>
        </p:nvSpPr>
        <p:spPr>
          <a:xfrm>
            <a:off x="8260080" y="1850000"/>
            <a:ext cx="3334512" cy="640000"/>
          </a:xfrm>
          <a:prstGeom prst="roundRect">
            <a:avLst>
              <a:gd name="adj" fmla="val 7000"/>
            </a:avLst>
          </a:prstGeom>
          <a:solidFill>
            <a:srgbClr val="F5F3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B10N20"/>
          <p:cNvSpPr/>
          <p:nvPr/>
        </p:nvSpPr>
        <p:spPr>
          <a:xfrm>
            <a:off x="8351520" y="1941440"/>
            <a:ext cx="250000" cy="25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4</a:t>
            </a:r>
          </a:p>
        </p:txBody>
      </p:sp>
      <p:sp>
        <p:nvSpPr>
          <p:cNvPr id="39" name="B10M20"/>
          <p:cNvSpPr txBox="1"/>
          <p:nvPr/>
        </p:nvSpPr>
        <p:spPr>
          <a:xfrm>
            <a:off x="8692960" y="1950000"/>
            <a:ext cx="2810192" cy="219456"/>
          </a:xfrm>
          <a:prstGeom prst="rect">
            <a:avLst/>
          </a:prstGeom>
          <a:noFill/>
        </p:spPr>
        <p:txBody>
          <a:bodyPr wrap="square" lIns="0" tIns="0" rIns="0" bIns="0" anchor="t">
            <a:spAutoFit/>
          </a:bodyPr>
          <a:lstStyle/>
          <a:p>
            <a:pPr algn="l"/>
            <a:r>
              <a:rPr sz="900" b="1" i="0">
                <a:solidFill>
                  <a:srgbClr val="7C3AED"/>
                </a:solidFill>
                <a:latin typeface="Aptos"/>
              </a:rPr>
              <a:t>Admin or workspace limits</a:t>
            </a:r>
          </a:p>
        </p:txBody>
      </p:sp>
      <p:sp>
        <p:nvSpPr>
          <p:cNvPr id="40" name="B10H20"/>
          <p:cNvSpPr txBox="1"/>
          <p:nvPr/>
        </p:nvSpPr>
        <p:spPr>
          <a:xfrm>
            <a:off x="8692960" y="2180000"/>
            <a:ext cx="2810192" cy="219456"/>
          </a:xfrm>
          <a:prstGeom prst="rect">
            <a:avLst/>
          </a:prstGeom>
          <a:noFill/>
        </p:spPr>
        <p:txBody>
          <a:bodyPr wrap="square" lIns="0" tIns="0" rIns="0" bIns="0" anchor="t">
            <a:spAutoFit/>
          </a:bodyPr>
          <a:lstStyle/>
          <a:p>
            <a:pPr algn="l"/>
            <a:r>
              <a:rPr sz="850" b="0" i="0">
                <a:solidFill>
                  <a:srgbClr val="475569"/>
                </a:solidFill>
                <a:latin typeface="Aptos"/>
              </a:rPr>
              <a:t>Org, group or member — no opt-out</a:t>
            </a:r>
          </a:p>
        </p:txBody>
      </p:sp>
      <p:sp>
        <p:nvSpPr>
          <p:cNvPr id="41" name="B10R21"/>
          <p:cNvSpPr/>
          <p:nvPr/>
        </p:nvSpPr>
        <p:spPr>
          <a:xfrm>
            <a:off x="8260080" y="2550000"/>
            <a:ext cx="3334512" cy="640000"/>
          </a:xfrm>
          <a:prstGeom prst="roundRect">
            <a:avLst>
              <a:gd name="adj" fmla="val 7000"/>
            </a:avLst>
          </a:prstGeom>
          <a:solidFill>
            <a:srgbClr val="ECFDF5"/>
          </a:solidFill>
          <a:ln w="12700">
            <a:solidFill>
              <a:srgbClr val="0596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B10N21"/>
          <p:cNvSpPr/>
          <p:nvPr/>
        </p:nvSpPr>
        <p:spPr>
          <a:xfrm>
            <a:off x="8351520" y="2641440"/>
            <a:ext cx="250000" cy="25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5</a:t>
            </a:r>
          </a:p>
        </p:txBody>
      </p:sp>
      <p:sp>
        <p:nvSpPr>
          <p:cNvPr id="43" name="B10M21"/>
          <p:cNvSpPr txBox="1"/>
          <p:nvPr/>
        </p:nvSpPr>
        <p:spPr>
          <a:xfrm>
            <a:off x="8692960" y="2650000"/>
            <a:ext cx="2810192" cy="219456"/>
          </a:xfrm>
          <a:prstGeom prst="rect">
            <a:avLst/>
          </a:prstGeom>
          <a:noFill/>
        </p:spPr>
        <p:txBody>
          <a:bodyPr wrap="square" lIns="0" tIns="0" rIns="0" bIns="0" anchor="t">
            <a:spAutoFit/>
          </a:bodyPr>
          <a:lstStyle/>
          <a:p>
            <a:pPr algn="l"/>
            <a:r>
              <a:rPr sz="900" b="1" i="0">
                <a:solidFill>
                  <a:srgbClr val="059669"/>
                </a:solidFill>
                <a:latin typeface="Consolas"/>
              </a:rPr>
              <a:t>--max-budget-usd</a:t>
            </a:r>
          </a:p>
        </p:txBody>
      </p:sp>
      <p:sp>
        <p:nvSpPr>
          <p:cNvPr id="44" name="B10H21"/>
          <p:cNvSpPr txBox="1"/>
          <p:nvPr/>
        </p:nvSpPr>
        <p:spPr>
          <a:xfrm>
            <a:off x="8692960" y="2880000"/>
            <a:ext cx="2810192" cy="219456"/>
          </a:xfrm>
          <a:prstGeom prst="rect">
            <a:avLst/>
          </a:prstGeom>
          <a:noFill/>
        </p:spPr>
        <p:txBody>
          <a:bodyPr wrap="square" lIns="0" tIns="0" rIns="0" bIns="0" anchor="t">
            <a:spAutoFit/>
          </a:bodyPr>
          <a:lstStyle/>
          <a:p>
            <a:pPr algn="l"/>
            <a:r>
              <a:rPr sz="850" b="0" i="0">
                <a:solidFill>
                  <a:srgbClr val="475569"/>
                </a:solidFill>
                <a:latin typeface="Aptos"/>
              </a:rPr>
              <a:t>The run stops</a:t>
            </a:r>
          </a:p>
        </p:txBody>
      </p:sp>
      <p:sp>
        <p:nvSpPr>
          <p:cNvPr id="45" name="B10Foot2"/>
          <p:cNvSpPr txBox="1"/>
          <p:nvPr/>
        </p:nvSpPr>
        <p:spPr>
          <a:xfrm>
            <a:off x="8260080" y="3290000"/>
            <a:ext cx="3334512" cy="480000"/>
          </a:xfrm>
          <a:prstGeom prst="rect">
            <a:avLst/>
          </a:prstGeom>
          <a:noFill/>
        </p:spPr>
        <p:txBody>
          <a:bodyPr wrap="square" lIns="0" tIns="0" rIns="0" bIns="0" anchor="t">
            <a:spAutoFit/>
          </a:bodyPr>
          <a:lstStyle/>
          <a:p>
            <a:pPr algn="l"/>
            <a:r>
              <a:rPr sz="850" b="0" i="0">
                <a:solidFill>
                  <a:srgbClr val="64748B"/>
                </a:solidFill>
                <a:latin typeface="Aptos"/>
              </a:rPr>
              <a:t>Rung 5 is the only control in this module that is purely numeric, so it cannot be mis-phrased. It is also CI-only — it needs --print.</a:t>
            </a:r>
          </a:p>
        </p:txBody>
      </p:sp>
      <p:sp>
        <p:nvSpPr>
          <p:cNvPr id="46" name="B10Leak"/>
          <p:cNvSpPr/>
          <p:nvPr/>
        </p:nvSpPr>
        <p:spPr>
          <a:xfrm>
            <a:off x="329184" y="3960000"/>
            <a:ext cx="7500000" cy="125000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B10LeakLabel"/>
          <p:cNvSpPr txBox="1"/>
          <p:nvPr/>
        </p:nvSpPr>
        <p:spPr>
          <a:xfrm>
            <a:off x="493776" y="4042296"/>
            <a:ext cx="7170816" cy="237744"/>
          </a:xfrm>
          <a:prstGeom prst="rect">
            <a:avLst/>
          </a:prstGeom>
          <a:noFill/>
        </p:spPr>
        <p:txBody>
          <a:bodyPr wrap="square" lIns="0" tIns="0" rIns="0" bIns="0" anchor="t">
            <a:spAutoFit/>
          </a:bodyPr>
          <a:lstStyle/>
          <a:p>
            <a:pPr algn="l"/>
            <a:r>
              <a:rPr sz="950" b="1" i="0">
                <a:solidFill>
                  <a:srgbClr val="64748B"/>
                </a:solidFill>
                <a:latin typeface="Aptos"/>
              </a:rPr>
              <a:t>FIND THE LEAK BEFORE YOU CUT ANYTHING</a:t>
            </a:r>
          </a:p>
        </p:txBody>
      </p:sp>
      <p:sp>
        <p:nvSpPr>
          <p:cNvPr id="48" name="B10LeakN0"/>
          <p:cNvSpPr txBox="1"/>
          <p:nvPr/>
        </p:nvSpPr>
        <p:spPr>
          <a:xfrm>
            <a:off x="493776" y="4280000"/>
            <a:ext cx="1100000" cy="219456"/>
          </a:xfrm>
          <a:prstGeom prst="rect">
            <a:avLst/>
          </a:prstGeom>
          <a:noFill/>
        </p:spPr>
        <p:txBody>
          <a:bodyPr wrap="square" lIns="0" tIns="0" rIns="0" bIns="0" anchor="t">
            <a:spAutoFit/>
          </a:bodyPr>
          <a:lstStyle/>
          <a:p>
            <a:pPr algn="l"/>
            <a:r>
              <a:rPr sz="950" b="1" i="0" dirty="0">
                <a:solidFill>
                  <a:srgbClr val="1565C0"/>
                </a:solidFill>
                <a:latin typeface="Consolas"/>
              </a:rPr>
              <a:t>/usage</a:t>
            </a:r>
          </a:p>
        </p:txBody>
      </p:sp>
      <p:sp>
        <p:nvSpPr>
          <p:cNvPr id="49" name="B10LeakD0"/>
          <p:cNvSpPr txBox="1"/>
          <p:nvPr/>
        </p:nvSpPr>
        <p:spPr>
          <a:xfrm>
            <a:off x="1693776" y="4280000"/>
            <a:ext cx="5970816" cy="320000"/>
          </a:xfrm>
          <a:prstGeom prst="rect">
            <a:avLst/>
          </a:prstGeom>
          <a:noFill/>
        </p:spPr>
        <p:txBody>
          <a:bodyPr wrap="square" lIns="0" tIns="0" rIns="0" bIns="0" anchor="t">
            <a:spAutoFit/>
          </a:bodyPr>
          <a:lstStyle/>
          <a:p>
            <a:pPr algn="l"/>
            <a:r>
              <a:rPr sz="900" b="0" i="0">
                <a:solidFill>
                  <a:srgbClr val="475569"/>
                </a:solidFill>
                <a:latin typeface="Aptos"/>
              </a:rPr>
              <a:t>Attributes recent usage to individual skills, subagents, plugins and MCP servers — and flags any behaviour responsible for 10% or more</a:t>
            </a:r>
          </a:p>
        </p:txBody>
      </p:sp>
      <p:sp>
        <p:nvSpPr>
          <p:cNvPr id="50" name="B10LeakN1"/>
          <p:cNvSpPr txBox="1"/>
          <p:nvPr/>
        </p:nvSpPr>
        <p:spPr>
          <a:xfrm>
            <a:off x="493776" y="4640000"/>
            <a:ext cx="1100000" cy="219456"/>
          </a:xfrm>
          <a:prstGeom prst="rect">
            <a:avLst/>
          </a:prstGeom>
          <a:noFill/>
        </p:spPr>
        <p:txBody>
          <a:bodyPr wrap="square" lIns="0" tIns="0" rIns="0" bIns="0" anchor="t">
            <a:spAutoFit/>
          </a:bodyPr>
          <a:lstStyle/>
          <a:p>
            <a:pPr algn="l"/>
            <a:r>
              <a:rPr sz="950" b="1" i="0">
                <a:solidFill>
                  <a:srgbClr val="1565C0"/>
                </a:solidFill>
                <a:latin typeface="Consolas"/>
              </a:rPr>
              <a:t>/context</a:t>
            </a:r>
          </a:p>
        </p:txBody>
      </p:sp>
      <p:sp>
        <p:nvSpPr>
          <p:cNvPr id="51" name="B10LeakD1"/>
          <p:cNvSpPr txBox="1"/>
          <p:nvPr/>
        </p:nvSpPr>
        <p:spPr>
          <a:xfrm>
            <a:off x="1693776" y="4640000"/>
            <a:ext cx="5970816" cy="320000"/>
          </a:xfrm>
          <a:prstGeom prst="rect">
            <a:avLst/>
          </a:prstGeom>
          <a:noFill/>
        </p:spPr>
        <p:txBody>
          <a:bodyPr wrap="square" lIns="0" tIns="0" rIns="0" bIns="0" anchor="t">
            <a:spAutoFit/>
          </a:bodyPr>
          <a:lstStyle/>
          <a:p>
            <a:pPr algn="l"/>
            <a:r>
              <a:rPr sz="900" b="0" i="0">
                <a:solidFill>
                  <a:srgbClr val="475569"/>
                </a:solidFill>
                <a:latin typeface="Aptos"/>
              </a:rPr>
              <a:t>What is loaded right now, and what it costs you</a:t>
            </a:r>
          </a:p>
        </p:txBody>
      </p:sp>
      <p:sp>
        <p:nvSpPr>
          <p:cNvPr id="52" name="B10LeakNote"/>
          <p:cNvSpPr txBox="1"/>
          <p:nvPr/>
        </p:nvSpPr>
        <p:spPr>
          <a:xfrm>
            <a:off x="493776" y="4970000"/>
            <a:ext cx="7170816" cy="200000"/>
          </a:xfrm>
          <a:prstGeom prst="rect">
            <a:avLst/>
          </a:prstGeom>
          <a:noFill/>
        </p:spPr>
        <p:txBody>
          <a:bodyPr wrap="square" lIns="0" tIns="0" rIns="0" bIns="0" anchor="t">
            <a:spAutoFit/>
          </a:bodyPr>
          <a:lstStyle/>
          <a:p>
            <a:pPr algn="l"/>
            <a:r>
              <a:rPr sz="900" b="1" i="0">
                <a:solidFill>
                  <a:srgbClr val="1A2332"/>
                </a:solidFill>
                <a:latin typeface="Aptos"/>
              </a:rPr>
              <a:t>“Our MCP servers are expensive” is a claim.  </a:t>
            </a:r>
            <a:r>
              <a:rPr sz="900" b="0" i="0">
                <a:solidFill>
                  <a:srgbClr val="475569"/>
                </a:solidFill>
                <a:latin typeface="Aptos"/>
              </a:rPr>
              <a:t>A percentage is evidence.</a:t>
            </a:r>
          </a:p>
        </p:txBody>
      </p:sp>
      <p:sp>
        <p:nvSpPr>
          <p:cNvPr id="53" name="B10Budget"/>
          <p:cNvSpPr/>
          <p:nvPr/>
        </p:nvSpPr>
        <p:spPr>
          <a:xfrm>
            <a:off x="8048640" y="3960000"/>
            <a:ext cx="3710544" cy="125000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B10BudgetLabel"/>
          <p:cNvSpPr txBox="1"/>
          <p:nvPr/>
        </p:nvSpPr>
        <p:spPr>
          <a:xfrm>
            <a:off x="8213232" y="4042296"/>
            <a:ext cx="3381360" cy="237744"/>
          </a:xfrm>
          <a:prstGeom prst="rect">
            <a:avLst/>
          </a:prstGeom>
          <a:noFill/>
        </p:spPr>
        <p:txBody>
          <a:bodyPr wrap="square" lIns="0" tIns="0" rIns="0" bIns="0" anchor="t">
            <a:spAutoFit/>
          </a:bodyPr>
          <a:lstStyle/>
          <a:p>
            <a:pPr algn="l"/>
            <a:r>
              <a:rPr sz="950" b="1" i="0">
                <a:solidFill>
                  <a:srgbClr val="64748B"/>
                </a:solidFill>
                <a:latin typeface="Aptos"/>
              </a:rPr>
              <a:t>WHAT TO BUDGET</a:t>
            </a:r>
          </a:p>
        </p:txBody>
      </p:sp>
      <p:sp>
        <p:nvSpPr>
          <p:cNvPr id="55" name="B10Fig0"/>
          <p:cNvSpPr txBox="1"/>
          <p:nvPr/>
        </p:nvSpPr>
        <p:spPr>
          <a:xfrm>
            <a:off x="8213232" y="4280000"/>
            <a:ext cx="900000" cy="190000"/>
          </a:xfrm>
          <a:prstGeom prst="rect">
            <a:avLst/>
          </a:prstGeom>
          <a:noFill/>
        </p:spPr>
        <p:txBody>
          <a:bodyPr wrap="square" lIns="0" tIns="0" rIns="0" bIns="0" anchor="t">
            <a:spAutoFit/>
          </a:bodyPr>
          <a:lstStyle/>
          <a:p>
            <a:pPr algn="r"/>
            <a:r>
              <a:rPr sz="900" b="1" i="0">
                <a:solidFill>
                  <a:srgbClr val="1A2332"/>
                </a:solidFill>
                <a:latin typeface="Consolas"/>
              </a:rPr>
              <a:t>~$13</a:t>
            </a:r>
          </a:p>
        </p:txBody>
      </p:sp>
      <p:sp>
        <p:nvSpPr>
          <p:cNvPr id="56" name="B10FigD0"/>
          <p:cNvSpPr txBox="1"/>
          <p:nvPr/>
        </p:nvSpPr>
        <p:spPr>
          <a:xfrm>
            <a:off x="9213232" y="4280000"/>
            <a:ext cx="2381360" cy="190000"/>
          </a:xfrm>
          <a:prstGeom prst="rect">
            <a:avLst/>
          </a:prstGeom>
          <a:noFill/>
        </p:spPr>
        <p:txBody>
          <a:bodyPr wrap="square" lIns="0" tIns="0" rIns="0" bIns="0" anchor="t">
            <a:spAutoFit/>
          </a:bodyPr>
          <a:lstStyle/>
          <a:p>
            <a:pPr algn="l"/>
            <a:r>
              <a:rPr sz="800" b="0" i="0">
                <a:solidFill>
                  <a:srgbClr val="475569"/>
                </a:solidFill>
                <a:latin typeface="Aptos"/>
              </a:rPr>
              <a:t>per developer, per active day</a:t>
            </a:r>
          </a:p>
        </p:txBody>
      </p:sp>
      <p:sp>
        <p:nvSpPr>
          <p:cNvPr id="57" name="B10Fig1"/>
          <p:cNvSpPr txBox="1"/>
          <p:nvPr/>
        </p:nvSpPr>
        <p:spPr>
          <a:xfrm>
            <a:off x="8213232" y="4490000"/>
            <a:ext cx="900000" cy="190000"/>
          </a:xfrm>
          <a:prstGeom prst="rect">
            <a:avLst/>
          </a:prstGeom>
          <a:noFill/>
        </p:spPr>
        <p:txBody>
          <a:bodyPr wrap="square" lIns="0" tIns="0" rIns="0" bIns="0" anchor="t">
            <a:spAutoFit/>
          </a:bodyPr>
          <a:lstStyle/>
          <a:p>
            <a:pPr algn="r"/>
            <a:r>
              <a:rPr sz="900" b="1" i="0">
                <a:solidFill>
                  <a:srgbClr val="1A2332"/>
                </a:solidFill>
                <a:latin typeface="Consolas"/>
              </a:rPr>
              <a:t>$150–250</a:t>
            </a:r>
          </a:p>
        </p:txBody>
      </p:sp>
      <p:sp>
        <p:nvSpPr>
          <p:cNvPr id="58" name="B10FigD1"/>
          <p:cNvSpPr txBox="1"/>
          <p:nvPr/>
        </p:nvSpPr>
        <p:spPr>
          <a:xfrm>
            <a:off x="9213232" y="4490000"/>
            <a:ext cx="2381360" cy="190000"/>
          </a:xfrm>
          <a:prstGeom prst="rect">
            <a:avLst/>
          </a:prstGeom>
          <a:noFill/>
        </p:spPr>
        <p:txBody>
          <a:bodyPr wrap="square" lIns="0" tIns="0" rIns="0" bIns="0" anchor="t">
            <a:spAutoFit/>
          </a:bodyPr>
          <a:lstStyle/>
          <a:p>
            <a:pPr algn="l"/>
            <a:r>
              <a:rPr sz="800" b="0" i="0">
                <a:solidFill>
                  <a:srgbClr val="475569"/>
                </a:solidFill>
                <a:latin typeface="Aptos"/>
              </a:rPr>
              <a:t>per developer, per month</a:t>
            </a:r>
          </a:p>
        </p:txBody>
      </p:sp>
      <p:sp>
        <p:nvSpPr>
          <p:cNvPr id="59" name="B10Fig2"/>
          <p:cNvSpPr txBox="1"/>
          <p:nvPr/>
        </p:nvSpPr>
        <p:spPr>
          <a:xfrm>
            <a:off x="8213232" y="4700000"/>
            <a:ext cx="900000" cy="190000"/>
          </a:xfrm>
          <a:prstGeom prst="rect">
            <a:avLst/>
          </a:prstGeom>
          <a:noFill/>
        </p:spPr>
        <p:txBody>
          <a:bodyPr wrap="square" lIns="0" tIns="0" rIns="0" bIns="0" anchor="t">
            <a:spAutoFit/>
          </a:bodyPr>
          <a:lstStyle/>
          <a:p>
            <a:pPr algn="r"/>
            <a:r>
              <a:rPr sz="900" b="1" i="0">
                <a:solidFill>
                  <a:srgbClr val="1A2332"/>
                </a:solidFill>
                <a:latin typeface="Consolas"/>
              </a:rPr>
              <a:t>under $30</a:t>
            </a:r>
          </a:p>
        </p:txBody>
      </p:sp>
      <p:sp>
        <p:nvSpPr>
          <p:cNvPr id="60" name="B10FigD2"/>
          <p:cNvSpPr txBox="1"/>
          <p:nvPr/>
        </p:nvSpPr>
        <p:spPr>
          <a:xfrm>
            <a:off x="9213232" y="4700000"/>
            <a:ext cx="2381360" cy="190000"/>
          </a:xfrm>
          <a:prstGeom prst="rect">
            <a:avLst/>
          </a:prstGeom>
          <a:noFill/>
        </p:spPr>
        <p:txBody>
          <a:bodyPr wrap="square" lIns="0" tIns="0" rIns="0" bIns="0" anchor="t">
            <a:spAutoFit/>
          </a:bodyPr>
          <a:lstStyle/>
          <a:p>
            <a:pPr algn="l"/>
            <a:r>
              <a:rPr sz="800" b="0" i="0">
                <a:solidFill>
                  <a:srgbClr val="475569"/>
                </a:solidFill>
                <a:latin typeface="Aptos"/>
              </a:rPr>
              <a:t>per active day, 90% of users</a:t>
            </a:r>
          </a:p>
        </p:txBody>
      </p:sp>
      <p:sp>
        <p:nvSpPr>
          <p:cNvPr id="61" name="B10BudgetNote"/>
          <p:cNvSpPr txBox="1"/>
          <p:nvPr/>
        </p:nvSpPr>
        <p:spPr>
          <a:xfrm>
            <a:off x="8213232" y="4920000"/>
            <a:ext cx="3381360" cy="300000"/>
          </a:xfrm>
          <a:prstGeom prst="rect">
            <a:avLst/>
          </a:prstGeom>
          <a:noFill/>
        </p:spPr>
        <p:txBody>
          <a:bodyPr wrap="square" lIns="0" tIns="0" rIns="0" bIns="0" anchor="t">
            <a:spAutoFit/>
          </a:bodyPr>
          <a:lstStyle/>
          <a:p>
            <a:pPr algn="l"/>
            <a:r>
              <a:rPr sz="800" b="0" i="0">
                <a:solidFill>
                  <a:srgbClr val="64748B"/>
                </a:solidFill>
                <a:latin typeface="Aptos"/>
              </a:rPr>
              <a:t>Chapter 2. On a subscription seat the ceiling is a rate limit, not a bill — take your own baseline from /usage.</a:t>
            </a:r>
          </a:p>
        </p:txBody>
      </p:sp>
      <p:sp>
        <p:nvSpPr>
          <p:cNvPr id="62" name="B10Rule"/>
          <p:cNvSpPr/>
          <p:nvPr/>
        </p:nvSpPr>
        <p:spPr>
          <a:xfrm>
            <a:off x="329184" y="5370000"/>
            <a:ext cx="11430000" cy="850000"/>
          </a:xfrm>
          <a:prstGeom prst="roundRect">
            <a:avLst>
              <a:gd name="adj" fmla="val 6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B10RuleTxt"/>
          <p:cNvSpPr txBox="1"/>
          <p:nvPr/>
        </p:nvSpPr>
        <p:spPr>
          <a:xfrm>
            <a:off x="512064" y="5479728"/>
            <a:ext cx="11064240" cy="630544"/>
          </a:xfrm>
          <a:prstGeom prst="rect">
            <a:avLst/>
          </a:prstGeom>
          <a:noFill/>
        </p:spPr>
        <p:txBody>
          <a:bodyPr wrap="square" lIns="0" tIns="0" rIns="0" bIns="0" anchor="t">
            <a:spAutoFit/>
          </a:bodyPr>
          <a:lstStyle/>
          <a:p>
            <a:pPr algn="l"/>
            <a:r>
              <a:rPr sz="1200" b="1" i="0">
                <a:solidFill>
                  <a:srgbClr val="DC2626"/>
                </a:solidFill>
                <a:latin typeface="Aptos Display"/>
              </a:rPr>
              <a:t>Tokens are the cheap line item.  </a:t>
            </a:r>
            <a:r>
              <a:rPr sz="1150" b="0" i="0">
                <a:solidFill>
                  <a:srgbClr val="475569"/>
                </a:solidFill>
                <a:latin typeface="Aptos"/>
              </a:rPr>
              <a:t>DORA names the real one the verification tax: time saved writing is re-spent auditing. A revert, a re-run, or an incident each cost more than the session that caused them — which is why every other slide in this module is also a cost control.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The commands you will actually type</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Twenty of the hundred-plus. These are the ones that earn their keep in a normal working day.</a:t>
            </a:r>
          </a:p>
        </p:txBody>
      </p:sp>
      <p:sp>
        <p:nvSpPr>
          <p:cNvPr id="4"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5" name="PageNum"/>
          <p:cNvSpPr txBox="1"/>
          <p:nvPr/>
        </p:nvSpPr>
        <p:spPr>
          <a:xfrm>
            <a:off x="10058400" y="6647688"/>
            <a:ext cx="1463040" cy="201168"/>
          </a:xfrm>
          <a:prstGeom prst="rect">
            <a:avLst/>
          </a:prstGeom>
          <a:noFill/>
        </p:spPr>
        <p:txBody>
          <a:bodyPr wrap="square" lIns="0" tIns="0" rIns="0" bIns="0" anchor="t">
            <a:spAutoFit/>
          </a:bodyPr>
          <a:lstStyle/>
          <a:p>
            <a:r>
              <a:t>16 / 52</a:t>
            </a:r>
          </a:p>
        </p:txBody>
      </p:sp>
      <p:sp>
        <p:nvSpPr>
          <p:cNvPr id="6" name="K10Col0"/>
          <p:cNvSpPr/>
          <p:nvPr/>
        </p:nvSpPr>
        <p:spPr>
          <a:xfrm>
            <a:off x="329184" y="1097280"/>
            <a:ext cx="2692908" cy="34747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K10Top0"/>
          <p:cNvSpPr/>
          <p:nvPr/>
        </p:nvSpPr>
        <p:spPr>
          <a:xfrm>
            <a:off x="420624" y="1097280"/>
            <a:ext cx="2510028" cy="731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K10Hd0"/>
          <p:cNvSpPr txBox="1"/>
          <p:nvPr/>
        </p:nvSpPr>
        <p:spPr>
          <a:xfrm>
            <a:off x="493776" y="1280160"/>
            <a:ext cx="2363724" cy="274320"/>
          </a:xfrm>
          <a:prstGeom prst="rect">
            <a:avLst/>
          </a:prstGeom>
          <a:noFill/>
        </p:spPr>
        <p:txBody>
          <a:bodyPr wrap="square" lIns="0" tIns="0" rIns="0" bIns="0" anchor="t">
            <a:spAutoFit/>
          </a:bodyPr>
          <a:lstStyle/>
          <a:p>
            <a:pPr algn="l"/>
            <a:r>
              <a:rPr sz="1300" b="1" i="0">
                <a:solidFill>
                  <a:srgbClr val="1565C0"/>
                </a:solidFill>
                <a:latin typeface="Aptos Display"/>
              </a:rPr>
              <a:t>Orient</a:t>
            </a:r>
          </a:p>
        </p:txBody>
      </p:sp>
      <p:sp>
        <p:nvSpPr>
          <p:cNvPr id="9" name="K10R00"/>
          <p:cNvSpPr/>
          <p:nvPr/>
        </p:nvSpPr>
        <p:spPr>
          <a:xfrm>
            <a:off x="457200" y="1645920"/>
            <a:ext cx="2436876" cy="493776"/>
          </a:xfrm>
          <a:prstGeom prst="roundRect">
            <a:avLst>
              <a:gd name="adj" fmla="val 6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K10A00"/>
          <p:cNvSpPr txBox="1"/>
          <p:nvPr/>
        </p:nvSpPr>
        <p:spPr>
          <a:xfrm>
            <a:off x="585216" y="1691640"/>
            <a:ext cx="2180844" cy="219456"/>
          </a:xfrm>
          <a:prstGeom prst="rect">
            <a:avLst/>
          </a:prstGeom>
          <a:noFill/>
        </p:spPr>
        <p:txBody>
          <a:bodyPr wrap="square" lIns="0" tIns="0" rIns="0" bIns="0" anchor="t">
            <a:spAutoFit/>
          </a:bodyPr>
          <a:lstStyle/>
          <a:p>
            <a:pPr algn="l"/>
            <a:r>
              <a:rPr sz="1050" b="1" i="0">
                <a:solidFill>
                  <a:srgbClr val="1565C0"/>
                </a:solidFill>
                <a:latin typeface="Consolas"/>
              </a:rPr>
              <a:t>/init</a:t>
            </a:r>
          </a:p>
        </p:txBody>
      </p:sp>
      <p:sp>
        <p:nvSpPr>
          <p:cNvPr id="11" name="K10B00"/>
          <p:cNvSpPr txBox="1"/>
          <p:nvPr/>
        </p:nvSpPr>
        <p:spPr>
          <a:xfrm>
            <a:off x="585216"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Write the project's CLAUDE.md</a:t>
            </a:r>
          </a:p>
        </p:txBody>
      </p:sp>
      <p:sp>
        <p:nvSpPr>
          <p:cNvPr id="12" name="K10R01"/>
          <p:cNvSpPr/>
          <p:nvPr/>
        </p:nvSpPr>
        <p:spPr>
          <a:xfrm>
            <a:off x="457200"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K10A01"/>
          <p:cNvSpPr txBox="1"/>
          <p:nvPr/>
        </p:nvSpPr>
        <p:spPr>
          <a:xfrm>
            <a:off x="585216" y="2258568"/>
            <a:ext cx="2180844" cy="219456"/>
          </a:xfrm>
          <a:prstGeom prst="rect">
            <a:avLst/>
          </a:prstGeom>
          <a:noFill/>
        </p:spPr>
        <p:txBody>
          <a:bodyPr wrap="square" lIns="0" tIns="0" rIns="0" bIns="0" anchor="t">
            <a:spAutoFit/>
          </a:bodyPr>
          <a:lstStyle/>
          <a:p>
            <a:pPr algn="l"/>
            <a:r>
              <a:rPr sz="1050" b="1" i="0">
                <a:solidFill>
                  <a:srgbClr val="1565C0"/>
                </a:solidFill>
                <a:latin typeface="Consolas"/>
              </a:rPr>
              <a:t>/status</a:t>
            </a:r>
          </a:p>
        </p:txBody>
      </p:sp>
      <p:sp>
        <p:nvSpPr>
          <p:cNvPr id="14" name="K10B01"/>
          <p:cNvSpPr txBox="1"/>
          <p:nvPr/>
        </p:nvSpPr>
        <p:spPr>
          <a:xfrm>
            <a:off x="585216"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Model, effort, mode, directory</a:t>
            </a:r>
          </a:p>
        </p:txBody>
      </p:sp>
      <p:sp>
        <p:nvSpPr>
          <p:cNvPr id="15" name="K10R02"/>
          <p:cNvSpPr/>
          <p:nvPr/>
        </p:nvSpPr>
        <p:spPr>
          <a:xfrm>
            <a:off x="457200" y="2779776"/>
            <a:ext cx="2436876" cy="493776"/>
          </a:xfrm>
          <a:prstGeom prst="roundRect">
            <a:avLst>
              <a:gd name="adj" fmla="val 6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K10A02"/>
          <p:cNvSpPr txBox="1"/>
          <p:nvPr/>
        </p:nvSpPr>
        <p:spPr>
          <a:xfrm>
            <a:off x="585216" y="2825496"/>
            <a:ext cx="2180844" cy="219456"/>
          </a:xfrm>
          <a:prstGeom prst="rect">
            <a:avLst/>
          </a:prstGeom>
          <a:noFill/>
        </p:spPr>
        <p:txBody>
          <a:bodyPr wrap="square" lIns="0" tIns="0" rIns="0" bIns="0" anchor="t">
            <a:spAutoFit/>
          </a:bodyPr>
          <a:lstStyle/>
          <a:p>
            <a:pPr algn="l"/>
            <a:r>
              <a:rPr sz="1050" b="1" i="0">
                <a:solidFill>
                  <a:srgbClr val="1565C0"/>
                </a:solidFill>
                <a:latin typeface="Consolas"/>
              </a:rPr>
              <a:t>/context</a:t>
            </a:r>
          </a:p>
        </p:txBody>
      </p:sp>
      <p:sp>
        <p:nvSpPr>
          <p:cNvPr id="17" name="K10B02"/>
          <p:cNvSpPr txBox="1"/>
          <p:nvPr/>
        </p:nvSpPr>
        <p:spPr>
          <a:xfrm>
            <a:off x="585216"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What is loaded, and what it costs</a:t>
            </a:r>
          </a:p>
        </p:txBody>
      </p:sp>
      <p:sp>
        <p:nvSpPr>
          <p:cNvPr id="18" name="K10R03"/>
          <p:cNvSpPr/>
          <p:nvPr/>
        </p:nvSpPr>
        <p:spPr>
          <a:xfrm>
            <a:off x="457200" y="3346704"/>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K10A03"/>
          <p:cNvSpPr txBox="1"/>
          <p:nvPr/>
        </p:nvSpPr>
        <p:spPr>
          <a:xfrm>
            <a:off x="585216" y="3392424"/>
            <a:ext cx="2180844" cy="219456"/>
          </a:xfrm>
          <a:prstGeom prst="rect">
            <a:avLst/>
          </a:prstGeom>
          <a:noFill/>
        </p:spPr>
        <p:txBody>
          <a:bodyPr wrap="square" lIns="0" tIns="0" rIns="0" bIns="0" anchor="t">
            <a:spAutoFit/>
          </a:bodyPr>
          <a:lstStyle/>
          <a:p>
            <a:pPr algn="l"/>
            <a:r>
              <a:rPr sz="1050" b="1" i="0">
                <a:solidFill>
                  <a:srgbClr val="1565C0"/>
                </a:solidFill>
                <a:latin typeface="Consolas"/>
              </a:rPr>
              <a:t>/model</a:t>
            </a:r>
          </a:p>
        </p:txBody>
      </p:sp>
      <p:sp>
        <p:nvSpPr>
          <p:cNvPr id="20" name="K10B03"/>
          <p:cNvSpPr txBox="1"/>
          <p:nvPr/>
        </p:nvSpPr>
        <p:spPr>
          <a:xfrm>
            <a:off x="585216" y="3602736"/>
            <a:ext cx="2180844" cy="219456"/>
          </a:xfrm>
          <a:prstGeom prst="rect">
            <a:avLst/>
          </a:prstGeom>
          <a:noFill/>
        </p:spPr>
        <p:txBody>
          <a:bodyPr wrap="square" lIns="0" tIns="0" rIns="0" bIns="0" anchor="t">
            <a:spAutoFit/>
          </a:bodyPr>
          <a:lstStyle/>
          <a:p>
            <a:pPr algn="l"/>
            <a:r>
              <a:rPr sz="950" b="0" i="0">
                <a:solidFill>
                  <a:srgbClr val="475569"/>
                </a:solidFill>
                <a:latin typeface="Aptos"/>
              </a:rPr>
              <a:t>Start at Opus, then adjust</a:t>
            </a:r>
          </a:p>
        </p:txBody>
      </p:sp>
      <p:sp>
        <p:nvSpPr>
          <p:cNvPr id="21" name="K10R04"/>
          <p:cNvSpPr/>
          <p:nvPr/>
        </p:nvSpPr>
        <p:spPr>
          <a:xfrm>
            <a:off x="457200" y="3913632"/>
            <a:ext cx="2436876" cy="493776"/>
          </a:xfrm>
          <a:prstGeom prst="roundRect">
            <a:avLst>
              <a:gd name="adj" fmla="val 6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K10A04"/>
          <p:cNvSpPr txBox="1"/>
          <p:nvPr/>
        </p:nvSpPr>
        <p:spPr>
          <a:xfrm>
            <a:off x="585216" y="3959352"/>
            <a:ext cx="2180844" cy="219456"/>
          </a:xfrm>
          <a:prstGeom prst="rect">
            <a:avLst/>
          </a:prstGeom>
          <a:noFill/>
        </p:spPr>
        <p:txBody>
          <a:bodyPr wrap="square" lIns="0" tIns="0" rIns="0" bIns="0" anchor="t">
            <a:spAutoFit/>
          </a:bodyPr>
          <a:lstStyle/>
          <a:p>
            <a:pPr algn="l"/>
            <a:r>
              <a:rPr sz="1050" b="1" i="0">
                <a:solidFill>
                  <a:srgbClr val="1565C0"/>
                </a:solidFill>
                <a:latin typeface="Consolas"/>
              </a:rPr>
              <a:t>/effort</a:t>
            </a:r>
          </a:p>
        </p:txBody>
      </p:sp>
      <p:sp>
        <p:nvSpPr>
          <p:cNvPr id="23" name="K10B04"/>
          <p:cNvSpPr txBox="1"/>
          <p:nvPr/>
        </p:nvSpPr>
        <p:spPr>
          <a:xfrm>
            <a:off x="585216" y="4169664"/>
            <a:ext cx="2180844" cy="219456"/>
          </a:xfrm>
          <a:prstGeom prst="rect">
            <a:avLst/>
          </a:prstGeom>
          <a:noFill/>
        </p:spPr>
        <p:txBody>
          <a:bodyPr wrap="square" lIns="0" tIns="0" rIns="0" bIns="0" anchor="t">
            <a:spAutoFit/>
          </a:bodyPr>
          <a:lstStyle/>
          <a:p>
            <a:pPr algn="l"/>
            <a:r>
              <a:rPr sz="950" b="0" i="0">
                <a:solidFill>
                  <a:srgbClr val="475569"/>
                </a:solidFill>
                <a:latin typeface="Aptos"/>
              </a:rPr>
              <a:t>Change level before model</a:t>
            </a:r>
          </a:p>
        </p:txBody>
      </p:sp>
      <p:sp>
        <p:nvSpPr>
          <p:cNvPr id="24" name="K10Col1"/>
          <p:cNvSpPr/>
          <p:nvPr/>
        </p:nvSpPr>
        <p:spPr>
          <a:xfrm>
            <a:off x="3241548" y="1097280"/>
            <a:ext cx="2692908" cy="34747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K10Top1"/>
          <p:cNvSpPr/>
          <p:nvPr/>
        </p:nvSpPr>
        <p:spPr>
          <a:xfrm>
            <a:off x="3332988" y="1097280"/>
            <a:ext cx="2510028"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K10Hd1"/>
          <p:cNvSpPr txBox="1"/>
          <p:nvPr/>
        </p:nvSpPr>
        <p:spPr>
          <a:xfrm>
            <a:off x="3406140" y="1280160"/>
            <a:ext cx="2363724" cy="274320"/>
          </a:xfrm>
          <a:prstGeom prst="rect">
            <a:avLst/>
          </a:prstGeom>
          <a:noFill/>
        </p:spPr>
        <p:txBody>
          <a:bodyPr wrap="square" lIns="0" tIns="0" rIns="0" bIns="0" anchor="t">
            <a:spAutoFit/>
          </a:bodyPr>
          <a:lstStyle/>
          <a:p>
            <a:pPr algn="l"/>
            <a:r>
              <a:rPr sz="1300" b="1" i="0">
                <a:solidFill>
                  <a:srgbClr val="7C3AED"/>
                </a:solidFill>
                <a:latin typeface="Aptos Display"/>
              </a:rPr>
              <a:t>Steer the work</a:t>
            </a:r>
          </a:p>
        </p:txBody>
      </p:sp>
      <p:sp>
        <p:nvSpPr>
          <p:cNvPr id="27" name="K10R10"/>
          <p:cNvSpPr/>
          <p:nvPr/>
        </p:nvSpPr>
        <p:spPr>
          <a:xfrm>
            <a:off x="3369564" y="1645920"/>
            <a:ext cx="2436876" cy="493776"/>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K10A10"/>
          <p:cNvSpPr txBox="1"/>
          <p:nvPr/>
        </p:nvSpPr>
        <p:spPr>
          <a:xfrm>
            <a:off x="3497580" y="1691640"/>
            <a:ext cx="2180844" cy="219456"/>
          </a:xfrm>
          <a:prstGeom prst="rect">
            <a:avLst/>
          </a:prstGeom>
          <a:noFill/>
        </p:spPr>
        <p:txBody>
          <a:bodyPr wrap="square" lIns="0" tIns="0" rIns="0" bIns="0" anchor="t">
            <a:spAutoFit/>
          </a:bodyPr>
          <a:lstStyle/>
          <a:p>
            <a:pPr algn="l"/>
            <a:r>
              <a:rPr sz="1050" b="1" i="0">
                <a:solidFill>
                  <a:srgbClr val="7C3AED"/>
                </a:solidFill>
                <a:latin typeface="Consolas"/>
              </a:rPr>
              <a:t>/plan &lt;task&gt;</a:t>
            </a:r>
          </a:p>
        </p:txBody>
      </p:sp>
      <p:sp>
        <p:nvSpPr>
          <p:cNvPr id="29" name="K10B10"/>
          <p:cNvSpPr txBox="1"/>
          <p:nvPr/>
        </p:nvSpPr>
        <p:spPr>
          <a:xfrm>
            <a:off x="3497580"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Plan one prompt, then resume</a:t>
            </a:r>
          </a:p>
        </p:txBody>
      </p:sp>
      <p:sp>
        <p:nvSpPr>
          <p:cNvPr id="30" name="K10R11"/>
          <p:cNvSpPr/>
          <p:nvPr/>
        </p:nvSpPr>
        <p:spPr>
          <a:xfrm>
            <a:off x="3369564"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K10A11"/>
          <p:cNvSpPr txBox="1"/>
          <p:nvPr/>
        </p:nvSpPr>
        <p:spPr>
          <a:xfrm>
            <a:off x="3497580" y="2258568"/>
            <a:ext cx="2180844" cy="219456"/>
          </a:xfrm>
          <a:prstGeom prst="rect">
            <a:avLst/>
          </a:prstGeom>
          <a:noFill/>
        </p:spPr>
        <p:txBody>
          <a:bodyPr wrap="square" lIns="0" tIns="0" rIns="0" bIns="0" anchor="t">
            <a:spAutoFit/>
          </a:bodyPr>
          <a:lstStyle/>
          <a:p>
            <a:pPr algn="l"/>
            <a:r>
              <a:rPr sz="1050" b="1" i="0">
                <a:solidFill>
                  <a:srgbClr val="7C3AED"/>
                </a:solidFill>
                <a:latin typeface="Consolas"/>
              </a:rPr>
              <a:t>/compact &lt;keep&gt;</a:t>
            </a:r>
          </a:p>
        </p:txBody>
      </p:sp>
      <p:sp>
        <p:nvSpPr>
          <p:cNvPr id="32" name="K10B11"/>
          <p:cNvSpPr txBox="1"/>
          <p:nvPr/>
        </p:nvSpPr>
        <p:spPr>
          <a:xfrm>
            <a:off x="3497580"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Trim history — say what matters</a:t>
            </a:r>
          </a:p>
        </p:txBody>
      </p:sp>
      <p:sp>
        <p:nvSpPr>
          <p:cNvPr id="33" name="K10R12"/>
          <p:cNvSpPr/>
          <p:nvPr/>
        </p:nvSpPr>
        <p:spPr>
          <a:xfrm>
            <a:off x="3369564" y="2779776"/>
            <a:ext cx="2436876" cy="493776"/>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K10A12"/>
          <p:cNvSpPr txBox="1"/>
          <p:nvPr/>
        </p:nvSpPr>
        <p:spPr>
          <a:xfrm>
            <a:off x="3497580" y="2825496"/>
            <a:ext cx="2180844" cy="219456"/>
          </a:xfrm>
          <a:prstGeom prst="rect">
            <a:avLst/>
          </a:prstGeom>
          <a:noFill/>
        </p:spPr>
        <p:txBody>
          <a:bodyPr wrap="square" lIns="0" tIns="0" rIns="0" bIns="0" anchor="t">
            <a:spAutoFit/>
          </a:bodyPr>
          <a:lstStyle/>
          <a:p>
            <a:pPr algn="l"/>
            <a:r>
              <a:rPr sz="1050" b="1" i="0">
                <a:solidFill>
                  <a:srgbClr val="7C3AED"/>
                </a:solidFill>
                <a:latin typeface="Consolas"/>
              </a:rPr>
              <a:t>/clear</a:t>
            </a:r>
          </a:p>
        </p:txBody>
      </p:sp>
      <p:sp>
        <p:nvSpPr>
          <p:cNvPr id="35" name="K10B12"/>
          <p:cNvSpPr txBox="1"/>
          <p:nvPr/>
        </p:nvSpPr>
        <p:spPr>
          <a:xfrm>
            <a:off x="3497580"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Reset for a different task</a:t>
            </a:r>
          </a:p>
        </p:txBody>
      </p:sp>
      <p:sp>
        <p:nvSpPr>
          <p:cNvPr id="36" name="K10R13"/>
          <p:cNvSpPr/>
          <p:nvPr/>
        </p:nvSpPr>
        <p:spPr>
          <a:xfrm>
            <a:off x="3369564" y="3346704"/>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K10A13"/>
          <p:cNvSpPr txBox="1"/>
          <p:nvPr/>
        </p:nvSpPr>
        <p:spPr>
          <a:xfrm>
            <a:off x="3497580" y="3392424"/>
            <a:ext cx="2180844" cy="219456"/>
          </a:xfrm>
          <a:prstGeom prst="rect">
            <a:avLst/>
          </a:prstGeom>
          <a:noFill/>
        </p:spPr>
        <p:txBody>
          <a:bodyPr wrap="square" lIns="0" tIns="0" rIns="0" bIns="0" anchor="t">
            <a:spAutoFit/>
          </a:bodyPr>
          <a:lstStyle/>
          <a:p>
            <a:pPr algn="l"/>
            <a:r>
              <a:rPr sz="1050" b="1" i="0">
                <a:solidFill>
                  <a:srgbClr val="7C3AED"/>
                </a:solidFill>
                <a:latin typeface="Consolas"/>
              </a:rPr>
              <a:t>/rewind</a:t>
            </a:r>
          </a:p>
        </p:txBody>
      </p:sp>
      <p:sp>
        <p:nvSpPr>
          <p:cNvPr id="38" name="K10B13"/>
          <p:cNvSpPr txBox="1"/>
          <p:nvPr/>
        </p:nvSpPr>
        <p:spPr>
          <a:xfrm>
            <a:off x="3497580" y="3602736"/>
            <a:ext cx="2180844" cy="219456"/>
          </a:xfrm>
          <a:prstGeom prst="rect">
            <a:avLst/>
          </a:prstGeom>
          <a:noFill/>
        </p:spPr>
        <p:txBody>
          <a:bodyPr wrap="square" lIns="0" tIns="0" rIns="0" bIns="0" anchor="t">
            <a:spAutoFit/>
          </a:bodyPr>
          <a:lstStyle/>
          <a:p>
            <a:pPr algn="l"/>
            <a:r>
              <a:rPr sz="950" b="0" i="0">
                <a:solidFill>
                  <a:srgbClr val="475569"/>
                </a:solidFill>
                <a:latin typeface="Aptos"/>
              </a:rPr>
              <a:t>Roll back to a checkpoint</a:t>
            </a:r>
          </a:p>
        </p:txBody>
      </p:sp>
      <p:sp>
        <p:nvSpPr>
          <p:cNvPr id="39" name="K10R14"/>
          <p:cNvSpPr/>
          <p:nvPr/>
        </p:nvSpPr>
        <p:spPr>
          <a:xfrm>
            <a:off x="3369564" y="3913632"/>
            <a:ext cx="2436876" cy="493776"/>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K10A14"/>
          <p:cNvSpPr txBox="1"/>
          <p:nvPr/>
        </p:nvSpPr>
        <p:spPr>
          <a:xfrm>
            <a:off x="3497580" y="3959352"/>
            <a:ext cx="2180844" cy="219456"/>
          </a:xfrm>
          <a:prstGeom prst="rect">
            <a:avLst/>
          </a:prstGeom>
          <a:noFill/>
        </p:spPr>
        <p:txBody>
          <a:bodyPr wrap="square" lIns="0" tIns="0" rIns="0" bIns="0" anchor="t">
            <a:spAutoFit/>
          </a:bodyPr>
          <a:lstStyle/>
          <a:p>
            <a:pPr algn="l"/>
            <a:r>
              <a:rPr sz="1050" b="1" i="0">
                <a:solidFill>
                  <a:srgbClr val="7C3AED"/>
                </a:solidFill>
                <a:latin typeface="Consolas"/>
              </a:rPr>
              <a:t>/subtask</a:t>
            </a:r>
          </a:p>
        </p:txBody>
      </p:sp>
      <p:sp>
        <p:nvSpPr>
          <p:cNvPr id="41" name="K10B14"/>
          <p:cNvSpPr txBox="1"/>
          <p:nvPr/>
        </p:nvSpPr>
        <p:spPr>
          <a:xfrm>
            <a:off x="3497580" y="4169664"/>
            <a:ext cx="2180844" cy="219456"/>
          </a:xfrm>
          <a:prstGeom prst="rect">
            <a:avLst/>
          </a:prstGeom>
          <a:noFill/>
        </p:spPr>
        <p:txBody>
          <a:bodyPr wrap="square" lIns="0" tIns="0" rIns="0" bIns="0" anchor="t">
            <a:spAutoFit/>
          </a:bodyPr>
          <a:lstStyle/>
          <a:p>
            <a:pPr algn="l"/>
            <a:r>
              <a:rPr sz="950" b="0" i="0">
                <a:solidFill>
                  <a:srgbClr val="475569"/>
                </a:solidFill>
                <a:latin typeface="Aptos"/>
              </a:rPr>
              <a:t>Hand a side task to a subagent</a:t>
            </a:r>
          </a:p>
        </p:txBody>
      </p:sp>
      <p:sp>
        <p:nvSpPr>
          <p:cNvPr id="42" name="K10Col2"/>
          <p:cNvSpPr/>
          <p:nvPr/>
        </p:nvSpPr>
        <p:spPr>
          <a:xfrm>
            <a:off x="6153912" y="1097280"/>
            <a:ext cx="2692908" cy="34747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K10Top2"/>
          <p:cNvSpPr/>
          <p:nvPr/>
        </p:nvSpPr>
        <p:spPr>
          <a:xfrm>
            <a:off x="6245352" y="1097280"/>
            <a:ext cx="2510028"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K10Hd2"/>
          <p:cNvSpPr txBox="1"/>
          <p:nvPr/>
        </p:nvSpPr>
        <p:spPr>
          <a:xfrm>
            <a:off x="6318504" y="1280160"/>
            <a:ext cx="2363724" cy="274320"/>
          </a:xfrm>
          <a:prstGeom prst="rect">
            <a:avLst/>
          </a:prstGeom>
          <a:noFill/>
        </p:spPr>
        <p:txBody>
          <a:bodyPr wrap="square" lIns="0" tIns="0" rIns="0" bIns="0" anchor="t">
            <a:spAutoFit/>
          </a:bodyPr>
          <a:lstStyle/>
          <a:p>
            <a:pPr algn="l"/>
            <a:r>
              <a:rPr sz="1300" b="1" i="0">
                <a:solidFill>
                  <a:srgbClr val="059669"/>
                </a:solidFill>
                <a:latin typeface="Aptos Display"/>
              </a:rPr>
              <a:t>Prove it works</a:t>
            </a:r>
          </a:p>
        </p:txBody>
      </p:sp>
      <p:sp>
        <p:nvSpPr>
          <p:cNvPr id="45" name="K10R20"/>
          <p:cNvSpPr/>
          <p:nvPr/>
        </p:nvSpPr>
        <p:spPr>
          <a:xfrm>
            <a:off x="6281928" y="1645920"/>
            <a:ext cx="2436876" cy="493776"/>
          </a:xfrm>
          <a:prstGeom prst="roundRect">
            <a:avLst>
              <a:gd name="adj" fmla="val 6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K10A20"/>
          <p:cNvSpPr txBox="1"/>
          <p:nvPr/>
        </p:nvSpPr>
        <p:spPr>
          <a:xfrm>
            <a:off x="6409944" y="1691640"/>
            <a:ext cx="2180844" cy="219456"/>
          </a:xfrm>
          <a:prstGeom prst="rect">
            <a:avLst/>
          </a:prstGeom>
          <a:noFill/>
        </p:spPr>
        <p:txBody>
          <a:bodyPr wrap="square" lIns="0" tIns="0" rIns="0" bIns="0" anchor="t">
            <a:spAutoFit/>
          </a:bodyPr>
          <a:lstStyle/>
          <a:p>
            <a:pPr algn="l"/>
            <a:r>
              <a:rPr sz="1050" b="1" i="0">
                <a:solidFill>
                  <a:srgbClr val="059669"/>
                </a:solidFill>
                <a:latin typeface="Consolas"/>
              </a:rPr>
              <a:t>/diff</a:t>
            </a:r>
          </a:p>
        </p:txBody>
      </p:sp>
      <p:sp>
        <p:nvSpPr>
          <p:cNvPr id="47" name="K10B20"/>
          <p:cNvSpPr txBox="1"/>
          <p:nvPr/>
        </p:nvSpPr>
        <p:spPr>
          <a:xfrm>
            <a:off x="6409944"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Read the shape before committing</a:t>
            </a:r>
          </a:p>
        </p:txBody>
      </p:sp>
      <p:sp>
        <p:nvSpPr>
          <p:cNvPr id="48" name="K10R21"/>
          <p:cNvSpPr/>
          <p:nvPr/>
        </p:nvSpPr>
        <p:spPr>
          <a:xfrm>
            <a:off x="6281928"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K10A21"/>
          <p:cNvSpPr txBox="1"/>
          <p:nvPr/>
        </p:nvSpPr>
        <p:spPr>
          <a:xfrm>
            <a:off x="6409944" y="2258568"/>
            <a:ext cx="2180844" cy="219456"/>
          </a:xfrm>
          <a:prstGeom prst="rect">
            <a:avLst/>
          </a:prstGeom>
          <a:noFill/>
        </p:spPr>
        <p:txBody>
          <a:bodyPr wrap="square" lIns="0" tIns="0" rIns="0" bIns="0" anchor="t">
            <a:spAutoFit/>
          </a:bodyPr>
          <a:lstStyle/>
          <a:p>
            <a:pPr algn="l"/>
            <a:r>
              <a:rPr sz="1050" b="1" i="0">
                <a:solidFill>
                  <a:srgbClr val="059669"/>
                </a:solidFill>
                <a:latin typeface="Consolas"/>
              </a:rPr>
              <a:t>/code-review</a:t>
            </a:r>
          </a:p>
        </p:txBody>
      </p:sp>
      <p:sp>
        <p:nvSpPr>
          <p:cNvPr id="50" name="K10B21"/>
          <p:cNvSpPr txBox="1"/>
          <p:nvPr/>
        </p:nvSpPr>
        <p:spPr>
          <a:xfrm>
            <a:off x="6409944"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Correctness bugs in the diff</a:t>
            </a:r>
          </a:p>
        </p:txBody>
      </p:sp>
      <p:sp>
        <p:nvSpPr>
          <p:cNvPr id="51" name="K10R22"/>
          <p:cNvSpPr/>
          <p:nvPr/>
        </p:nvSpPr>
        <p:spPr>
          <a:xfrm>
            <a:off x="6281928" y="2779776"/>
            <a:ext cx="2436876" cy="493776"/>
          </a:xfrm>
          <a:prstGeom prst="roundRect">
            <a:avLst>
              <a:gd name="adj" fmla="val 6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K10A22"/>
          <p:cNvSpPr txBox="1"/>
          <p:nvPr/>
        </p:nvSpPr>
        <p:spPr>
          <a:xfrm>
            <a:off x="6409944" y="2825496"/>
            <a:ext cx="2180844" cy="219456"/>
          </a:xfrm>
          <a:prstGeom prst="rect">
            <a:avLst/>
          </a:prstGeom>
          <a:noFill/>
        </p:spPr>
        <p:txBody>
          <a:bodyPr wrap="square" lIns="0" tIns="0" rIns="0" bIns="0" anchor="t">
            <a:spAutoFit/>
          </a:bodyPr>
          <a:lstStyle/>
          <a:p>
            <a:pPr algn="l"/>
            <a:r>
              <a:rPr sz="1050" b="1" i="0">
                <a:solidFill>
                  <a:srgbClr val="059669"/>
                </a:solidFill>
                <a:latin typeface="Consolas"/>
              </a:rPr>
              <a:t>/security-review</a:t>
            </a:r>
          </a:p>
        </p:txBody>
      </p:sp>
      <p:sp>
        <p:nvSpPr>
          <p:cNvPr id="53" name="K10B22"/>
          <p:cNvSpPr txBox="1"/>
          <p:nvPr/>
        </p:nvSpPr>
        <p:spPr>
          <a:xfrm>
            <a:off x="6409944"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Auth, payments, user data</a:t>
            </a:r>
          </a:p>
        </p:txBody>
      </p:sp>
      <p:sp>
        <p:nvSpPr>
          <p:cNvPr id="54" name="K10R23"/>
          <p:cNvSpPr/>
          <p:nvPr/>
        </p:nvSpPr>
        <p:spPr>
          <a:xfrm>
            <a:off x="6281928" y="3346704"/>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K10A23"/>
          <p:cNvSpPr txBox="1"/>
          <p:nvPr/>
        </p:nvSpPr>
        <p:spPr>
          <a:xfrm>
            <a:off x="6409944" y="3392424"/>
            <a:ext cx="2180844" cy="219456"/>
          </a:xfrm>
          <a:prstGeom prst="rect">
            <a:avLst/>
          </a:prstGeom>
          <a:noFill/>
        </p:spPr>
        <p:txBody>
          <a:bodyPr wrap="square" lIns="0" tIns="0" rIns="0" bIns="0" anchor="t">
            <a:spAutoFit/>
          </a:bodyPr>
          <a:lstStyle/>
          <a:p>
            <a:pPr algn="l"/>
            <a:r>
              <a:rPr sz="1050" b="1" i="0">
                <a:solidFill>
                  <a:srgbClr val="059669"/>
                </a:solidFill>
                <a:latin typeface="Consolas"/>
              </a:rPr>
              <a:t>/verify</a:t>
            </a:r>
          </a:p>
        </p:txBody>
      </p:sp>
      <p:sp>
        <p:nvSpPr>
          <p:cNvPr id="56" name="K10B23"/>
          <p:cNvSpPr txBox="1"/>
          <p:nvPr/>
        </p:nvSpPr>
        <p:spPr>
          <a:xfrm>
            <a:off x="6409944" y="3602736"/>
            <a:ext cx="2180844" cy="219456"/>
          </a:xfrm>
          <a:prstGeom prst="rect">
            <a:avLst/>
          </a:prstGeom>
          <a:noFill/>
        </p:spPr>
        <p:txBody>
          <a:bodyPr wrap="square" lIns="0" tIns="0" rIns="0" bIns="0" anchor="t">
            <a:spAutoFit/>
          </a:bodyPr>
          <a:lstStyle/>
          <a:p>
            <a:pPr algn="l"/>
            <a:r>
              <a:rPr sz="950" b="0" i="0">
                <a:solidFill>
                  <a:srgbClr val="475569"/>
                </a:solidFill>
                <a:latin typeface="Aptos"/>
              </a:rPr>
              <a:t>Build and run it, not just tests</a:t>
            </a:r>
          </a:p>
        </p:txBody>
      </p:sp>
      <p:sp>
        <p:nvSpPr>
          <p:cNvPr id="57" name="K10R24"/>
          <p:cNvSpPr/>
          <p:nvPr/>
        </p:nvSpPr>
        <p:spPr>
          <a:xfrm>
            <a:off x="6281928" y="3913632"/>
            <a:ext cx="2436876" cy="493776"/>
          </a:xfrm>
          <a:prstGeom prst="roundRect">
            <a:avLst>
              <a:gd name="adj" fmla="val 6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K10A24"/>
          <p:cNvSpPr txBox="1"/>
          <p:nvPr/>
        </p:nvSpPr>
        <p:spPr>
          <a:xfrm>
            <a:off x="6409944" y="3959352"/>
            <a:ext cx="2180844" cy="219456"/>
          </a:xfrm>
          <a:prstGeom prst="rect">
            <a:avLst/>
          </a:prstGeom>
          <a:noFill/>
        </p:spPr>
        <p:txBody>
          <a:bodyPr wrap="square" lIns="0" tIns="0" rIns="0" bIns="0" anchor="t">
            <a:spAutoFit/>
          </a:bodyPr>
          <a:lstStyle/>
          <a:p>
            <a:pPr algn="l"/>
            <a:r>
              <a:rPr sz="1050" b="1" i="0">
                <a:solidFill>
                  <a:srgbClr val="059669"/>
                </a:solidFill>
                <a:latin typeface="Consolas"/>
              </a:rPr>
              <a:t>/todos</a:t>
            </a:r>
          </a:p>
        </p:txBody>
      </p:sp>
      <p:sp>
        <p:nvSpPr>
          <p:cNvPr id="59" name="K10B24"/>
          <p:cNvSpPr txBox="1"/>
          <p:nvPr/>
        </p:nvSpPr>
        <p:spPr>
          <a:xfrm>
            <a:off x="6409944" y="4169664"/>
            <a:ext cx="2180844" cy="219456"/>
          </a:xfrm>
          <a:prstGeom prst="rect">
            <a:avLst/>
          </a:prstGeom>
          <a:noFill/>
        </p:spPr>
        <p:txBody>
          <a:bodyPr wrap="square" lIns="0" tIns="0" rIns="0" bIns="0" anchor="t">
            <a:spAutoFit/>
          </a:bodyPr>
          <a:lstStyle/>
          <a:p>
            <a:pPr algn="l"/>
            <a:r>
              <a:rPr sz="950" b="0" i="0">
                <a:solidFill>
                  <a:srgbClr val="475569"/>
                </a:solidFill>
                <a:latin typeface="Aptos"/>
              </a:rPr>
              <a:t>The checklist Claude works from</a:t>
            </a:r>
          </a:p>
        </p:txBody>
      </p:sp>
      <p:sp>
        <p:nvSpPr>
          <p:cNvPr id="60" name="K10Col3"/>
          <p:cNvSpPr/>
          <p:nvPr/>
        </p:nvSpPr>
        <p:spPr>
          <a:xfrm>
            <a:off x="9066276" y="1097280"/>
            <a:ext cx="2692908" cy="347472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K10Top3"/>
          <p:cNvSpPr/>
          <p:nvPr/>
        </p:nvSpPr>
        <p:spPr>
          <a:xfrm>
            <a:off x="9157716" y="1097280"/>
            <a:ext cx="2510028" cy="73152"/>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K10Hd3"/>
          <p:cNvSpPr txBox="1"/>
          <p:nvPr/>
        </p:nvSpPr>
        <p:spPr>
          <a:xfrm>
            <a:off x="9230868" y="1280160"/>
            <a:ext cx="2363724" cy="274320"/>
          </a:xfrm>
          <a:prstGeom prst="rect">
            <a:avLst/>
          </a:prstGeom>
          <a:noFill/>
        </p:spPr>
        <p:txBody>
          <a:bodyPr wrap="square" lIns="0" tIns="0" rIns="0" bIns="0" anchor="t">
            <a:spAutoFit/>
          </a:bodyPr>
          <a:lstStyle/>
          <a:p>
            <a:pPr algn="l"/>
            <a:r>
              <a:rPr sz="1300" b="1" i="0">
                <a:solidFill>
                  <a:srgbClr val="D4622B"/>
                </a:solidFill>
                <a:latin typeface="Aptos Display"/>
              </a:rPr>
              <a:t>Stay accountable</a:t>
            </a:r>
          </a:p>
        </p:txBody>
      </p:sp>
      <p:sp>
        <p:nvSpPr>
          <p:cNvPr id="63" name="K10R30"/>
          <p:cNvSpPr/>
          <p:nvPr/>
        </p:nvSpPr>
        <p:spPr>
          <a:xfrm>
            <a:off x="9194292" y="1645920"/>
            <a:ext cx="2436876" cy="493776"/>
          </a:xfrm>
          <a:prstGeom prst="roundRect">
            <a:avLst>
              <a:gd name="adj" fmla="val 6000"/>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K10A30"/>
          <p:cNvSpPr txBox="1"/>
          <p:nvPr/>
        </p:nvSpPr>
        <p:spPr>
          <a:xfrm>
            <a:off x="9322308" y="1691640"/>
            <a:ext cx="2180844" cy="219456"/>
          </a:xfrm>
          <a:prstGeom prst="rect">
            <a:avLst/>
          </a:prstGeom>
          <a:noFill/>
        </p:spPr>
        <p:txBody>
          <a:bodyPr wrap="square" lIns="0" tIns="0" rIns="0" bIns="0" anchor="t">
            <a:spAutoFit/>
          </a:bodyPr>
          <a:lstStyle/>
          <a:p>
            <a:pPr algn="l"/>
            <a:r>
              <a:rPr sz="1050" b="1" i="0">
                <a:solidFill>
                  <a:srgbClr val="D4622B"/>
                </a:solidFill>
                <a:latin typeface="Consolas"/>
              </a:rPr>
              <a:t>/permissions</a:t>
            </a:r>
          </a:p>
        </p:txBody>
      </p:sp>
      <p:sp>
        <p:nvSpPr>
          <p:cNvPr id="65" name="K10B30"/>
          <p:cNvSpPr txBox="1"/>
          <p:nvPr/>
        </p:nvSpPr>
        <p:spPr>
          <a:xfrm>
            <a:off x="9322308"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Allow, ask and deny rules</a:t>
            </a:r>
          </a:p>
        </p:txBody>
      </p:sp>
      <p:sp>
        <p:nvSpPr>
          <p:cNvPr id="66" name="K10R31"/>
          <p:cNvSpPr/>
          <p:nvPr/>
        </p:nvSpPr>
        <p:spPr>
          <a:xfrm>
            <a:off x="9194292"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K10A31"/>
          <p:cNvSpPr txBox="1"/>
          <p:nvPr/>
        </p:nvSpPr>
        <p:spPr>
          <a:xfrm>
            <a:off x="9322308" y="2258568"/>
            <a:ext cx="2180844" cy="219456"/>
          </a:xfrm>
          <a:prstGeom prst="rect">
            <a:avLst/>
          </a:prstGeom>
          <a:noFill/>
        </p:spPr>
        <p:txBody>
          <a:bodyPr wrap="square" lIns="0" tIns="0" rIns="0" bIns="0" anchor="t">
            <a:spAutoFit/>
          </a:bodyPr>
          <a:lstStyle/>
          <a:p>
            <a:pPr algn="l"/>
            <a:r>
              <a:rPr sz="1050" b="1" i="0">
                <a:solidFill>
                  <a:srgbClr val="D4622B"/>
                </a:solidFill>
                <a:latin typeface="Consolas"/>
              </a:rPr>
              <a:t>/hooks</a:t>
            </a:r>
          </a:p>
        </p:txBody>
      </p:sp>
      <p:sp>
        <p:nvSpPr>
          <p:cNvPr id="68" name="K10B31"/>
          <p:cNvSpPr txBox="1"/>
          <p:nvPr/>
        </p:nvSpPr>
        <p:spPr>
          <a:xfrm>
            <a:off x="9322308"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What runs on every tool event</a:t>
            </a:r>
          </a:p>
        </p:txBody>
      </p:sp>
      <p:sp>
        <p:nvSpPr>
          <p:cNvPr id="69" name="K10R32"/>
          <p:cNvSpPr/>
          <p:nvPr/>
        </p:nvSpPr>
        <p:spPr>
          <a:xfrm>
            <a:off x="9194292" y="2779776"/>
            <a:ext cx="2436876" cy="493776"/>
          </a:xfrm>
          <a:prstGeom prst="roundRect">
            <a:avLst>
              <a:gd name="adj" fmla="val 6000"/>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K10A32"/>
          <p:cNvSpPr txBox="1"/>
          <p:nvPr/>
        </p:nvSpPr>
        <p:spPr>
          <a:xfrm>
            <a:off x="9322308" y="2825496"/>
            <a:ext cx="2180844" cy="219456"/>
          </a:xfrm>
          <a:prstGeom prst="rect">
            <a:avLst/>
          </a:prstGeom>
          <a:noFill/>
        </p:spPr>
        <p:txBody>
          <a:bodyPr wrap="square" lIns="0" tIns="0" rIns="0" bIns="0" anchor="t">
            <a:spAutoFit/>
          </a:bodyPr>
          <a:lstStyle/>
          <a:p>
            <a:pPr algn="l"/>
            <a:r>
              <a:rPr sz="1050" b="1" i="0">
                <a:solidFill>
                  <a:srgbClr val="D4622B"/>
                </a:solidFill>
                <a:latin typeface="Consolas"/>
              </a:rPr>
              <a:t>/memory</a:t>
            </a:r>
          </a:p>
        </p:txBody>
      </p:sp>
      <p:sp>
        <p:nvSpPr>
          <p:cNvPr id="71" name="K10B32"/>
          <p:cNvSpPr txBox="1"/>
          <p:nvPr/>
        </p:nvSpPr>
        <p:spPr>
          <a:xfrm>
            <a:off x="9322308"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Edit CLAUDE.md and auto memory</a:t>
            </a:r>
          </a:p>
        </p:txBody>
      </p:sp>
      <p:sp>
        <p:nvSpPr>
          <p:cNvPr id="72" name="K10R33"/>
          <p:cNvSpPr/>
          <p:nvPr/>
        </p:nvSpPr>
        <p:spPr>
          <a:xfrm>
            <a:off x="9194292" y="3346704"/>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K10A33"/>
          <p:cNvSpPr txBox="1"/>
          <p:nvPr/>
        </p:nvSpPr>
        <p:spPr>
          <a:xfrm>
            <a:off x="9322308" y="3392424"/>
            <a:ext cx="2180844" cy="219456"/>
          </a:xfrm>
          <a:prstGeom prst="rect">
            <a:avLst/>
          </a:prstGeom>
          <a:noFill/>
        </p:spPr>
        <p:txBody>
          <a:bodyPr wrap="square" lIns="0" tIns="0" rIns="0" bIns="0" anchor="t">
            <a:spAutoFit/>
          </a:bodyPr>
          <a:lstStyle/>
          <a:p>
            <a:pPr algn="l"/>
            <a:r>
              <a:rPr sz="1050" b="1" i="0">
                <a:solidFill>
                  <a:srgbClr val="D4622B"/>
                </a:solidFill>
                <a:latin typeface="Consolas"/>
              </a:rPr>
              <a:t>/usage</a:t>
            </a:r>
          </a:p>
        </p:txBody>
      </p:sp>
      <p:sp>
        <p:nvSpPr>
          <p:cNvPr id="74" name="K10B33"/>
          <p:cNvSpPr txBox="1"/>
          <p:nvPr/>
        </p:nvSpPr>
        <p:spPr>
          <a:xfrm>
            <a:off x="9322308" y="3602736"/>
            <a:ext cx="2180844" cy="219456"/>
          </a:xfrm>
          <a:prstGeom prst="rect">
            <a:avLst/>
          </a:prstGeom>
          <a:noFill/>
        </p:spPr>
        <p:txBody>
          <a:bodyPr wrap="square" lIns="0" tIns="0" rIns="0" bIns="0" anchor="t">
            <a:spAutoFit/>
          </a:bodyPr>
          <a:lstStyle/>
          <a:p>
            <a:pPr algn="l"/>
            <a:r>
              <a:rPr sz="950" b="0" i="0">
                <a:solidFill>
                  <a:srgbClr val="475569"/>
                </a:solidFill>
                <a:latin typeface="Aptos"/>
              </a:rPr>
              <a:t>Tokens and cost for this session</a:t>
            </a:r>
          </a:p>
        </p:txBody>
      </p:sp>
      <p:sp>
        <p:nvSpPr>
          <p:cNvPr id="75" name="K10R34"/>
          <p:cNvSpPr/>
          <p:nvPr/>
        </p:nvSpPr>
        <p:spPr>
          <a:xfrm>
            <a:off x="9194292" y="3913632"/>
            <a:ext cx="2436876" cy="493776"/>
          </a:xfrm>
          <a:prstGeom prst="roundRect">
            <a:avLst>
              <a:gd name="adj" fmla="val 6000"/>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K10A34"/>
          <p:cNvSpPr txBox="1"/>
          <p:nvPr/>
        </p:nvSpPr>
        <p:spPr>
          <a:xfrm>
            <a:off x="9322308" y="3959352"/>
            <a:ext cx="2180844" cy="219456"/>
          </a:xfrm>
          <a:prstGeom prst="rect">
            <a:avLst/>
          </a:prstGeom>
          <a:noFill/>
        </p:spPr>
        <p:txBody>
          <a:bodyPr wrap="square" lIns="0" tIns="0" rIns="0" bIns="0" anchor="t">
            <a:spAutoFit/>
          </a:bodyPr>
          <a:lstStyle/>
          <a:p>
            <a:pPr algn="l"/>
            <a:r>
              <a:rPr sz="1050" b="1" i="0">
                <a:solidFill>
                  <a:srgbClr val="D4622B"/>
                </a:solidFill>
                <a:latin typeface="Consolas"/>
              </a:rPr>
              <a:t>/doctor</a:t>
            </a:r>
          </a:p>
        </p:txBody>
      </p:sp>
      <p:sp>
        <p:nvSpPr>
          <p:cNvPr id="77" name="K10B34"/>
          <p:cNvSpPr txBox="1"/>
          <p:nvPr/>
        </p:nvSpPr>
        <p:spPr>
          <a:xfrm>
            <a:off x="9322308" y="4169664"/>
            <a:ext cx="2180844" cy="219456"/>
          </a:xfrm>
          <a:prstGeom prst="rect">
            <a:avLst/>
          </a:prstGeom>
          <a:noFill/>
        </p:spPr>
        <p:txBody>
          <a:bodyPr wrap="square" lIns="0" tIns="0" rIns="0" bIns="0" anchor="t">
            <a:spAutoFit/>
          </a:bodyPr>
          <a:lstStyle/>
          <a:p>
            <a:pPr algn="l"/>
            <a:r>
              <a:rPr sz="950" b="0" i="0">
                <a:solidFill>
                  <a:srgbClr val="475569"/>
                </a:solidFill>
                <a:latin typeface="Aptos"/>
              </a:rPr>
              <a:t>Setup checkup when things are off</a:t>
            </a:r>
          </a:p>
        </p:txBody>
      </p:sp>
      <p:sp>
        <p:nvSpPr>
          <p:cNvPr id="78" name="K10KeyLabel"/>
          <p:cNvSpPr txBox="1"/>
          <p:nvPr/>
        </p:nvSpPr>
        <p:spPr>
          <a:xfrm>
            <a:off x="329184" y="4791456"/>
            <a:ext cx="5486400" cy="237744"/>
          </a:xfrm>
          <a:prstGeom prst="rect">
            <a:avLst/>
          </a:prstGeom>
          <a:noFill/>
        </p:spPr>
        <p:txBody>
          <a:bodyPr wrap="square" lIns="0" tIns="0" rIns="0" bIns="0" anchor="t">
            <a:spAutoFit/>
          </a:bodyPr>
          <a:lstStyle/>
          <a:p>
            <a:pPr algn="l"/>
            <a:r>
              <a:rPr sz="950" b="1" i="0">
                <a:solidFill>
                  <a:srgbClr val="64748B"/>
                </a:solidFill>
                <a:latin typeface="Aptos"/>
              </a:rPr>
              <a:t>NOT COMMANDS — AND YOU WILL REACH FOR THEM MORE OFTEN</a:t>
            </a:r>
          </a:p>
        </p:txBody>
      </p:sp>
      <p:sp>
        <p:nvSpPr>
          <p:cNvPr id="79" name="K10Key0"/>
          <p:cNvSpPr/>
          <p:nvPr/>
        </p:nvSpPr>
        <p:spPr>
          <a:xfrm>
            <a:off x="329184" y="5065776"/>
            <a:ext cx="17830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K10KeyN0"/>
          <p:cNvSpPr txBox="1"/>
          <p:nvPr/>
        </p:nvSpPr>
        <p:spPr>
          <a:xfrm>
            <a:off x="457200" y="5111496"/>
            <a:ext cx="1527048" cy="219456"/>
          </a:xfrm>
          <a:prstGeom prst="rect">
            <a:avLst/>
          </a:prstGeom>
          <a:noFill/>
        </p:spPr>
        <p:txBody>
          <a:bodyPr wrap="square" lIns="0" tIns="0" rIns="0" bIns="0" anchor="t">
            <a:spAutoFit/>
          </a:bodyPr>
          <a:lstStyle/>
          <a:p>
            <a:pPr algn="l"/>
            <a:r>
              <a:rPr sz="1000" b="1" i="0">
                <a:solidFill>
                  <a:srgbClr val="1A2332"/>
                </a:solidFill>
                <a:latin typeface="Consolas"/>
              </a:rPr>
              <a:t>Shift+Tab</a:t>
            </a:r>
          </a:p>
        </p:txBody>
      </p:sp>
      <p:sp>
        <p:nvSpPr>
          <p:cNvPr id="81" name="K10KeyD0"/>
          <p:cNvSpPr txBox="1"/>
          <p:nvPr/>
        </p:nvSpPr>
        <p:spPr>
          <a:xfrm>
            <a:off x="457200" y="5321808"/>
            <a:ext cx="1527048" cy="219456"/>
          </a:xfrm>
          <a:prstGeom prst="rect">
            <a:avLst/>
          </a:prstGeom>
          <a:noFill/>
        </p:spPr>
        <p:txBody>
          <a:bodyPr wrap="square" lIns="0" tIns="0" rIns="0" bIns="0" anchor="t">
            <a:spAutoFit/>
          </a:bodyPr>
          <a:lstStyle/>
          <a:p>
            <a:pPr algn="l"/>
            <a:r>
              <a:rPr sz="900" b="0" i="0">
                <a:solidFill>
                  <a:srgbClr val="475569"/>
                </a:solidFill>
                <a:latin typeface="Aptos"/>
              </a:rPr>
              <a:t>Cycle permission modes</a:t>
            </a:r>
          </a:p>
        </p:txBody>
      </p:sp>
      <p:sp>
        <p:nvSpPr>
          <p:cNvPr id="82" name="K10Key1"/>
          <p:cNvSpPr/>
          <p:nvPr/>
        </p:nvSpPr>
        <p:spPr>
          <a:xfrm>
            <a:off x="2258568" y="5065776"/>
            <a:ext cx="17830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K10KeyN1"/>
          <p:cNvSpPr txBox="1"/>
          <p:nvPr/>
        </p:nvSpPr>
        <p:spPr>
          <a:xfrm>
            <a:off x="2386584" y="5111496"/>
            <a:ext cx="1527048" cy="219456"/>
          </a:xfrm>
          <a:prstGeom prst="rect">
            <a:avLst/>
          </a:prstGeom>
          <a:noFill/>
        </p:spPr>
        <p:txBody>
          <a:bodyPr wrap="square" lIns="0" tIns="0" rIns="0" bIns="0" anchor="t">
            <a:spAutoFit/>
          </a:bodyPr>
          <a:lstStyle/>
          <a:p>
            <a:pPr algn="l"/>
            <a:r>
              <a:rPr sz="1000" b="1" i="0">
                <a:solidFill>
                  <a:srgbClr val="1A2332"/>
                </a:solidFill>
                <a:latin typeface="Consolas"/>
              </a:rPr>
              <a:t>@path</a:t>
            </a:r>
          </a:p>
        </p:txBody>
      </p:sp>
      <p:sp>
        <p:nvSpPr>
          <p:cNvPr id="84" name="K10KeyD1"/>
          <p:cNvSpPr txBox="1"/>
          <p:nvPr/>
        </p:nvSpPr>
        <p:spPr>
          <a:xfrm>
            <a:off x="2386584" y="5321808"/>
            <a:ext cx="1527048" cy="219456"/>
          </a:xfrm>
          <a:prstGeom prst="rect">
            <a:avLst/>
          </a:prstGeom>
          <a:noFill/>
        </p:spPr>
        <p:txBody>
          <a:bodyPr wrap="square" lIns="0" tIns="0" rIns="0" bIns="0" anchor="t">
            <a:spAutoFit/>
          </a:bodyPr>
          <a:lstStyle/>
          <a:p>
            <a:pPr algn="l"/>
            <a:r>
              <a:rPr sz="900" b="0" i="0">
                <a:solidFill>
                  <a:srgbClr val="475569"/>
                </a:solidFill>
                <a:latin typeface="Aptos"/>
              </a:rPr>
              <a:t>Name the file for Claude</a:t>
            </a:r>
          </a:p>
        </p:txBody>
      </p:sp>
      <p:sp>
        <p:nvSpPr>
          <p:cNvPr id="85" name="K10Key2"/>
          <p:cNvSpPr/>
          <p:nvPr/>
        </p:nvSpPr>
        <p:spPr>
          <a:xfrm>
            <a:off x="4187952" y="5065776"/>
            <a:ext cx="17830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K10KeyN2"/>
          <p:cNvSpPr txBox="1"/>
          <p:nvPr/>
        </p:nvSpPr>
        <p:spPr>
          <a:xfrm>
            <a:off x="4315968" y="5111496"/>
            <a:ext cx="1527048" cy="219456"/>
          </a:xfrm>
          <a:prstGeom prst="rect">
            <a:avLst/>
          </a:prstGeom>
          <a:noFill/>
        </p:spPr>
        <p:txBody>
          <a:bodyPr wrap="square" lIns="0" tIns="0" rIns="0" bIns="0" anchor="t">
            <a:spAutoFit/>
          </a:bodyPr>
          <a:lstStyle/>
          <a:p>
            <a:pPr algn="l"/>
            <a:r>
              <a:rPr sz="1000" b="1" i="0">
                <a:solidFill>
                  <a:srgbClr val="1A2332"/>
                </a:solidFill>
                <a:latin typeface="Consolas"/>
              </a:rPr>
              <a:t>!</a:t>
            </a:r>
          </a:p>
        </p:txBody>
      </p:sp>
      <p:sp>
        <p:nvSpPr>
          <p:cNvPr id="87" name="K10KeyD2"/>
          <p:cNvSpPr txBox="1"/>
          <p:nvPr/>
        </p:nvSpPr>
        <p:spPr>
          <a:xfrm>
            <a:off x="4315968" y="5321808"/>
            <a:ext cx="1527048" cy="219456"/>
          </a:xfrm>
          <a:prstGeom prst="rect">
            <a:avLst/>
          </a:prstGeom>
          <a:noFill/>
        </p:spPr>
        <p:txBody>
          <a:bodyPr wrap="square" lIns="0" tIns="0" rIns="0" bIns="0" anchor="t">
            <a:spAutoFit/>
          </a:bodyPr>
          <a:lstStyle/>
          <a:p>
            <a:pPr algn="l"/>
            <a:r>
              <a:rPr sz="900" b="0" i="0">
                <a:solidFill>
                  <a:srgbClr val="475569"/>
                </a:solidFill>
                <a:latin typeface="Aptos"/>
              </a:rPr>
              <a:t>Run a shell command</a:t>
            </a:r>
          </a:p>
        </p:txBody>
      </p:sp>
      <p:sp>
        <p:nvSpPr>
          <p:cNvPr id="88" name="K10Key3"/>
          <p:cNvSpPr/>
          <p:nvPr/>
        </p:nvSpPr>
        <p:spPr>
          <a:xfrm>
            <a:off x="6117336" y="5065776"/>
            <a:ext cx="17830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K10KeyN3"/>
          <p:cNvSpPr txBox="1"/>
          <p:nvPr/>
        </p:nvSpPr>
        <p:spPr>
          <a:xfrm>
            <a:off x="6245352" y="5111496"/>
            <a:ext cx="1527048" cy="219456"/>
          </a:xfrm>
          <a:prstGeom prst="rect">
            <a:avLst/>
          </a:prstGeom>
          <a:noFill/>
        </p:spPr>
        <p:txBody>
          <a:bodyPr wrap="square" lIns="0" tIns="0" rIns="0" bIns="0" anchor="t">
            <a:spAutoFit/>
          </a:bodyPr>
          <a:lstStyle/>
          <a:p>
            <a:pPr algn="l"/>
            <a:r>
              <a:rPr sz="1000" b="1" i="0">
                <a:solidFill>
                  <a:srgbClr val="1A2332"/>
                </a:solidFill>
                <a:latin typeface="Consolas"/>
              </a:rPr>
              <a:t>Esc Esc</a:t>
            </a:r>
          </a:p>
        </p:txBody>
      </p:sp>
      <p:sp>
        <p:nvSpPr>
          <p:cNvPr id="90" name="K10KeyD3"/>
          <p:cNvSpPr txBox="1"/>
          <p:nvPr/>
        </p:nvSpPr>
        <p:spPr>
          <a:xfrm>
            <a:off x="6245352" y="5321808"/>
            <a:ext cx="1527048" cy="219456"/>
          </a:xfrm>
          <a:prstGeom prst="rect">
            <a:avLst/>
          </a:prstGeom>
          <a:noFill/>
        </p:spPr>
        <p:txBody>
          <a:bodyPr wrap="square" lIns="0" tIns="0" rIns="0" bIns="0" anchor="t">
            <a:spAutoFit/>
          </a:bodyPr>
          <a:lstStyle/>
          <a:p>
            <a:pPr algn="l"/>
            <a:r>
              <a:rPr sz="900" b="0" i="0">
                <a:solidFill>
                  <a:srgbClr val="475569"/>
                </a:solidFill>
                <a:latin typeface="Aptos"/>
              </a:rPr>
              <a:t>Clear draft, or rewind</a:t>
            </a:r>
          </a:p>
        </p:txBody>
      </p:sp>
      <p:sp>
        <p:nvSpPr>
          <p:cNvPr id="91" name="K10Key4"/>
          <p:cNvSpPr/>
          <p:nvPr/>
        </p:nvSpPr>
        <p:spPr>
          <a:xfrm>
            <a:off x="8046720" y="5065776"/>
            <a:ext cx="17830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K10KeyN4"/>
          <p:cNvSpPr txBox="1"/>
          <p:nvPr/>
        </p:nvSpPr>
        <p:spPr>
          <a:xfrm>
            <a:off x="8174736" y="5111496"/>
            <a:ext cx="1527048" cy="219456"/>
          </a:xfrm>
          <a:prstGeom prst="rect">
            <a:avLst/>
          </a:prstGeom>
          <a:noFill/>
        </p:spPr>
        <p:txBody>
          <a:bodyPr wrap="square" lIns="0" tIns="0" rIns="0" bIns="0" anchor="t">
            <a:spAutoFit/>
          </a:bodyPr>
          <a:lstStyle/>
          <a:p>
            <a:pPr algn="l"/>
            <a:r>
              <a:rPr sz="1000" b="1" i="0">
                <a:solidFill>
                  <a:srgbClr val="1A2332"/>
                </a:solidFill>
                <a:latin typeface="Consolas"/>
              </a:rPr>
              <a:t>Ctrl+O</a:t>
            </a:r>
          </a:p>
        </p:txBody>
      </p:sp>
      <p:sp>
        <p:nvSpPr>
          <p:cNvPr id="93" name="K10KeyD4"/>
          <p:cNvSpPr txBox="1"/>
          <p:nvPr/>
        </p:nvSpPr>
        <p:spPr>
          <a:xfrm>
            <a:off x="8174736" y="5321808"/>
            <a:ext cx="1527048" cy="219456"/>
          </a:xfrm>
          <a:prstGeom prst="rect">
            <a:avLst/>
          </a:prstGeom>
          <a:noFill/>
        </p:spPr>
        <p:txBody>
          <a:bodyPr wrap="square" lIns="0" tIns="0" rIns="0" bIns="0" anchor="t">
            <a:spAutoFit/>
          </a:bodyPr>
          <a:lstStyle/>
          <a:p>
            <a:pPr algn="l"/>
            <a:r>
              <a:rPr sz="900" b="0" i="0">
                <a:solidFill>
                  <a:srgbClr val="475569"/>
                </a:solidFill>
                <a:latin typeface="Aptos"/>
              </a:rPr>
              <a:t>Transcript viewer</a:t>
            </a:r>
          </a:p>
        </p:txBody>
      </p:sp>
      <p:sp>
        <p:nvSpPr>
          <p:cNvPr id="94" name="K10Key5"/>
          <p:cNvSpPr/>
          <p:nvPr/>
        </p:nvSpPr>
        <p:spPr>
          <a:xfrm>
            <a:off x="9976104" y="5065776"/>
            <a:ext cx="1783080" cy="493776"/>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K10KeyN5"/>
          <p:cNvSpPr txBox="1"/>
          <p:nvPr/>
        </p:nvSpPr>
        <p:spPr>
          <a:xfrm>
            <a:off x="10104120" y="5111496"/>
            <a:ext cx="1527048" cy="219456"/>
          </a:xfrm>
          <a:prstGeom prst="rect">
            <a:avLst/>
          </a:prstGeom>
          <a:noFill/>
        </p:spPr>
        <p:txBody>
          <a:bodyPr wrap="square" lIns="0" tIns="0" rIns="0" bIns="0" anchor="t">
            <a:spAutoFit/>
          </a:bodyPr>
          <a:lstStyle/>
          <a:p>
            <a:pPr algn="l"/>
            <a:r>
              <a:rPr sz="1000" b="1" i="0">
                <a:solidFill>
                  <a:srgbClr val="1A2332"/>
                </a:solidFill>
                <a:latin typeface="Consolas"/>
              </a:rPr>
              <a:t>?</a:t>
            </a:r>
          </a:p>
        </p:txBody>
      </p:sp>
      <p:sp>
        <p:nvSpPr>
          <p:cNvPr id="96" name="K10KeyD5"/>
          <p:cNvSpPr txBox="1"/>
          <p:nvPr/>
        </p:nvSpPr>
        <p:spPr>
          <a:xfrm>
            <a:off x="10104120" y="5321808"/>
            <a:ext cx="1527048" cy="219456"/>
          </a:xfrm>
          <a:prstGeom prst="rect">
            <a:avLst/>
          </a:prstGeom>
          <a:noFill/>
        </p:spPr>
        <p:txBody>
          <a:bodyPr wrap="square" lIns="0" tIns="0" rIns="0" bIns="0" anchor="t">
            <a:spAutoFit/>
          </a:bodyPr>
          <a:lstStyle/>
          <a:p>
            <a:pPr algn="l"/>
            <a:r>
              <a:rPr sz="900" b="0" i="0">
                <a:solidFill>
                  <a:srgbClr val="475569"/>
                </a:solidFill>
                <a:latin typeface="Aptos"/>
              </a:rPr>
              <a:t>The shortcut panel</a:t>
            </a:r>
          </a:p>
        </p:txBody>
      </p:sp>
      <p:sp>
        <p:nvSpPr>
          <p:cNvPr id="97" name="K10Rule"/>
          <p:cNvSpPr/>
          <p:nvPr/>
        </p:nvSpPr>
        <p:spPr>
          <a:xfrm>
            <a:off x="329184" y="5724144"/>
            <a:ext cx="11430000" cy="621792"/>
          </a:xfrm>
          <a:prstGeom prst="roundRect">
            <a:avLst>
              <a:gd name="adj" fmla="val 6000"/>
            </a:avLst>
          </a:prstGeom>
          <a:solidFill>
            <a:srgbClr val="F5F3FF"/>
          </a:solidFill>
          <a:ln w="127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K10RuleTxt"/>
          <p:cNvSpPr txBox="1"/>
          <p:nvPr/>
        </p:nvSpPr>
        <p:spPr>
          <a:xfrm>
            <a:off x="512064" y="5833872"/>
            <a:ext cx="11064240" cy="402336"/>
          </a:xfrm>
          <a:prstGeom prst="rect">
            <a:avLst/>
          </a:prstGeom>
          <a:noFill/>
        </p:spPr>
        <p:txBody>
          <a:bodyPr wrap="square" lIns="0" tIns="0" rIns="0" bIns="0" anchor="t">
            <a:spAutoFit/>
          </a:bodyPr>
          <a:lstStyle/>
          <a:p>
            <a:pPr algn="l"/>
            <a:r>
              <a:rPr sz="1200" b="1" i="0">
                <a:solidFill>
                  <a:srgbClr val="7C3AED"/>
                </a:solidFill>
                <a:latin typeface="Aptos Display"/>
              </a:rPr>
              <a:t>The argument is where the discipline lives.  </a:t>
            </a:r>
            <a:r>
              <a:rPr sz="1150" b="0" i="0">
                <a:solidFill>
                  <a:srgbClr val="475569"/>
                </a:solidFill>
                <a:latin typeface="Aptos"/>
              </a:rPr>
              <a:t>/compact with nothing after it decides for you what to forget. /compact keep the migration plan and the failing test does not. Same for /plan, /code-review and /security-review.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658368" y="54864"/>
            <a:ext cx="10607040" cy="420624"/>
          </a:xfrm>
          <a:prstGeom prst="rect">
            <a:avLst/>
          </a:prstGeom>
          <a:noFill/>
        </p:spPr>
        <p:txBody>
          <a:bodyPr wrap="square" lIns="0" tIns="0" rIns="0" bIns="0" anchor="ctr">
            <a:spAutoFit/>
          </a:bodyPr>
          <a:lstStyle/>
          <a:p>
            <a:pPr algn="l"/>
            <a:r>
              <a:rPr sz="2700" b="1" i="0">
                <a:solidFill>
                  <a:srgbClr val="FFFFFF"/>
                </a:solidFill>
                <a:latin typeface="Aptos Display"/>
              </a:rPr>
              <a:t>Plugins: install the discipline, don't re-remember it</a:t>
            </a:r>
          </a:p>
        </p:txBody>
      </p:sp>
      <p:sp>
        <p:nvSpPr>
          <p:cNvPr id="3" name="Tagline"/>
          <p:cNvSpPr txBox="1"/>
          <p:nvPr/>
        </p:nvSpPr>
        <p:spPr>
          <a:xfrm>
            <a:off x="658368" y="640080"/>
            <a:ext cx="10972800" cy="274320"/>
          </a:xfrm>
          <a:prstGeom prst="rect">
            <a:avLst/>
          </a:prstGeom>
          <a:noFill/>
        </p:spPr>
        <p:txBody>
          <a:bodyPr wrap="square" lIns="0" tIns="0" rIns="0" bIns="0" anchor="t">
            <a:spAutoFit/>
          </a:bodyPr>
          <a:lstStyle/>
          <a:p>
            <a:pPr algn="l"/>
            <a:r>
              <a:rPr sz="1400" b="0" i="0">
                <a:solidFill>
                  <a:srgbClr val="3972C1"/>
                </a:solidFill>
                <a:latin typeface="Aptos"/>
              </a:rPr>
              <a:t>Anthropic's curated marketplace carries 296. These twelve map onto the four modules you just read.</a:t>
            </a:r>
          </a:p>
        </p:txBody>
      </p:sp>
      <p:sp>
        <p:nvSpPr>
          <p:cNvPr id="4" name="FooterLabel"/>
          <p:cNvSpPr txBox="1"/>
          <p:nvPr/>
        </p:nvSpPr>
        <p:spPr>
          <a:xfrm>
            <a:off x="658368" y="6647688"/>
            <a:ext cx="7315200" cy="201168"/>
          </a:xfrm>
          <a:prstGeom prst="rect">
            <a:avLst/>
          </a:prstGeom>
          <a:noFill/>
        </p:spPr>
        <p:txBody>
          <a:bodyPr wrap="square" lIns="0" tIns="0" rIns="0" bIns="0" anchor="t">
            <a:spAutoFit/>
          </a:bodyPr>
          <a:lstStyle/>
          <a:p>
            <a:pPr algn="l"/>
            <a:r>
              <a:rPr sz="900" b="0" i="0">
                <a:solidFill>
                  <a:srgbClr val="8899AA"/>
                </a:solidFill>
                <a:latin typeface="Aptos"/>
              </a:rPr>
              <a:t>Claude Code · Enterprise Engineering Session</a:t>
            </a:r>
          </a:p>
        </p:txBody>
      </p:sp>
      <p:sp>
        <p:nvSpPr>
          <p:cNvPr id="5" name="PageNum"/>
          <p:cNvSpPr txBox="1"/>
          <p:nvPr/>
        </p:nvSpPr>
        <p:spPr>
          <a:xfrm>
            <a:off x="10058400" y="6647688"/>
            <a:ext cx="1463040" cy="201168"/>
          </a:xfrm>
          <a:prstGeom prst="rect">
            <a:avLst/>
          </a:prstGeom>
          <a:noFill/>
        </p:spPr>
        <p:txBody>
          <a:bodyPr wrap="square" lIns="0" tIns="0" rIns="0" bIns="0" anchor="t">
            <a:spAutoFit/>
          </a:bodyPr>
          <a:lstStyle/>
          <a:p>
            <a:r>
              <a:t>17 / 52</a:t>
            </a:r>
          </a:p>
        </p:txBody>
      </p:sp>
      <p:sp>
        <p:nvSpPr>
          <p:cNvPr id="6" name="P11Col0"/>
          <p:cNvSpPr/>
          <p:nvPr/>
        </p:nvSpPr>
        <p:spPr>
          <a:xfrm>
            <a:off x="329184" y="1097280"/>
            <a:ext cx="2692908" cy="2340864"/>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P11Top0"/>
          <p:cNvSpPr/>
          <p:nvPr/>
        </p:nvSpPr>
        <p:spPr>
          <a:xfrm>
            <a:off x="420624" y="1097280"/>
            <a:ext cx="2510028" cy="73152"/>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P11Hd0"/>
          <p:cNvSpPr txBox="1"/>
          <p:nvPr/>
        </p:nvSpPr>
        <p:spPr>
          <a:xfrm>
            <a:off x="493776" y="1280160"/>
            <a:ext cx="2363724" cy="274320"/>
          </a:xfrm>
          <a:prstGeom prst="rect">
            <a:avLst/>
          </a:prstGeom>
          <a:noFill/>
        </p:spPr>
        <p:txBody>
          <a:bodyPr wrap="square" lIns="0" tIns="0" rIns="0" bIns="0" anchor="t">
            <a:spAutoFit/>
          </a:bodyPr>
          <a:lstStyle/>
          <a:p>
            <a:pPr algn="l"/>
            <a:r>
              <a:rPr sz="1300" b="1" i="0">
                <a:solidFill>
                  <a:srgbClr val="1565C0"/>
                </a:solidFill>
                <a:latin typeface="Aptos Display"/>
              </a:rPr>
              <a:t>Keep the context</a:t>
            </a:r>
          </a:p>
        </p:txBody>
      </p:sp>
      <p:sp>
        <p:nvSpPr>
          <p:cNvPr id="9" name="P11R00"/>
          <p:cNvSpPr/>
          <p:nvPr/>
        </p:nvSpPr>
        <p:spPr>
          <a:xfrm>
            <a:off x="457200" y="1645920"/>
            <a:ext cx="2436876" cy="493776"/>
          </a:xfrm>
          <a:prstGeom prst="roundRect">
            <a:avLst>
              <a:gd name="adj" fmla="val 6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P11A00"/>
          <p:cNvSpPr txBox="1"/>
          <p:nvPr/>
        </p:nvSpPr>
        <p:spPr>
          <a:xfrm>
            <a:off x="585216" y="1691640"/>
            <a:ext cx="2180844" cy="219456"/>
          </a:xfrm>
          <a:prstGeom prst="rect">
            <a:avLst/>
          </a:prstGeom>
          <a:noFill/>
        </p:spPr>
        <p:txBody>
          <a:bodyPr wrap="square" lIns="0" tIns="0" rIns="0" bIns="0" anchor="t">
            <a:spAutoFit/>
          </a:bodyPr>
          <a:lstStyle/>
          <a:p>
            <a:pPr algn="l"/>
            <a:r>
              <a:rPr sz="1050" b="1" i="0">
                <a:solidFill>
                  <a:srgbClr val="1565C0"/>
                </a:solidFill>
                <a:latin typeface="Consolas"/>
              </a:rPr>
              <a:t>claude-md-management</a:t>
            </a:r>
          </a:p>
        </p:txBody>
      </p:sp>
      <p:sp>
        <p:nvSpPr>
          <p:cNvPr id="11" name="P11B00"/>
          <p:cNvSpPr txBox="1"/>
          <p:nvPr/>
        </p:nvSpPr>
        <p:spPr>
          <a:xfrm>
            <a:off x="585216"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Audit it; capture learnings</a:t>
            </a:r>
          </a:p>
        </p:txBody>
      </p:sp>
      <p:sp>
        <p:nvSpPr>
          <p:cNvPr id="12" name="P11R01"/>
          <p:cNvSpPr/>
          <p:nvPr/>
        </p:nvSpPr>
        <p:spPr>
          <a:xfrm>
            <a:off x="457200"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P11A01"/>
          <p:cNvSpPr txBox="1"/>
          <p:nvPr/>
        </p:nvSpPr>
        <p:spPr>
          <a:xfrm>
            <a:off x="585216" y="2258568"/>
            <a:ext cx="2180844" cy="219456"/>
          </a:xfrm>
          <a:prstGeom prst="rect">
            <a:avLst/>
          </a:prstGeom>
          <a:noFill/>
        </p:spPr>
        <p:txBody>
          <a:bodyPr wrap="square" lIns="0" tIns="0" rIns="0" bIns="0" anchor="t">
            <a:spAutoFit/>
          </a:bodyPr>
          <a:lstStyle/>
          <a:p>
            <a:pPr algn="l"/>
            <a:r>
              <a:rPr sz="1050" b="1" i="0">
                <a:solidFill>
                  <a:srgbClr val="1565C0"/>
                </a:solidFill>
                <a:latin typeface="Consolas"/>
              </a:rPr>
              <a:t>context7</a:t>
            </a:r>
          </a:p>
        </p:txBody>
      </p:sp>
      <p:sp>
        <p:nvSpPr>
          <p:cNvPr id="14" name="P11B01"/>
          <p:cNvSpPr txBox="1"/>
          <p:nvPr/>
        </p:nvSpPr>
        <p:spPr>
          <a:xfrm>
            <a:off x="585216"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Version-pinned docs, from source</a:t>
            </a:r>
          </a:p>
        </p:txBody>
      </p:sp>
      <p:sp>
        <p:nvSpPr>
          <p:cNvPr id="15" name="P11R02"/>
          <p:cNvSpPr/>
          <p:nvPr/>
        </p:nvSpPr>
        <p:spPr>
          <a:xfrm>
            <a:off x="457200" y="2779776"/>
            <a:ext cx="2436876" cy="493776"/>
          </a:xfrm>
          <a:prstGeom prst="roundRect">
            <a:avLst>
              <a:gd name="adj" fmla="val 6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P11A02"/>
          <p:cNvSpPr txBox="1"/>
          <p:nvPr/>
        </p:nvSpPr>
        <p:spPr>
          <a:xfrm>
            <a:off x="585216" y="2825496"/>
            <a:ext cx="2180844" cy="219456"/>
          </a:xfrm>
          <a:prstGeom prst="rect">
            <a:avLst/>
          </a:prstGeom>
          <a:noFill/>
        </p:spPr>
        <p:txBody>
          <a:bodyPr wrap="square" lIns="0" tIns="0" rIns="0" bIns="0" anchor="t">
            <a:spAutoFit/>
          </a:bodyPr>
          <a:lstStyle/>
          <a:p>
            <a:pPr algn="l"/>
            <a:r>
              <a:rPr sz="1050" b="1" i="0">
                <a:solidFill>
                  <a:srgbClr val="1565C0"/>
                </a:solidFill>
                <a:latin typeface="Consolas"/>
              </a:rPr>
              <a:t>typescript-lsp</a:t>
            </a:r>
          </a:p>
        </p:txBody>
      </p:sp>
      <p:sp>
        <p:nvSpPr>
          <p:cNvPr id="17" name="P11B02"/>
          <p:cNvSpPr txBox="1"/>
          <p:nvPr/>
        </p:nvSpPr>
        <p:spPr>
          <a:xfrm>
            <a:off x="585216"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Diagnostics after every edit</a:t>
            </a:r>
          </a:p>
        </p:txBody>
      </p:sp>
      <p:sp>
        <p:nvSpPr>
          <p:cNvPr id="18" name="P11Col1"/>
          <p:cNvSpPr/>
          <p:nvPr/>
        </p:nvSpPr>
        <p:spPr>
          <a:xfrm>
            <a:off x="3241548" y="1097280"/>
            <a:ext cx="2692908" cy="2340864"/>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P11Top1"/>
          <p:cNvSpPr/>
          <p:nvPr/>
        </p:nvSpPr>
        <p:spPr>
          <a:xfrm>
            <a:off x="3332988" y="1097280"/>
            <a:ext cx="2510028"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P11Hd1"/>
          <p:cNvSpPr txBox="1"/>
          <p:nvPr/>
        </p:nvSpPr>
        <p:spPr>
          <a:xfrm>
            <a:off x="3406140" y="1280160"/>
            <a:ext cx="2363724" cy="274320"/>
          </a:xfrm>
          <a:prstGeom prst="rect">
            <a:avLst/>
          </a:prstGeom>
          <a:noFill/>
        </p:spPr>
        <p:txBody>
          <a:bodyPr wrap="square" lIns="0" tIns="0" rIns="0" bIns="0" anchor="t">
            <a:spAutoFit/>
          </a:bodyPr>
          <a:lstStyle/>
          <a:p>
            <a:pPr algn="l"/>
            <a:r>
              <a:rPr sz="1300" b="1" i="0">
                <a:solidFill>
                  <a:srgbClr val="7C3AED"/>
                </a:solidFill>
                <a:latin typeface="Aptos Display"/>
              </a:rPr>
              <a:t>Think before coding</a:t>
            </a:r>
          </a:p>
        </p:txBody>
      </p:sp>
      <p:sp>
        <p:nvSpPr>
          <p:cNvPr id="21" name="P11R10"/>
          <p:cNvSpPr/>
          <p:nvPr/>
        </p:nvSpPr>
        <p:spPr>
          <a:xfrm>
            <a:off x="3369564" y="1645920"/>
            <a:ext cx="2436876" cy="493776"/>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11A10"/>
          <p:cNvSpPr txBox="1"/>
          <p:nvPr/>
        </p:nvSpPr>
        <p:spPr>
          <a:xfrm>
            <a:off x="3497580" y="1691640"/>
            <a:ext cx="2180844" cy="219456"/>
          </a:xfrm>
          <a:prstGeom prst="rect">
            <a:avLst/>
          </a:prstGeom>
          <a:noFill/>
        </p:spPr>
        <p:txBody>
          <a:bodyPr wrap="square" lIns="0" tIns="0" rIns="0" bIns="0" anchor="t">
            <a:spAutoFit/>
          </a:bodyPr>
          <a:lstStyle/>
          <a:p>
            <a:pPr algn="l"/>
            <a:r>
              <a:rPr sz="1050" b="1" i="0">
                <a:solidFill>
                  <a:srgbClr val="7C3AED"/>
                </a:solidFill>
                <a:latin typeface="Consolas"/>
              </a:rPr>
              <a:t>superpowers</a:t>
            </a:r>
          </a:p>
        </p:txBody>
      </p:sp>
      <p:sp>
        <p:nvSpPr>
          <p:cNvPr id="23" name="P11B10"/>
          <p:cNvSpPr txBox="1"/>
          <p:nvPr/>
        </p:nvSpPr>
        <p:spPr>
          <a:xfrm>
            <a:off x="3497580"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Brainstorm, TDD, debug by method</a:t>
            </a:r>
          </a:p>
        </p:txBody>
      </p:sp>
      <p:sp>
        <p:nvSpPr>
          <p:cNvPr id="24" name="P11R11"/>
          <p:cNvSpPr/>
          <p:nvPr/>
        </p:nvSpPr>
        <p:spPr>
          <a:xfrm>
            <a:off x="3369564"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P11A11"/>
          <p:cNvSpPr txBox="1"/>
          <p:nvPr/>
        </p:nvSpPr>
        <p:spPr>
          <a:xfrm>
            <a:off x="3497580" y="2258568"/>
            <a:ext cx="2180844" cy="219456"/>
          </a:xfrm>
          <a:prstGeom prst="rect">
            <a:avLst/>
          </a:prstGeom>
          <a:noFill/>
        </p:spPr>
        <p:txBody>
          <a:bodyPr wrap="square" lIns="0" tIns="0" rIns="0" bIns="0" anchor="t">
            <a:spAutoFit/>
          </a:bodyPr>
          <a:lstStyle/>
          <a:p>
            <a:pPr algn="l"/>
            <a:r>
              <a:rPr sz="1050" b="1" i="0">
                <a:solidFill>
                  <a:srgbClr val="7C3AED"/>
                </a:solidFill>
                <a:latin typeface="Consolas"/>
              </a:rPr>
              <a:t>feature-dev</a:t>
            </a:r>
          </a:p>
        </p:txBody>
      </p:sp>
      <p:sp>
        <p:nvSpPr>
          <p:cNvPr id="26" name="P11B11"/>
          <p:cNvSpPr txBox="1"/>
          <p:nvPr/>
        </p:nvSpPr>
        <p:spPr>
          <a:xfrm>
            <a:off x="3497580"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Explore, design, review as agents</a:t>
            </a:r>
          </a:p>
        </p:txBody>
      </p:sp>
      <p:sp>
        <p:nvSpPr>
          <p:cNvPr id="27" name="P11R12"/>
          <p:cNvSpPr/>
          <p:nvPr/>
        </p:nvSpPr>
        <p:spPr>
          <a:xfrm>
            <a:off x="3369564" y="2779776"/>
            <a:ext cx="2436876" cy="493776"/>
          </a:xfrm>
          <a:prstGeom prst="roundRect">
            <a:avLst>
              <a:gd name="adj" fmla="val 6000"/>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11A12"/>
          <p:cNvSpPr txBox="1"/>
          <p:nvPr/>
        </p:nvSpPr>
        <p:spPr>
          <a:xfrm>
            <a:off x="3497580" y="2825496"/>
            <a:ext cx="2180844" cy="219456"/>
          </a:xfrm>
          <a:prstGeom prst="rect">
            <a:avLst/>
          </a:prstGeom>
          <a:noFill/>
        </p:spPr>
        <p:txBody>
          <a:bodyPr wrap="square" lIns="0" tIns="0" rIns="0" bIns="0" anchor="t">
            <a:spAutoFit/>
          </a:bodyPr>
          <a:lstStyle/>
          <a:p>
            <a:pPr algn="l"/>
            <a:r>
              <a:rPr sz="1050" b="1" i="0">
                <a:solidFill>
                  <a:srgbClr val="7C3AED"/>
                </a:solidFill>
                <a:latin typeface="Consolas"/>
              </a:rPr>
              <a:t>skill-creator</a:t>
            </a:r>
          </a:p>
        </p:txBody>
      </p:sp>
      <p:sp>
        <p:nvSpPr>
          <p:cNvPr id="29" name="P11B12"/>
          <p:cNvSpPr txBox="1"/>
          <p:nvPr/>
        </p:nvSpPr>
        <p:spPr>
          <a:xfrm>
            <a:off x="3497580"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Make a repeated prompt a skill</a:t>
            </a:r>
          </a:p>
        </p:txBody>
      </p:sp>
      <p:sp>
        <p:nvSpPr>
          <p:cNvPr id="30" name="P11Col2"/>
          <p:cNvSpPr/>
          <p:nvPr/>
        </p:nvSpPr>
        <p:spPr>
          <a:xfrm>
            <a:off x="6153912" y="1097280"/>
            <a:ext cx="2692908" cy="2340864"/>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P11Top2"/>
          <p:cNvSpPr/>
          <p:nvPr/>
        </p:nvSpPr>
        <p:spPr>
          <a:xfrm>
            <a:off x="6245352" y="1097280"/>
            <a:ext cx="2510028" cy="73152"/>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P11Hd2"/>
          <p:cNvSpPr txBox="1"/>
          <p:nvPr/>
        </p:nvSpPr>
        <p:spPr>
          <a:xfrm>
            <a:off x="6318504" y="1280160"/>
            <a:ext cx="2363724" cy="274320"/>
          </a:xfrm>
          <a:prstGeom prst="rect">
            <a:avLst/>
          </a:prstGeom>
          <a:noFill/>
        </p:spPr>
        <p:txBody>
          <a:bodyPr wrap="square" lIns="0" tIns="0" rIns="0" bIns="0" anchor="t">
            <a:spAutoFit/>
          </a:bodyPr>
          <a:lstStyle/>
          <a:p>
            <a:pPr algn="l"/>
            <a:r>
              <a:rPr sz="1300" b="1" i="0">
                <a:solidFill>
                  <a:srgbClr val="059669"/>
                </a:solidFill>
                <a:latin typeface="Aptos Display"/>
              </a:rPr>
              <a:t>Make it prove itself</a:t>
            </a:r>
          </a:p>
        </p:txBody>
      </p:sp>
      <p:sp>
        <p:nvSpPr>
          <p:cNvPr id="33" name="P11R20"/>
          <p:cNvSpPr/>
          <p:nvPr/>
        </p:nvSpPr>
        <p:spPr>
          <a:xfrm>
            <a:off x="6281928" y="1645920"/>
            <a:ext cx="2436876" cy="493776"/>
          </a:xfrm>
          <a:prstGeom prst="roundRect">
            <a:avLst>
              <a:gd name="adj" fmla="val 6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P11A20"/>
          <p:cNvSpPr txBox="1"/>
          <p:nvPr/>
        </p:nvSpPr>
        <p:spPr>
          <a:xfrm>
            <a:off x="6409944" y="1691640"/>
            <a:ext cx="2180844" cy="219456"/>
          </a:xfrm>
          <a:prstGeom prst="rect">
            <a:avLst/>
          </a:prstGeom>
          <a:noFill/>
        </p:spPr>
        <p:txBody>
          <a:bodyPr wrap="square" lIns="0" tIns="0" rIns="0" bIns="0" anchor="t">
            <a:spAutoFit/>
          </a:bodyPr>
          <a:lstStyle/>
          <a:p>
            <a:pPr algn="l"/>
            <a:r>
              <a:rPr sz="1050" b="1" i="0">
                <a:solidFill>
                  <a:srgbClr val="059669"/>
                </a:solidFill>
                <a:latin typeface="Consolas"/>
              </a:rPr>
              <a:t>code-review</a:t>
            </a:r>
          </a:p>
        </p:txBody>
      </p:sp>
      <p:sp>
        <p:nvSpPr>
          <p:cNvPr id="35" name="P11B20"/>
          <p:cNvSpPr txBox="1"/>
          <p:nvPr/>
        </p:nvSpPr>
        <p:spPr>
          <a:xfrm>
            <a:off x="6409944"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Multi-agent PR review, scored</a:t>
            </a:r>
          </a:p>
        </p:txBody>
      </p:sp>
      <p:sp>
        <p:nvSpPr>
          <p:cNvPr id="36" name="P11R21"/>
          <p:cNvSpPr/>
          <p:nvPr/>
        </p:nvSpPr>
        <p:spPr>
          <a:xfrm>
            <a:off x="6281928"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P11A21"/>
          <p:cNvSpPr txBox="1"/>
          <p:nvPr/>
        </p:nvSpPr>
        <p:spPr>
          <a:xfrm>
            <a:off x="6409944" y="2258568"/>
            <a:ext cx="2180844" cy="219456"/>
          </a:xfrm>
          <a:prstGeom prst="rect">
            <a:avLst/>
          </a:prstGeom>
          <a:noFill/>
        </p:spPr>
        <p:txBody>
          <a:bodyPr wrap="square" lIns="0" tIns="0" rIns="0" bIns="0" anchor="t">
            <a:spAutoFit/>
          </a:bodyPr>
          <a:lstStyle/>
          <a:p>
            <a:pPr algn="l"/>
            <a:r>
              <a:rPr sz="1050" b="1" i="0">
                <a:solidFill>
                  <a:srgbClr val="059669"/>
                </a:solidFill>
                <a:latin typeface="Consolas"/>
              </a:rPr>
              <a:t>security-guidance</a:t>
            </a:r>
          </a:p>
        </p:txBody>
      </p:sp>
      <p:sp>
        <p:nvSpPr>
          <p:cNvPr id="38" name="P11B21"/>
          <p:cNvSpPr txBox="1"/>
          <p:nvPr/>
        </p:nvSpPr>
        <p:spPr>
          <a:xfrm>
            <a:off x="6409944"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Warns on edit, reviews on Stop</a:t>
            </a:r>
          </a:p>
        </p:txBody>
      </p:sp>
      <p:sp>
        <p:nvSpPr>
          <p:cNvPr id="39" name="P11R22"/>
          <p:cNvSpPr/>
          <p:nvPr/>
        </p:nvSpPr>
        <p:spPr>
          <a:xfrm>
            <a:off x="6281928" y="2779776"/>
            <a:ext cx="2436876" cy="493776"/>
          </a:xfrm>
          <a:prstGeom prst="roundRect">
            <a:avLst>
              <a:gd name="adj" fmla="val 6000"/>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P11A22"/>
          <p:cNvSpPr txBox="1"/>
          <p:nvPr/>
        </p:nvSpPr>
        <p:spPr>
          <a:xfrm>
            <a:off x="6409944" y="2825496"/>
            <a:ext cx="2180844" cy="219456"/>
          </a:xfrm>
          <a:prstGeom prst="rect">
            <a:avLst/>
          </a:prstGeom>
          <a:noFill/>
        </p:spPr>
        <p:txBody>
          <a:bodyPr wrap="square" lIns="0" tIns="0" rIns="0" bIns="0" anchor="t">
            <a:spAutoFit/>
          </a:bodyPr>
          <a:lstStyle/>
          <a:p>
            <a:pPr algn="l"/>
            <a:r>
              <a:rPr sz="1050" b="1" i="0">
                <a:solidFill>
                  <a:srgbClr val="059669"/>
                </a:solidFill>
                <a:latin typeface="Consolas"/>
              </a:rPr>
              <a:t>code-simplifier</a:t>
            </a:r>
          </a:p>
        </p:txBody>
      </p:sp>
      <p:sp>
        <p:nvSpPr>
          <p:cNvPr id="41" name="P11B22"/>
          <p:cNvSpPr txBox="1"/>
          <p:nvPr/>
        </p:nvSpPr>
        <p:spPr>
          <a:xfrm>
            <a:off x="6409944"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Tighten what Claude just wrote</a:t>
            </a:r>
          </a:p>
        </p:txBody>
      </p:sp>
      <p:sp>
        <p:nvSpPr>
          <p:cNvPr id="42" name="P11Col3"/>
          <p:cNvSpPr/>
          <p:nvPr/>
        </p:nvSpPr>
        <p:spPr>
          <a:xfrm>
            <a:off x="9066276" y="1097280"/>
            <a:ext cx="2692908" cy="2340864"/>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P11Top3"/>
          <p:cNvSpPr/>
          <p:nvPr/>
        </p:nvSpPr>
        <p:spPr>
          <a:xfrm>
            <a:off x="9157716" y="1097280"/>
            <a:ext cx="2510028" cy="73152"/>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P11Hd3"/>
          <p:cNvSpPr txBox="1"/>
          <p:nvPr/>
        </p:nvSpPr>
        <p:spPr>
          <a:xfrm>
            <a:off x="9230868" y="1280160"/>
            <a:ext cx="2363724" cy="274320"/>
          </a:xfrm>
          <a:prstGeom prst="rect">
            <a:avLst/>
          </a:prstGeom>
          <a:noFill/>
        </p:spPr>
        <p:txBody>
          <a:bodyPr wrap="square" lIns="0" tIns="0" rIns="0" bIns="0" anchor="t">
            <a:spAutoFit/>
          </a:bodyPr>
          <a:lstStyle/>
          <a:p>
            <a:pPr algn="l"/>
            <a:r>
              <a:rPr sz="1300" b="1" i="0">
                <a:solidFill>
                  <a:srgbClr val="D4622B"/>
                </a:solidFill>
                <a:latin typeface="Aptos Display"/>
              </a:rPr>
              <a:t>Write the rule down</a:t>
            </a:r>
          </a:p>
        </p:txBody>
      </p:sp>
      <p:sp>
        <p:nvSpPr>
          <p:cNvPr id="45" name="P11R30"/>
          <p:cNvSpPr/>
          <p:nvPr/>
        </p:nvSpPr>
        <p:spPr>
          <a:xfrm>
            <a:off x="9194292" y="1645920"/>
            <a:ext cx="2436876" cy="493776"/>
          </a:xfrm>
          <a:prstGeom prst="roundRect">
            <a:avLst>
              <a:gd name="adj" fmla="val 6000"/>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P11A30"/>
          <p:cNvSpPr txBox="1"/>
          <p:nvPr/>
        </p:nvSpPr>
        <p:spPr>
          <a:xfrm>
            <a:off x="9322308" y="1691640"/>
            <a:ext cx="2180844" cy="219456"/>
          </a:xfrm>
          <a:prstGeom prst="rect">
            <a:avLst/>
          </a:prstGeom>
          <a:noFill/>
        </p:spPr>
        <p:txBody>
          <a:bodyPr wrap="square" lIns="0" tIns="0" rIns="0" bIns="0" anchor="t">
            <a:spAutoFit/>
          </a:bodyPr>
          <a:lstStyle/>
          <a:p>
            <a:pPr algn="l"/>
            <a:r>
              <a:rPr sz="1050" b="1" i="0">
                <a:solidFill>
                  <a:srgbClr val="D4622B"/>
                </a:solidFill>
                <a:latin typeface="Consolas"/>
              </a:rPr>
              <a:t>hookify</a:t>
            </a:r>
          </a:p>
        </p:txBody>
      </p:sp>
      <p:sp>
        <p:nvSpPr>
          <p:cNvPr id="47" name="P11B30"/>
          <p:cNvSpPr txBox="1"/>
          <p:nvPr/>
        </p:nvSpPr>
        <p:spPr>
          <a:xfrm>
            <a:off x="9322308" y="1901952"/>
            <a:ext cx="2180844" cy="219456"/>
          </a:xfrm>
          <a:prstGeom prst="rect">
            <a:avLst/>
          </a:prstGeom>
          <a:noFill/>
        </p:spPr>
        <p:txBody>
          <a:bodyPr wrap="square" lIns="0" tIns="0" rIns="0" bIns="0" anchor="t">
            <a:spAutoFit/>
          </a:bodyPr>
          <a:lstStyle/>
          <a:p>
            <a:pPr algn="l"/>
            <a:r>
              <a:rPr sz="950" b="0" i="0">
                <a:solidFill>
                  <a:srgbClr val="475569"/>
                </a:solidFill>
                <a:latin typeface="Aptos"/>
              </a:rPr>
              <a:t>Your correction, as a hook</a:t>
            </a:r>
          </a:p>
        </p:txBody>
      </p:sp>
      <p:sp>
        <p:nvSpPr>
          <p:cNvPr id="48" name="P11R31"/>
          <p:cNvSpPr/>
          <p:nvPr/>
        </p:nvSpPr>
        <p:spPr>
          <a:xfrm>
            <a:off x="9194292" y="2212848"/>
            <a:ext cx="2436876" cy="493776"/>
          </a:xfrm>
          <a:prstGeom prst="roundRect">
            <a:avLst>
              <a:gd name="adj" fmla="val 6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P11A31"/>
          <p:cNvSpPr txBox="1"/>
          <p:nvPr/>
        </p:nvSpPr>
        <p:spPr>
          <a:xfrm>
            <a:off x="9322308" y="2258568"/>
            <a:ext cx="2180844" cy="219456"/>
          </a:xfrm>
          <a:prstGeom prst="rect">
            <a:avLst/>
          </a:prstGeom>
          <a:noFill/>
        </p:spPr>
        <p:txBody>
          <a:bodyPr wrap="square" lIns="0" tIns="0" rIns="0" bIns="0" anchor="t">
            <a:spAutoFit/>
          </a:bodyPr>
          <a:lstStyle/>
          <a:p>
            <a:pPr algn="l"/>
            <a:r>
              <a:rPr sz="1050" b="1" i="0">
                <a:solidFill>
                  <a:srgbClr val="D4622B"/>
                </a:solidFill>
                <a:latin typeface="Consolas"/>
              </a:rPr>
              <a:t>commit-commands</a:t>
            </a:r>
          </a:p>
        </p:txBody>
      </p:sp>
      <p:sp>
        <p:nvSpPr>
          <p:cNvPr id="50" name="P11B31"/>
          <p:cNvSpPr txBox="1"/>
          <p:nvPr/>
        </p:nvSpPr>
        <p:spPr>
          <a:xfrm>
            <a:off x="9322308" y="2468880"/>
            <a:ext cx="2180844" cy="219456"/>
          </a:xfrm>
          <a:prstGeom prst="rect">
            <a:avLst/>
          </a:prstGeom>
          <a:noFill/>
        </p:spPr>
        <p:txBody>
          <a:bodyPr wrap="square" lIns="0" tIns="0" rIns="0" bIns="0" anchor="t">
            <a:spAutoFit/>
          </a:bodyPr>
          <a:lstStyle/>
          <a:p>
            <a:pPr algn="l"/>
            <a:r>
              <a:rPr sz="950" b="0" i="0">
                <a:solidFill>
                  <a:srgbClr val="475569"/>
                </a:solidFill>
                <a:latin typeface="Aptos"/>
              </a:rPr>
              <a:t>Commit, push and PR in one flow</a:t>
            </a:r>
          </a:p>
        </p:txBody>
      </p:sp>
      <p:sp>
        <p:nvSpPr>
          <p:cNvPr id="51" name="P11R32"/>
          <p:cNvSpPr/>
          <p:nvPr/>
        </p:nvSpPr>
        <p:spPr>
          <a:xfrm>
            <a:off x="9194292" y="2779776"/>
            <a:ext cx="2436876" cy="493776"/>
          </a:xfrm>
          <a:prstGeom prst="roundRect">
            <a:avLst>
              <a:gd name="adj" fmla="val 6000"/>
            </a:avLst>
          </a:prstGeom>
          <a:solidFill>
            <a:srgbClr val="FFF7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P11A32"/>
          <p:cNvSpPr txBox="1"/>
          <p:nvPr/>
        </p:nvSpPr>
        <p:spPr>
          <a:xfrm>
            <a:off x="9322308" y="2825496"/>
            <a:ext cx="2180844" cy="219456"/>
          </a:xfrm>
          <a:prstGeom prst="rect">
            <a:avLst/>
          </a:prstGeom>
          <a:noFill/>
        </p:spPr>
        <p:txBody>
          <a:bodyPr wrap="square" lIns="0" tIns="0" rIns="0" bIns="0" anchor="t">
            <a:spAutoFit/>
          </a:bodyPr>
          <a:lstStyle/>
          <a:p>
            <a:pPr algn="l"/>
            <a:r>
              <a:rPr sz="1050" b="1" i="0">
                <a:solidFill>
                  <a:srgbClr val="D4622B"/>
                </a:solidFill>
                <a:latin typeface="Consolas"/>
              </a:rPr>
              <a:t>github</a:t>
            </a:r>
          </a:p>
        </p:txBody>
      </p:sp>
      <p:sp>
        <p:nvSpPr>
          <p:cNvPr id="53" name="P11B32"/>
          <p:cNvSpPr txBox="1"/>
          <p:nvPr/>
        </p:nvSpPr>
        <p:spPr>
          <a:xfrm>
            <a:off x="9322308" y="3035808"/>
            <a:ext cx="2180844" cy="219456"/>
          </a:xfrm>
          <a:prstGeom prst="rect">
            <a:avLst/>
          </a:prstGeom>
          <a:noFill/>
        </p:spPr>
        <p:txBody>
          <a:bodyPr wrap="square" lIns="0" tIns="0" rIns="0" bIns="0" anchor="t">
            <a:spAutoFit/>
          </a:bodyPr>
          <a:lstStyle/>
          <a:p>
            <a:pPr algn="l"/>
            <a:r>
              <a:rPr sz="950" b="0" i="0">
                <a:solidFill>
                  <a:srgbClr val="475569"/>
                </a:solidFill>
                <a:latin typeface="Aptos"/>
              </a:rPr>
              <a:t>Issues and PRs, in-session</a:t>
            </a:r>
          </a:p>
        </p:txBody>
      </p:sp>
      <p:sp>
        <p:nvSpPr>
          <p:cNvPr id="54" name="P11InstLabel"/>
          <p:cNvSpPr txBox="1"/>
          <p:nvPr/>
        </p:nvSpPr>
        <p:spPr>
          <a:xfrm>
            <a:off x="329184" y="3657600"/>
            <a:ext cx="5486400" cy="237744"/>
          </a:xfrm>
          <a:prstGeom prst="rect">
            <a:avLst/>
          </a:prstGeom>
          <a:noFill/>
        </p:spPr>
        <p:txBody>
          <a:bodyPr wrap="square" lIns="0" tIns="0" rIns="0" bIns="0" anchor="t">
            <a:spAutoFit/>
          </a:bodyPr>
          <a:lstStyle/>
          <a:p>
            <a:pPr algn="l"/>
            <a:r>
              <a:rPr sz="950" b="1" i="0">
                <a:solidFill>
                  <a:srgbClr val="64748B"/>
                </a:solidFill>
                <a:latin typeface="Aptos"/>
              </a:rPr>
              <a:t>HOW TO GET THEM</a:t>
            </a:r>
          </a:p>
        </p:txBody>
      </p:sp>
      <p:sp>
        <p:nvSpPr>
          <p:cNvPr id="55" name="P11Code"/>
          <p:cNvSpPr/>
          <p:nvPr/>
        </p:nvSpPr>
        <p:spPr>
          <a:xfrm>
            <a:off x="329184" y="3931920"/>
            <a:ext cx="5614416" cy="123444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P11CodeL0"/>
          <p:cNvSpPr txBox="1"/>
          <p:nvPr/>
        </p:nvSpPr>
        <p:spPr>
          <a:xfrm>
            <a:off x="512064" y="4041648"/>
            <a:ext cx="5248656" cy="219456"/>
          </a:xfrm>
          <a:prstGeom prst="rect">
            <a:avLst/>
          </a:prstGeom>
          <a:noFill/>
        </p:spPr>
        <p:txBody>
          <a:bodyPr wrap="square" lIns="0" tIns="0" rIns="0" bIns="0" anchor="t">
            <a:spAutoFit/>
          </a:bodyPr>
          <a:lstStyle/>
          <a:p>
            <a:pPr algn="l"/>
            <a:r>
              <a:rPr sz="1000" b="1" i="0">
                <a:solidFill>
                  <a:srgbClr val="1A2332"/>
                </a:solidFill>
                <a:latin typeface="Consolas"/>
              </a:rPr>
              <a:t>/plugin</a:t>
            </a:r>
            <a:r>
              <a:rPr sz="950" b="0" i="0">
                <a:solidFill>
                  <a:srgbClr val="64748B"/>
                </a:solidFill>
                <a:latin typeface="Aptos"/>
              </a:rPr>
              <a:t>  browse, install and manage — start here</a:t>
            </a:r>
          </a:p>
        </p:txBody>
      </p:sp>
      <p:sp>
        <p:nvSpPr>
          <p:cNvPr id="57" name="P11CodeL1"/>
          <p:cNvSpPr txBox="1"/>
          <p:nvPr/>
        </p:nvSpPr>
        <p:spPr>
          <a:xfrm>
            <a:off x="512064" y="4297680"/>
            <a:ext cx="5248656" cy="219456"/>
          </a:xfrm>
          <a:prstGeom prst="rect">
            <a:avLst/>
          </a:prstGeom>
          <a:noFill/>
        </p:spPr>
        <p:txBody>
          <a:bodyPr wrap="square" lIns="0" tIns="0" rIns="0" bIns="0" anchor="t">
            <a:spAutoFit/>
          </a:bodyPr>
          <a:lstStyle/>
          <a:p>
            <a:pPr algn="l"/>
            <a:r>
              <a:rPr sz="1000" b="1" i="0">
                <a:solidFill>
                  <a:srgbClr val="1A2332"/>
                </a:solidFill>
                <a:latin typeface="Consolas"/>
              </a:rPr>
              <a:t>/plugin install &lt;name&gt;@claude-plugins-official</a:t>
            </a:r>
          </a:p>
        </p:txBody>
      </p:sp>
      <p:sp>
        <p:nvSpPr>
          <p:cNvPr id="58" name="P11CodeL2"/>
          <p:cNvSpPr txBox="1"/>
          <p:nvPr/>
        </p:nvSpPr>
        <p:spPr>
          <a:xfrm>
            <a:off x="512064" y="4553712"/>
            <a:ext cx="5248656" cy="219456"/>
          </a:xfrm>
          <a:prstGeom prst="rect">
            <a:avLst/>
          </a:prstGeom>
          <a:noFill/>
        </p:spPr>
        <p:txBody>
          <a:bodyPr wrap="square" lIns="0" tIns="0" rIns="0" bIns="0" anchor="t">
            <a:spAutoFit/>
          </a:bodyPr>
          <a:lstStyle/>
          <a:p>
            <a:pPr algn="l"/>
            <a:r>
              <a:rPr sz="1000" b="1" i="0">
                <a:solidFill>
                  <a:srgbClr val="1A2332"/>
                </a:solidFill>
                <a:latin typeface="Consolas"/>
              </a:rPr>
              <a:t>/plugin marketplace add your-org/claude-plugins</a:t>
            </a:r>
          </a:p>
        </p:txBody>
      </p:sp>
      <p:sp>
        <p:nvSpPr>
          <p:cNvPr id="59" name="P11CodeL3"/>
          <p:cNvSpPr txBox="1"/>
          <p:nvPr/>
        </p:nvSpPr>
        <p:spPr>
          <a:xfrm>
            <a:off x="512064" y="4809744"/>
            <a:ext cx="5248656" cy="219456"/>
          </a:xfrm>
          <a:prstGeom prst="rect">
            <a:avLst/>
          </a:prstGeom>
          <a:noFill/>
        </p:spPr>
        <p:txBody>
          <a:bodyPr wrap="square" lIns="0" tIns="0" rIns="0" bIns="0" anchor="t">
            <a:spAutoFit/>
          </a:bodyPr>
          <a:lstStyle/>
          <a:p>
            <a:pPr algn="l"/>
            <a:r>
              <a:rPr sz="1000" b="1" i="0">
                <a:solidFill>
                  <a:srgbClr val="1A2332"/>
                </a:solidFill>
                <a:latin typeface="Consolas"/>
              </a:rPr>
              <a:t>/reload-plugins</a:t>
            </a:r>
            <a:r>
              <a:rPr sz="950" b="0" i="0">
                <a:solidFill>
                  <a:srgbClr val="64748B"/>
                </a:solidFill>
                <a:latin typeface="Aptos"/>
              </a:rPr>
              <a:t>  apply changes without restarting</a:t>
            </a:r>
          </a:p>
        </p:txBody>
      </p:sp>
      <p:sp>
        <p:nvSpPr>
          <p:cNvPr id="60" name="P11WhatLabel"/>
          <p:cNvSpPr txBox="1"/>
          <p:nvPr/>
        </p:nvSpPr>
        <p:spPr>
          <a:xfrm>
            <a:off x="6144768" y="3657600"/>
            <a:ext cx="5486400" cy="237744"/>
          </a:xfrm>
          <a:prstGeom prst="rect">
            <a:avLst/>
          </a:prstGeom>
          <a:noFill/>
        </p:spPr>
        <p:txBody>
          <a:bodyPr wrap="square" lIns="0" tIns="0" rIns="0" bIns="0" anchor="t">
            <a:spAutoFit/>
          </a:bodyPr>
          <a:lstStyle/>
          <a:p>
            <a:pPr algn="l"/>
            <a:r>
              <a:rPr sz="950" b="1" i="0">
                <a:solidFill>
                  <a:srgbClr val="64748B"/>
                </a:solidFill>
                <a:latin typeface="Aptos"/>
              </a:rPr>
              <a:t>WHAT YOU ARE ACTUALLY INSTALLING</a:t>
            </a:r>
          </a:p>
        </p:txBody>
      </p:sp>
      <p:sp>
        <p:nvSpPr>
          <p:cNvPr id="61" name="P11What"/>
          <p:cNvSpPr/>
          <p:nvPr/>
        </p:nvSpPr>
        <p:spPr>
          <a:xfrm>
            <a:off x="6144768" y="3931920"/>
            <a:ext cx="5614416" cy="1234440"/>
          </a:xfrm>
          <a:prstGeom prst="roundRect">
            <a:avLst>
              <a:gd name="adj" fmla="val 5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P11WhatTxt"/>
          <p:cNvSpPr txBox="1"/>
          <p:nvPr/>
        </p:nvSpPr>
        <p:spPr>
          <a:xfrm>
            <a:off x="6327648" y="4041648"/>
            <a:ext cx="5248656" cy="1005840"/>
          </a:xfrm>
          <a:prstGeom prst="rect">
            <a:avLst/>
          </a:prstGeom>
          <a:noFill/>
        </p:spPr>
        <p:txBody>
          <a:bodyPr wrap="square" lIns="0" tIns="0" rIns="0" bIns="0" anchor="t">
            <a:spAutoFit/>
          </a:bodyPr>
          <a:lstStyle/>
          <a:p>
            <a:pPr algn="l"/>
            <a:r>
              <a:rPr sz="1100" b="0" i="0">
                <a:solidFill>
                  <a:srgbClr val="475569"/>
                </a:solidFill>
                <a:latin typeface="Aptos"/>
              </a:rPr>
              <a:t>Skills, agents, hooks, MCP servers, LSP servers, background monitors and default settings.  </a:t>
            </a:r>
            <a:r>
              <a:rPr sz="1100" b="1" i="0">
                <a:solidFill>
                  <a:srgbClr val="1A2332"/>
                </a:solidFill>
                <a:latin typeface="Aptos"/>
              </a:rPr>
              <a:t>Every one costs context on every turn.</a:t>
            </a:r>
            <a:r>
              <a:rPr sz="1100" b="0" i="0">
                <a:solidFill>
                  <a:srgbClr val="475569"/>
                </a:solidFill>
                <a:latin typeface="Aptos"/>
              </a:rPr>
              <a:t>  The Discover tab estimates that cost before you install; the Installed tab flags what you have not used in two weeks.</a:t>
            </a:r>
          </a:p>
        </p:txBody>
      </p:sp>
      <p:sp>
        <p:nvSpPr>
          <p:cNvPr id="63" name="P11Trust"/>
          <p:cNvSpPr/>
          <p:nvPr/>
        </p:nvSpPr>
        <p:spPr>
          <a:xfrm>
            <a:off x="329184" y="5376672"/>
            <a:ext cx="11430000" cy="749808"/>
          </a:xfrm>
          <a:prstGeom prst="roundRect">
            <a:avLst>
              <a:gd name="adj" fmla="val 6000"/>
            </a:avLst>
          </a:prstGeom>
          <a:solidFill>
            <a:srgbClr val="FEF2F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P11TrustTxt"/>
          <p:cNvSpPr txBox="1"/>
          <p:nvPr/>
        </p:nvSpPr>
        <p:spPr>
          <a:xfrm>
            <a:off x="512064" y="5486400"/>
            <a:ext cx="11064240" cy="530352"/>
          </a:xfrm>
          <a:prstGeom prst="rect">
            <a:avLst/>
          </a:prstGeom>
          <a:noFill/>
        </p:spPr>
        <p:txBody>
          <a:bodyPr wrap="square" lIns="0" tIns="0" rIns="0" bIns="0" anchor="t">
            <a:spAutoFit/>
          </a:bodyPr>
          <a:lstStyle/>
          <a:p>
            <a:pPr algn="l"/>
            <a:r>
              <a:rPr sz="1200" b="1" i="0">
                <a:solidFill>
                  <a:srgbClr val="DC2626"/>
                </a:solidFill>
                <a:latin typeface="Aptos Display"/>
              </a:rPr>
              <a:t>A plugin is a dependency, not a setting.  </a:t>
            </a:r>
            <a:r>
              <a:rPr sz="1150" b="0" i="0">
                <a:solidFill>
                  <a:srgbClr val="475569"/>
                </a:solidFill>
                <a:latin typeface="Aptos"/>
              </a:rPr>
              <a:t>It runs arbitrary code with your privileges. Pin the team to a catalogue you control with extraKnownMarketplaces in .claude/settings.json, and close the door on the rest with strictKnownMarketplaces in managed settings.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4">
    <p:bg>
      <p:bgPr>
        <a:solidFill>
          <a:srgbClr val="FFFFFF">
            <a:alpha val="100000"/>
          </a:srgbClr>
        </a:solidFill>
        <a:effectLst/>
      </p:bgPr>
    </p:bg>
    <p:spTree>
      <p:nvGrpSpPr>
        <p:cNvPr id="1" name=""/>
        <p:cNvGrpSpPr/>
        <p:nvPr/>
      </p:nvGrpSpPr>
      <p:grpSpPr>
        <a:xfrm>
          <a:off x="0" y="0"/>
          <a:ext cx="0" cy="0"/>
          <a:chOff x="0" y="0"/>
          <a:chExt cx="0" cy="0"/>
        </a:xfrm>
      </p:grpSpPr>
      <p:sp>
        <p:nvSpPr>
          <p:cNvPr id="2" name="Text 0"/>
          <p:cNvSpPr/>
          <p:nvPr/>
        </p:nvSpPr>
        <p:spPr>
          <a:xfrm>
            <a:off x="658368" y="76200"/>
            <a:ext cx="8046720" cy="38100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Context engineering: What should load when</a:t>
            </a:r>
            <a:endParaRPr lang="en-US" sz="2700" dirty="0">
              <a:solidFill>
                <a:srgbClr val="FFFFFF"/>
              </a:solidFill>
            </a:endParaRPr>
          </a:p>
        </p:txBody>
      </p:sp>
      <p:sp>
        <p:nvSpPr>
          <p:cNvPr id="3" name="Text 1"/>
          <p:cNvSpPr/>
          <p:nvPr/>
        </p:nvSpPr>
        <p:spPr>
          <a:xfrm>
            <a:off x="658368" y="609600"/>
            <a:ext cx="9509760" cy="254000"/>
          </a:xfrm>
          <a:prstGeom prst="rect">
            <a:avLst/>
          </a:prstGeom>
          <a:noFill/>
          <a:ln/>
        </p:spPr>
        <p:txBody>
          <a:bodyPr wrap="square" lIns="0" tIns="0" rIns="0" bIns="0" rtlCol="0" anchor="ctr"/>
          <a:lstStyle/>
          <a:p>
            <a:pPr marL="0" indent="0">
              <a:buNone/>
            </a:pPr>
            <a:r>
              <a:rPr lang="en-US" sz="1400" dirty="0">
                <a:solidFill>
                  <a:srgbClr val="3972C1"/>
                </a:solidFill>
                <a:latin typeface="Aptos" pitchFamily="34" charset="0"/>
                <a:ea typeface="Aptos" pitchFamily="34" charset="-122"/>
                <a:cs typeface="Aptos" pitchFamily="34" charset="-120"/>
              </a:rPr>
              <a:t>More context is not automatically better — load only what the task needs, and force specific file paths</a:t>
            </a:r>
            <a:endParaRPr lang="en-US" sz="1400" dirty="0">
              <a:solidFill>
                <a:srgbClr val="3972C1"/>
              </a:solidFill>
            </a:endParaRPr>
          </a:p>
        </p:txBody>
      </p:sp>
      <p:sp>
        <p:nvSpPr>
          <p:cNvPr id="4" name="Shape 2"/>
          <p:cNvSpPr/>
          <p:nvPr/>
        </p:nvSpPr>
        <p:spPr>
          <a:xfrm flipV="1">
            <a:off x="0" y="936752"/>
            <a:ext cx="12192000" cy="0"/>
          </a:xfrm>
          <a:prstGeom prst="line">
            <a:avLst/>
          </a:prstGeom>
          <a:noFill/>
          <a:ln w="12700">
            <a:solidFill>
              <a:srgbClr val="1565C0"/>
            </a:solidFill>
            <a:prstDash val="solid"/>
          </a:ln>
        </p:spPr>
        <p:txBody>
          <a:bodyPr/>
          <a:lstStyle/>
          <a:p>
            <a:endParaRPr lang="en-US"/>
          </a:p>
        </p:txBody>
      </p:sp>
      <p:sp>
        <p:nvSpPr>
          <p:cNvPr id="25" name="Text 23"/>
          <p:cNvSpPr/>
          <p:nvPr/>
        </p:nvSpPr>
        <p:spPr>
          <a:xfrm>
            <a:off x="658368" y="6428232"/>
            <a:ext cx="3840480" cy="182880"/>
          </a:xfrm>
          <a:prstGeom prst="rect">
            <a:avLst/>
          </a:prstGeom>
          <a:noFill/>
          <a:ln/>
        </p:spPr>
        <p:txBody>
          <a:bodyPr wrap="square" lIns="0" tIns="0" rIns="0" bIns="0" rtlCol="0" anchor="ctr"/>
          <a:lstStyle/>
          <a:p>
            <a:pPr marL="0" indent="0">
              <a:buNone/>
            </a:pPr>
            <a:r>
              <a:rPr lang="en-US" sz="850" dirty="0">
                <a:solidFill>
                  <a:srgbClr val="FFFFFF"/>
                </a:solidFill>
              </a:rPr>
              <a:t>Context engineering</a:t>
            </a:r>
          </a:p>
        </p:txBody>
      </p:sp>
      <p:sp>
        <p:nvSpPr>
          <p:cNvPr id="26" name="Text 24"/>
          <p:cNvSpPr/>
          <p:nvPr/>
        </p:nvSpPr>
        <p:spPr>
          <a:xfrm>
            <a:off x="10424160" y="6428232"/>
            <a:ext cx="1097280" cy="182880"/>
          </a:xfrm>
          <a:prstGeom prst="rect">
            <a:avLst/>
          </a:prstGeom>
          <a:noFill/>
          <a:ln/>
        </p:spPr>
        <p:txBody>
          <a:bodyPr wrap="square" lIns="0" tIns="0" rIns="0" bIns="0" rtlCol="0" anchor="ctr"/>
          <a:lstStyle/>
          <a:p>
            <a:pPr marL="0" indent="0" algn="r">
              <a:buNone/>
            </a:pPr>
            <a:r>
              <a:rPr lang="en-US" sz="850" dirty="0">
                <a:solidFill>
                  <a:srgbClr val="FFFFFF"/>
                </a:solidFill>
              </a:rPr>
              <a:t>19</a:t>
            </a:r>
          </a:p>
        </p:txBody>
      </p:sp>
      <p:sp>
        <p:nvSpPr>
          <p:cNvPr id="800" name="BandLabel0"/>
          <p:cNvSpPr/>
          <p:nvPr/>
        </p:nvSpPr>
        <p:spPr>
          <a:xfrm>
            <a:off x="660400" y="1079500"/>
            <a:ext cx="2349500" cy="1498600"/>
          </a:xfrm>
          <a:prstGeom prst="roundRect">
            <a:avLst>
              <a:gd name="adj" fmla="val 8000"/>
            </a:avLst>
          </a:prstGeom>
          <a:solidFill>
            <a:srgbClr val="3B82F6"/>
          </a:solidFill>
          <a:ln w="0">
            <a:noFill/>
          </a:ln>
        </p:spPr>
        <p:txBody>
          <a:bodyPr wrap="square" lIns="152400" tIns="152400" rIns="152400" bIns="152400" anchor="ctr"/>
          <a:lstStyle/>
          <a:p>
            <a:pPr algn="ctr">
              <a:buNone/>
            </a:pPr>
            <a:r>
              <a:rPr lang="en-US" sz="2800" b="1" dirty="0">
                <a:solidFill>
                  <a:srgbClr val="FFFFFF">
                    <a:alpha val="25000"/>
                  </a:srgbClr>
                </a:solidFill>
                <a:latin typeface="Aptos Display"/>
              </a:rPr>
              <a:t>1</a:t>
            </a:r>
          </a:p>
          <a:p>
            <a:pPr algn="ctr">
              <a:buNone/>
            </a:pPr>
            <a:r>
              <a:rPr lang="en-US" sz="1600" b="1" dirty="0">
                <a:solidFill>
                  <a:srgbClr val="FFFFFF"/>
                </a:solidFill>
                <a:latin typeface="Aptos Display"/>
              </a:rPr>
              <a:t>Always on</a:t>
            </a:r>
          </a:p>
          <a:p>
            <a:pPr algn="ctr">
              <a:buNone/>
            </a:pPr>
            <a:r>
              <a:rPr lang="en-US" sz="1100" dirty="0">
                <a:solidFill>
                  <a:srgbClr val="FFFFFF">
                    <a:alpha val="80000"/>
                  </a:srgbClr>
                </a:solidFill>
                <a:latin typeface="Aptos"/>
              </a:rPr>
              <a:t>Loads at session start</a:t>
            </a:r>
          </a:p>
        </p:txBody>
      </p:sp>
      <p:sp>
        <p:nvSpPr>
          <p:cNvPr id="801" name="BandContent0"/>
          <p:cNvSpPr/>
          <p:nvPr/>
        </p:nvSpPr>
        <p:spPr>
          <a:xfrm>
            <a:off x="3162300" y="1079500"/>
            <a:ext cx="8547100" cy="1498600"/>
          </a:xfrm>
          <a:prstGeom prst="roundRect">
            <a:avLst>
              <a:gd name="adj" fmla="val 5000"/>
            </a:avLst>
          </a:prstGeom>
          <a:solidFill>
            <a:srgbClr val="3B82F6">
              <a:alpha val="12000"/>
            </a:srgbClr>
          </a:solidFill>
          <a:ln w="0">
            <a:noFill/>
          </a:ln>
        </p:spPr>
        <p:txBody>
          <a:bodyPr/>
          <a:lstStyle/>
          <a:p>
            <a:endParaRPr lang="en-US"/>
          </a:p>
        </p:txBody>
      </p:sp>
      <p:sp>
        <p:nvSpPr>
          <p:cNvPr id="802" name="BandBullets0"/>
          <p:cNvSpPr/>
          <p:nvPr/>
        </p:nvSpPr>
        <p:spPr>
          <a:xfrm>
            <a:off x="3340100" y="1181100"/>
            <a:ext cx="8191500" cy="1092200"/>
          </a:xfrm>
          <a:prstGeom prst="rect">
            <a:avLst/>
          </a:prstGeom>
          <a:noFill/>
          <a:ln w="0">
            <a:noFill/>
          </a:ln>
        </p:spPr>
        <p:txBody>
          <a:bodyPr wrap="square" lIns="0" tIns="0" rIns="0" bIns="0" anchor="t"/>
          <a:lstStyle/>
          <a:p>
            <a:pPr marL="171450" indent="-171450">
              <a:spcAft>
                <a:spcPts val="100"/>
              </a:spcAft>
              <a:buFont typeface="Arial"/>
              <a:buChar char="•"/>
            </a:pPr>
            <a:r>
              <a:rPr lang="en-US" sz="1200" b="1" dirty="0">
                <a:solidFill>
                  <a:srgbClr val="1A2332"/>
                </a:solidFill>
                <a:latin typeface="Aptos"/>
              </a:rPr>
              <a:t>Project CLAUDE.md</a:t>
            </a:r>
            <a:r>
              <a:rPr lang="en-US" sz="1200" dirty="0">
                <a:solidFill>
                  <a:srgbClr val="4A5568"/>
                </a:solidFill>
                <a:latin typeface="Aptos"/>
              </a:rPr>
              <a:t> — Architecture decisions, coding standards, team conventions</a:t>
            </a:r>
          </a:p>
          <a:p>
            <a:pPr marL="171450" indent="-171450">
              <a:spcAft>
                <a:spcPts val="100"/>
              </a:spcAft>
              <a:buFont typeface="Arial"/>
              <a:buChar char="•"/>
            </a:pPr>
            <a:r>
              <a:rPr lang="en-US" sz="1200" b="1" dirty="0">
                <a:solidFill>
                  <a:srgbClr val="1A2332"/>
                </a:solidFill>
                <a:latin typeface="Aptos"/>
              </a:rPr>
              <a:t>User / org CLAUDE.md</a:t>
            </a:r>
            <a:r>
              <a:rPr lang="en-US" sz="1200" dirty="0">
                <a:solidFill>
                  <a:srgbClr val="4A5568"/>
                </a:solidFill>
                <a:latin typeface="Aptos"/>
              </a:rPr>
              <a:t> — Personal or org-wide preferences across all projects</a:t>
            </a:r>
          </a:p>
          <a:p>
            <a:pPr marL="171450" indent="-171450">
              <a:spcAft>
                <a:spcPts val="100"/>
              </a:spcAft>
              <a:buFont typeface="Arial"/>
              <a:buChar char="•"/>
            </a:pPr>
            <a:r>
              <a:rPr lang="en-US" sz="1200" b="1" dirty="0">
                <a:solidFill>
                  <a:srgbClr val="1A2332"/>
                </a:solidFill>
                <a:latin typeface="Aptos"/>
              </a:rPr>
              <a:t>Unscoped rules</a:t>
            </a:r>
            <a:r>
              <a:rPr lang="en-US" sz="1200" dirty="0">
                <a:solidFill>
                  <a:srgbClr val="4A5568"/>
                </a:solidFill>
                <a:latin typeface="Aptos"/>
              </a:rPr>
              <a:t> — Global rules that fire on every task regardless of path</a:t>
            </a:r>
          </a:p>
          <a:p>
            <a:pPr marL="171450" indent="-171450">
              <a:spcAft>
                <a:spcPts val="100"/>
              </a:spcAft>
              <a:buFont typeface="Arial"/>
              <a:buChar char="•"/>
            </a:pPr>
            <a:r>
              <a:rPr lang="en-US" sz="1200" b="1" dirty="0">
                <a:solidFill>
                  <a:srgbClr val="1A2332"/>
                </a:solidFill>
                <a:latin typeface="Aptos"/>
              </a:rPr>
              <a:t>Auto memory</a:t>
            </a:r>
            <a:r>
              <a:rPr lang="en-US" sz="1200" dirty="0">
                <a:solidFill>
                  <a:srgbClr val="4A5568"/>
                </a:solidFill>
                <a:latin typeface="Aptos"/>
              </a:rPr>
              <a:t> — Timestamped notes saved between sessions</a:t>
            </a:r>
          </a:p>
        </p:txBody>
      </p:sp>
      <p:sp>
        <p:nvSpPr>
          <p:cNvPr id="803" name="BandTip0"/>
          <p:cNvSpPr/>
          <p:nvPr/>
        </p:nvSpPr>
        <p:spPr>
          <a:xfrm>
            <a:off x="8026400" y="2247900"/>
            <a:ext cx="3556000" cy="254000"/>
          </a:xfrm>
          <a:prstGeom prst="rect">
            <a:avLst/>
          </a:prstGeom>
          <a:noFill/>
          <a:ln w="0">
            <a:noFill/>
          </a:ln>
        </p:spPr>
        <p:txBody>
          <a:bodyPr wrap="square" lIns="0" tIns="0" rIns="0" bIns="0" anchor="ctr"/>
          <a:lstStyle/>
          <a:p>
            <a:pPr algn="r">
              <a:buNone/>
            </a:pPr>
            <a:r>
              <a:rPr lang="en-US" sz="1000" b="1" dirty="0">
                <a:solidFill>
                  <a:srgbClr val="3B82F6"/>
                </a:solidFill>
                <a:latin typeface="Aptos"/>
              </a:rPr>
              <a:t>Best use: </a:t>
            </a:r>
            <a:r>
              <a:rPr lang="en-US" sz="1000" dirty="0">
                <a:solidFill>
                  <a:srgbClr val="4A5568"/>
                </a:solidFill>
                <a:latin typeface="Aptos"/>
              </a:rPr>
              <a:t>Standards, architecture, commands, review checklist</a:t>
            </a:r>
          </a:p>
        </p:txBody>
      </p:sp>
      <p:sp>
        <p:nvSpPr>
          <p:cNvPr id="810" name="BandLabel1"/>
          <p:cNvSpPr/>
          <p:nvPr/>
        </p:nvSpPr>
        <p:spPr>
          <a:xfrm>
            <a:off x="660400" y="2679700"/>
            <a:ext cx="2349500" cy="1498600"/>
          </a:xfrm>
          <a:prstGeom prst="roundRect">
            <a:avLst>
              <a:gd name="adj" fmla="val 8000"/>
            </a:avLst>
          </a:prstGeom>
          <a:solidFill>
            <a:srgbClr val="8B5CF6"/>
          </a:solidFill>
          <a:ln w="0">
            <a:noFill/>
          </a:ln>
        </p:spPr>
        <p:txBody>
          <a:bodyPr wrap="square" lIns="152400" tIns="152400" rIns="152400" bIns="152400" anchor="ctr"/>
          <a:lstStyle/>
          <a:p>
            <a:pPr algn="ctr">
              <a:buNone/>
            </a:pPr>
            <a:r>
              <a:rPr lang="en-US" sz="2800" b="1" dirty="0">
                <a:solidFill>
                  <a:srgbClr val="FFFFFF">
                    <a:alpha val="25000"/>
                  </a:srgbClr>
                </a:solidFill>
                <a:latin typeface="Aptos Display"/>
              </a:rPr>
              <a:t>2</a:t>
            </a:r>
          </a:p>
          <a:p>
            <a:pPr algn="ctr">
              <a:buNone/>
            </a:pPr>
            <a:r>
              <a:rPr lang="en-US" sz="1600" b="1" dirty="0">
                <a:solidFill>
                  <a:srgbClr val="FFFFFF"/>
                </a:solidFill>
                <a:latin typeface="Aptos Display"/>
              </a:rPr>
              <a:t>On demand</a:t>
            </a:r>
          </a:p>
          <a:p>
            <a:pPr algn="ctr">
              <a:buNone/>
            </a:pPr>
            <a:r>
              <a:rPr lang="en-US" sz="1100" dirty="0">
                <a:solidFill>
                  <a:srgbClr val="FFFFFF">
                    <a:alpha val="80000"/>
                  </a:srgbClr>
                </a:solidFill>
                <a:latin typeface="Aptos"/>
              </a:rPr>
              <a:t>Load only when the task needs them</a:t>
            </a:r>
          </a:p>
        </p:txBody>
      </p:sp>
      <p:sp>
        <p:nvSpPr>
          <p:cNvPr id="811" name="BandContent1"/>
          <p:cNvSpPr/>
          <p:nvPr/>
        </p:nvSpPr>
        <p:spPr>
          <a:xfrm>
            <a:off x="3162300" y="2679700"/>
            <a:ext cx="8547100" cy="1498600"/>
          </a:xfrm>
          <a:prstGeom prst="roundRect">
            <a:avLst>
              <a:gd name="adj" fmla="val 5000"/>
            </a:avLst>
          </a:prstGeom>
          <a:solidFill>
            <a:srgbClr val="8B5CF6">
              <a:alpha val="12000"/>
            </a:srgbClr>
          </a:solidFill>
          <a:ln w="0">
            <a:noFill/>
          </a:ln>
        </p:spPr>
        <p:txBody>
          <a:bodyPr/>
          <a:lstStyle/>
          <a:p>
            <a:endParaRPr lang="en-US"/>
          </a:p>
        </p:txBody>
      </p:sp>
      <p:sp>
        <p:nvSpPr>
          <p:cNvPr id="812" name="BandBullets1"/>
          <p:cNvSpPr/>
          <p:nvPr/>
        </p:nvSpPr>
        <p:spPr>
          <a:xfrm>
            <a:off x="3340100" y="2781300"/>
            <a:ext cx="8191500" cy="1092200"/>
          </a:xfrm>
          <a:prstGeom prst="rect">
            <a:avLst/>
          </a:prstGeom>
          <a:noFill/>
          <a:ln w="0">
            <a:noFill/>
          </a:ln>
        </p:spPr>
        <p:txBody>
          <a:bodyPr wrap="square" lIns="0" tIns="0" rIns="0" bIns="0" anchor="t"/>
          <a:lstStyle/>
          <a:p>
            <a:pPr marL="171450" indent="-171450">
              <a:spcAft>
                <a:spcPts val="100"/>
              </a:spcAft>
              <a:buFont typeface="Arial"/>
              <a:buChar char="•"/>
            </a:pPr>
            <a:r>
              <a:rPr lang="en-US" sz="1200" b="1" dirty="0">
                <a:solidFill>
                  <a:srgbClr val="1A2332"/>
                </a:solidFill>
                <a:latin typeface="Aptos"/>
              </a:rPr>
              <a:t>Path-scoped rules</a:t>
            </a:r>
            <a:r>
              <a:rPr lang="en-US" sz="1200" dirty="0">
                <a:solidFill>
                  <a:srgbClr val="4A5568"/>
                </a:solidFill>
                <a:latin typeface="Aptos"/>
              </a:rPr>
              <a:t> — Activate only in specific directories</a:t>
            </a:r>
          </a:p>
          <a:p>
            <a:pPr marL="171450" indent="-171450">
              <a:spcAft>
                <a:spcPts val="100"/>
              </a:spcAft>
              <a:buFont typeface="Arial"/>
              <a:buChar char="•"/>
            </a:pPr>
            <a:r>
              <a:rPr lang="en-US" sz="1200" b="1" dirty="0">
                <a:solidFill>
                  <a:srgbClr val="1A2332"/>
                </a:solidFill>
                <a:latin typeface="Aptos"/>
              </a:rPr>
              <a:t>Skills</a:t>
            </a:r>
            <a:r>
              <a:rPr lang="en-US" sz="1200" dirty="0">
                <a:solidFill>
                  <a:srgbClr val="4A5568"/>
                </a:solidFill>
                <a:latin typeface="Aptos"/>
              </a:rPr>
              <a:t> — Reusable prompt templates loaded dynamically</a:t>
            </a:r>
          </a:p>
          <a:p>
            <a:pPr marL="171450" indent="-171450">
              <a:spcAft>
                <a:spcPts val="100"/>
              </a:spcAft>
              <a:buFont typeface="Arial"/>
              <a:buChar char="•"/>
            </a:pPr>
            <a:r>
              <a:rPr lang="en-US" sz="1200" b="1" dirty="0">
                <a:solidFill>
                  <a:srgbClr val="1A2332"/>
                </a:solidFill>
                <a:latin typeface="Aptos"/>
              </a:rPr>
              <a:t>@ file references</a:t>
            </a:r>
            <a:r>
              <a:rPr lang="en-US" sz="1200" dirty="0">
                <a:solidFill>
                  <a:srgbClr val="4A5568"/>
                </a:solidFill>
                <a:latin typeface="Aptos"/>
              </a:rPr>
              <a:t> — Target specific files instead of scanning the whole project</a:t>
            </a:r>
          </a:p>
          <a:p>
            <a:pPr marL="171450" indent="-171450">
              <a:spcAft>
                <a:spcPts val="100"/>
              </a:spcAft>
              <a:buFont typeface="Arial"/>
              <a:buChar char="•"/>
            </a:pPr>
            <a:r>
              <a:rPr lang="en-US" sz="1200" b="1" dirty="0">
                <a:solidFill>
                  <a:srgbClr val="1A2332"/>
                </a:solidFill>
                <a:latin typeface="Aptos"/>
              </a:rPr>
              <a:t>Subagent prompts</a:t>
            </a:r>
            <a:r>
              <a:rPr lang="en-US" sz="1200" dirty="0">
                <a:solidFill>
                  <a:srgbClr val="4A5568"/>
                </a:solidFill>
                <a:latin typeface="Aptos"/>
              </a:rPr>
              <a:t> — Isolated investigation results without noisy steps</a:t>
            </a:r>
          </a:p>
        </p:txBody>
      </p:sp>
      <p:sp>
        <p:nvSpPr>
          <p:cNvPr id="813" name="BandTip1"/>
          <p:cNvSpPr/>
          <p:nvPr/>
        </p:nvSpPr>
        <p:spPr>
          <a:xfrm>
            <a:off x="8026400" y="3848100"/>
            <a:ext cx="3556000" cy="254000"/>
          </a:xfrm>
          <a:prstGeom prst="rect">
            <a:avLst/>
          </a:prstGeom>
          <a:noFill/>
          <a:ln w="0">
            <a:noFill/>
          </a:ln>
        </p:spPr>
        <p:txBody>
          <a:bodyPr wrap="square" lIns="0" tIns="0" rIns="0" bIns="0" anchor="ctr"/>
          <a:lstStyle/>
          <a:p>
            <a:pPr algn="r">
              <a:buNone/>
            </a:pPr>
            <a:r>
              <a:rPr lang="en-US" sz="1000" b="1" dirty="0">
                <a:solidFill>
                  <a:srgbClr val="8B5CF6"/>
                </a:solidFill>
                <a:latin typeface="Aptos"/>
              </a:rPr>
              <a:t>Best use: </a:t>
            </a:r>
            <a:r>
              <a:rPr lang="en-US" sz="1000" dirty="0">
                <a:solidFill>
                  <a:srgbClr val="4A5568"/>
                </a:solidFill>
                <a:latin typeface="Aptos"/>
              </a:rPr>
              <a:t>Reference material, workflows, noisy investigations</a:t>
            </a:r>
          </a:p>
        </p:txBody>
      </p:sp>
      <p:sp>
        <p:nvSpPr>
          <p:cNvPr id="820" name="BandLabel2"/>
          <p:cNvSpPr/>
          <p:nvPr/>
        </p:nvSpPr>
        <p:spPr>
          <a:xfrm>
            <a:off x="660400" y="4279900"/>
            <a:ext cx="2349500" cy="1498600"/>
          </a:xfrm>
          <a:prstGeom prst="roundRect">
            <a:avLst>
              <a:gd name="adj" fmla="val 8000"/>
            </a:avLst>
          </a:prstGeom>
          <a:solidFill>
            <a:srgbClr val="D4622B"/>
          </a:solidFill>
          <a:ln w="0">
            <a:noFill/>
          </a:ln>
        </p:spPr>
        <p:txBody>
          <a:bodyPr wrap="square" lIns="152400" tIns="152400" rIns="152400" bIns="152400" anchor="ctr"/>
          <a:lstStyle/>
          <a:p>
            <a:pPr algn="ctr">
              <a:buNone/>
            </a:pPr>
            <a:r>
              <a:rPr lang="en-US" sz="2800" b="1" dirty="0">
                <a:solidFill>
                  <a:srgbClr val="FFFFFF">
                    <a:alpha val="25000"/>
                  </a:srgbClr>
                </a:solidFill>
                <a:latin typeface="Aptos Display"/>
              </a:rPr>
              <a:t>3</a:t>
            </a:r>
          </a:p>
          <a:p>
            <a:pPr algn="ctr">
              <a:buNone/>
            </a:pPr>
            <a:r>
              <a:rPr lang="en-US" sz="1600" b="1" dirty="0">
                <a:solidFill>
                  <a:srgbClr val="FFFFFF"/>
                </a:solidFill>
                <a:latin typeface="Aptos Display"/>
              </a:rPr>
              <a:t>External + automated</a:t>
            </a:r>
          </a:p>
          <a:p>
            <a:pPr algn="ctr">
              <a:buNone/>
            </a:pPr>
            <a:r>
              <a:rPr lang="en-US" sz="1100" dirty="0">
                <a:solidFill>
                  <a:srgbClr val="FFFFFF">
                    <a:alpha val="80000"/>
                  </a:srgbClr>
                </a:solidFill>
                <a:latin typeface="Aptos"/>
              </a:rPr>
              <a:t>Expand reach or enforce process</a:t>
            </a:r>
          </a:p>
        </p:txBody>
      </p:sp>
      <p:sp>
        <p:nvSpPr>
          <p:cNvPr id="821" name="BandContent2"/>
          <p:cNvSpPr/>
          <p:nvPr/>
        </p:nvSpPr>
        <p:spPr>
          <a:xfrm>
            <a:off x="3162300" y="4279900"/>
            <a:ext cx="8547100" cy="1498600"/>
          </a:xfrm>
          <a:prstGeom prst="roundRect">
            <a:avLst>
              <a:gd name="adj" fmla="val 5000"/>
            </a:avLst>
          </a:prstGeom>
          <a:solidFill>
            <a:srgbClr val="D4622B">
              <a:alpha val="12000"/>
            </a:srgbClr>
          </a:solidFill>
          <a:ln w="0">
            <a:noFill/>
          </a:ln>
        </p:spPr>
        <p:txBody>
          <a:bodyPr/>
          <a:lstStyle/>
          <a:p>
            <a:endParaRPr lang="en-US"/>
          </a:p>
        </p:txBody>
      </p:sp>
      <p:sp>
        <p:nvSpPr>
          <p:cNvPr id="822" name="BandBullets2"/>
          <p:cNvSpPr/>
          <p:nvPr/>
        </p:nvSpPr>
        <p:spPr>
          <a:xfrm>
            <a:off x="3340100" y="4381500"/>
            <a:ext cx="8191500" cy="1092200"/>
          </a:xfrm>
          <a:prstGeom prst="rect">
            <a:avLst/>
          </a:prstGeom>
          <a:noFill/>
          <a:ln w="0">
            <a:noFill/>
          </a:ln>
        </p:spPr>
        <p:txBody>
          <a:bodyPr wrap="square" lIns="0" tIns="0" rIns="0" bIns="0" anchor="t"/>
          <a:lstStyle/>
          <a:p>
            <a:pPr marL="171450" indent="-171450">
              <a:spcAft>
                <a:spcPts val="100"/>
              </a:spcAft>
              <a:buFont typeface="Arial"/>
              <a:buChar char="•"/>
            </a:pPr>
            <a:r>
              <a:rPr lang="en-US" sz="1200" b="1" dirty="0">
                <a:solidFill>
                  <a:srgbClr val="1A2332"/>
                </a:solidFill>
                <a:latin typeface="Aptos"/>
              </a:rPr>
              <a:t>MCP servers</a:t>
            </a:r>
            <a:r>
              <a:rPr lang="en-US" sz="1200" dirty="0">
                <a:solidFill>
                  <a:srgbClr val="4A5568"/>
                </a:solidFill>
                <a:latin typeface="Aptos"/>
              </a:rPr>
              <a:t> — Connect to databases, APIs, dashboards via .mcp.json</a:t>
            </a:r>
          </a:p>
          <a:p>
            <a:pPr marL="171450" indent="-171450">
              <a:spcAft>
                <a:spcPts val="100"/>
              </a:spcAft>
              <a:buFont typeface="Arial"/>
              <a:buChar char="•"/>
            </a:pPr>
            <a:r>
              <a:rPr lang="en-US" sz="1200" b="1" dirty="0">
                <a:solidFill>
                  <a:srgbClr val="1A2332"/>
                </a:solidFill>
                <a:latin typeface="Aptos"/>
              </a:rPr>
              <a:t>Hook scripts</a:t>
            </a:r>
            <a:r>
              <a:rPr lang="en-US" sz="1200" dirty="0">
                <a:solidFill>
                  <a:srgbClr val="4A5568"/>
                </a:solidFill>
                <a:latin typeface="Aptos"/>
              </a:rPr>
              <a:t> — Shell/HTTP hooks for approval gates, logging, CI triggers</a:t>
            </a:r>
          </a:p>
          <a:p>
            <a:pPr marL="171450" indent="-171450">
              <a:spcAft>
                <a:spcPts val="100"/>
              </a:spcAft>
              <a:buFont typeface="Arial"/>
              <a:buChar char="•"/>
            </a:pPr>
            <a:r>
              <a:rPr lang="en-US" sz="1200" b="1" dirty="0">
                <a:solidFill>
                  <a:srgbClr val="1A2332"/>
                </a:solidFill>
                <a:latin typeface="Aptos"/>
              </a:rPr>
              <a:t>GitHub Actions</a:t>
            </a:r>
            <a:r>
              <a:rPr lang="en-US" sz="1200" dirty="0">
                <a:solidFill>
                  <a:srgbClr val="4A5568"/>
                </a:solidFill>
                <a:latin typeface="Aptos"/>
              </a:rPr>
              <a:t> — Automated code review, PR descriptions, test generation</a:t>
            </a:r>
          </a:p>
        </p:txBody>
      </p:sp>
      <p:sp>
        <p:nvSpPr>
          <p:cNvPr id="823" name="BandTip2"/>
          <p:cNvSpPr/>
          <p:nvPr/>
        </p:nvSpPr>
        <p:spPr>
          <a:xfrm>
            <a:off x="8026400" y="5448300"/>
            <a:ext cx="3556000" cy="254000"/>
          </a:xfrm>
          <a:prstGeom prst="rect">
            <a:avLst/>
          </a:prstGeom>
          <a:noFill/>
          <a:ln w="0">
            <a:noFill/>
          </a:ln>
        </p:spPr>
        <p:txBody>
          <a:bodyPr wrap="square" lIns="0" tIns="0" rIns="0" bIns="0" anchor="ctr"/>
          <a:lstStyle/>
          <a:p>
            <a:pPr algn="r">
              <a:buNone/>
            </a:pPr>
            <a:r>
              <a:rPr lang="en-US" sz="1000" b="1" dirty="0">
                <a:solidFill>
                  <a:srgbClr val="D4622B"/>
                </a:solidFill>
                <a:latin typeface="Aptos"/>
              </a:rPr>
              <a:t>Best use: </a:t>
            </a:r>
            <a:r>
              <a:rPr lang="en-US" sz="1000" dirty="0">
                <a:solidFill>
                  <a:srgbClr val="4A5568"/>
                </a:solidFill>
                <a:latin typeface="Aptos"/>
              </a:rPr>
              <a:t>Connecting data, automating checks, keeping process reproducible</a:t>
            </a:r>
          </a:p>
        </p:txBody>
      </p:sp>
      <p:sp>
        <p:nvSpPr>
          <p:cNvPr id="850" name="CmdBanner"/>
          <p:cNvSpPr/>
          <p:nvPr/>
        </p:nvSpPr>
        <p:spPr>
          <a:xfrm>
            <a:off x="660400" y="5969000"/>
            <a:ext cx="11049000" cy="355600"/>
          </a:xfrm>
          <a:prstGeom prst="roundRect">
            <a:avLst>
              <a:gd name="adj" fmla="val 25000"/>
            </a:avLst>
          </a:prstGeom>
          <a:solidFill>
            <a:srgbClr val="3B82F6">
              <a:alpha val="15000"/>
            </a:srgbClr>
          </a:solidFill>
          <a:ln w="0">
            <a:noFill/>
          </a:ln>
        </p:spPr>
        <p:txBody>
          <a:bodyPr wrap="square" lIns="127000" tIns="0" rIns="127000" bIns="0" anchor="ctr"/>
          <a:lstStyle/>
          <a:p>
            <a:pPr algn="ctr">
              <a:buNone/>
            </a:pPr>
            <a:r>
              <a:rPr lang="en-US" sz="1000" dirty="0">
                <a:solidFill>
                  <a:srgbClr val="2563EB"/>
                </a:solidFill>
                <a:latin typeface="Aptos"/>
              </a:rPr>
              <a:t>/clear resets context  ·  /compact preserves key facts  ·  /context diagnoses bloat  ·  /effort sets reasoning depth</a:t>
            </a:r>
          </a:p>
        </p:txBody>
      </p:sp>
    </p:spTree>
    <p:extLst>
      <p:ext uri="{BB962C8B-B14F-4D97-AF65-F5344CB8AC3E}">
        <p14:creationId xmlns:p14="http://schemas.microsoft.com/office/powerpoint/2010/main" val="2944123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368" y="76200"/>
            <a:ext cx="8046720" cy="38100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Manage context: avoid limits, force specificity</a:t>
            </a:r>
            <a:endParaRPr lang="en-US" sz="2700" dirty="0">
              <a:solidFill>
                <a:srgbClr val="FFFFFF"/>
              </a:solidFill>
            </a:endParaRPr>
          </a:p>
        </p:txBody>
      </p:sp>
      <p:sp>
        <p:nvSpPr>
          <p:cNvPr id="3" name="Text 1"/>
          <p:cNvSpPr/>
          <p:nvPr/>
        </p:nvSpPr>
        <p:spPr>
          <a:xfrm>
            <a:off x="658368" y="609600"/>
            <a:ext cx="9509760" cy="254000"/>
          </a:xfrm>
          <a:prstGeom prst="rect">
            <a:avLst/>
          </a:prstGeom>
          <a:noFill/>
          <a:ln/>
        </p:spPr>
        <p:txBody>
          <a:bodyPr wrap="square" lIns="0" tIns="0" rIns="0" bIns="0" rtlCol="0" anchor="ctr"/>
          <a:lstStyle/>
          <a:p>
            <a:pPr marL="0" indent="0">
              <a:buNone/>
            </a:pPr>
            <a:r>
              <a:rPr lang="en-US" sz="1400" dirty="0">
                <a:solidFill>
                  <a:srgbClr val="3972C1"/>
                </a:solidFill>
                <a:latin typeface="Aptos" pitchFamily="34" charset="0"/>
                <a:ea typeface="Aptos" pitchFamily="34" charset="-122"/>
                <a:cs typeface="Aptos" pitchFamily="34" charset="-120"/>
              </a:rPr>
              <a:t>Stop Claude from scanning the entire project — tell it exactly where to look</a:t>
            </a:r>
            <a:endParaRPr lang="en-US" sz="1400" dirty="0">
              <a:solidFill>
                <a:srgbClr val="3972C1"/>
              </a:solidFill>
            </a:endParaRPr>
          </a:p>
        </p:txBody>
      </p:sp>
      <p:sp>
        <p:nvSpPr>
          <p:cNvPr id="4" name="Shape 2"/>
          <p:cNvSpPr/>
          <p:nvPr/>
        </p:nvSpPr>
        <p:spPr>
          <a:xfrm>
            <a:off x="0" y="900176"/>
            <a:ext cx="12192000" cy="0"/>
          </a:xfrm>
          <a:prstGeom prst="line">
            <a:avLst/>
          </a:prstGeom>
          <a:noFill/>
          <a:ln w="12700">
            <a:solidFill>
              <a:srgbClr val="1565C0"/>
            </a:solidFill>
            <a:prstDash val="solid"/>
          </a:ln>
        </p:spPr>
        <p:txBody>
          <a:bodyPr/>
          <a:lstStyle/>
          <a:p>
            <a:endParaRPr lang="en-US"/>
          </a:p>
        </p:txBody>
      </p:sp>
      <p:sp>
        <p:nvSpPr>
          <p:cNvPr id="28" name="Text 26"/>
          <p:cNvSpPr/>
          <p:nvPr/>
        </p:nvSpPr>
        <p:spPr>
          <a:xfrm>
            <a:off x="658368" y="6428232"/>
            <a:ext cx="3840480" cy="182880"/>
          </a:xfrm>
          <a:prstGeom prst="rect">
            <a:avLst/>
          </a:prstGeom>
          <a:noFill/>
          <a:ln/>
        </p:spPr>
        <p:txBody>
          <a:bodyPr wrap="square" lIns="0" tIns="0" rIns="0" bIns="0" rtlCol="0" anchor="ctr"/>
          <a:lstStyle/>
          <a:p>
            <a:pPr marL="0" indent="0">
              <a:buNone/>
            </a:pPr>
            <a:r>
              <a:rPr lang="en-US" sz="850" dirty="0">
                <a:solidFill>
                  <a:srgbClr val="FFFFFF"/>
                </a:solidFill>
              </a:rPr>
              <a:t>Avoiding limits</a:t>
            </a:r>
          </a:p>
        </p:txBody>
      </p:sp>
      <p:sp>
        <p:nvSpPr>
          <p:cNvPr id="29" name="Text 27"/>
          <p:cNvSpPr/>
          <p:nvPr/>
        </p:nvSpPr>
        <p:spPr>
          <a:xfrm>
            <a:off x="10424160" y="6428232"/>
            <a:ext cx="1097280" cy="182880"/>
          </a:xfrm>
          <a:prstGeom prst="rect">
            <a:avLst/>
          </a:prstGeom>
          <a:noFill/>
          <a:ln/>
        </p:spPr>
        <p:txBody>
          <a:bodyPr wrap="square" lIns="0" tIns="0" rIns="0" bIns="0" rtlCol="0" anchor="ctr"/>
          <a:lstStyle/>
          <a:p>
            <a:pPr marL="0" indent="0" algn="r">
              <a:buNone/>
            </a:pPr>
            <a:r>
              <a:rPr lang="en-US" sz="850" dirty="0">
                <a:solidFill>
                  <a:srgbClr val="FFFFFF"/>
                </a:solidFill>
              </a:rPr>
              <a:t>20</a:t>
            </a:r>
          </a:p>
        </p:txBody>
      </p:sp>
      <p:sp>
        <p:nvSpPr>
          <p:cNvPr id="500" name="GaugeBg"/>
          <p:cNvSpPr/>
          <p:nvPr/>
        </p:nvSpPr>
        <p:spPr>
          <a:xfrm>
            <a:off x="749300" y="1092200"/>
            <a:ext cx="10972800" cy="889000"/>
          </a:xfrm>
          <a:prstGeom prst="roundRect">
            <a:avLst>
              <a:gd name="adj" fmla="val 10000"/>
            </a:avLst>
          </a:prstGeom>
          <a:solidFill>
            <a:srgbClr val="F5F3FA"/>
          </a:solidFill>
          <a:ln w="0">
            <a:noFill/>
          </a:ln>
        </p:spPr>
        <p:txBody>
          <a:bodyPr/>
          <a:lstStyle/>
          <a:p>
            <a:endParaRPr lang="en-US"/>
          </a:p>
        </p:txBody>
      </p:sp>
      <p:sp>
        <p:nvSpPr>
          <p:cNvPr id="501" name="GaugeLabel"/>
          <p:cNvSpPr/>
          <p:nvPr/>
        </p:nvSpPr>
        <p:spPr>
          <a:xfrm>
            <a:off x="939800" y="1193800"/>
            <a:ext cx="1905000" cy="228600"/>
          </a:xfrm>
          <a:prstGeom prst="rect">
            <a:avLst/>
          </a:prstGeom>
          <a:noFill/>
          <a:ln w="0">
            <a:noFill/>
          </a:ln>
        </p:spPr>
        <p:txBody>
          <a:bodyPr wrap="square" lIns="0" tIns="0" rIns="0" bIns="0" anchor="ctr"/>
          <a:lstStyle/>
          <a:p>
            <a:pPr marL="0" indent="0">
              <a:buNone/>
            </a:pPr>
            <a:r>
              <a:rPr lang="en-US" sz="1100" b="1" dirty="0">
                <a:solidFill>
                  <a:srgbClr val="5B6ABF"/>
                </a:solidFill>
                <a:latin typeface="Segoe UI Semibold"/>
              </a:rPr>
              <a:t>Context budget</a:t>
            </a:r>
          </a:p>
        </p:txBody>
      </p:sp>
      <p:sp>
        <p:nvSpPr>
          <p:cNvPr id="502" name="Seg_Healthy"/>
          <p:cNvSpPr/>
          <p:nvPr/>
        </p:nvSpPr>
        <p:spPr>
          <a:xfrm>
            <a:off x="939800" y="1498600"/>
            <a:ext cx="6143244" cy="279400"/>
          </a:xfrm>
          <a:prstGeom prst="roundRect">
            <a:avLst>
              <a:gd name="adj" fmla="val 30000"/>
            </a:avLst>
          </a:prstGeom>
          <a:solidFill>
            <a:srgbClr val="34D399"/>
          </a:solidFill>
          <a:ln w="0">
            <a:noFill/>
          </a:ln>
        </p:spPr>
        <p:txBody>
          <a:bodyPr wrap="square" lIns="45720" tIns="0" rIns="45720" bIns="0" anchor="ctr"/>
          <a:lstStyle/>
          <a:p>
            <a:pPr marL="0" indent="0" algn="ctr">
              <a:buNone/>
            </a:pPr>
            <a:r>
              <a:rPr lang="en-US" sz="900" b="1" dirty="0">
                <a:solidFill>
                  <a:srgbClr val="065F46"/>
                </a:solidFill>
                <a:latin typeface="Segoe UI Semibold"/>
              </a:rPr>
              <a:t>Healthy</a:t>
            </a:r>
          </a:p>
        </p:txBody>
      </p:sp>
      <p:sp>
        <p:nvSpPr>
          <p:cNvPr id="503" name="Seg_Watch"/>
          <p:cNvSpPr/>
          <p:nvPr/>
        </p:nvSpPr>
        <p:spPr>
          <a:xfrm>
            <a:off x="7083044" y="1498600"/>
            <a:ext cx="2012442" cy="279400"/>
          </a:xfrm>
          <a:prstGeom prst="roundRect">
            <a:avLst>
              <a:gd name="adj" fmla="val 30000"/>
            </a:avLst>
          </a:prstGeom>
          <a:solidFill>
            <a:srgbClr val="FBBF24"/>
          </a:solidFill>
          <a:ln w="0">
            <a:noFill/>
          </a:ln>
        </p:spPr>
        <p:txBody>
          <a:bodyPr wrap="square" lIns="45720" tIns="0" rIns="45720" bIns="0" anchor="ctr"/>
          <a:lstStyle/>
          <a:p>
            <a:pPr marL="0" indent="0" algn="ctr">
              <a:buNone/>
            </a:pPr>
            <a:r>
              <a:rPr lang="en-US" sz="900" b="1" dirty="0">
                <a:solidFill>
                  <a:srgbClr val="92400E"/>
                </a:solidFill>
                <a:latin typeface="Segoe UI Semibold"/>
              </a:rPr>
              <a:t>Watch</a:t>
            </a:r>
          </a:p>
        </p:txBody>
      </p:sp>
      <p:sp>
        <p:nvSpPr>
          <p:cNvPr id="504" name="Seg_Compact / clear"/>
          <p:cNvSpPr/>
          <p:nvPr/>
        </p:nvSpPr>
        <p:spPr>
          <a:xfrm>
            <a:off x="9095486" y="1498600"/>
            <a:ext cx="2436114" cy="279400"/>
          </a:xfrm>
          <a:prstGeom prst="roundRect">
            <a:avLst>
              <a:gd name="adj" fmla="val 30000"/>
            </a:avLst>
          </a:prstGeom>
          <a:solidFill>
            <a:srgbClr val="F87171"/>
          </a:solidFill>
          <a:ln w="0">
            <a:noFill/>
          </a:ln>
        </p:spPr>
        <p:txBody>
          <a:bodyPr wrap="square" lIns="45720" tIns="0" rIns="45720" bIns="0" anchor="ctr"/>
          <a:lstStyle/>
          <a:p>
            <a:pPr marL="0" indent="0" algn="ctr">
              <a:buNone/>
            </a:pPr>
            <a:r>
              <a:rPr lang="en-US" sz="900" b="1" dirty="0">
                <a:solidFill>
                  <a:srgbClr val="991B1B"/>
                </a:solidFill>
                <a:latin typeface="Segoe UI Semibold"/>
              </a:rPr>
              <a:t>Compact / clear</a:t>
            </a:r>
          </a:p>
        </p:txBody>
      </p:sp>
      <p:sp>
        <p:nvSpPr>
          <p:cNvPr id="505" name="Card0Bg"/>
          <p:cNvSpPr/>
          <p:nvPr/>
        </p:nvSpPr>
        <p:spPr>
          <a:xfrm>
            <a:off x="749300" y="2159000"/>
            <a:ext cx="2603500" cy="3111500"/>
          </a:xfrm>
          <a:prstGeom prst="roundRect">
            <a:avLst>
              <a:gd name="adj" fmla="val 4000"/>
            </a:avLst>
          </a:prstGeom>
          <a:solidFill>
            <a:srgbClr val="FFFFFF"/>
          </a:solidFill>
          <a:ln w="6350">
            <a:solidFill>
              <a:srgbClr val="E8E0F0"/>
            </a:solidFill>
          </a:ln>
          <a:effectLst>
            <a:outerShdw blurRad="50800" dist="19050" dir="5400000" algn="bl" rotWithShape="0">
              <a:srgbClr val="000000">
                <a:alpha val="12000"/>
              </a:srgbClr>
            </a:outerShdw>
          </a:effectLst>
        </p:spPr>
        <p:txBody>
          <a:bodyPr/>
          <a:lstStyle/>
          <a:p>
            <a:endParaRPr lang="en-US"/>
          </a:p>
        </p:txBody>
      </p:sp>
      <p:sp>
        <p:nvSpPr>
          <p:cNvPr id="506" name="Card0Bar"/>
          <p:cNvSpPr/>
          <p:nvPr/>
        </p:nvSpPr>
        <p:spPr>
          <a:xfrm>
            <a:off x="749300" y="2286000"/>
            <a:ext cx="63500" cy="2857500"/>
          </a:xfrm>
          <a:prstGeom prst="roundRect">
            <a:avLst>
              <a:gd name="adj" fmla="val 50000"/>
            </a:avLst>
          </a:prstGeom>
          <a:solidFill>
            <a:srgbClr val="3B82F6"/>
          </a:solidFill>
          <a:ln w="0">
            <a:noFill/>
          </a:ln>
        </p:spPr>
        <p:txBody>
          <a:bodyPr/>
          <a:lstStyle/>
          <a:p>
            <a:endParaRPr lang="en-US"/>
          </a:p>
        </p:txBody>
      </p:sp>
      <p:sp>
        <p:nvSpPr>
          <p:cNvPr id="507" name="Card0Icon"/>
          <p:cNvSpPr/>
          <p:nvPr/>
        </p:nvSpPr>
        <p:spPr>
          <a:xfrm>
            <a:off x="977900" y="2349500"/>
            <a:ext cx="457200" cy="457200"/>
          </a:xfrm>
          <a:prstGeom prst="ellipse">
            <a:avLst/>
          </a:prstGeom>
          <a:solidFill>
            <a:srgbClr val="3B82F6">
              <a:alpha val="15000"/>
            </a:srgbClr>
          </a:solidFill>
          <a:ln w="0">
            <a:noFill/>
          </a:ln>
        </p:spPr>
        <p:txBody>
          <a:bodyPr wrap="none" lIns="0" tIns="0" rIns="0" bIns="0" anchor="ctr" anchorCtr="1"/>
          <a:lstStyle/>
          <a:p>
            <a:pPr algn="ctr">
              <a:buNone/>
            </a:pPr>
            <a:r>
              <a:rPr lang="en-US" sz="1400" b="1" dirty="0">
                <a:solidFill>
                  <a:srgbClr val="3B82F6"/>
                </a:solidFill>
                <a:latin typeface="Segoe UI Semibold"/>
              </a:rPr>
              <a:t>@</a:t>
            </a:r>
          </a:p>
        </p:txBody>
      </p:sp>
      <p:sp>
        <p:nvSpPr>
          <p:cNvPr id="508" name="Card0Title"/>
          <p:cNvSpPr/>
          <p:nvPr/>
        </p:nvSpPr>
        <p:spPr>
          <a:xfrm>
            <a:off x="1511300" y="2387600"/>
            <a:ext cx="1612900" cy="381000"/>
          </a:xfrm>
          <a:prstGeom prst="rect">
            <a:avLst/>
          </a:prstGeom>
          <a:noFill/>
          <a:ln w="0">
            <a:noFill/>
          </a:ln>
        </p:spPr>
        <p:txBody>
          <a:bodyPr wrap="square" lIns="0" tIns="0" rIns="0" bIns="0" anchor="ctr"/>
          <a:lstStyle/>
          <a:p>
            <a:pPr marL="0" indent="0">
              <a:buNone/>
            </a:pPr>
            <a:r>
              <a:rPr lang="en-US" sz="1200" b="1" dirty="0">
                <a:solidFill>
                  <a:srgbClr val="1A2332"/>
                </a:solidFill>
                <a:latin typeface="Segoe UI Semibold"/>
              </a:rPr>
              <a:t>Use @ file references</a:t>
            </a:r>
          </a:p>
        </p:txBody>
      </p:sp>
      <p:sp>
        <p:nvSpPr>
          <p:cNvPr id="509" name="Card0Sep"/>
          <p:cNvSpPr/>
          <p:nvPr/>
        </p:nvSpPr>
        <p:spPr>
          <a:xfrm>
            <a:off x="977900" y="2895600"/>
            <a:ext cx="2146300" cy="0"/>
          </a:xfrm>
          <a:prstGeom prst="line">
            <a:avLst/>
          </a:prstGeom>
          <a:ln w="6350">
            <a:solidFill>
              <a:srgbClr val="E8E0F0"/>
            </a:solidFill>
          </a:ln>
        </p:spPr>
        <p:txBody>
          <a:bodyPr/>
          <a:lstStyle/>
          <a:p>
            <a:endParaRPr lang="en-US"/>
          </a:p>
        </p:txBody>
      </p:sp>
      <p:sp>
        <p:nvSpPr>
          <p:cNvPr id="510" name="Card0Desc"/>
          <p:cNvSpPr/>
          <p:nvPr/>
        </p:nvSpPr>
        <p:spPr>
          <a:xfrm>
            <a:off x="977900" y="3022600"/>
            <a:ext cx="2146300" cy="2095500"/>
          </a:xfrm>
          <a:prstGeom prst="rect">
            <a:avLst/>
          </a:prstGeom>
          <a:noFill/>
          <a:ln w="0">
            <a:noFill/>
          </a:ln>
        </p:spPr>
        <p:txBody>
          <a:bodyPr wrap="square" lIns="0" tIns="0" rIns="0" bIns="0" anchor="t"/>
          <a:lstStyle/>
          <a:p>
            <a:pPr marL="0" indent="0" algn="just">
              <a:buNone/>
            </a:pPr>
            <a:r>
              <a:rPr lang="en-US" sz="1050" dirty="0">
                <a:solidFill>
                  <a:srgbClr val="4A5568"/>
                </a:solidFill>
                <a:latin typeface="Segoe UI"/>
              </a:rPr>
              <a:t>Include @src/auth/handler.ts in prompts to force Claude to load specific files instead of searching the whole repo. This prevents unnecessary context consumption and keeps responses focused on exactly the code that matters.</a:t>
            </a:r>
          </a:p>
        </p:txBody>
      </p:sp>
      <p:sp>
        <p:nvSpPr>
          <p:cNvPr id="511" name="Card1Bg"/>
          <p:cNvSpPr/>
          <p:nvPr/>
        </p:nvSpPr>
        <p:spPr>
          <a:xfrm>
            <a:off x="3517900" y="2159000"/>
            <a:ext cx="2603500" cy="3111500"/>
          </a:xfrm>
          <a:prstGeom prst="roundRect">
            <a:avLst>
              <a:gd name="adj" fmla="val 4000"/>
            </a:avLst>
          </a:prstGeom>
          <a:solidFill>
            <a:srgbClr val="FFFFFF"/>
          </a:solidFill>
          <a:ln w="6350">
            <a:solidFill>
              <a:srgbClr val="E8E0F0"/>
            </a:solidFill>
          </a:ln>
          <a:effectLst>
            <a:outerShdw blurRad="50800" dist="19050" dir="5400000" algn="bl" rotWithShape="0">
              <a:srgbClr val="000000">
                <a:alpha val="12000"/>
              </a:srgbClr>
            </a:outerShdw>
          </a:effectLst>
        </p:spPr>
        <p:txBody>
          <a:bodyPr/>
          <a:lstStyle/>
          <a:p>
            <a:endParaRPr lang="en-US"/>
          </a:p>
        </p:txBody>
      </p:sp>
      <p:sp>
        <p:nvSpPr>
          <p:cNvPr id="512" name="Card1Bar"/>
          <p:cNvSpPr/>
          <p:nvPr/>
        </p:nvSpPr>
        <p:spPr>
          <a:xfrm>
            <a:off x="3517900" y="2286000"/>
            <a:ext cx="63500" cy="2857500"/>
          </a:xfrm>
          <a:prstGeom prst="roundRect">
            <a:avLst>
              <a:gd name="adj" fmla="val 50000"/>
            </a:avLst>
          </a:prstGeom>
          <a:solidFill>
            <a:srgbClr val="8B5CF6"/>
          </a:solidFill>
          <a:ln w="0">
            <a:noFill/>
          </a:ln>
        </p:spPr>
        <p:txBody>
          <a:bodyPr/>
          <a:lstStyle/>
          <a:p>
            <a:endParaRPr lang="en-US"/>
          </a:p>
        </p:txBody>
      </p:sp>
      <p:sp>
        <p:nvSpPr>
          <p:cNvPr id="513" name="Card1Icon"/>
          <p:cNvSpPr/>
          <p:nvPr/>
        </p:nvSpPr>
        <p:spPr>
          <a:xfrm>
            <a:off x="3746500" y="2349500"/>
            <a:ext cx="457200" cy="457200"/>
          </a:xfrm>
          <a:prstGeom prst="ellipse">
            <a:avLst/>
          </a:prstGeom>
          <a:solidFill>
            <a:srgbClr val="8B5CF6">
              <a:alpha val="15000"/>
            </a:srgbClr>
          </a:solidFill>
          <a:ln w="0">
            <a:noFill/>
          </a:ln>
        </p:spPr>
        <p:txBody>
          <a:bodyPr wrap="none" lIns="0" tIns="0" rIns="0" bIns="0" anchor="ctr" anchorCtr="1"/>
          <a:lstStyle/>
          <a:p>
            <a:pPr algn="ctr">
              <a:buNone/>
            </a:pPr>
            <a:r>
              <a:rPr lang="en-US" sz="1400" b="1" dirty="0">
                <a:solidFill>
                  <a:srgbClr val="8B5CF6"/>
                </a:solidFill>
                <a:latin typeface="Segoe UI Semibold"/>
              </a:rPr>
              <a:t>⚙</a:t>
            </a:r>
          </a:p>
        </p:txBody>
      </p:sp>
      <p:sp>
        <p:nvSpPr>
          <p:cNvPr id="514" name="Card1Title"/>
          <p:cNvSpPr/>
          <p:nvPr/>
        </p:nvSpPr>
        <p:spPr>
          <a:xfrm>
            <a:off x="4279900" y="2387600"/>
            <a:ext cx="1612900" cy="381000"/>
          </a:xfrm>
          <a:prstGeom prst="rect">
            <a:avLst/>
          </a:prstGeom>
          <a:noFill/>
          <a:ln w="0">
            <a:noFill/>
          </a:ln>
        </p:spPr>
        <p:txBody>
          <a:bodyPr wrap="square" lIns="0" tIns="0" rIns="0" bIns="0" anchor="ctr"/>
          <a:lstStyle/>
          <a:p>
            <a:pPr marL="0" indent="0">
              <a:buNone/>
            </a:pPr>
            <a:r>
              <a:rPr lang="en-US" sz="1200" b="1" dirty="0">
                <a:solidFill>
                  <a:srgbClr val="1A2332"/>
                </a:solidFill>
                <a:latin typeface="Segoe UI Semibold"/>
              </a:rPr>
              <a:t>Scope in CLAUDE.md</a:t>
            </a:r>
          </a:p>
        </p:txBody>
      </p:sp>
      <p:sp>
        <p:nvSpPr>
          <p:cNvPr id="515" name="Card1Sep"/>
          <p:cNvSpPr/>
          <p:nvPr/>
        </p:nvSpPr>
        <p:spPr>
          <a:xfrm>
            <a:off x="3746500" y="2895600"/>
            <a:ext cx="2146300" cy="0"/>
          </a:xfrm>
          <a:prstGeom prst="line">
            <a:avLst/>
          </a:prstGeom>
          <a:ln w="6350">
            <a:solidFill>
              <a:srgbClr val="E8E0F0"/>
            </a:solidFill>
          </a:ln>
        </p:spPr>
        <p:txBody>
          <a:bodyPr/>
          <a:lstStyle/>
          <a:p>
            <a:endParaRPr lang="en-US"/>
          </a:p>
        </p:txBody>
      </p:sp>
      <p:sp>
        <p:nvSpPr>
          <p:cNvPr id="516" name="Card1Desc"/>
          <p:cNvSpPr/>
          <p:nvPr/>
        </p:nvSpPr>
        <p:spPr>
          <a:xfrm>
            <a:off x="3746500" y="3022600"/>
            <a:ext cx="2146300" cy="2095500"/>
          </a:xfrm>
          <a:prstGeom prst="rect">
            <a:avLst/>
          </a:prstGeom>
          <a:noFill/>
          <a:ln w="0">
            <a:noFill/>
          </a:ln>
        </p:spPr>
        <p:txBody>
          <a:bodyPr wrap="square" lIns="0" tIns="0" rIns="0" bIns="0" anchor="t"/>
          <a:lstStyle/>
          <a:p>
            <a:pPr marL="0" indent="0" algn="just">
              <a:buNone/>
            </a:pPr>
            <a:r>
              <a:rPr lang="en-US" sz="1050" dirty="0">
                <a:solidFill>
                  <a:srgbClr val="4A5568"/>
                </a:solidFill>
                <a:latin typeface="Segoe UI"/>
              </a:rPr>
              <a:t>Add permanent rules like "read @src/auth/ before any auth task" and "never scan node_modules or dist/" to your CLAUDE.md. These directives train Claude to navigate your codebase efficiently every session.</a:t>
            </a:r>
          </a:p>
        </p:txBody>
      </p:sp>
      <p:sp>
        <p:nvSpPr>
          <p:cNvPr id="517" name="Card2Bg"/>
          <p:cNvSpPr/>
          <p:nvPr/>
        </p:nvSpPr>
        <p:spPr>
          <a:xfrm>
            <a:off x="6286500" y="2159000"/>
            <a:ext cx="2603500" cy="3111500"/>
          </a:xfrm>
          <a:prstGeom prst="roundRect">
            <a:avLst>
              <a:gd name="adj" fmla="val 4000"/>
            </a:avLst>
          </a:prstGeom>
          <a:solidFill>
            <a:srgbClr val="FFFFFF"/>
          </a:solidFill>
          <a:ln w="6350">
            <a:solidFill>
              <a:srgbClr val="E8E0F0"/>
            </a:solidFill>
          </a:ln>
          <a:effectLst>
            <a:outerShdw blurRad="50800" dist="19050" dir="5400000" algn="bl" rotWithShape="0">
              <a:srgbClr val="000000">
                <a:alpha val="12000"/>
              </a:srgbClr>
            </a:outerShdw>
          </a:effectLst>
        </p:spPr>
        <p:txBody>
          <a:bodyPr/>
          <a:lstStyle/>
          <a:p>
            <a:endParaRPr lang="en-US"/>
          </a:p>
        </p:txBody>
      </p:sp>
      <p:sp>
        <p:nvSpPr>
          <p:cNvPr id="518" name="Card2Bar"/>
          <p:cNvSpPr/>
          <p:nvPr/>
        </p:nvSpPr>
        <p:spPr>
          <a:xfrm>
            <a:off x="6286500" y="2286000"/>
            <a:ext cx="63500" cy="2857500"/>
          </a:xfrm>
          <a:prstGeom prst="roundRect">
            <a:avLst>
              <a:gd name="adj" fmla="val 50000"/>
            </a:avLst>
          </a:prstGeom>
          <a:solidFill>
            <a:srgbClr val="F59E0B"/>
          </a:solidFill>
          <a:ln w="0">
            <a:noFill/>
          </a:ln>
        </p:spPr>
        <p:txBody>
          <a:bodyPr/>
          <a:lstStyle/>
          <a:p>
            <a:endParaRPr lang="en-US"/>
          </a:p>
        </p:txBody>
      </p:sp>
      <p:sp>
        <p:nvSpPr>
          <p:cNvPr id="519" name="Card2Icon"/>
          <p:cNvSpPr/>
          <p:nvPr/>
        </p:nvSpPr>
        <p:spPr>
          <a:xfrm>
            <a:off x="6515100" y="2349500"/>
            <a:ext cx="457200" cy="457200"/>
          </a:xfrm>
          <a:prstGeom prst="ellipse">
            <a:avLst/>
          </a:prstGeom>
          <a:solidFill>
            <a:srgbClr val="F59E0B">
              <a:alpha val="15000"/>
            </a:srgbClr>
          </a:solidFill>
          <a:ln w="0">
            <a:noFill/>
          </a:ln>
        </p:spPr>
        <p:txBody>
          <a:bodyPr wrap="none" lIns="0" tIns="0" rIns="0" bIns="0" anchor="ctr" anchorCtr="1"/>
          <a:lstStyle/>
          <a:p>
            <a:pPr algn="ctr">
              <a:buNone/>
            </a:pPr>
            <a:r>
              <a:rPr lang="en-US" sz="1400" b="1" dirty="0">
                <a:solidFill>
                  <a:srgbClr val="F59E0B"/>
                </a:solidFill>
                <a:latin typeface="Segoe UI Semibold"/>
              </a:rPr>
              <a:t>⟳</a:t>
            </a:r>
          </a:p>
        </p:txBody>
      </p:sp>
      <p:sp>
        <p:nvSpPr>
          <p:cNvPr id="520" name="Card2Title"/>
          <p:cNvSpPr/>
          <p:nvPr/>
        </p:nvSpPr>
        <p:spPr>
          <a:xfrm>
            <a:off x="7048500" y="2387600"/>
            <a:ext cx="1612900" cy="381000"/>
          </a:xfrm>
          <a:prstGeom prst="rect">
            <a:avLst/>
          </a:prstGeom>
          <a:noFill/>
          <a:ln w="0">
            <a:noFill/>
          </a:ln>
        </p:spPr>
        <p:txBody>
          <a:bodyPr wrap="square" lIns="0" tIns="0" rIns="0" bIns="0" anchor="ctr"/>
          <a:lstStyle/>
          <a:p>
            <a:pPr marL="0" indent="0">
              <a:buNone/>
            </a:pPr>
            <a:r>
              <a:rPr lang="en-US" sz="1200" b="1" dirty="0">
                <a:solidFill>
                  <a:srgbClr val="1A2332"/>
                </a:solidFill>
                <a:latin typeface="Segoe UI Semibold"/>
              </a:rPr>
              <a:t>Compact + /effort + /clear</a:t>
            </a:r>
          </a:p>
        </p:txBody>
      </p:sp>
      <p:sp>
        <p:nvSpPr>
          <p:cNvPr id="521" name="Card2Sep"/>
          <p:cNvSpPr/>
          <p:nvPr/>
        </p:nvSpPr>
        <p:spPr>
          <a:xfrm>
            <a:off x="6515100" y="2895600"/>
            <a:ext cx="2146300" cy="0"/>
          </a:xfrm>
          <a:prstGeom prst="line">
            <a:avLst/>
          </a:prstGeom>
          <a:ln w="6350">
            <a:solidFill>
              <a:srgbClr val="E8E0F0"/>
            </a:solidFill>
          </a:ln>
        </p:spPr>
        <p:txBody>
          <a:bodyPr/>
          <a:lstStyle/>
          <a:p>
            <a:endParaRPr lang="en-US"/>
          </a:p>
        </p:txBody>
      </p:sp>
      <p:sp>
        <p:nvSpPr>
          <p:cNvPr id="522" name="Card2Desc"/>
          <p:cNvSpPr/>
          <p:nvPr/>
        </p:nvSpPr>
        <p:spPr>
          <a:xfrm>
            <a:off x="6515100" y="3022600"/>
            <a:ext cx="2146300" cy="2095500"/>
          </a:xfrm>
          <a:prstGeom prst="rect">
            <a:avLst/>
          </a:prstGeom>
          <a:noFill/>
          <a:ln w="0">
            <a:noFill/>
          </a:ln>
        </p:spPr>
        <p:txBody>
          <a:bodyPr wrap="square" lIns="0" tIns="0" rIns="0" bIns="0" anchor="t"/>
          <a:lstStyle/>
          <a:p>
            <a:pPr marL="0" indent="0" algn="just">
              <a:buNone/>
            </a:pPr>
            <a:r>
              <a:rPr lang="en-US" sz="1050" dirty="0">
                <a:solidFill>
                  <a:srgbClr val="4A5568"/>
                </a:solidFill>
                <a:latin typeface="Segoe UI"/>
              </a:rPr>
              <a:t>Use /compact to trim conversation history while keeping modified files. Set /effort low for simple tasks to reduce token usage. Run /clear between unrelated tasks to reset context completely.</a:t>
            </a:r>
          </a:p>
        </p:txBody>
      </p:sp>
      <p:sp>
        <p:nvSpPr>
          <p:cNvPr id="523" name="Card3Bg"/>
          <p:cNvSpPr/>
          <p:nvPr/>
        </p:nvSpPr>
        <p:spPr>
          <a:xfrm>
            <a:off x="9055100" y="2159000"/>
            <a:ext cx="2603500" cy="3111500"/>
          </a:xfrm>
          <a:prstGeom prst="roundRect">
            <a:avLst>
              <a:gd name="adj" fmla="val 4000"/>
            </a:avLst>
          </a:prstGeom>
          <a:solidFill>
            <a:srgbClr val="FFFFFF"/>
          </a:solidFill>
          <a:ln w="6350">
            <a:solidFill>
              <a:srgbClr val="E8E0F0"/>
            </a:solidFill>
          </a:ln>
          <a:effectLst>
            <a:outerShdw blurRad="50800" dist="19050" dir="5400000" algn="bl" rotWithShape="0">
              <a:srgbClr val="000000">
                <a:alpha val="12000"/>
              </a:srgbClr>
            </a:outerShdw>
          </a:effectLst>
        </p:spPr>
        <p:txBody>
          <a:bodyPr/>
          <a:lstStyle/>
          <a:p>
            <a:endParaRPr lang="en-US"/>
          </a:p>
        </p:txBody>
      </p:sp>
      <p:sp>
        <p:nvSpPr>
          <p:cNvPr id="524" name="Card3Bar"/>
          <p:cNvSpPr/>
          <p:nvPr/>
        </p:nvSpPr>
        <p:spPr>
          <a:xfrm>
            <a:off x="9055100" y="2286000"/>
            <a:ext cx="63500" cy="2857500"/>
          </a:xfrm>
          <a:prstGeom prst="roundRect">
            <a:avLst>
              <a:gd name="adj" fmla="val 50000"/>
            </a:avLst>
          </a:prstGeom>
          <a:solidFill>
            <a:srgbClr val="EF4444"/>
          </a:solidFill>
          <a:ln w="0">
            <a:noFill/>
          </a:ln>
        </p:spPr>
        <p:txBody>
          <a:bodyPr/>
          <a:lstStyle/>
          <a:p>
            <a:endParaRPr lang="en-US"/>
          </a:p>
        </p:txBody>
      </p:sp>
      <p:sp>
        <p:nvSpPr>
          <p:cNvPr id="525" name="Card3Icon"/>
          <p:cNvSpPr/>
          <p:nvPr/>
        </p:nvSpPr>
        <p:spPr>
          <a:xfrm>
            <a:off x="9283700" y="2349500"/>
            <a:ext cx="457200" cy="457200"/>
          </a:xfrm>
          <a:prstGeom prst="ellipse">
            <a:avLst/>
          </a:prstGeom>
          <a:solidFill>
            <a:srgbClr val="EF4444">
              <a:alpha val="15000"/>
            </a:srgbClr>
          </a:solidFill>
          <a:ln w="0">
            <a:noFill/>
          </a:ln>
        </p:spPr>
        <p:txBody>
          <a:bodyPr wrap="none" lIns="0" tIns="0" rIns="0" bIns="0" anchor="ctr" anchorCtr="1"/>
          <a:lstStyle/>
          <a:p>
            <a:pPr algn="ctr">
              <a:buNone/>
            </a:pPr>
            <a:r>
              <a:rPr lang="en-US" sz="1400" b="1" dirty="0">
                <a:solidFill>
                  <a:srgbClr val="EF4444"/>
                </a:solidFill>
                <a:latin typeface="Segoe UI Semibold"/>
              </a:rPr>
              <a:t>⑂</a:t>
            </a:r>
          </a:p>
        </p:txBody>
      </p:sp>
      <p:sp>
        <p:nvSpPr>
          <p:cNvPr id="526" name="Card3Title"/>
          <p:cNvSpPr/>
          <p:nvPr/>
        </p:nvSpPr>
        <p:spPr>
          <a:xfrm>
            <a:off x="9817100" y="2387600"/>
            <a:ext cx="1612900" cy="381000"/>
          </a:xfrm>
          <a:prstGeom prst="rect">
            <a:avLst/>
          </a:prstGeom>
          <a:noFill/>
          <a:ln w="0">
            <a:noFill/>
          </a:ln>
        </p:spPr>
        <p:txBody>
          <a:bodyPr wrap="square" lIns="0" tIns="0" rIns="0" bIns="0" anchor="ctr"/>
          <a:lstStyle/>
          <a:p>
            <a:pPr marL="0" indent="0">
              <a:buNone/>
            </a:pPr>
            <a:r>
              <a:rPr lang="en-US" sz="1200" b="1" dirty="0">
                <a:solidFill>
                  <a:srgbClr val="1A2332"/>
                </a:solidFill>
                <a:latin typeface="Segoe UI Semibold"/>
              </a:rPr>
              <a:t>Subagents + disconnect MCP</a:t>
            </a:r>
          </a:p>
        </p:txBody>
      </p:sp>
      <p:sp>
        <p:nvSpPr>
          <p:cNvPr id="527" name="Card3Sep"/>
          <p:cNvSpPr/>
          <p:nvPr/>
        </p:nvSpPr>
        <p:spPr>
          <a:xfrm>
            <a:off x="9283700" y="2895600"/>
            <a:ext cx="2146300" cy="0"/>
          </a:xfrm>
          <a:prstGeom prst="line">
            <a:avLst/>
          </a:prstGeom>
          <a:ln w="6350">
            <a:solidFill>
              <a:srgbClr val="E8E0F0"/>
            </a:solidFill>
          </a:ln>
        </p:spPr>
        <p:txBody>
          <a:bodyPr/>
          <a:lstStyle/>
          <a:p>
            <a:endParaRPr lang="en-US"/>
          </a:p>
        </p:txBody>
      </p:sp>
      <p:sp>
        <p:nvSpPr>
          <p:cNvPr id="528" name="Card3Desc"/>
          <p:cNvSpPr/>
          <p:nvPr/>
        </p:nvSpPr>
        <p:spPr>
          <a:xfrm>
            <a:off x="9283700" y="3022600"/>
            <a:ext cx="2146300" cy="2095500"/>
          </a:xfrm>
          <a:prstGeom prst="rect">
            <a:avLst/>
          </a:prstGeom>
          <a:noFill/>
          <a:ln w="0">
            <a:noFill/>
          </a:ln>
        </p:spPr>
        <p:txBody>
          <a:bodyPr wrap="square" lIns="0" tIns="0" rIns="0" bIns="0" anchor="t"/>
          <a:lstStyle/>
          <a:p>
            <a:pPr marL="0" indent="0" algn="just">
              <a:buNone/>
            </a:pPr>
            <a:r>
              <a:rPr lang="en-US" sz="1050" dirty="0">
                <a:solidFill>
                  <a:srgbClr val="4A5568"/>
                </a:solidFill>
                <a:latin typeface="Segoe UI"/>
              </a:rPr>
              <a:t>Offload noisy work — logs, tests, docs, large explorations — to isolated subagents. Use /mcp to disable MCP servers you don't need; their tool schemas consume context even when idle.</a:t>
            </a:r>
          </a:p>
        </p:txBody>
      </p:sp>
      <p:sp>
        <p:nvSpPr>
          <p:cNvPr id="529" name="EntTip"/>
          <p:cNvSpPr/>
          <p:nvPr/>
        </p:nvSpPr>
        <p:spPr>
          <a:xfrm>
            <a:off x="749300" y="5422900"/>
            <a:ext cx="10972800" cy="609600"/>
          </a:xfrm>
          <a:prstGeom prst="roundRect">
            <a:avLst>
              <a:gd name="adj" fmla="val 15000"/>
            </a:avLst>
          </a:prstGeom>
          <a:solidFill>
            <a:srgbClr val="5B6ABF"/>
          </a:solidFill>
          <a:ln w="0">
            <a:noFill/>
          </a:ln>
          <a:effectLst>
            <a:outerShdw blurRad="38100" dist="12700" dir="5400000" algn="bl" rotWithShape="0">
              <a:srgbClr val="000000">
                <a:alpha val="15000"/>
              </a:srgbClr>
            </a:outerShdw>
          </a:effectLst>
        </p:spPr>
        <p:txBody>
          <a:bodyPr wrap="square" lIns="152400" tIns="0" rIns="152400" bIns="0" anchor="ctr"/>
          <a:lstStyle/>
          <a:p>
            <a:pPr marL="0" indent="0">
              <a:buNone/>
            </a:pPr>
            <a:r>
              <a:rPr lang="en-US" sz="1000" b="1" dirty="0">
                <a:solidFill>
                  <a:srgbClr val="FCD34D"/>
                </a:solidFill>
                <a:latin typeface="Segoe UI Semibold"/>
              </a:rPr>
              <a:t>Enterprise tip  </a:t>
            </a:r>
            <a:r>
              <a:rPr lang="en-US" sz="1000" dirty="0">
                <a:solidFill>
                  <a:srgbClr val="FFFFFF"/>
                </a:solidFill>
                <a:latin typeface="Segoe UI"/>
              </a:rPr>
              <a:t>Use worktree.sparsePaths for large monorepos — Claude checks out only the directories you need via git sparse-checkout.</a:t>
            </a:r>
          </a:p>
        </p:txBody>
      </p:sp>
      <p:pic>
        <p:nvPicPr>
          <p:cNvPr id="530" name="Graphic 530" descr="File reference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400" y="2374900"/>
            <a:ext cx="304800" cy="304800"/>
          </a:xfrm>
          <a:prstGeom prst="rect">
            <a:avLst/>
          </a:prstGeom>
        </p:spPr>
      </p:pic>
      <p:pic>
        <p:nvPicPr>
          <p:cNvPr id="531" name="Graphic 531" descr="Filter/subagen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69400" y="2374900"/>
            <a:ext cx="304800" cy="304800"/>
          </a:xfrm>
          <a:prstGeom prst="rect">
            <a:avLst/>
          </a:prstGeom>
        </p:spPr>
      </p:pic>
    </p:spTree>
    <p:extLst>
      <p:ext uri="{BB962C8B-B14F-4D97-AF65-F5344CB8AC3E}">
        <p14:creationId xmlns:p14="http://schemas.microsoft.com/office/powerpoint/2010/main" val="2022534359"/>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Claude Code: Token Economics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How the context window, pricing, and caching actually work — and the levers you and your team can pull</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520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1</a:t>
            </a:r>
          </a:p>
        </p:txBody>
      </p:sp>
      <p:sp>
        <p:nvSpPr>
          <p:cNvPr id="8" name="TextBox 7"/>
          <p:cNvSpPr txBox="1"/>
          <p:nvPr/>
        </p:nvSpPr>
        <p:spPr>
          <a:xfrm>
            <a:off x="1378368" y="1320000"/>
            <a:ext cx="1671316" cy="460000"/>
          </a:xfrm>
          <a:prstGeom prst="rect">
            <a:avLst/>
          </a:prstGeom>
          <a:noFill/>
        </p:spPr>
        <p:txBody>
          <a:bodyPr wrap="square" anchor="ctr">
            <a:spAutoFit/>
          </a:bodyPr>
          <a:lstStyle/>
          <a:p>
            <a:r>
              <a:rPr sz="1500" b="1">
                <a:solidFill>
                  <a:srgbClr val="1A2332"/>
                </a:solidFill>
                <a:latin typeface="Segoe UI Semibold"/>
              </a:rPr>
              <a:t>Tokens are the unit</a:t>
            </a:r>
          </a:p>
        </p:txBody>
      </p:sp>
      <p:cxnSp>
        <p:nvCxnSpPr>
          <p:cNvPr id="9" name="Connector 8"/>
          <p:cNvCxnSpPr/>
          <p:nvPr/>
        </p:nvCxnSpPr>
        <p:spPr>
          <a:xfrm>
            <a:off x="858368"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2191316" cy="4150000"/>
          </a:xfrm>
          <a:prstGeom prst="rect">
            <a:avLst/>
          </a:prstGeom>
          <a:noFill/>
        </p:spPr>
        <p:txBody>
          <a:bodyPr wrap="square">
            <a:spAutoFit/>
          </a:bodyPr>
          <a:lstStyle/>
          <a:p>
            <a:r>
              <a:rPr sz="1150">
                <a:solidFill>
                  <a:srgbClr val="4A5568"/>
                </a:solidFill>
                <a:latin typeface="Segoe UI"/>
              </a:rPr>
              <a:t>Price, quota, and context window are all measured the same way, on every plan — API key, console, cloud provider, Pro, Max, Team, or Enterprise. Nothing is free-form; everything reduces to a token count.</a:t>
            </a:r>
          </a:p>
        </p:txBody>
      </p:sp>
      <p:sp>
        <p:nvSpPr>
          <p:cNvPr id="11" name="Rounded Rectangle 10"/>
          <p:cNvSpPr/>
          <p:nvPr/>
        </p:nvSpPr>
        <p:spPr>
          <a:xfrm>
            <a:off x="3419684"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19684"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19684"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2</a:t>
            </a:r>
          </a:p>
        </p:txBody>
      </p:sp>
      <p:sp>
        <p:nvSpPr>
          <p:cNvPr id="14" name="TextBox 13"/>
          <p:cNvSpPr txBox="1"/>
          <p:nvPr/>
        </p:nvSpPr>
        <p:spPr>
          <a:xfrm>
            <a:off x="4139684" y="1320000"/>
            <a:ext cx="1671316" cy="460000"/>
          </a:xfrm>
          <a:prstGeom prst="rect">
            <a:avLst/>
          </a:prstGeom>
          <a:noFill/>
        </p:spPr>
        <p:txBody>
          <a:bodyPr wrap="square" anchor="ctr">
            <a:spAutoFit/>
          </a:bodyPr>
          <a:lstStyle/>
          <a:p>
            <a:r>
              <a:rPr sz="1500" b="1">
                <a:solidFill>
                  <a:srgbClr val="1A2332"/>
                </a:solidFill>
                <a:latin typeface="Segoe UI Semibold"/>
              </a:rPr>
              <a:t>One turn, many requests</a:t>
            </a:r>
          </a:p>
        </p:txBody>
      </p:sp>
      <p:cxnSp>
        <p:nvCxnSpPr>
          <p:cNvPr id="15" name="Connector 14"/>
          <p:cNvCxnSpPr/>
          <p:nvPr/>
        </p:nvCxnSpPr>
        <p:spPr>
          <a:xfrm>
            <a:off x="3619684"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619684" y="2000000"/>
            <a:ext cx="2191316" cy="4150000"/>
          </a:xfrm>
          <a:prstGeom prst="rect">
            <a:avLst/>
          </a:prstGeom>
          <a:noFill/>
        </p:spPr>
        <p:txBody>
          <a:bodyPr wrap="square">
            <a:spAutoFit/>
          </a:bodyPr>
          <a:lstStyle/>
          <a:p>
            <a:r>
              <a:rPr sz="1150">
                <a:solidFill>
                  <a:srgbClr val="4A5568"/>
                </a:solidFill>
                <a:latin typeface="Segoe UI"/>
              </a:rPr>
              <a:t>A single prompt can mean five or more round trips to the model: read a file, edit it, run the tests, report back. Each round trip resends everything that came before it.</a:t>
            </a:r>
          </a:p>
        </p:txBody>
      </p:sp>
      <p:sp>
        <p:nvSpPr>
          <p:cNvPr id="17" name="Rounded Rectangle 16"/>
          <p:cNvSpPr/>
          <p:nvPr/>
        </p:nvSpPr>
        <p:spPr>
          <a:xfrm>
            <a:off x="6181000"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81000" y="1150000"/>
            <a:ext cx="57150" cy="520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81000" y="1350000"/>
            <a:ext cx="400000" cy="40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3</a:t>
            </a:r>
          </a:p>
        </p:txBody>
      </p:sp>
      <p:sp>
        <p:nvSpPr>
          <p:cNvPr id="20" name="TextBox 19"/>
          <p:cNvSpPr txBox="1"/>
          <p:nvPr/>
        </p:nvSpPr>
        <p:spPr>
          <a:xfrm>
            <a:off x="6901000" y="1320000"/>
            <a:ext cx="1671316" cy="460000"/>
          </a:xfrm>
          <a:prstGeom prst="rect">
            <a:avLst/>
          </a:prstGeom>
          <a:noFill/>
        </p:spPr>
        <p:txBody>
          <a:bodyPr wrap="square" anchor="ctr">
            <a:spAutoFit/>
          </a:bodyPr>
          <a:lstStyle/>
          <a:p>
            <a:r>
              <a:rPr sz="1500" b="1">
                <a:solidFill>
                  <a:srgbClr val="1A2332"/>
                </a:solidFill>
                <a:latin typeface="Segoe UI Semibold"/>
              </a:rPr>
              <a:t>Caching rewards stability</a:t>
            </a:r>
          </a:p>
        </p:txBody>
      </p:sp>
      <p:cxnSp>
        <p:nvCxnSpPr>
          <p:cNvPr id="21" name="Connector 20"/>
          <p:cNvCxnSpPr/>
          <p:nvPr/>
        </p:nvCxnSpPr>
        <p:spPr>
          <a:xfrm>
            <a:off x="6381000"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381000" y="2000000"/>
            <a:ext cx="2191316" cy="4150000"/>
          </a:xfrm>
          <a:prstGeom prst="rect">
            <a:avLst/>
          </a:prstGeom>
          <a:noFill/>
        </p:spPr>
        <p:txBody>
          <a:bodyPr wrap="square">
            <a:spAutoFit/>
          </a:bodyPr>
          <a:lstStyle/>
          <a:p>
            <a:r>
              <a:rPr sz="1150">
                <a:solidFill>
                  <a:srgbClr val="4A5568"/>
                </a:solidFill>
                <a:latin typeface="Segoe UI"/>
              </a:rPr>
              <a:t>A prefix that stays identical between requests is read back at a fraction of the input price. A prefix that changes near the front is read fresh, at full price.</a:t>
            </a:r>
          </a:p>
        </p:txBody>
      </p:sp>
      <p:sp>
        <p:nvSpPr>
          <p:cNvPr id="23" name="Rounded Rectangle 22"/>
          <p:cNvSpPr/>
          <p:nvPr/>
        </p:nvSpPr>
        <p:spPr>
          <a:xfrm>
            <a:off x="8942316"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42316" y="1150000"/>
            <a:ext cx="57150" cy="520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42316" y="1350000"/>
            <a:ext cx="400000" cy="400000"/>
          </a:xfrm>
          <a:prstGeom prst="ellipse">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4</a:t>
            </a:r>
          </a:p>
        </p:txBody>
      </p:sp>
      <p:sp>
        <p:nvSpPr>
          <p:cNvPr id="26" name="TextBox 25"/>
          <p:cNvSpPr txBox="1"/>
          <p:nvPr/>
        </p:nvSpPr>
        <p:spPr>
          <a:xfrm>
            <a:off x="9662316" y="1320000"/>
            <a:ext cx="1671316" cy="460000"/>
          </a:xfrm>
          <a:prstGeom prst="rect">
            <a:avLst/>
          </a:prstGeom>
          <a:noFill/>
        </p:spPr>
        <p:txBody>
          <a:bodyPr wrap="square" anchor="ctr">
            <a:spAutoFit/>
          </a:bodyPr>
          <a:lstStyle/>
          <a:p>
            <a:r>
              <a:rPr sz="1500" b="1">
                <a:solidFill>
                  <a:srgbClr val="1A2332"/>
                </a:solidFill>
                <a:latin typeface="Segoe UI Semibold"/>
              </a:rPr>
              <a:t>You hold the levers</a:t>
            </a:r>
          </a:p>
        </p:txBody>
      </p:sp>
      <p:cxnSp>
        <p:nvCxnSpPr>
          <p:cNvPr id="27" name="Connector 26"/>
          <p:cNvCxnSpPr/>
          <p:nvPr/>
        </p:nvCxnSpPr>
        <p:spPr>
          <a:xfrm>
            <a:off x="9142316"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42316" y="2000000"/>
            <a:ext cx="2191316" cy="4150000"/>
          </a:xfrm>
          <a:prstGeom prst="rect">
            <a:avLst/>
          </a:prstGeom>
          <a:noFill/>
        </p:spPr>
        <p:txBody>
          <a:bodyPr wrap="square">
            <a:spAutoFit/>
          </a:bodyPr>
          <a:lstStyle/>
          <a:p>
            <a:r>
              <a:rPr sz="1150">
                <a:solidFill>
                  <a:srgbClr val="4A5568"/>
                </a:solidFill>
                <a:latin typeface="Segoe UI"/>
              </a:rPr>
              <a:t>Model, effort, what's loaded, how much is cached, and managed settings for a whole team — every one of these is a deliberate choice, not a default you're stuck with.</a:t>
            </a:r>
          </a:p>
        </p:txBody>
      </p:sp>
      <p:sp>
        <p:nvSpPr>
          <p:cNvPr id="29" name="TextBox 28"/>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30" name="TextBox 29"/>
          <p:cNvSpPr txBox="1"/>
          <p:nvPr/>
        </p:nvSpPr>
        <p:spPr>
          <a:xfrm>
            <a:off x="10424160" y="6428232"/>
            <a:ext cx="1097280" cy="182880"/>
          </a:xfrm>
          <a:prstGeom prst="rect">
            <a:avLst/>
          </a:prstGeom>
          <a:noFill/>
        </p:spPr>
        <p:txBody>
          <a:bodyPr wrap="none">
            <a:spAutoFit/>
          </a:bodyPr>
          <a:lstStyle/>
          <a:p>
            <a:pPr algn="r"/>
            <a:r>
              <a:rPr sz="850">
                <a:solidFill>
                  <a:srgbClr val="FFFFFF"/>
                </a:solidFill>
              </a:rPr>
              <a:t>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The unit is tokens, either way</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API key, console, or a cloud provider — Pro, Max, Team, or Enterprise: it's all metered in tokens</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5352632"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520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5h</a:t>
            </a:r>
          </a:p>
        </p:txBody>
      </p:sp>
      <p:sp>
        <p:nvSpPr>
          <p:cNvPr id="8" name="TextBox 7"/>
          <p:cNvSpPr txBox="1"/>
          <p:nvPr/>
        </p:nvSpPr>
        <p:spPr>
          <a:xfrm>
            <a:off x="1378368" y="1320000"/>
            <a:ext cx="4432632" cy="460000"/>
          </a:xfrm>
          <a:prstGeom prst="rect">
            <a:avLst/>
          </a:prstGeom>
          <a:noFill/>
        </p:spPr>
        <p:txBody>
          <a:bodyPr wrap="square" anchor="ctr">
            <a:spAutoFit/>
          </a:bodyPr>
          <a:lstStyle/>
          <a:p>
            <a:r>
              <a:rPr sz="1500" b="1">
                <a:solidFill>
                  <a:srgbClr val="1A2332"/>
                </a:solidFill>
                <a:latin typeface="Segoe UI Semibold"/>
              </a:rPr>
              <a:t>5-hour window</a:t>
            </a:r>
          </a:p>
        </p:txBody>
      </p:sp>
      <p:cxnSp>
        <p:nvCxnSpPr>
          <p:cNvPr id="9" name="Connector 8"/>
          <p:cNvCxnSpPr/>
          <p:nvPr/>
        </p:nvCxnSpPr>
        <p:spPr>
          <a:xfrm>
            <a:off x="858368" y="1890000"/>
            <a:ext cx="4952632"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4952632" cy="3780000"/>
          </a:xfrm>
          <a:prstGeom prst="rect">
            <a:avLst/>
          </a:prstGeom>
          <a:noFill/>
        </p:spPr>
        <p:txBody>
          <a:bodyPr wrap="square">
            <a:spAutoFit/>
          </a:bodyPr>
          <a:lstStyle/>
          <a:p>
            <a:r>
              <a:rPr sz="1150">
                <a:solidFill>
                  <a:srgbClr val="4A5568"/>
                </a:solidFill>
                <a:latin typeface="Segoe UI"/>
              </a:rPr>
              <a:t>A rolling usage window that resets every five hours from your first message in it. Everything you send and everything the model produces counts against it, at the prices on the pricing page ahead.</a:t>
            </a:r>
          </a:p>
        </p:txBody>
      </p:sp>
      <p:sp>
        <p:nvSpPr>
          <p:cNvPr id="11" name="Rounded Rectangle 10"/>
          <p:cNvSpPr/>
          <p:nvPr/>
        </p:nvSpPr>
        <p:spPr>
          <a:xfrm>
            <a:off x="858368" y="5850000"/>
            <a:ext cx="4952632"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1565C0"/>
                </a:solidFill>
                <a:latin typeface="Consolas"/>
              </a:rPr>
              <a:t>usage resets: every 5h, rolling</a:t>
            </a:r>
          </a:p>
        </p:txBody>
      </p:sp>
      <p:sp>
        <p:nvSpPr>
          <p:cNvPr id="12" name="Rounded Rectangle 11"/>
          <p:cNvSpPr/>
          <p:nvPr/>
        </p:nvSpPr>
        <p:spPr>
          <a:xfrm>
            <a:off x="6181000" y="1150000"/>
            <a:ext cx="5352632"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000"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1000"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7d</a:t>
            </a:r>
          </a:p>
        </p:txBody>
      </p:sp>
      <p:sp>
        <p:nvSpPr>
          <p:cNvPr id="15" name="TextBox 14"/>
          <p:cNvSpPr txBox="1"/>
          <p:nvPr/>
        </p:nvSpPr>
        <p:spPr>
          <a:xfrm>
            <a:off x="6901000" y="1320000"/>
            <a:ext cx="4432632" cy="460000"/>
          </a:xfrm>
          <a:prstGeom prst="rect">
            <a:avLst/>
          </a:prstGeom>
          <a:noFill/>
        </p:spPr>
        <p:txBody>
          <a:bodyPr wrap="square" anchor="ctr">
            <a:spAutoFit/>
          </a:bodyPr>
          <a:lstStyle/>
          <a:p>
            <a:r>
              <a:rPr sz="1500" b="1">
                <a:solidFill>
                  <a:srgbClr val="1A2332"/>
                </a:solidFill>
                <a:latin typeface="Segoe UI Semibold"/>
              </a:rPr>
              <a:t>Weekly window</a:t>
            </a:r>
          </a:p>
        </p:txBody>
      </p:sp>
      <p:cxnSp>
        <p:nvCxnSpPr>
          <p:cNvPr id="16" name="Connector 15"/>
          <p:cNvCxnSpPr/>
          <p:nvPr/>
        </p:nvCxnSpPr>
        <p:spPr>
          <a:xfrm>
            <a:off x="6381000" y="1890000"/>
            <a:ext cx="4952632"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81000" y="2000000"/>
            <a:ext cx="4952632" cy="3780000"/>
          </a:xfrm>
          <a:prstGeom prst="rect">
            <a:avLst/>
          </a:prstGeom>
          <a:noFill/>
        </p:spPr>
        <p:txBody>
          <a:bodyPr wrap="square">
            <a:spAutoFit/>
          </a:bodyPr>
          <a:lstStyle/>
          <a:p>
            <a:r>
              <a:rPr sz="1150">
                <a:solidFill>
                  <a:srgbClr val="4A5568"/>
                </a:solidFill>
                <a:latin typeface="Segoe UI"/>
              </a:rPr>
              <a:t>A second, longer usage window sits on top of the 5-hour one. Both windows are drawn down from the exact same underlying token pool — there's no separate weekly budget to track mentally, just the one number.</a:t>
            </a:r>
          </a:p>
        </p:txBody>
      </p:sp>
      <p:sp>
        <p:nvSpPr>
          <p:cNvPr id="18" name="Rounded Rectangle 17"/>
          <p:cNvSpPr/>
          <p:nvPr/>
        </p:nvSpPr>
        <p:spPr>
          <a:xfrm>
            <a:off x="6381000" y="5850000"/>
            <a:ext cx="4952632"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usage resets: every 7d, rolling</a:t>
            </a:r>
          </a:p>
        </p:txBody>
      </p:sp>
      <p:sp>
        <p:nvSpPr>
          <p:cNvPr id="19" name="TextBox 18"/>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0" name="TextBox 19"/>
          <p:cNvSpPr txBox="1"/>
          <p:nvPr/>
        </p:nvSpPr>
        <p:spPr>
          <a:xfrm>
            <a:off x="10424160" y="6428232"/>
            <a:ext cx="1097280" cy="182880"/>
          </a:xfrm>
          <a:prstGeom prst="rect">
            <a:avLst/>
          </a:prstGeom>
          <a:noFill/>
        </p:spPr>
        <p:txBody>
          <a:bodyPr wrap="none">
            <a:spAutoFit/>
          </a:bodyPr>
          <a:lstStyle/>
          <a:p>
            <a:pPr algn="r"/>
            <a:r>
              <a:rPr sz="850">
                <a:solidFill>
                  <a:srgbClr val="FFFFFF"/>
                </a:solidFill>
              </a:rPr>
              <a:t>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It's never just the prompt</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What you type is the smallest part of what's actually sent — and it all runs through a tokenizer</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5700000" cy="5200000"/>
          </a:xfrm>
          <a:prstGeom prst="roundRect">
            <a:avLst>
              <a:gd name="adj" fmla="val 4000"/>
            </a:avLst>
          </a:prstGeom>
          <a:solidFill>
            <a:srgbClr val="F5F3FA"/>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70000"/>
            <a:ext cx="5242800" cy="4960000"/>
          </a:xfrm>
          <a:prstGeom prst="rect">
            <a:avLst/>
          </a:prstGeom>
          <a:noFill/>
        </p:spPr>
        <p:txBody>
          <a:bodyPr wrap="square">
            <a:spAutoFit/>
          </a:bodyPr>
          <a:lstStyle/>
          <a:p>
            <a:r>
              <a:rPr sz="1250">
                <a:solidFill>
                  <a:srgbClr val="1A2332"/>
                </a:solidFill>
                <a:latin typeface="Consolas"/>
              </a:rPr>
              <a:t>&gt; fix the failing test in utils.test.ts</a:t>
            </a:r>
          </a:p>
          <a:p>
            <a:r>
              <a:rPr sz="1250">
                <a:solidFill>
                  <a:srgbClr val="1A2332"/>
                </a:solidFill>
                <a:latin typeface="Consolas"/>
              </a:rPr>
              <a:t> </a:t>
            </a:r>
          </a:p>
          <a:p>
            <a:r>
              <a:rPr sz="1250">
                <a:solidFill>
                  <a:srgbClr val="1A2332"/>
                </a:solidFill>
                <a:latin typeface="Consolas"/>
              </a:rPr>
              <a:t>EVERYTHING WE SENT → TOKENIZER</a:t>
            </a:r>
          </a:p>
          <a:p>
            <a:r>
              <a:rPr sz="1250">
                <a:solidFill>
                  <a:srgbClr val="1A2332"/>
                </a:solidFill>
                <a:latin typeface="Consolas"/>
              </a:rPr>
              <a:t>[system prompt] … fix the fail ing test</a:t>
            </a:r>
          </a:p>
          <a:p>
            <a:r>
              <a:rPr sz="1250">
                <a:solidFill>
                  <a:srgbClr val="1A2332"/>
                </a:solidFill>
                <a:latin typeface="Consolas"/>
              </a:rPr>
              <a:t>in utils .test .ts</a:t>
            </a:r>
          </a:p>
          <a:p>
            <a:r>
              <a:rPr sz="1250">
                <a:solidFill>
                  <a:srgbClr val="1A2332"/>
                </a:solidFill>
                <a:latin typeface="Consolas"/>
              </a:rPr>
              <a:t> </a:t>
            </a:r>
          </a:p>
          <a:p>
            <a:r>
              <a:rPr sz="1250">
                <a:solidFill>
                  <a:srgbClr val="1A2332"/>
                </a:solidFill>
                <a:latin typeface="Consolas"/>
              </a:rPr>
              <a:t>WHAT COMES BACK</a:t>
            </a:r>
          </a:p>
          <a:p>
            <a:r>
              <a:rPr sz="1250">
                <a:solidFill>
                  <a:srgbClr val="1A2332"/>
                </a:solidFill>
                <a:latin typeface="Consolas"/>
              </a:rPr>
              <a:t>Read( utils .test .ts )</a:t>
            </a:r>
          </a:p>
        </p:txBody>
      </p:sp>
      <p:sp>
        <p:nvSpPr>
          <p:cNvPr id="7" name="Rounded Rectangle 6"/>
          <p:cNvSpPr/>
          <p:nvPr/>
        </p:nvSpPr>
        <p:spPr>
          <a:xfrm>
            <a:off x="6578368" y="1150000"/>
            <a:ext cx="495526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78368"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778368"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a:t>
            </a:r>
          </a:p>
        </p:txBody>
      </p:sp>
      <p:sp>
        <p:nvSpPr>
          <p:cNvPr id="10" name="TextBox 9"/>
          <p:cNvSpPr txBox="1"/>
          <p:nvPr/>
        </p:nvSpPr>
        <p:spPr>
          <a:xfrm>
            <a:off x="7298368" y="1320000"/>
            <a:ext cx="4035264" cy="460000"/>
          </a:xfrm>
          <a:prstGeom prst="rect">
            <a:avLst/>
          </a:prstGeom>
          <a:noFill/>
        </p:spPr>
        <p:txBody>
          <a:bodyPr wrap="square" anchor="ctr">
            <a:spAutoFit/>
          </a:bodyPr>
          <a:lstStyle/>
          <a:p>
            <a:r>
              <a:rPr sz="1500" b="1">
                <a:solidFill>
                  <a:srgbClr val="1A2332"/>
                </a:solidFill>
                <a:latin typeface="Segoe UI Semibold"/>
              </a:rPr>
              <a:t>The bar is already full before you hit enter</a:t>
            </a:r>
          </a:p>
        </p:txBody>
      </p:sp>
      <p:cxnSp>
        <p:nvCxnSpPr>
          <p:cNvPr id="11" name="Connector 10"/>
          <p:cNvCxnSpPr/>
          <p:nvPr/>
        </p:nvCxnSpPr>
        <p:spPr>
          <a:xfrm>
            <a:off x="6778368" y="1890000"/>
            <a:ext cx="455526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78368" y="2000000"/>
            <a:ext cx="4555264" cy="4150000"/>
          </a:xfrm>
          <a:prstGeom prst="rect">
            <a:avLst/>
          </a:prstGeom>
          <a:noFill/>
        </p:spPr>
        <p:txBody>
          <a:bodyPr wrap="square">
            <a:spAutoFit/>
          </a:bodyPr>
          <a:lstStyle/>
          <a:p>
            <a:r>
              <a:rPr sz="1150">
                <a:solidFill>
                  <a:srgbClr val="4A5568"/>
                </a:solidFill>
                <a:latin typeface="Segoe UI"/>
              </a:rPr>
              <a:t>By the time you type a single word, the context window already holds everything loaded when the session started: the system prompt, CLAUDE.md, skill and MCP tool names, and the running transcript so far. The model sees all of that, plus what you just typed, in one request — the tokenizer breaks every bit of it into the same units that pricing and caching are measured in.</a:t>
            </a:r>
          </a:p>
        </p:txBody>
      </p:sp>
      <p:sp>
        <p:nvSpPr>
          <p:cNvPr id="13" name="TextBox 12"/>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14" name="TextBox 13"/>
          <p:cNvSpPr txBox="1"/>
          <p:nvPr/>
        </p:nvSpPr>
        <p:spPr>
          <a:xfrm>
            <a:off x="10424160" y="6428232"/>
            <a:ext cx="1097280" cy="182880"/>
          </a:xfrm>
          <a:prstGeom prst="rect">
            <a:avLst/>
          </a:prstGeom>
          <a:noFill/>
        </p:spPr>
        <p:txBody>
          <a:bodyPr wrap="none">
            <a:spAutoFit/>
          </a:bodyPr>
          <a:lstStyle/>
          <a:p>
            <a:pPr algn="r"/>
            <a:r>
              <a:rPr sz="850">
                <a:solidFill>
                  <a:srgbClr val="FFFFFF"/>
                </a:solidFill>
              </a:rPr>
              <a:t>23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The round trip: a tool call</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"I only have a file name. I need to see that test." — then it runs, and sends everything again</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786000" y="1250000"/>
            <a:ext cx="3100000" cy="1200000"/>
          </a:xfrm>
          <a:prstGeom prst="roundRect">
            <a:avLst>
              <a:gd name="adj" fmla="val 8000"/>
            </a:avLst>
          </a:prstGeom>
          <a:solidFill>
            <a:srgbClr val="FFFFFF"/>
          </a:solidFill>
          <a:ln w="19050">
            <a:solidFill>
              <a:srgbClr val="1565C0"/>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350" b="1">
                <a:solidFill>
                  <a:srgbClr val="1A2332"/>
                </a:solidFill>
                <a:latin typeface="Segoe UI Semibold"/>
              </a:rPr>
              <a:t>Claude Code
(your machine)</a:t>
            </a:r>
          </a:p>
          <a:p>
            <a:pPr algn="ctr">
              <a:spcBef>
                <a:spcPts val="600"/>
              </a:spcBef>
            </a:pPr>
            <a:r>
              <a:rPr sz="1050">
                <a:solidFill>
                  <a:srgbClr val="4A5568"/>
                </a:solidFill>
                <a:latin typeface="Segoe UI"/>
              </a:rPr>
              <a:t>&gt; fix the failing test…</a:t>
            </a:r>
          </a:p>
        </p:txBody>
      </p:sp>
      <p:sp>
        <p:nvSpPr>
          <p:cNvPr id="6" name="Right Arrow 5"/>
          <p:cNvSpPr/>
          <p:nvPr/>
        </p:nvSpPr>
        <p:spPr>
          <a:xfrm>
            <a:off x="6001000" y="1755000"/>
            <a:ext cx="190000" cy="190000"/>
          </a:xfrm>
          <a:prstGeom prst="rightArrow">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6000" y="1250000"/>
            <a:ext cx="3100000" cy="1200000"/>
          </a:xfrm>
          <a:prstGeom prst="roundRect">
            <a:avLst>
              <a:gd name="adj" fmla="val 8000"/>
            </a:avLst>
          </a:prstGeom>
          <a:solidFill>
            <a:srgbClr val="FFFFFF"/>
          </a:solidFill>
          <a:ln w="1905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350" b="1">
                <a:solidFill>
                  <a:srgbClr val="1A2332"/>
                </a:solidFill>
                <a:latin typeface="Segoe UI Semibold"/>
              </a:rPr>
              <a:t>The model
(Anthropic's servers)</a:t>
            </a:r>
          </a:p>
          <a:p>
            <a:pPr algn="ctr">
              <a:spcBef>
                <a:spcPts val="600"/>
              </a:spcBef>
            </a:pPr>
            <a:r>
              <a:rPr sz="1050">
                <a:solidFill>
                  <a:srgbClr val="4A5568"/>
                </a:solidFill>
                <a:latin typeface="Segoe UI"/>
              </a:rPr>
              <a:t>Read(utils.test.ts) — a tool call</a:t>
            </a:r>
          </a:p>
        </p:txBody>
      </p:sp>
      <p:sp>
        <p:nvSpPr>
          <p:cNvPr id="8" name="TextBox 7"/>
          <p:cNvSpPr txBox="1"/>
          <p:nvPr/>
        </p:nvSpPr>
        <p:spPr>
          <a:xfrm>
            <a:off x="658368" y="2750000"/>
            <a:ext cx="10875264" cy="300000"/>
          </a:xfrm>
          <a:prstGeom prst="rect">
            <a:avLst/>
          </a:prstGeom>
          <a:noFill/>
        </p:spPr>
        <p:txBody>
          <a:bodyPr wrap="none">
            <a:spAutoFit/>
          </a:bodyPr>
          <a:lstStyle/>
          <a:p>
            <a:r>
              <a:rPr sz="1300">
                <a:solidFill>
                  <a:srgbClr val="4A5568"/>
                </a:solidFill>
                <a:latin typeface="Segoe UI"/>
              </a:rPr>
              <a:t>Claude Code runs the tool call, adds the file's contents, and sends everything again:</a:t>
            </a:r>
          </a:p>
        </p:txBody>
      </p:sp>
      <p:sp>
        <p:nvSpPr>
          <p:cNvPr id="9" name="Rounded Rectangle 8"/>
          <p:cNvSpPr/>
          <p:nvPr/>
        </p:nvSpPr>
        <p:spPr>
          <a:xfrm>
            <a:off x="658368" y="3150000"/>
            <a:ext cx="6800000" cy="700000"/>
          </a:xfrm>
          <a:prstGeom prst="roundRect">
            <a:avLst>
              <a:gd name="adj" fmla="val 4000"/>
            </a:avLst>
          </a:prstGeom>
          <a:solidFill>
            <a:srgbClr val="F5F3FA"/>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3270000"/>
            <a:ext cx="6342800" cy="460000"/>
          </a:xfrm>
          <a:prstGeom prst="rect">
            <a:avLst/>
          </a:prstGeom>
          <a:noFill/>
        </p:spPr>
        <p:txBody>
          <a:bodyPr wrap="square">
            <a:spAutoFit/>
          </a:bodyPr>
          <a:lstStyle/>
          <a:p>
            <a:r>
              <a:rPr sz="1250">
                <a:solidFill>
                  <a:srgbClr val="1A2332"/>
                </a:solidFill>
                <a:latin typeface="Consolas"/>
              </a:rPr>
              <a:t>✓ Read utils.test.ts   + utils.test.ts</a:t>
            </a:r>
          </a:p>
          <a:p>
            <a:r>
              <a:rPr sz="1250">
                <a:solidFill>
                  <a:srgbClr val="1A2332"/>
                </a:solidFill>
                <a:latin typeface="Consolas"/>
              </a:rPr>
              <a:t>✓ Read utils.ts        + utils.ts</a:t>
            </a:r>
          </a:p>
        </p:txBody>
      </p:sp>
      <p:sp>
        <p:nvSpPr>
          <p:cNvPr id="11" name="Rounded Rectangle 10"/>
          <p:cNvSpPr/>
          <p:nvPr/>
        </p:nvSpPr>
        <p:spPr>
          <a:xfrm>
            <a:off x="658368" y="4300000"/>
            <a:ext cx="6600000" cy="50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4090000"/>
            <a:ext cx="650000" cy="190000"/>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00" b="1">
                <a:solidFill>
                  <a:srgbClr val="FFFFFF"/>
                </a:solidFill>
              </a:rPr>
              <a:t>CACHED</a:t>
            </a:r>
          </a:p>
        </p:txBody>
      </p:sp>
      <p:sp>
        <p:nvSpPr>
          <p:cNvPr id="13" name="Rectangle 12"/>
          <p:cNvSpPr/>
          <p:nvPr/>
        </p:nvSpPr>
        <p:spPr>
          <a:xfrm>
            <a:off x="703368" y="4345000"/>
            <a:ext cx="3580500" cy="41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83868" y="4345000"/>
            <a:ext cx="1953000" cy="41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36868" y="4345000"/>
            <a:ext cx="976500" cy="41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418368" y="4280000"/>
            <a:ext cx="2650000" cy="540000"/>
          </a:xfrm>
          <a:prstGeom prst="roundRect">
            <a:avLst>
              <a:gd name="adj" fmla="val 25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a:lstStyle/>
          <a:p>
            <a:pPr algn="ctr"/>
            <a:r>
              <a:rPr sz="1100" b="1">
                <a:solidFill>
                  <a:srgbClr val="D4622B"/>
                </a:solidFill>
                <a:latin typeface="Consolas"/>
              </a:rPr>
              <a:t>bar keeps growing</a:t>
            </a:r>
          </a:p>
        </p:txBody>
      </p:sp>
      <p:sp>
        <p:nvSpPr>
          <p:cNvPr id="17" name="Rectangle 16"/>
          <p:cNvSpPr/>
          <p:nvPr/>
        </p:nvSpPr>
        <p:spPr>
          <a:xfrm>
            <a:off x="658368" y="5150000"/>
            <a:ext cx="210000" cy="21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368" y="5120000"/>
            <a:ext cx="1200000" cy="270000"/>
          </a:xfrm>
          <a:prstGeom prst="rect">
            <a:avLst/>
          </a:prstGeom>
          <a:noFill/>
        </p:spPr>
        <p:txBody>
          <a:bodyPr wrap="none">
            <a:spAutoFit/>
          </a:bodyPr>
          <a:lstStyle/>
          <a:p>
            <a:r>
              <a:rPr sz="1050">
                <a:solidFill>
                  <a:srgbClr val="4A5568"/>
                </a:solidFill>
                <a:latin typeface="Segoe UI"/>
              </a:rPr>
              <a:t>cached</a:t>
            </a:r>
          </a:p>
        </p:txBody>
      </p:sp>
      <p:sp>
        <p:nvSpPr>
          <p:cNvPr id="19" name="Rectangle 18"/>
          <p:cNvSpPr/>
          <p:nvPr/>
        </p:nvSpPr>
        <p:spPr>
          <a:xfrm>
            <a:off x="2208368" y="5150000"/>
            <a:ext cx="210000" cy="21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68368" y="5120000"/>
            <a:ext cx="1200000" cy="270000"/>
          </a:xfrm>
          <a:prstGeom prst="rect">
            <a:avLst/>
          </a:prstGeom>
          <a:noFill/>
        </p:spPr>
        <p:txBody>
          <a:bodyPr wrap="none">
            <a:spAutoFit/>
          </a:bodyPr>
          <a:lstStyle/>
          <a:p>
            <a:r>
              <a:rPr sz="1050">
                <a:solidFill>
                  <a:srgbClr val="4A5568"/>
                </a:solidFill>
                <a:latin typeface="Segoe UI"/>
              </a:rPr>
              <a:t>input</a:t>
            </a:r>
          </a:p>
        </p:txBody>
      </p:sp>
      <p:sp>
        <p:nvSpPr>
          <p:cNvPr id="21" name="Rectangle 20"/>
          <p:cNvSpPr/>
          <p:nvPr/>
        </p:nvSpPr>
        <p:spPr>
          <a:xfrm>
            <a:off x="3758368" y="5150000"/>
            <a:ext cx="210000" cy="21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18368" y="5120000"/>
            <a:ext cx="1200000" cy="270000"/>
          </a:xfrm>
          <a:prstGeom prst="rect">
            <a:avLst/>
          </a:prstGeom>
          <a:noFill/>
        </p:spPr>
        <p:txBody>
          <a:bodyPr wrap="none">
            <a:spAutoFit/>
          </a:bodyPr>
          <a:lstStyle/>
          <a:p>
            <a:r>
              <a:rPr sz="1050">
                <a:solidFill>
                  <a:srgbClr val="4A5568"/>
                </a:solidFill>
                <a:latin typeface="Segoe UI"/>
              </a:rPr>
              <a:t>output</a:t>
            </a:r>
          </a:p>
        </p:txBody>
      </p:sp>
      <p:sp>
        <p:nvSpPr>
          <p:cNvPr id="23" name="TextBox 22"/>
          <p:cNvSpPr txBox="1"/>
          <p:nvPr/>
        </p:nvSpPr>
        <p:spPr>
          <a:xfrm>
            <a:off x="658368" y="5500000"/>
            <a:ext cx="9500000" cy="500000"/>
          </a:xfrm>
          <a:prstGeom prst="rect">
            <a:avLst/>
          </a:prstGeom>
          <a:noFill/>
        </p:spPr>
        <p:txBody>
          <a:bodyPr wrap="square">
            <a:spAutoFit/>
          </a:bodyPr>
          <a:lstStyle/>
          <a:p>
            <a:r>
              <a:rPr sz="1150">
                <a:solidFill>
                  <a:srgbClr val="4A5568"/>
                </a:solidFill>
                <a:latin typeface="Segoe UI"/>
              </a:rPr>
              <a:t>Most of this next request is identical to the one before it — that's what the CACHED segment marks, and it's read back at a fraction of the input price.</a:t>
            </a:r>
          </a:p>
        </p:txBody>
      </p:sp>
      <p:sp>
        <p:nvSpPr>
          <p:cNvPr id="24" name="TextBox 23"/>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5" name="TextBox 24"/>
          <p:cNvSpPr txBox="1"/>
          <p:nvPr/>
        </p:nvSpPr>
        <p:spPr>
          <a:xfrm>
            <a:off x="10424160" y="6428232"/>
            <a:ext cx="1097280" cy="182880"/>
          </a:xfrm>
          <a:prstGeom prst="rect">
            <a:avLst/>
          </a:prstGeom>
          <a:noFill/>
        </p:spPr>
        <p:txBody>
          <a:bodyPr wrap="none">
            <a:spAutoFit/>
          </a:bodyPr>
          <a:lstStyle/>
          <a:p>
            <a:pPr algn="r"/>
            <a:r>
              <a:rPr sz="850">
                <a:solidFill>
                  <a:srgbClr val="FFFFFF"/>
                </a:solidFill>
              </a:rPr>
              <a:t>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One prompt, five requests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Each round trip carries everything that came before it — and part of every bar after the first is CACHED</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1490000"/>
            <a:ext cx="300000" cy="300000"/>
          </a:xfrm>
          <a:prstGeom prst="rect">
            <a:avLst/>
          </a:prstGeom>
          <a:noFill/>
        </p:spPr>
        <p:txBody>
          <a:bodyPr wrap="none">
            <a:spAutoFit/>
          </a:bodyPr>
          <a:lstStyle/>
          <a:p>
            <a:r>
              <a:rPr sz="1300" b="1">
                <a:solidFill>
                  <a:srgbClr val="4A5568"/>
                </a:solidFill>
              </a:rPr>
              <a:t>1</a:t>
            </a:r>
          </a:p>
        </p:txBody>
      </p:sp>
      <p:sp>
        <p:nvSpPr>
          <p:cNvPr id="6" name="Rounded Rectangle 5"/>
          <p:cNvSpPr/>
          <p:nvPr/>
        </p:nvSpPr>
        <p:spPr>
          <a:xfrm>
            <a:off x="1008368" y="1470000"/>
            <a:ext cx="7000000" cy="46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53368" y="1515000"/>
            <a:ext cx="6910000" cy="37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168368" y="1450000"/>
            <a:ext cx="2650000" cy="500000"/>
          </a:xfrm>
          <a:prstGeom prst="roundRect">
            <a:avLst>
              <a:gd name="adj" fmla="val 25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a:lstStyle/>
          <a:p>
            <a:pPr algn="ctr"/>
            <a:r>
              <a:rPr sz="900" i="1">
                <a:solidFill>
                  <a:srgbClr val="4A5568"/>
                </a:solidFill>
                <a:latin typeface="Segoe UI"/>
              </a:rPr>
              <a:t>you: “fix the failing test”</a:t>
            </a:r>
          </a:p>
          <a:p>
            <a:pPr algn="ctr">
              <a:spcBef>
                <a:spcPts val="300"/>
              </a:spcBef>
            </a:pPr>
            <a:r>
              <a:rPr sz="1100" b="1">
                <a:solidFill>
                  <a:srgbClr val="D4622B"/>
                </a:solidFill>
                <a:latin typeface="Consolas"/>
              </a:rPr>
              <a:t>Read(utils.test.ts)</a:t>
            </a:r>
          </a:p>
        </p:txBody>
      </p:sp>
      <p:sp>
        <p:nvSpPr>
          <p:cNvPr id="9" name="TextBox 8"/>
          <p:cNvSpPr txBox="1"/>
          <p:nvPr/>
        </p:nvSpPr>
        <p:spPr>
          <a:xfrm>
            <a:off x="658368" y="2310000"/>
            <a:ext cx="300000" cy="300000"/>
          </a:xfrm>
          <a:prstGeom prst="rect">
            <a:avLst/>
          </a:prstGeom>
          <a:noFill/>
        </p:spPr>
        <p:txBody>
          <a:bodyPr wrap="none">
            <a:spAutoFit/>
          </a:bodyPr>
          <a:lstStyle/>
          <a:p>
            <a:r>
              <a:rPr sz="1300" b="1">
                <a:solidFill>
                  <a:srgbClr val="4A5568"/>
                </a:solidFill>
              </a:rPr>
              <a:t>2</a:t>
            </a:r>
          </a:p>
        </p:txBody>
      </p:sp>
      <p:sp>
        <p:nvSpPr>
          <p:cNvPr id="10" name="Rounded Rectangle 9"/>
          <p:cNvSpPr/>
          <p:nvPr/>
        </p:nvSpPr>
        <p:spPr>
          <a:xfrm>
            <a:off x="1008368" y="2290000"/>
            <a:ext cx="7000000" cy="46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08368" y="2080000"/>
            <a:ext cx="650000" cy="190000"/>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00" b="1">
                <a:solidFill>
                  <a:srgbClr val="FFFFFF"/>
                </a:solidFill>
              </a:rPr>
              <a:t>CACHED</a:t>
            </a:r>
          </a:p>
        </p:txBody>
      </p:sp>
      <p:sp>
        <p:nvSpPr>
          <p:cNvPr id="12" name="Rectangle 11"/>
          <p:cNvSpPr/>
          <p:nvPr/>
        </p:nvSpPr>
        <p:spPr>
          <a:xfrm>
            <a:off x="1053368" y="2335000"/>
            <a:ext cx="3455000" cy="37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08368" y="2335000"/>
            <a:ext cx="3455000" cy="37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68368" y="2270000"/>
            <a:ext cx="2650000" cy="500000"/>
          </a:xfrm>
          <a:prstGeom prst="roundRect">
            <a:avLst>
              <a:gd name="adj" fmla="val 25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a:lstStyle/>
          <a:p>
            <a:pPr algn="ctr"/>
            <a:r>
              <a:rPr sz="900" i="1">
                <a:solidFill>
                  <a:srgbClr val="4A5568"/>
                </a:solidFill>
                <a:latin typeface="Segoe UI"/>
              </a:rPr>
              <a:t>test file added to context</a:t>
            </a:r>
          </a:p>
          <a:p>
            <a:pPr algn="ctr">
              <a:spcBef>
                <a:spcPts val="300"/>
              </a:spcBef>
            </a:pPr>
            <a:r>
              <a:rPr sz="1100" b="1">
                <a:solidFill>
                  <a:srgbClr val="D4622B"/>
                </a:solidFill>
                <a:latin typeface="Consolas"/>
              </a:rPr>
              <a:t>Read(utils.ts)</a:t>
            </a:r>
          </a:p>
        </p:txBody>
      </p:sp>
      <p:sp>
        <p:nvSpPr>
          <p:cNvPr id="15" name="TextBox 14"/>
          <p:cNvSpPr txBox="1"/>
          <p:nvPr/>
        </p:nvSpPr>
        <p:spPr>
          <a:xfrm>
            <a:off x="658368" y="3130000"/>
            <a:ext cx="300000" cy="300000"/>
          </a:xfrm>
          <a:prstGeom prst="rect">
            <a:avLst/>
          </a:prstGeom>
          <a:noFill/>
        </p:spPr>
        <p:txBody>
          <a:bodyPr wrap="none">
            <a:spAutoFit/>
          </a:bodyPr>
          <a:lstStyle/>
          <a:p>
            <a:r>
              <a:rPr sz="1300" b="1">
                <a:solidFill>
                  <a:srgbClr val="4A5568"/>
                </a:solidFill>
              </a:rPr>
              <a:t>3</a:t>
            </a:r>
          </a:p>
        </p:txBody>
      </p:sp>
      <p:sp>
        <p:nvSpPr>
          <p:cNvPr id="16" name="Rounded Rectangle 15"/>
          <p:cNvSpPr/>
          <p:nvPr/>
        </p:nvSpPr>
        <p:spPr>
          <a:xfrm>
            <a:off x="1008368" y="3110000"/>
            <a:ext cx="7000000" cy="46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8368" y="2900000"/>
            <a:ext cx="650000" cy="190000"/>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00" b="1">
                <a:solidFill>
                  <a:srgbClr val="FFFFFF"/>
                </a:solidFill>
              </a:rPr>
              <a:t>CACHED</a:t>
            </a:r>
          </a:p>
        </p:txBody>
      </p:sp>
      <p:sp>
        <p:nvSpPr>
          <p:cNvPr id="18" name="Rectangle 17"/>
          <p:cNvSpPr/>
          <p:nvPr/>
        </p:nvSpPr>
        <p:spPr>
          <a:xfrm>
            <a:off x="1053368" y="3155000"/>
            <a:ext cx="4284200" cy="37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337568" y="3155000"/>
            <a:ext cx="2625800" cy="37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68368" y="3090000"/>
            <a:ext cx="2650000" cy="500000"/>
          </a:xfrm>
          <a:prstGeom prst="roundRect">
            <a:avLst>
              <a:gd name="adj" fmla="val 25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a:lstStyle/>
          <a:p>
            <a:pPr algn="ctr"/>
            <a:r>
              <a:rPr sz="900" i="1">
                <a:solidFill>
                  <a:srgbClr val="4A5568"/>
                </a:solidFill>
                <a:latin typeface="Segoe UI"/>
              </a:rPr>
              <a:t>utils.ts added to context</a:t>
            </a:r>
          </a:p>
          <a:p>
            <a:pPr algn="ctr">
              <a:spcBef>
                <a:spcPts val="300"/>
              </a:spcBef>
            </a:pPr>
            <a:r>
              <a:rPr sz="1100" b="1">
                <a:solidFill>
                  <a:srgbClr val="D4622B"/>
                </a:solidFill>
                <a:latin typeface="Consolas"/>
              </a:rPr>
              <a:t>Edit(utils.ts)</a:t>
            </a:r>
          </a:p>
        </p:txBody>
      </p:sp>
      <p:sp>
        <p:nvSpPr>
          <p:cNvPr id="21" name="TextBox 20"/>
          <p:cNvSpPr txBox="1"/>
          <p:nvPr/>
        </p:nvSpPr>
        <p:spPr>
          <a:xfrm>
            <a:off x="658368" y="3950000"/>
            <a:ext cx="300000" cy="300000"/>
          </a:xfrm>
          <a:prstGeom prst="rect">
            <a:avLst/>
          </a:prstGeom>
          <a:noFill/>
        </p:spPr>
        <p:txBody>
          <a:bodyPr wrap="none">
            <a:spAutoFit/>
          </a:bodyPr>
          <a:lstStyle/>
          <a:p>
            <a:r>
              <a:rPr sz="1300" b="1">
                <a:solidFill>
                  <a:srgbClr val="4A5568"/>
                </a:solidFill>
              </a:rPr>
              <a:t>4</a:t>
            </a:r>
          </a:p>
        </p:txBody>
      </p:sp>
      <p:sp>
        <p:nvSpPr>
          <p:cNvPr id="22" name="Rounded Rectangle 21"/>
          <p:cNvSpPr/>
          <p:nvPr/>
        </p:nvSpPr>
        <p:spPr>
          <a:xfrm>
            <a:off x="1008368" y="3930000"/>
            <a:ext cx="7000000" cy="46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8368" y="3720000"/>
            <a:ext cx="650000" cy="190000"/>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00" b="1">
                <a:solidFill>
                  <a:srgbClr val="FFFFFF"/>
                </a:solidFill>
              </a:rPr>
              <a:t>CACHED</a:t>
            </a:r>
          </a:p>
        </p:txBody>
      </p:sp>
      <p:sp>
        <p:nvSpPr>
          <p:cNvPr id="24" name="Rectangle 23"/>
          <p:cNvSpPr/>
          <p:nvPr/>
        </p:nvSpPr>
        <p:spPr>
          <a:xfrm>
            <a:off x="1053368" y="3975000"/>
            <a:ext cx="4975200" cy="37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28568" y="3975000"/>
            <a:ext cx="1934800" cy="37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68368" y="3910000"/>
            <a:ext cx="2650000" cy="500000"/>
          </a:xfrm>
          <a:prstGeom prst="roundRect">
            <a:avLst>
              <a:gd name="adj" fmla="val 25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a:lstStyle/>
          <a:p>
            <a:pPr algn="ctr"/>
            <a:r>
              <a:rPr sz="900" i="1">
                <a:solidFill>
                  <a:srgbClr val="4A5568"/>
                </a:solidFill>
                <a:latin typeface="Segoe UI"/>
              </a:rPr>
              <a:t>edit result added to context</a:t>
            </a:r>
          </a:p>
          <a:p>
            <a:pPr algn="ctr">
              <a:spcBef>
                <a:spcPts val="300"/>
              </a:spcBef>
            </a:pPr>
            <a:r>
              <a:rPr sz="1100" b="1">
                <a:solidFill>
                  <a:srgbClr val="D4622B"/>
                </a:solidFill>
                <a:latin typeface="Consolas"/>
              </a:rPr>
              <a:t>Bash(npm test)</a:t>
            </a:r>
          </a:p>
        </p:txBody>
      </p:sp>
      <p:sp>
        <p:nvSpPr>
          <p:cNvPr id="27" name="TextBox 26"/>
          <p:cNvSpPr txBox="1"/>
          <p:nvPr/>
        </p:nvSpPr>
        <p:spPr>
          <a:xfrm>
            <a:off x="658368" y="4770000"/>
            <a:ext cx="300000" cy="300000"/>
          </a:xfrm>
          <a:prstGeom prst="rect">
            <a:avLst/>
          </a:prstGeom>
          <a:noFill/>
        </p:spPr>
        <p:txBody>
          <a:bodyPr wrap="none">
            <a:spAutoFit/>
          </a:bodyPr>
          <a:lstStyle/>
          <a:p>
            <a:r>
              <a:rPr sz="1300" b="1">
                <a:solidFill>
                  <a:srgbClr val="4A5568"/>
                </a:solidFill>
              </a:rPr>
              <a:t>5</a:t>
            </a:r>
          </a:p>
        </p:txBody>
      </p:sp>
      <p:sp>
        <p:nvSpPr>
          <p:cNvPr id="28" name="Rounded Rectangle 27"/>
          <p:cNvSpPr/>
          <p:nvPr/>
        </p:nvSpPr>
        <p:spPr>
          <a:xfrm>
            <a:off x="1008368" y="4750000"/>
            <a:ext cx="7000000" cy="46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08368" y="4540000"/>
            <a:ext cx="650000" cy="190000"/>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00" b="1">
                <a:solidFill>
                  <a:srgbClr val="FFFFFF"/>
                </a:solidFill>
              </a:rPr>
              <a:t>CACHED</a:t>
            </a:r>
          </a:p>
        </p:txBody>
      </p:sp>
      <p:sp>
        <p:nvSpPr>
          <p:cNvPr id="30" name="Rectangle 29"/>
          <p:cNvSpPr/>
          <p:nvPr/>
        </p:nvSpPr>
        <p:spPr>
          <a:xfrm>
            <a:off x="1053368" y="4795000"/>
            <a:ext cx="5528000" cy="37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1368" y="4795000"/>
            <a:ext cx="1036500" cy="37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17868" y="4795000"/>
            <a:ext cx="345500" cy="37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168368" y="4730000"/>
            <a:ext cx="2650000" cy="500000"/>
          </a:xfrm>
          <a:prstGeom prst="roundRect">
            <a:avLst>
              <a:gd name="adj" fmla="val 25000"/>
            </a:avLst>
          </a:prstGeom>
          <a:solidFill>
            <a:srgbClr val="FFFFFF"/>
          </a:solidFill>
          <a:ln w="12700">
            <a:solidFill>
              <a:srgbClr val="D4622B"/>
            </a:solidFill>
          </a:ln>
          <a:effectLst/>
        </p:spPr>
        <p:style>
          <a:lnRef idx="1">
            <a:schemeClr val="accent1"/>
          </a:lnRef>
          <a:fillRef idx="3">
            <a:schemeClr val="accent1"/>
          </a:fillRef>
          <a:effectRef idx="2">
            <a:schemeClr val="accent1"/>
          </a:effectRef>
          <a:fontRef idx="minor">
            <a:schemeClr val="lt1"/>
          </a:fontRef>
        </p:style>
        <p:txBody>
          <a:bodyPr rtlCol="0" anchor="ctr" wrap="square" lIns="70000" rIns="70000"/>
          <a:lstStyle/>
          <a:p>
            <a:pPr algn="ctr"/>
            <a:r>
              <a:rPr sz="900" i="1">
                <a:solidFill>
                  <a:srgbClr val="4A5568"/>
                </a:solidFill>
                <a:latin typeface="Segoe UI"/>
              </a:rPr>
              <a:t>test output added to context</a:t>
            </a:r>
          </a:p>
          <a:p>
            <a:pPr algn="ctr">
              <a:spcBef>
                <a:spcPts val="300"/>
              </a:spcBef>
            </a:pPr>
            <a:r>
              <a:rPr sz="1100" b="1">
                <a:solidFill>
                  <a:srgbClr val="D4622B"/>
                </a:solidFill>
                <a:latin typeface="Consolas"/>
              </a:rPr>
              <a:t>"Fixed, tests pass."</a:t>
            </a:r>
          </a:p>
        </p:txBody>
      </p:sp>
      <p:sp>
        <p:nvSpPr>
          <p:cNvPr id="34" name="Rectangle 33"/>
          <p:cNvSpPr/>
          <p:nvPr/>
        </p:nvSpPr>
        <p:spPr>
          <a:xfrm>
            <a:off x="658368" y="6250000"/>
            <a:ext cx="210000" cy="21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368" y="6220000"/>
            <a:ext cx="1200000" cy="270000"/>
          </a:xfrm>
          <a:prstGeom prst="rect">
            <a:avLst/>
          </a:prstGeom>
          <a:noFill/>
        </p:spPr>
        <p:txBody>
          <a:bodyPr wrap="none">
            <a:spAutoFit/>
          </a:bodyPr>
          <a:lstStyle/>
          <a:p>
            <a:r>
              <a:rPr sz="1050">
                <a:solidFill>
                  <a:srgbClr val="4A5568"/>
                </a:solidFill>
                <a:latin typeface="Segoe UI"/>
              </a:rPr>
              <a:t>cached</a:t>
            </a:r>
          </a:p>
        </p:txBody>
      </p:sp>
      <p:sp>
        <p:nvSpPr>
          <p:cNvPr id="36" name="Rectangle 35"/>
          <p:cNvSpPr/>
          <p:nvPr/>
        </p:nvSpPr>
        <p:spPr>
          <a:xfrm>
            <a:off x="2208368" y="6250000"/>
            <a:ext cx="210000" cy="21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468368" y="6220000"/>
            <a:ext cx="1200000" cy="270000"/>
          </a:xfrm>
          <a:prstGeom prst="rect">
            <a:avLst/>
          </a:prstGeom>
          <a:noFill/>
        </p:spPr>
        <p:txBody>
          <a:bodyPr wrap="none">
            <a:spAutoFit/>
          </a:bodyPr>
          <a:lstStyle/>
          <a:p>
            <a:r>
              <a:rPr sz="1050">
                <a:solidFill>
                  <a:srgbClr val="4A5568"/>
                </a:solidFill>
                <a:latin typeface="Segoe UI"/>
              </a:rPr>
              <a:t>input</a:t>
            </a:r>
          </a:p>
        </p:txBody>
      </p:sp>
      <p:sp>
        <p:nvSpPr>
          <p:cNvPr id="38" name="Rectangle 37"/>
          <p:cNvSpPr/>
          <p:nvPr/>
        </p:nvSpPr>
        <p:spPr>
          <a:xfrm>
            <a:off x="3758368" y="6250000"/>
            <a:ext cx="210000" cy="21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18368" y="6220000"/>
            <a:ext cx="1200000" cy="270000"/>
          </a:xfrm>
          <a:prstGeom prst="rect">
            <a:avLst/>
          </a:prstGeom>
          <a:noFill/>
        </p:spPr>
        <p:txBody>
          <a:bodyPr wrap="none">
            <a:spAutoFit/>
          </a:bodyPr>
          <a:lstStyle/>
          <a:p>
            <a:r>
              <a:rPr sz="1050">
                <a:solidFill>
                  <a:srgbClr val="4A5568"/>
                </a:solidFill>
                <a:latin typeface="Segoe UI"/>
              </a:rPr>
              <a:t>output</a:t>
            </a:r>
          </a:p>
        </p:txBody>
      </p:sp>
      <p:sp>
        <p:nvSpPr>
          <p:cNvPr id="40" name="TextBox 39"/>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41" name="TextBox 40"/>
          <p:cNvSpPr txBox="1"/>
          <p:nvPr/>
        </p:nvSpPr>
        <p:spPr>
          <a:xfrm>
            <a:off x="10424160" y="6428232"/>
            <a:ext cx="1097280" cy="182880"/>
          </a:xfrm>
          <a:prstGeom prst="rect">
            <a:avLst/>
          </a:prstGeom>
          <a:noFill/>
        </p:spPr>
        <p:txBody>
          <a:bodyPr wrap="none">
            <a:spAutoFit/>
          </a:bodyPr>
          <a:lstStyle/>
          <a:p>
            <a:pPr algn="r"/>
            <a:r>
              <a:rPr sz="850">
                <a:solidFill>
                  <a:srgbClr val="FFFFFF"/>
                </a:solidFill>
              </a:rPr>
              <a:t>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Three kinds of tokens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Every request, in both directions, is made of these</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520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I</a:t>
            </a:r>
          </a:p>
        </p:txBody>
      </p:sp>
      <p:sp>
        <p:nvSpPr>
          <p:cNvPr id="8" name="TextBox 7"/>
          <p:cNvSpPr txBox="1"/>
          <p:nvPr/>
        </p:nvSpPr>
        <p:spPr>
          <a:xfrm>
            <a:off x="1378368" y="1320000"/>
            <a:ext cx="2591754" cy="460000"/>
          </a:xfrm>
          <a:prstGeom prst="rect">
            <a:avLst/>
          </a:prstGeom>
          <a:noFill/>
        </p:spPr>
        <p:txBody>
          <a:bodyPr wrap="square" anchor="ctr">
            <a:spAutoFit/>
          </a:bodyPr>
          <a:lstStyle/>
          <a:p>
            <a:r>
              <a:rPr sz="1500" b="1">
                <a:solidFill>
                  <a:srgbClr val="1A2332"/>
                </a:solidFill>
                <a:latin typeface="Segoe UI Semibold"/>
              </a:rPr>
              <a:t>Input</a:t>
            </a:r>
          </a:p>
        </p:txBody>
      </p:sp>
      <p:cxnSp>
        <p:nvCxnSpPr>
          <p:cNvPr id="9" name="Connector 8"/>
          <p:cNvCxnSpPr/>
          <p:nvPr/>
        </p:nvCxnSpPr>
        <p:spPr>
          <a:xfrm>
            <a:off x="858368"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3111754" cy="3780000"/>
          </a:xfrm>
          <a:prstGeom prst="rect">
            <a:avLst/>
          </a:prstGeom>
          <a:noFill/>
        </p:spPr>
        <p:txBody>
          <a:bodyPr wrap="square">
            <a:spAutoFit/>
          </a:bodyPr>
          <a:lstStyle/>
          <a:p>
            <a:r>
              <a:rPr sz="1150">
                <a:solidFill>
                  <a:srgbClr val="4A5568"/>
                </a:solidFill>
                <a:latin typeface="Segoe UI"/>
              </a:rPr>
              <a:t>Everything we send: the system prompt, CLAUDE.md, skill and tool descriptions, the running transcript, and whatever you just typed. This is the baseline cost of every request, before the model produces a single token back.</a:t>
            </a:r>
          </a:p>
        </p:txBody>
      </p:sp>
      <p:sp>
        <p:nvSpPr>
          <p:cNvPr id="11" name="Rounded Rectangle 10"/>
          <p:cNvSpPr/>
          <p:nvPr/>
        </p:nvSpPr>
        <p:spPr>
          <a:xfrm>
            <a:off x="858368"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1565C0"/>
                </a:solidFill>
                <a:latin typeface="Consolas"/>
              </a:rPr>
              <a:t>color: input (blue)</a:t>
            </a:r>
          </a:p>
        </p:txBody>
      </p:sp>
      <p:sp>
        <p:nvSpPr>
          <p:cNvPr id="12" name="Rounded Rectangle 11"/>
          <p:cNvSpPr/>
          <p:nvPr/>
        </p:nvSpPr>
        <p:spPr>
          <a:xfrm>
            <a:off x="4340122"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0122"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0122"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O</a:t>
            </a:r>
          </a:p>
        </p:txBody>
      </p:sp>
      <p:sp>
        <p:nvSpPr>
          <p:cNvPr id="15" name="TextBox 14"/>
          <p:cNvSpPr txBox="1"/>
          <p:nvPr/>
        </p:nvSpPr>
        <p:spPr>
          <a:xfrm>
            <a:off x="5060122" y="1320000"/>
            <a:ext cx="2591754" cy="460000"/>
          </a:xfrm>
          <a:prstGeom prst="rect">
            <a:avLst/>
          </a:prstGeom>
          <a:noFill/>
        </p:spPr>
        <p:txBody>
          <a:bodyPr wrap="square" anchor="ctr">
            <a:spAutoFit/>
          </a:bodyPr>
          <a:lstStyle/>
          <a:p>
            <a:r>
              <a:rPr sz="1500" b="1">
                <a:solidFill>
                  <a:srgbClr val="1A2332"/>
                </a:solidFill>
                <a:latin typeface="Segoe UI Semibold"/>
              </a:rPr>
              <a:t>Output</a:t>
            </a:r>
          </a:p>
        </p:txBody>
      </p:sp>
      <p:cxnSp>
        <p:nvCxnSpPr>
          <p:cNvPr id="16" name="Connector 15"/>
          <p:cNvCxnSpPr/>
          <p:nvPr/>
        </p:nvCxnSpPr>
        <p:spPr>
          <a:xfrm>
            <a:off x="4540122"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40122" y="2000000"/>
            <a:ext cx="3111754" cy="3780000"/>
          </a:xfrm>
          <a:prstGeom prst="rect">
            <a:avLst/>
          </a:prstGeom>
          <a:noFill/>
        </p:spPr>
        <p:txBody>
          <a:bodyPr wrap="square">
            <a:spAutoFit/>
          </a:bodyPr>
          <a:lstStyle/>
          <a:p>
            <a:r>
              <a:rPr sz="1150">
                <a:solidFill>
                  <a:srgbClr val="4A5568"/>
                </a:solidFill>
                <a:latin typeface="Segoe UI"/>
              </a:rPr>
              <a:t>Everything the model produces in response: tool calls like Read or Edit, the edits themselves, its internal thinking, and the text it shows you. Priced higher than input, per token.</a:t>
            </a:r>
          </a:p>
        </p:txBody>
      </p:sp>
      <p:sp>
        <p:nvSpPr>
          <p:cNvPr id="18" name="Rounded Rectangle 17"/>
          <p:cNvSpPr/>
          <p:nvPr/>
        </p:nvSpPr>
        <p:spPr>
          <a:xfrm>
            <a:off x="4540122"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color: output (orange)</a:t>
            </a:r>
          </a:p>
        </p:txBody>
      </p:sp>
      <p:sp>
        <p:nvSpPr>
          <p:cNvPr id="19" name="Rounded Rectangle 18"/>
          <p:cNvSpPr/>
          <p:nvPr/>
        </p:nvSpPr>
        <p:spPr>
          <a:xfrm>
            <a:off x="8021876"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21876" y="1150000"/>
            <a:ext cx="57150" cy="520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1876" y="1350000"/>
            <a:ext cx="400000" cy="40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C</a:t>
            </a:r>
          </a:p>
        </p:txBody>
      </p:sp>
      <p:sp>
        <p:nvSpPr>
          <p:cNvPr id="22" name="TextBox 21"/>
          <p:cNvSpPr txBox="1"/>
          <p:nvPr/>
        </p:nvSpPr>
        <p:spPr>
          <a:xfrm>
            <a:off x="8741876" y="1320000"/>
            <a:ext cx="2591754" cy="460000"/>
          </a:xfrm>
          <a:prstGeom prst="rect">
            <a:avLst/>
          </a:prstGeom>
          <a:noFill/>
        </p:spPr>
        <p:txBody>
          <a:bodyPr wrap="square" anchor="ctr">
            <a:spAutoFit/>
          </a:bodyPr>
          <a:lstStyle/>
          <a:p>
            <a:r>
              <a:rPr sz="1500" b="1">
                <a:solidFill>
                  <a:srgbClr val="1A2332"/>
                </a:solidFill>
                <a:latin typeface="Segoe UI Semibold"/>
              </a:rPr>
              <a:t>Cached</a:t>
            </a:r>
          </a:p>
        </p:txBody>
      </p:sp>
      <p:cxnSp>
        <p:nvCxnSpPr>
          <p:cNvPr id="23" name="Connector 22"/>
          <p:cNvCxnSpPr/>
          <p:nvPr/>
        </p:nvCxnSpPr>
        <p:spPr>
          <a:xfrm>
            <a:off x="8221876"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1876" y="2000000"/>
            <a:ext cx="3111754" cy="3780000"/>
          </a:xfrm>
          <a:prstGeom prst="rect">
            <a:avLst/>
          </a:prstGeom>
          <a:noFill/>
        </p:spPr>
        <p:txBody>
          <a:bodyPr wrap="square">
            <a:spAutoFit/>
          </a:bodyPr>
          <a:lstStyle/>
          <a:p>
            <a:r>
              <a:rPr sz="1150">
                <a:solidFill>
                  <a:srgbClr val="4A5568"/>
                </a:solidFill>
                <a:latin typeface="Segoe UI"/>
              </a:rPr>
              <a:t>The part of the input that's byte-for-byte identical to the previous request's input. It doesn't have to be recomputed — it's read back from the server at a fraction of the input price.</a:t>
            </a:r>
          </a:p>
        </p:txBody>
      </p:sp>
      <p:sp>
        <p:nvSpPr>
          <p:cNvPr id="25" name="Rounded Rectangle 24"/>
          <p:cNvSpPr/>
          <p:nvPr/>
        </p:nvSpPr>
        <p:spPr>
          <a:xfrm>
            <a:off x="8221876"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059669"/>
                </a:solidFill>
                <a:latin typeface="Consolas"/>
              </a:rPr>
              <a:t>color: cached (gray-blue)</a:t>
            </a:r>
          </a:p>
        </p:txBody>
      </p:sp>
      <p:sp>
        <p:nvSpPr>
          <p:cNvPr id="26" name="TextBox 25"/>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7" name="TextBox 26"/>
          <p:cNvSpPr txBox="1"/>
          <p:nvPr/>
        </p:nvSpPr>
        <p:spPr>
          <a:xfrm>
            <a:off x="10424160" y="6428232"/>
            <a:ext cx="1097280" cy="182880"/>
          </a:xfrm>
          <a:prstGeom prst="rect">
            <a:avLst/>
          </a:prstGeom>
          <a:noFill/>
        </p:spPr>
        <p:txBody>
          <a:bodyPr wrap="none">
            <a:spAutoFit/>
          </a:bodyPr>
          <a:lstStyle/>
          <a:p>
            <a:pPr algn="r"/>
            <a:r>
              <a:rPr sz="850">
                <a:solidFill>
                  <a:srgbClr val="FFFFFF"/>
                </a:solidFill>
              </a:rPr>
              <a:t>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The pricing page</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US$ per million tokens · claude.com/pricing · September 2026</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658368" y="1150000"/>
          <a:ext cx="10875264" cy="2800000"/>
        </p:xfrm>
        <a:graphic>
          <a:graphicData uri="http://schemas.openxmlformats.org/drawingml/2006/table">
            <a:tbl>
              <a:tblPr firstRow="1" bandRow="1">
                <a:tableStyleId>{5C22544A-7EE6-4342-B048-85BDC9FD1C3A}</a:tableStyleId>
              </a:tblPr>
              <a:tblGrid>
                <a:gridCol w="2718816"/>
                <a:gridCol w="2718816"/>
                <a:gridCol w="2718816"/>
                <a:gridCol w="2718816"/>
              </a:tblGrid>
              <a:tr h="560000">
                <a:tc>
                  <a:txBody>
                    <a:bodyPr/>
                    <a:lstStyle/>
                    <a:p>
                      <a:pPr algn="l"/>
                      <a:r>
                        <a:rPr sz="1250" b="1">
                          <a:solidFill>
                            <a:srgbClr val="FFFFFF"/>
                          </a:solidFill>
                          <a:latin typeface="Segoe UI Semibold"/>
                        </a:rPr>
                        <a:t>Model</a:t>
                      </a:r>
                    </a:p>
                  </a:txBody>
                  <a:tcPr anchor="ctr">
                    <a:solidFill>
                      <a:srgbClr val="D4622B"/>
                    </a:solidFill>
                  </a:tcPr>
                </a:tc>
                <a:tc>
                  <a:txBody>
                    <a:bodyPr/>
                    <a:lstStyle/>
                    <a:p>
                      <a:pPr algn="ctr"/>
                      <a:r>
                        <a:rPr sz="1250" b="1">
                          <a:solidFill>
                            <a:srgbClr val="FFFFFF"/>
                          </a:solidFill>
                          <a:latin typeface="Segoe UI Semibold"/>
                        </a:rPr>
                        <a:t>Input</a:t>
                      </a:r>
                    </a:p>
                  </a:txBody>
                  <a:tcPr anchor="ctr">
                    <a:solidFill>
                      <a:srgbClr val="D4622B"/>
                    </a:solidFill>
                  </a:tcPr>
                </a:tc>
                <a:tc>
                  <a:txBody>
                    <a:bodyPr/>
                    <a:lstStyle/>
                    <a:p>
                      <a:pPr algn="ctr"/>
                      <a:r>
                        <a:rPr sz="1250" b="1">
                          <a:solidFill>
                            <a:srgbClr val="FFFFFF"/>
                          </a:solidFill>
                          <a:latin typeface="Segoe UI Semibold"/>
                        </a:rPr>
                        <a:t>Cached Input</a:t>
                      </a:r>
                    </a:p>
                  </a:txBody>
                  <a:tcPr anchor="ctr">
                    <a:solidFill>
                      <a:srgbClr val="D4622B"/>
                    </a:solidFill>
                  </a:tcPr>
                </a:tc>
                <a:tc>
                  <a:txBody>
                    <a:bodyPr/>
                    <a:lstStyle/>
                    <a:p>
                      <a:pPr algn="ctr"/>
                      <a:r>
                        <a:rPr sz="1250" b="1">
                          <a:solidFill>
                            <a:srgbClr val="FFFFFF"/>
                          </a:solidFill>
                          <a:latin typeface="Segoe UI Semibold"/>
                        </a:rPr>
                        <a:t>Output</a:t>
                      </a:r>
                    </a:p>
                  </a:txBody>
                  <a:tcPr anchor="ctr">
                    <a:solidFill>
                      <a:srgbClr val="D4622B"/>
                    </a:solidFill>
                  </a:tcPr>
                </a:tc>
              </a:tr>
              <a:tr h="560000">
                <a:tc>
                  <a:txBody>
                    <a:bodyPr/>
                    <a:lstStyle/>
                    <a:p>
                      <a:pPr algn="l"/>
                      <a:r>
                        <a:rPr sz="1250">
                          <a:solidFill>
                            <a:srgbClr val="1A2332"/>
                          </a:solidFill>
                          <a:latin typeface="Segoe UI"/>
                        </a:rPr>
                        <a:t>Haiku 4.5</a:t>
                      </a:r>
                    </a:p>
                  </a:txBody>
                  <a:tcPr anchor="ctr">
                    <a:solidFill>
                      <a:srgbClr val="FFFFFF"/>
                    </a:solidFill>
                  </a:tcPr>
                </a:tc>
                <a:tc>
                  <a:txBody>
                    <a:bodyPr/>
                    <a:lstStyle/>
                    <a:p>
                      <a:pPr algn="ctr"/>
                      <a:r>
                        <a:rPr sz="1250">
                          <a:solidFill>
                            <a:srgbClr val="1A2332"/>
                          </a:solidFill>
                          <a:latin typeface="Segoe UI"/>
                        </a:rPr>
                        <a:t>$1</a:t>
                      </a:r>
                    </a:p>
                  </a:txBody>
                  <a:tcPr anchor="ctr">
                    <a:solidFill>
                      <a:srgbClr val="FFFFFF"/>
                    </a:solidFill>
                  </a:tcPr>
                </a:tc>
                <a:tc>
                  <a:txBody>
                    <a:bodyPr/>
                    <a:lstStyle/>
                    <a:p>
                      <a:pPr algn="ctr"/>
                      <a:r>
                        <a:rPr sz="1250">
                          <a:solidFill>
                            <a:srgbClr val="1A2332"/>
                          </a:solidFill>
                          <a:latin typeface="Segoe UI"/>
                        </a:rPr>
                        <a:t>$0.10</a:t>
                      </a:r>
                    </a:p>
                  </a:txBody>
                  <a:tcPr anchor="ctr">
                    <a:solidFill>
                      <a:srgbClr val="FFFFFF"/>
                    </a:solidFill>
                  </a:tcPr>
                </a:tc>
                <a:tc>
                  <a:txBody>
                    <a:bodyPr/>
                    <a:lstStyle/>
                    <a:p>
                      <a:pPr algn="ctr"/>
                      <a:r>
                        <a:rPr sz="1250">
                          <a:solidFill>
                            <a:srgbClr val="1A2332"/>
                          </a:solidFill>
                          <a:latin typeface="Segoe UI"/>
                        </a:rPr>
                        <a:t>$5</a:t>
                      </a:r>
                    </a:p>
                  </a:txBody>
                  <a:tcPr anchor="ctr">
                    <a:solidFill>
                      <a:srgbClr val="FFFFFF"/>
                    </a:solidFill>
                  </a:tcPr>
                </a:tc>
              </a:tr>
              <a:tr h="560000">
                <a:tc>
                  <a:txBody>
                    <a:bodyPr/>
                    <a:lstStyle/>
                    <a:p>
                      <a:pPr algn="l"/>
                      <a:r>
                        <a:rPr sz="1250">
                          <a:solidFill>
                            <a:srgbClr val="1A2332"/>
                          </a:solidFill>
                          <a:latin typeface="Segoe UI"/>
                        </a:rPr>
                        <a:t>Sonnet 5</a:t>
                      </a:r>
                    </a:p>
                  </a:txBody>
                  <a:tcPr anchor="ctr">
                    <a:solidFill>
                      <a:srgbClr val="F8F7FC"/>
                    </a:solidFill>
                  </a:tcPr>
                </a:tc>
                <a:tc>
                  <a:txBody>
                    <a:bodyPr/>
                    <a:lstStyle/>
                    <a:p>
                      <a:pPr algn="ctr"/>
                      <a:r>
                        <a:rPr sz="1250">
                          <a:solidFill>
                            <a:srgbClr val="1A2332"/>
                          </a:solidFill>
                          <a:latin typeface="Segoe UI"/>
                        </a:rPr>
                        <a:t>$2</a:t>
                      </a:r>
                    </a:p>
                  </a:txBody>
                  <a:tcPr anchor="ctr">
                    <a:solidFill>
                      <a:srgbClr val="F8F7FC"/>
                    </a:solidFill>
                  </a:tcPr>
                </a:tc>
                <a:tc>
                  <a:txBody>
                    <a:bodyPr/>
                    <a:lstStyle/>
                    <a:p>
                      <a:pPr algn="ctr"/>
                      <a:r>
                        <a:rPr sz="1250">
                          <a:solidFill>
                            <a:srgbClr val="1A2332"/>
                          </a:solidFill>
                          <a:latin typeface="Segoe UI"/>
                        </a:rPr>
                        <a:t>$0.20</a:t>
                      </a:r>
                    </a:p>
                  </a:txBody>
                  <a:tcPr anchor="ctr">
                    <a:solidFill>
                      <a:srgbClr val="F8F7FC"/>
                    </a:solidFill>
                  </a:tcPr>
                </a:tc>
                <a:tc>
                  <a:txBody>
                    <a:bodyPr/>
                    <a:lstStyle/>
                    <a:p>
                      <a:pPr algn="ctr"/>
                      <a:r>
                        <a:rPr sz="1250">
                          <a:solidFill>
                            <a:srgbClr val="1A2332"/>
                          </a:solidFill>
                          <a:latin typeface="Segoe UI"/>
                        </a:rPr>
                        <a:t>$10</a:t>
                      </a:r>
                    </a:p>
                  </a:txBody>
                  <a:tcPr anchor="ctr">
                    <a:solidFill>
                      <a:srgbClr val="F8F7FC"/>
                    </a:solidFill>
                  </a:tcPr>
                </a:tc>
              </a:tr>
              <a:tr h="560000">
                <a:tc>
                  <a:txBody>
                    <a:bodyPr/>
                    <a:lstStyle/>
                    <a:p>
                      <a:pPr algn="l"/>
                      <a:r>
                        <a:rPr sz="1250">
                          <a:solidFill>
                            <a:srgbClr val="1A2332"/>
                          </a:solidFill>
                          <a:latin typeface="Segoe UI"/>
                        </a:rPr>
                        <a:t>Opus 5</a:t>
                      </a:r>
                    </a:p>
                  </a:txBody>
                  <a:tcPr anchor="ctr">
                    <a:solidFill>
                      <a:srgbClr val="FFFFFF"/>
                    </a:solidFill>
                  </a:tcPr>
                </a:tc>
                <a:tc>
                  <a:txBody>
                    <a:bodyPr/>
                    <a:lstStyle/>
                    <a:p>
                      <a:pPr algn="ctr"/>
                      <a:r>
                        <a:rPr sz="1250">
                          <a:solidFill>
                            <a:srgbClr val="1A2332"/>
                          </a:solidFill>
                          <a:latin typeface="Segoe UI"/>
                        </a:rPr>
                        <a:t>$5</a:t>
                      </a:r>
                    </a:p>
                  </a:txBody>
                  <a:tcPr anchor="ctr">
                    <a:solidFill>
                      <a:srgbClr val="FFFFFF"/>
                    </a:solidFill>
                  </a:tcPr>
                </a:tc>
                <a:tc>
                  <a:txBody>
                    <a:bodyPr/>
                    <a:lstStyle/>
                    <a:p>
                      <a:pPr algn="ctr"/>
                      <a:r>
                        <a:rPr sz="1250">
                          <a:solidFill>
                            <a:srgbClr val="1A2332"/>
                          </a:solidFill>
                          <a:latin typeface="Segoe UI"/>
                        </a:rPr>
                        <a:t>$0.50</a:t>
                      </a:r>
                    </a:p>
                  </a:txBody>
                  <a:tcPr anchor="ctr">
                    <a:solidFill>
                      <a:srgbClr val="FFFFFF"/>
                    </a:solidFill>
                  </a:tcPr>
                </a:tc>
                <a:tc>
                  <a:txBody>
                    <a:bodyPr/>
                    <a:lstStyle/>
                    <a:p>
                      <a:pPr algn="ctr"/>
                      <a:r>
                        <a:rPr sz="1250">
                          <a:solidFill>
                            <a:srgbClr val="1A2332"/>
                          </a:solidFill>
                          <a:latin typeface="Segoe UI"/>
                        </a:rPr>
                        <a:t>$25</a:t>
                      </a:r>
                    </a:p>
                  </a:txBody>
                  <a:tcPr anchor="ctr">
                    <a:solidFill>
                      <a:srgbClr val="FFFFFF"/>
                    </a:solidFill>
                  </a:tcPr>
                </a:tc>
              </a:tr>
              <a:tr h="560000">
                <a:tc>
                  <a:txBody>
                    <a:bodyPr/>
                    <a:lstStyle/>
                    <a:p>
                      <a:pPr algn="l"/>
                      <a:r>
                        <a:rPr sz="1250">
                          <a:solidFill>
                            <a:srgbClr val="1A2332"/>
                          </a:solidFill>
                          <a:latin typeface="Segoe UI"/>
                        </a:rPr>
                        <a:t>Fable 5.1</a:t>
                      </a:r>
                    </a:p>
                  </a:txBody>
                  <a:tcPr anchor="ctr">
                    <a:solidFill>
                      <a:srgbClr val="F8F7FC"/>
                    </a:solidFill>
                  </a:tcPr>
                </a:tc>
                <a:tc>
                  <a:txBody>
                    <a:bodyPr/>
                    <a:lstStyle/>
                    <a:p>
                      <a:pPr algn="ctr"/>
                      <a:r>
                        <a:rPr sz="1250">
                          <a:solidFill>
                            <a:srgbClr val="1A2332"/>
                          </a:solidFill>
                          <a:latin typeface="Segoe UI"/>
                        </a:rPr>
                        <a:t>$10</a:t>
                      </a:r>
                    </a:p>
                  </a:txBody>
                  <a:tcPr anchor="ctr">
                    <a:solidFill>
                      <a:srgbClr val="F8F7FC"/>
                    </a:solidFill>
                  </a:tcPr>
                </a:tc>
                <a:tc>
                  <a:txBody>
                    <a:bodyPr/>
                    <a:lstStyle/>
                    <a:p>
                      <a:pPr algn="ctr"/>
                      <a:r>
                        <a:rPr sz="1250">
                          <a:solidFill>
                            <a:srgbClr val="1A2332"/>
                          </a:solidFill>
                          <a:latin typeface="Segoe UI"/>
                        </a:rPr>
                        <a:t>$0.25</a:t>
                      </a:r>
                    </a:p>
                  </a:txBody>
                  <a:tcPr anchor="ctr">
                    <a:solidFill>
                      <a:srgbClr val="F8F7FC"/>
                    </a:solidFill>
                  </a:tcPr>
                </a:tc>
                <a:tc>
                  <a:txBody>
                    <a:bodyPr/>
                    <a:lstStyle/>
                    <a:p>
                      <a:pPr algn="ctr"/>
                      <a:r>
                        <a:rPr sz="1250">
                          <a:solidFill>
                            <a:srgbClr val="1A2332"/>
                          </a:solidFill>
                          <a:latin typeface="Segoe UI"/>
                        </a:rPr>
                        <a:t>$50</a:t>
                      </a:r>
                    </a:p>
                  </a:txBody>
                  <a:tcPr anchor="ctr">
                    <a:solidFill>
                      <a:srgbClr val="F8F7FC"/>
                    </a:solidFill>
                  </a:tcPr>
                </a:tc>
              </a:tr>
            </a:tbl>
          </a:graphicData>
        </a:graphic>
      </p:graphicFrame>
      <p:sp>
        <p:nvSpPr>
          <p:cNvPr id="6" name="TextBox 5"/>
          <p:cNvSpPr txBox="1"/>
          <p:nvPr/>
        </p:nvSpPr>
        <p:spPr>
          <a:xfrm>
            <a:off x="658368" y="4170000"/>
            <a:ext cx="10875264" cy="900000"/>
          </a:xfrm>
          <a:prstGeom prst="rect">
            <a:avLst/>
          </a:prstGeom>
          <a:noFill/>
        </p:spPr>
        <p:txBody>
          <a:bodyPr wrap="square">
            <a:spAutoFit/>
          </a:bodyPr>
          <a:lstStyle/>
          <a:p>
            <a:r>
              <a:rPr sz="1200">
                <a:solidFill>
                  <a:srgbClr val="4A5568"/>
                </a:solidFill>
                <a:latin typeface="Segoe UI"/>
              </a:rPr>
              <a:t>Cached input is consistently the cheapest column on the table — about a tenth of the input price, on every model. Output is always the most expensive, because generating it costs a full model pass per token (see the next two slides). Fable 5.1 is priced apart from the other three: highest input and output, but a cached-input price that undercuts Opus 5.</a:t>
            </a:r>
          </a:p>
        </p:txBody>
      </p:sp>
      <p:sp>
        <p:nvSpPr>
          <p:cNvPr id="7" name="TextBox 6"/>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8" name="TextBox 7"/>
          <p:cNvSpPr txBox="1"/>
          <p:nvPr/>
        </p:nvSpPr>
        <p:spPr>
          <a:xfrm>
            <a:off x="10424160" y="6428232"/>
            <a:ext cx="1097280" cy="182880"/>
          </a:xfrm>
          <a:prstGeom prst="rect">
            <a:avLst/>
          </a:prstGeom>
          <a:noFill/>
        </p:spPr>
        <p:txBody>
          <a:bodyPr wrap="none">
            <a:spAutoFit/>
          </a:bodyPr>
          <a:lstStyle/>
          <a:p>
            <a:pPr algn="r"/>
            <a:r>
              <a:rPr sz="850">
                <a:solidFill>
                  <a:srgbClr val="FFFFFF"/>
                </a:solidFill>
              </a:rPr>
              <a:t>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One request, one reply: two different kinds of passes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The model reads everything at once — then writes the reply back one token at a time, each pass waiting on the last</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400000"/>
            <a:ext cx="2583816" cy="520000"/>
          </a:xfrm>
          <a:prstGeom prst="roundRect">
            <a:avLst>
              <a:gd name="adj" fmla="val 12000"/>
            </a:avLst>
          </a:prstGeom>
          <a:solidFill>
            <a:srgbClr val="FFFFFF"/>
          </a:solidFill>
          <a:ln w="15875">
            <a:solidFill>
              <a:srgbClr val="609CE8"/>
            </a:solid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a:lstStyle/>
          <a:p>
            <a:pPr algn="ctr"/>
            <a:r>
              <a:rPr sz="1050" b="1">
                <a:solidFill>
                  <a:srgbClr val="1565C0"/>
                </a:solidFill>
                <a:latin typeface="Consolas"/>
              </a:rPr>
              <a:t>[system prompt]</a:t>
            </a:r>
          </a:p>
        </p:txBody>
      </p:sp>
      <p:sp>
        <p:nvSpPr>
          <p:cNvPr id="6" name="Rounded Rectangle 5"/>
          <p:cNvSpPr/>
          <p:nvPr/>
        </p:nvSpPr>
        <p:spPr>
          <a:xfrm>
            <a:off x="3422184" y="1400000"/>
            <a:ext cx="2583816" cy="520000"/>
          </a:xfrm>
          <a:prstGeom prst="roundRect">
            <a:avLst>
              <a:gd name="adj" fmla="val 12000"/>
            </a:avLst>
          </a:prstGeom>
          <a:solidFill>
            <a:srgbClr val="FFFFFF"/>
          </a:solidFill>
          <a:ln w="15875">
            <a:solidFill>
              <a:srgbClr val="609CE8"/>
            </a:solid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a:lstStyle/>
          <a:p>
            <a:pPr algn="ctr"/>
            <a:r>
              <a:rPr sz="1050" b="1">
                <a:solidFill>
                  <a:srgbClr val="1565C0"/>
                </a:solidFill>
                <a:latin typeface="Consolas"/>
              </a:rPr>
              <a:t>[CLAUDE.md]</a:t>
            </a:r>
          </a:p>
        </p:txBody>
      </p:sp>
      <p:sp>
        <p:nvSpPr>
          <p:cNvPr id="7" name="Rounded Rectangle 6"/>
          <p:cNvSpPr/>
          <p:nvPr/>
        </p:nvSpPr>
        <p:spPr>
          <a:xfrm>
            <a:off x="6186000" y="1400000"/>
            <a:ext cx="2583816" cy="520000"/>
          </a:xfrm>
          <a:prstGeom prst="roundRect">
            <a:avLst>
              <a:gd name="adj" fmla="val 12000"/>
            </a:avLst>
          </a:prstGeom>
          <a:solidFill>
            <a:srgbClr val="FFFFFF"/>
          </a:solidFill>
          <a:ln w="15875">
            <a:solidFill>
              <a:srgbClr val="609CE8"/>
            </a:solid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a:lstStyle/>
          <a:p>
            <a:pPr algn="ctr"/>
            <a:r>
              <a:rPr sz="1050" b="1">
                <a:solidFill>
                  <a:srgbClr val="1565C0"/>
                </a:solidFill>
                <a:latin typeface="Consolas"/>
              </a:rPr>
              <a:t>“fix the failing
test in”</a:t>
            </a:r>
          </a:p>
        </p:txBody>
      </p:sp>
      <p:sp>
        <p:nvSpPr>
          <p:cNvPr id="8" name="Rounded Rectangle 7"/>
          <p:cNvSpPr/>
          <p:nvPr/>
        </p:nvSpPr>
        <p:spPr>
          <a:xfrm>
            <a:off x="8949816" y="1400000"/>
            <a:ext cx="2583816" cy="520000"/>
          </a:xfrm>
          <a:prstGeom prst="roundRect">
            <a:avLst>
              <a:gd name="adj" fmla="val 12000"/>
            </a:avLst>
          </a:prstGeom>
          <a:solidFill>
            <a:srgbClr val="FFFFFF"/>
          </a:solidFill>
          <a:ln w="15875">
            <a:solidFill>
              <a:srgbClr val="609CE8"/>
            </a:solidFill>
          </a:ln>
          <a:effectLst/>
        </p:spPr>
        <p:style>
          <a:lnRef idx="1">
            <a:schemeClr val="accent1"/>
          </a:lnRef>
          <a:fillRef idx="3">
            <a:schemeClr val="accent1"/>
          </a:fillRef>
          <a:effectRef idx="2">
            <a:schemeClr val="accent1"/>
          </a:effectRef>
          <a:fontRef idx="minor">
            <a:schemeClr val="lt1"/>
          </a:fontRef>
        </p:style>
        <p:txBody>
          <a:bodyPr rtlCol="0" anchor="ctr" wrap="square" lIns="40000" rIns="40000"/>
          <a:lstStyle/>
          <a:p>
            <a:pPr algn="ctr"/>
            <a:r>
              <a:rPr sz="1050" b="1">
                <a:solidFill>
                  <a:srgbClr val="1565C0"/>
                </a:solidFill>
                <a:latin typeface="Consolas"/>
              </a:rPr>
              <a:t>[utils.test.ts]</a:t>
            </a:r>
          </a:p>
        </p:txBody>
      </p:sp>
      <p:sp>
        <p:nvSpPr>
          <p:cNvPr id="9" name="Rounded Rectangle 8"/>
          <p:cNvSpPr/>
          <p:nvPr/>
        </p:nvSpPr>
        <p:spPr>
          <a:xfrm>
            <a:off x="658368" y="1170000"/>
            <a:ext cx="2650000" cy="200000"/>
          </a:xfrm>
          <a:prstGeom prst="roundRect">
            <a:avLst>
              <a:gd name="adj" fmla="val 50000"/>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FFFFFF"/>
                </a:solidFill>
              </a:rPr>
              <a:t>THE REQUEST — ALL ARRIVE TOGETHER</a:t>
            </a:r>
          </a:p>
        </p:txBody>
      </p:sp>
      <p:cxnSp>
        <p:nvCxnSpPr>
          <p:cNvPr id="10" name="Connector 9"/>
          <p:cNvCxnSpPr/>
          <p:nvPr/>
        </p:nvCxnSpPr>
        <p:spPr>
          <a:xfrm>
            <a:off x="1950276" y="1920000"/>
            <a:ext cx="4145724" cy="180000"/>
          </a:xfrm>
          <a:prstGeom prst="line">
            <a:avLst/>
          </a:prstGeom>
          <a:ln w="12700">
            <a:solidFill>
              <a:srgbClr val="C9D3E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14092" y="1920000"/>
            <a:ext cx="1381908" cy="180000"/>
          </a:xfrm>
          <a:prstGeom prst="line">
            <a:avLst/>
          </a:prstGeom>
          <a:ln w="12700">
            <a:solidFill>
              <a:srgbClr val="C9D3E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096000" y="1920000"/>
            <a:ext cx="1381908" cy="180000"/>
          </a:xfrm>
          <a:prstGeom prst="line">
            <a:avLst/>
          </a:prstGeom>
          <a:ln w="12700">
            <a:solidFill>
              <a:srgbClr val="C9D3E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6096000" y="1920000"/>
            <a:ext cx="4145724" cy="180000"/>
          </a:xfrm>
          <a:prstGeom prst="line">
            <a:avLst/>
          </a:prstGeom>
          <a:ln w="12700">
            <a:solidFill>
              <a:srgbClr val="C9D3E6"/>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796000" y="2100000"/>
            <a:ext cx="6600000" cy="560000"/>
          </a:xfrm>
          <a:prstGeom prst="roundRect">
            <a:avLst>
              <a:gd name="adj" fmla="val 12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Segoe UI Semibold"/>
              </a:rPr>
              <a:t>THE MODEL — one pass, every input token read at the same time</a:t>
            </a:r>
          </a:p>
        </p:txBody>
      </p:sp>
      <p:sp>
        <p:nvSpPr>
          <p:cNvPr id="15" name="Down Arrow 14"/>
          <p:cNvSpPr/>
          <p:nvPr/>
        </p:nvSpPr>
        <p:spPr>
          <a:xfrm>
            <a:off x="5976000" y="2740000"/>
            <a:ext cx="240000" cy="190000"/>
          </a:xfrm>
          <a:prstGeom prst="downArrow">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950000"/>
            <a:ext cx="10875264" cy="260000"/>
          </a:xfrm>
          <a:prstGeom prst="rect">
            <a:avLst/>
          </a:prstGeom>
          <a:noFill/>
        </p:spPr>
        <p:txBody>
          <a:bodyPr wrap="none">
            <a:spAutoFit/>
          </a:bodyPr>
          <a:lstStyle/>
          <a:p>
            <a:pPr algn="ctr"/>
            <a:r>
              <a:rPr sz="1200" i="1">
                <a:solidFill>
                  <a:srgbClr val="4A5568"/>
                </a:solidFill>
                <a:latin typeface="Segoe UI"/>
              </a:rPr>
              <a:t>then — internally, Claude writes the reply back one token at a time, each pass waiting on the last:</a:t>
            </a:r>
          </a:p>
        </p:txBody>
      </p:sp>
      <p:graphicFrame>
        <p:nvGraphicFramePr>
          <p:cNvPr id="17" name="Table 16"/>
          <p:cNvGraphicFramePr>
            <a:graphicFrameLocks noGrp="1"/>
          </p:cNvGraphicFramePr>
          <p:nvPr/>
        </p:nvGraphicFramePr>
        <p:xfrm>
          <a:off x="658368" y="3270000"/>
          <a:ext cx="10100000" cy="2200000"/>
        </p:xfrm>
        <a:graphic>
          <a:graphicData uri="http://schemas.openxmlformats.org/drawingml/2006/table">
            <a:tbl>
              <a:tblPr firstRow="1" bandRow="1">
                <a:tableStyleId>{5C22544A-7EE6-4342-B048-85BDC9FD1C3A}</a:tableStyleId>
              </a:tblPr>
              <a:tblGrid>
                <a:gridCol w="900000"/>
                <a:gridCol w="5900000"/>
                <a:gridCol w="1400000"/>
                <a:gridCol w="1900000"/>
              </a:tblGrid>
              <a:tr h="440000">
                <a:tc>
                  <a:txBody>
                    <a:bodyPr/>
                    <a:lstStyle/>
                    <a:p>
                      <a:pPr algn="l"/>
                      <a:r>
                        <a:rPr sz="1250" b="1">
                          <a:solidFill>
                            <a:srgbClr val="FFFFFF"/>
                          </a:solidFill>
                          <a:latin typeface="Segoe UI Semibold"/>
                        </a:rPr>
                        <a:t>Pass</a:t>
                      </a:r>
                    </a:p>
                  </a:txBody>
                  <a:tcPr anchor="ctr">
                    <a:solidFill>
                      <a:srgbClr val="D4622B"/>
                    </a:solidFill>
                  </a:tcPr>
                </a:tc>
                <a:tc>
                  <a:txBody>
                    <a:bodyPr/>
                    <a:lstStyle/>
                    <a:p>
                      <a:pPr algn="ctr"/>
                      <a:r>
                        <a:rPr sz="1250" b="1">
                          <a:solidFill>
                            <a:srgbClr val="FFFFFF"/>
                          </a:solidFill>
                          <a:latin typeface="Segoe UI Semibold"/>
                        </a:rPr>
                        <a:t>Context so far</a:t>
                      </a:r>
                    </a:p>
                  </a:txBody>
                  <a:tcPr anchor="ctr">
                    <a:solidFill>
                      <a:srgbClr val="D4622B"/>
                    </a:solidFill>
                  </a:tcPr>
                </a:tc>
                <a:tc>
                  <a:txBody>
                    <a:bodyPr/>
                    <a:lstStyle/>
                    <a:p>
                      <a:pPr algn="ctr"/>
                      <a:r>
                        <a:rPr sz="1250" b="1">
                          <a:solidFill>
                            <a:srgbClr val="FFFFFF"/>
                          </a:solidFill>
                          <a:latin typeface="Segoe UI Semibold"/>
                        </a:rPr>
                        <a:t>→ Model →</a:t>
                      </a:r>
                    </a:p>
                  </a:txBody>
                  <a:tcPr anchor="ctr">
                    <a:solidFill>
                      <a:srgbClr val="D4622B"/>
                    </a:solidFill>
                  </a:tcPr>
                </a:tc>
                <a:tc>
                  <a:txBody>
                    <a:bodyPr/>
                    <a:lstStyle/>
                    <a:p>
                      <a:pPr algn="ctr"/>
                      <a:r>
                        <a:rPr sz="1250" b="1">
                          <a:solidFill>
                            <a:srgbClr val="FFFFFF"/>
                          </a:solidFill>
                          <a:latin typeface="Segoe UI Semibold"/>
                        </a:rPr>
                        <a:t>New token</a:t>
                      </a:r>
                    </a:p>
                  </a:txBody>
                  <a:tcPr anchor="ctr">
                    <a:solidFill>
                      <a:srgbClr val="D4622B"/>
                    </a:solidFill>
                  </a:tcPr>
                </a:tc>
              </a:tr>
              <a:tr h="440000">
                <a:tc>
                  <a:txBody>
                    <a:bodyPr/>
                    <a:lstStyle/>
                    <a:p>
                      <a:pPr algn="l"/>
                      <a:r>
                        <a:rPr sz="1250">
                          <a:solidFill>
                            <a:srgbClr val="1A2332"/>
                          </a:solidFill>
                          <a:latin typeface="Segoe UI"/>
                        </a:rPr>
                        <a:t>1</a:t>
                      </a:r>
                    </a:p>
                  </a:txBody>
                  <a:tcPr anchor="ctr">
                    <a:solidFill>
                      <a:srgbClr val="FFFFFF"/>
                    </a:solidFill>
                  </a:tcPr>
                </a:tc>
                <a:tc>
                  <a:txBody>
                    <a:bodyPr/>
                    <a:lstStyle/>
                    <a:p>
                      <a:pPr algn="ctr"/>
                      <a:r>
                        <a:rPr sz="1250">
                          <a:solidFill>
                            <a:srgbClr val="1A2332"/>
                          </a:solidFill>
                          <a:latin typeface="Segoe UI"/>
                        </a:rPr>
                        <a:t>everything in the request above</a:t>
                      </a:r>
                    </a:p>
                  </a:txBody>
                  <a:tcPr anchor="ctr">
                    <a:solidFill>
                      <a:srgbClr val="FFFFFF"/>
                    </a:solidFill>
                  </a:tcPr>
                </a:tc>
                <a:tc>
                  <a:txBody>
                    <a:bodyPr/>
                    <a:lstStyle/>
                    <a:p>
                      <a:pPr algn="ctr"/>
                      <a:r>
                        <a:rPr sz="1250">
                          <a:solidFill>
                            <a:srgbClr val="1A2332"/>
                          </a:solidFill>
                          <a:latin typeface="Segoe UI"/>
                        </a:rPr>
                        <a:t>→</a:t>
                      </a:r>
                    </a:p>
                  </a:txBody>
                  <a:tcPr anchor="ctr">
                    <a:solidFill>
                      <a:srgbClr val="FFFFFF"/>
                    </a:solidFill>
                  </a:tcPr>
                </a:tc>
                <a:tc>
                  <a:txBody>
                    <a:bodyPr/>
                    <a:lstStyle/>
                    <a:p>
                      <a:pPr algn="ctr"/>
                      <a:r>
                        <a:rPr sz="1250">
                          <a:solidFill>
                            <a:srgbClr val="1A2332"/>
                          </a:solidFill>
                          <a:latin typeface="Segoe UI"/>
                        </a:rPr>
                        <a:t>const</a:t>
                      </a:r>
                    </a:p>
                  </a:txBody>
                  <a:tcPr anchor="ctr">
                    <a:solidFill>
                      <a:srgbClr val="FFFFFF"/>
                    </a:solidFill>
                  </a:tcPr>
                </a:tc>
              </a:tr>
              <a:tr h="440000">
                <a:tc>
                  <a:txBody>
                    <a:bodyPr/>
                    <a:lstStyle/>
                    <a:p>
                      <a:pPr algn="l"/>
                      <a:r>
                        <a:rPr sz="1250">
                          <a:solidFill>
                            <a:srgbClr val="1A2332"/>
                          </a:solidFill>
                          <a:latin typeface="Segoe UI"/>
                        </a:rPr>
                        <a:t>2</a:t>
                      </a:r>
                    </a:p>
                  </a:txBody>
                  <a:tcPr anchor="ctr">
                    <a:solidFill>
                      <a:srgbClr val="F8F7FC"/>
                    </a:solidFill>
                  </a:tcPr>
                </a:tc>
                <a:tc>
                  <a:txBody>
                    <a:bodyPr/>
                    <a:lstStyle/>
                    <a:p>
                      <a:pPr algn="ctr"/>
                      <a:r>
                        <a:rPr sz="1250">
                          <a:solidFill>
                            <a:srgbClr val="1A2332"/>
                          </a:solidFill>
                          <a:latin typeface="Segoe UI"/>
                        </a:rPr>
                        <a:t>+ const</a:t>
                      </a:r>
                    </a:p>
                  </a:txBody>
                  <a:tcPr anchor="ctr">
                    <a:solidFill>
                      <a:srgbClr val="F8F7FC"/>
                    </a:solidFill>
                  </a:tcPr>
                </a:tc>
                <a:tc>
                  <a:txBody>
                    <a:bodyPr/>
                    <a:lstStyle/>
                    <a:p>
                      <a:pPr algn="ctr"/>
                      <a:r>
                        <a:rPr sz="1250">
                          <a:solidFill>
                            <a:srgbClr val="1A2332"/>
                          </a:solidFill>
                          <a:latin typeface="Segoe UI"/>
                        </a:rPr>
                        <a:t>→</a:t>
                      </a:r>
                    </a:p>
                  </a:txBody>
                  <a:tcPr anchor="ctr">
                    <a:solidFill>
                      <a:srgbClr val="F8F7FC"/>
                    </a:solidFill>
                  </a:tcPr>
                </a:tc>
                <a:tc>
                  <a:txBody>
                    <a:bodyPr/>
                    <a:lstStyle/>
                    <a:p>
                      <a:pPr algn="ctr"/>
                      <a:r>
                        <a:rPr sz="1250">
                          <a:solidFill>
                            <a:srgbClr val="1A2332"/>
                          </a:solidFill>
                          <a:latin typeface="Segoe UI"/>
                        </a:rPr>
                        <a:t>x</a:t>
                      </a:r>
                    </a:p>
                  </a:txBody>
                  <a:tcPr anchor="ctr">
                    <a:solidFill>
                      <a:srgbClr val="F8F7FC"/>
                    </a:solidFill>
                  </a:tcPr>
                </a:tc>
              </a:tr>
              <a:tr h="440000">
                <a:tc>
                  <a:txBody>
                    <a:bodyPr/>
                    <a:lstStyle/>
                    <a:p>
                      <a:pPr algn="l"/>
                      <a:r>
                        <a:rPr sz="1250">
                          <a:solidFill>
                            <a:srgbClr val="1A2332"/>
                          </a:solidFill>
                          <a:latin typeface="Segoe UI"/>
                        </a:rPr>
                        <a:t>3</a:t>
                      </a:r>
                    </a:p>
                  </a:txBody>
                  <a:tcPr anchor="ctr">
                    <a:solidFill>
                      <a:srgbClr val="FFFFFF"/>
                    </a:solidFill>
                  </a:tcPr>
                </a:tc>
                <a:tc>
                  <a:txBody>
                    <a:bodyPr/>
                    <a:lstStyle/>
                    <a:p>
                      <a:pPr algn="ctr"/>
                      <a:r>
                        <a:rPr sz="1250">
                          <a:solidFill>
                            <a:srgbClr val="1A2332"/>
                          </a:solidFill>
                          <a:latin typeface="Segoe UI"/>
                        </a:rPr>
                        <a:t>+ const x</a:t>
                      </a:r>
                    </a:p>
                  </a:txBody>
                  <a:tcPr anchor="ctr">
                    <a:solidFill>
                      <a:srgbClr val="FFFFFF"/>
                    </a:solidFill>
                  </a:tcPr>
                </a:tc>
                <a:tc>
                  <a:txBody>
                    <a:bodyPr/>
                    <a:lstStyle/>
                    <a:p>
                      <a:pPr algn="ctr"/>
                      <a:r>
                        <a:rPr sz="1250">
                          <a:solidFill>
                            <a:srgbClr val="1A2332"/>
                          </a:solidFill>
                          <a:latin typeface="Segoe UI"/>
                        </a:rPr>
                        <a:t>→</a:t>
                      </a:r>
                    </a:p>
                  </a:txBody>
                  <a:tcPr anchor="ctr">
                    <a:solidFill>
                      <a:srgbClr val="FFFFFF"/>
                    </a:solidFill>
                  </a:tcPr>
                </a:tc>
                <a:tc>
                  <a:txBody>
                    <a:bodyPr/>
                    <a:lstStyle/>
                    <a:p>
                      <a:pPr algn="ctr"/>
                      <a:r>
                        <a:rPr sz="1250">
                          <a:solidFill>
                            <a:srgbClr val="1A2332"/>
                          </a:solidFill>
                          <a:latin typeface="Segoe UI"/>
                        </a:rPr>
                        <a:t>=</a:t>
                      </a:r>
                    </a:p>
                  </a:txBody>
                  <a:tcPr anchor="ctr">
                    <a:solidFill>
                      <a:srgbClr val="FFFFFF"/>
                    </a:solidFill>
                  </a:tcPr>
                </a:tc>
              </a:tr>
              <a:tr h="440000">
                <a:tc>
                  <a:txBody>
                    <a:bodyPr/>
                    <a:lstStyle/>
                    <a:p>
                      <a:pPr algn="l"/>
                      <a:r>
                        <a:rPr sz="1250">
                          <a:solidFill>
                            <a:srgbClr val="1A2332"/>
                          </a:solidFill>
                          <a:latin typeface="Segoe UI"/>
                        </a:rPr>
                        <a:t>4</a:t>
                      </a:r>
                    </a:p>
                  </a:txBody>
                  <a:tcPr anchor="ctr">
                    <a:solidFill>
                      <a:srgbClr val="F8F7FC"/>
                    </a:solidFill>
                  </a:tcPr>
                </a:tc>
                <a:tc>
                  <a:txBody>
                    <a:bodyPr/>
                    <a:lstStyle/>
                    <a:p>
                      <a:pPr algn="ctr"/>
                      <a:r>
                        <a:rPr sz="1250">
                          <a:solidFill>
                            <a:srgbClr val="1A2332"/>
                          </a:solidFill>
                          <a:latin typeface="Segoe UI"/>
                        </a:rPr>
                        <a:t>+ const x =</a:t>
                      </a:r>
                    </a:p>
                  </a:txBody>
                  <a:tcPr anchor="ctr">
                    <a:solidFill>
                      <a:srgbClr val="F8F7FC"/>
                    </a:solidFill>
                  </a:tcPr>
                </a:tc>
                <a:tc>
                  <a:txBody>
                    <a:bodyPr/>
                    <a:lstStyle/>
                    <a:p>
                      <a:pPr algn="ctr"/>
                      <a:r>
                        <a:rPr sz="1250">
                          <a:solidFill>
                            <a:srgbClr val="1A2332"/>
                          </a:solidFill>
                          <a:latin typeface="Segoe UI"/>
                        </a:rPr>
                        <a:t>→</a:t>
                      </a:r>
                    </a:p>
                  </a:txBody>
                  <a:tcPr anchor="ctr">
                    <a:solidFill>
                      <a:srgbClr val="F8F7FC"/>
                    </a:solidFill>
                  </a:tcPr>
                </a:tc>
                <a:tc>
                  <a:txBody>
                    <a:bodyPr/>
                    <a:lstStyle/>
                    <a:p>
                      <a:pPr algn="ctr"/>
                      <a:r>
                        <a:rPr sz="1250">
                          <a:solidFill>
                            <a:srgbClr val="1A2332"/>
                          </a:solidFill>
                          <a:latin typeface="Segoe UI"/>
                        </a:rPr>
                        <a:t>1</a:t>
                      </a:r>
                    </a:p>
                  </a:txBody>
                  <a:tcPr anchor="ctr">
                    <a:solidFill>
                      <a:srgbClr val="F8F7FC"/>
                    </a:solidFill>
                  </a:tcPr>
                </a:tc>
              </a:tr>
            </a:tbl>
          </a:graphicData>
        </a:graphic>
      </p:graphicFrame>
      <p:sp>
        <p:nvSpPr>
          <p:cNvPr id="18" name="TextBox 17"/>
          <p:cNvSpPr txBox="1"/>
          <p:nvPr/>
        </p:nvSpPr>
        <p:spPr>
          <a:xfrm>
            <a:off x="658368" y="5620000"/>
            <a:ext cx="10875264" cy="500000"/>
          </a:xfrm>
          <a:prstGeom prst="rect">
            <a:avLst/>
          </a:prstGeom>
          <a:noFill/>
        </p:spPr>
        <p:txBody>
          <a:bodyPr wrap="square">
            <a:spAutoFit/>
          </a:bodyPr>
          <a:lstStyle/>
          <a:p>
            <a:r>
              <a:rPr sz="1150">
                <a:solidFill>
                  <a:srgbClr val="4A5568"/>
                </a:solidFill>
                <a:latin typeface="Segoe UI"/>
              </a:rPr>
              <a:t>Every output token costs a complete pass over the whole context so far, plus everything already written in this reply — that's why output is priced higher than input, and why a longer answer costs more than its token count alone suggests.</a:t>
            </a:r>
          </a:p>
        </p:txBody>
      </p:sp>
      <p:sp>
        <p:nvSpPr>
          <p:cNvPr id="19" name="TextBox 18"/>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0" name="TextBox 19"/>
          <p:cNvSpPr txBox="1"/>
          <p:nvPr/>
        </p:nvSpPr>
        <p:spPr>
          <a:xfrm>
            <a:off x="10424160" y="6428232"/>
            <a:ext cx="1097280" cy="182880"/>
          </a:xfrm>
          <a:prstGeom prst="rect">
            <a:avLst/>
          </a:prstGeom>
          <a:noFill/>
        </p:spPr>
        <p:txBody>
          <a:bodyPr wrap="none">
            <a:spAutoFit/>
          </a:bodyPr>
          <a:lstStyle/>
          <a:p>
            <a:pPr algn="r"/>
            <a:r>
              <a:rPr sz="850">
                <a:solidFill>
                  <a:srgbClr val="FFFFFF"/>
                </a:solidFill>
              </a:rPr>
              <a:t>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Prompt caching</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The mechanism that turns a growing, mostly-repeated conversation into an affordable one</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520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R</a:t>
            </a:r>
          </a:p>
        </p:txBody>
      </p:sp>
      <p:sp>
        <p:nvSpPr>
          <p:cNvPr id="8" name="TextBox 7"/>
          <p:cNvSpPr txBox="1"/>
          <p:nvPr/>
        </p:nvSpPr>
        <p:spPr>
          <a:xfrm>
            <a:off x="1378368" y="1320000"/>
            <a:ext cx="2591754" cy="460000"/>
          </a:xfrm>
          <a:prstGeom prst="rect">
            <a:avLst/>
          </a:prstGeom>
          <a:noFill/>
        </p:spPr>
        <p:txBody>
          <a:bodyPr wrap="square" anchor="ctr">
            <a:spAutoFit/>
          </a:bodyPr>
          <a:lstStyle/>
          <a:p>
            <a:r>
              <a:rPr sz="1500" b="1">
                <a:solidFill>
                  <a:srgbClr val="1A2332"/>
                </a:solidFill>
                <a:latin typeface="Segoe UI Semibold"/>
              </a:rPr>
              <a:t>Cache read · 0.1×</a:t>
            </a:r>
          </a:p>
        </p:txBody>
      </p:sp>
      <p:cxnSp>
        <p:nvCxnSpPr>
          <p:cNvPr id="9" name="Connector 8"/>
          <p:cNvCxnSpPr/>
          <p:nvPr/>
        </p:nvCxnSpPr>
        <p:spPr>
          <a:xfrm>
            <a:off x="858368"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3111754" cy="3780000"/>
          </a:xfrm>
          <a:prstGeom prst="rect">
            <a:avLst/>
          </a:prstGeom>
          <a:noFill/>
        </p:spPr>
        <p:txBody>
          <a:bodyPr wrap="square">
            <a:spAutoFit/>
          </a:bodyPr>
          <a:lstStyle/>
          <a:p>
            <a:r>
              <a:rPr sz="1150">
                <a:solidFill>
                  <a:srgbClr val="4A5568"/>
                </a:solidFill>
                <a:latin typeface="Segoe UI"/>
              </a:rPr>
              <a:t>Charged on the part of a request that's identical to the previous one. The server keeps what it already computed and reads it back — every request it stays warm, at a tenth of the input price.</a:t>
            </a:r>
          </a:p>
        </p:txBody>
      </p:sp>
      <p:sp>
        <p:nvSpPr>
          <p:cNvPr id="11" name="Rounded Rectangle 10"/>
          <p:cNvSpPr/>
          <p:nvPr/>
        </p:nvSpPr>
        <p:spPr>
          <a:xfrm>
            <a:off x="858368"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1565C0"/>
                </a:solidFill>
                <a:latin typeface="Consolas"/>
              </a:rPr>
              <a:t>0.1 × base input price</a:t>
            </a:r>
          </a:p>
        </p:txBody>
      </p:sp>
      <p:sp>
        <p:nvSpPr>
          <p:cNvPr id="12" name="Rounded Rectangle 11"/>
          <p:cNvSpPr/>
          <p:nvPr/>
        </p:nvSpPr>
        <p:spPr>
          <a:xfrm>
            <a:off x="4340122"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0122"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0122"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5</a:t>
            </a:r>
          </a:p>
        </p:txBody>
      </p:sp>
      <p:sp>
        <p:nvSpPr>
          <p:cNvPr id="15" name="TextBox 14"/>
          <p:cNvSpPr txBox="1"/>
          <p:nvPr/>
        </p:nvSpPr>
        <p:spPr>
          <a:xfrm>
            <a:off x="5060122" y="1320000"/>
            <a:ext cx="2591754" cy="460000"/>
          </a:xfrm>
          <a:prstGeom prst="rect">
            <a:avLst/>
          </a:prstGeom>
          <a:noFill/>
        </p:spPr>
        <p:txBody>
          <a:bodyPr wrap="square" anchor="ctr">
            <a:spAutoFit/>
          </a:bodyPr>
          <a:lstStyle/>
          <a:p>
            <a:r>
              <a:rPr sz="1500" b="1">
                <a:solidFill>
                  <a:srgbClr val="1A2332"/>
                </a:solidFill>
                <a:latin typeface="Segoe UI Semibold"/>
              </a:rPr>
              <a:t>Cache write · 5-min · 1.25×</a:t>
            </a:r>
          </a:p>
        </p:txBody>
      </p:sp>
      <p:cxnSp>
        <p:nvCxnSpPr>
          <p:cNvPr id="16" name="Connector 15"/>
          <p:cNvCxnSpPr/>
          <p:nvPr/>
        </p:nvCxnSpPr>
        <p:spPr>
          <a:xfrm>
            <a:off x="4540122"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40122" y="2000000"/>
            <a:ext cx="3111754" cy="3780000"/>
          </a:xfrm>
          <a:prstGeom prst="rect">
            <a:avLst/>
          </a:prstGeom>
          <a:noFill/>
        </p:spPr>
        <p:txBody>
          <a:bodyPr wrap="square">
            <a:spAutoFit/>
          </a:bodyPr>
          <a:lstStyle/>
          <a:p>
            <a:r>
              <a:rPr sz="1150">
                <a:solidFill>
                  <a:srgbClr val="4A5568"/>
                </a:solidFill>
                <a:latin typeface="Segoe UI"/>
              </a:rPr>
              <a:t>Paid once, the moment new content enters the context and needs to be computed for the first time. The 5-minute window is the default for API and cloud use.</a:t>
            </a:r>
          </a:p>
        </p:txBody>
      </p:sp>
      <p:sp>
        <p:nvSpPr>
          <p:cNvPr id="18" name="Rounded Rectangle 17"/>
          <p:cNvSpPr/>
          <p:nvPr/>
        </p:nvSpPr>
        <p:spPr>
          <a:xfrm>
            <a:off x="4540122"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1.25 × base input price</a:t>
            </a:r>
          </a:p>
        </p:txBody>
      </p:sp>
      <p:sp>
        <p:nvSpPr>
          <p:cNvPr id="19" name="Rounded Rectangle 18"/>
          <p:cNvSpPr/>
          <p:nvPr/>
        </p:nvSpPr>
        <p:spPr>
          <a:xfrm>
            <a:off x="8021876"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21876" y="1150000"/>
            <a:ext cx="57150" cy="520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1876" y="1350000"/>
            <a:ext cx="400000" cy="40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1h</a:t>
            </a:r>
          </a:p>
        </p:txBody>
      </p:sp>
      <p:sp>
        <p:nvSpPr>
          <p:cNvPr id="22" name="TextBox 21"/>
          <p:cNvSpPr txBox="1"/>
          <p:nvPr/>
        </p:nvSpPr>
        <p:spPr>
          <a:xfrm>
            <a:off x="8741876" y="1320000"/>
            <a:ext cx="2591754" cy="460000"/>
          </a:xfrm>
          <a:prstGeom prst="rect">
            <a:avLst/>
          </a:prstGeom>
          <a:noFill/>
        </p:spPr>
        <p:txBody>
          <a:bodyPr wrap="square" anchor="ctr">
            <a:spAutoFit/>
          </a:bodyPr>
          <a:lstStyle/>
          <a:p>
            <a:r>
              <a:rPr sz="1500" b="1">
                <a:solidFill>
                  <a:srgbClr val="1A2332"/>
                </a:solidFill>
                <a:latin typeface="Segoe UI Semibold"/>
              </a:rPr>
              <a:t>Cache write · 1-hour · 2×</a:t>
            </a:r>
          </a:p>
        </p:txBody>
      </p:sp>
      <p:cxnSp>
        <p:nvCxnSpPr>
          <p:cNvPr id="23" name="Connector 22"/>
          <p:cNvCxnSpPr/>
          <p:nvPr/>
        </p:nvCxnSpPr>
        <p:spPr>
          <a:xfrm>
            <a:off x="8221876"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1876" y="2000000"/>
            <a:ext cx="3111754" cy="3780000"/>
          </a:xfrm>
          <a:prstGeom prst="rect">
            <a:avLst/>
          </a:prstGeom>
          <a:noFill/>
        </p:spPr>
        <p:txBody>
          <a:bodyPr wrap="square">
            <a:spAutoFit/>
          </a:bodyPr>
          <a:lstStyle/>
          <a:p>
            <a:r>
              <a:rPr sz="1150">
                <a:solidFill>
                  <a:srgbClr val="4A5568"/>
                </a:solidFill>
                <a:latin typeface="Segoe UI"/>
              </a:rPr>
              <a:t>The longer the window stays warm, the more it costs to fill up front — a 1-hour write costs twice the base input price, in exchange for surviving longer gaps between requests.</a:t>
            </a:r>
          </a:p>
        </p:txBody>
      </p:sp>
      <p:sp>
        <p:nvSpPr>
          <p:cNvPr id="25" name="Rounded Rectangle 24"/>
          <p:cNvSpPr/>
          <p:nvPr/>
        </p:nvSpPr>
        <p:spPr>
          <a:xfrm>
            <a:off x="8221876"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059669"/>
                </a:solidFill>
                <a:latin typeface="Consolas"/>
              </a:rPr>
              <a:t>2 × base input price</a:t>
            </a:r>
          </a:p>
        </p:txBody>
      </p:sp>
      <p:sp>
        <p:nvSpPr>
          <p:cNvPr id="26" name="TextBox 25"/>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7" name="TextBox 26"/>
          <p:cNvSpPr txBox="1"/>
          <p:nvPr/>
        </p:nvSpPr>
        <p:spPr>
          <a:xfrm>
            <a:off x="10424160" y="6428232"/>
            <a:ext cx="1097280" cy="182880"/>
          </a:xfrm>
          <a:prstGeom prst="rect">
            <a:avLst/>
          </a:prstGeom>
          <a:noFill/>
        </p:spPr>
        <p:txBody>
          <a:bodyPr wrap="none">
            <a:spAutoFit/>
          </a:bodyPr>
          <a:lstStyle/>
          <a:p>
            <a:pPr algn="r"/>
            <a:r>
              <a:rPr sz="850">
                <a:solidFill>
                  <a:srgbClr val="FFFFFF"/>
                </a:solidFill>
              </a:rPr>
              <a:t>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Four things to optimize</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Every cost lever in this talk comes down to one of these four</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520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1</a:t>
            </a:r>
          </a:p>
        </p:txBody>
      </p:sp>
      <p:sp>
        <p:nvSpPr>
          <p:cNvPr id="8" name="TextBox 7"/>
          <p:cNvSpPr txBox="1"/>
          <p:nvPr/>
        </p:nvSpPr>
        <p:spPr>
          <a:xfrm>
            <a:off x="1378368" y="1320000"/>
            <a:ext cx="1671316" cy="460000"/>
          </a:xfrm>
          <a:prstGeom prst="rect">
            <a:avLst/>
          </a:prstGeom>
          <a:noFill/>
        </p:spPr>
        <p:txBody>
          <a:bodyPr wrap="square" anchor="ctr">
            <a:spAutoFit/>
          </a:bodyPr>
          <a:lstStyle/>
          <a:p>
            <a:r>
              <a:rPr sz="1500" b="1">
                <a:solidFill>
                  <a:srgbClr val="1A2332"/>
                </a:solidFill>
                <a:latin typeface="Segoe UI Semibold"/>
              </a:rPr>
              <a:t>Tokens in</a:t>
            </a:r>
          </a:p>
        </p:txBody>
      </p:sp>
      <p:cxnSp>
        <p:nvCxnSpPr>
          <p:cNvPr id="9" name="Connector 8"/>
          <p:cNvCxnSpPr/>
          <p:nvPr/>
        </p:nvCxnSpPr>
        <p:spPr>
          <a:xfrm>
            <a:off x="858368"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2191316" cy="3780000"/>
          </a:xfrm>
          <a:prstGeom prst="rect">
            <a:avLst/>
          </a:prstGeom>
          <a:noFill/>
        </p:spPr>
        <p:txBody>
          <a:bodyPr wrap="square">
            <a:spAutoFit/>
          </a:bodyPr>
          <a:lstStyle/>
          <a:p>
            <a:r>
              <a:rPr sz="1150">
                <a:solidFill>
                  <a:srgbClr val="4A5568"/>
                </a:solidFill>
                <a:latin typeface="Segoe UI"/>
              </a:rPr>
              <a:t>What's loaded at session start, what gets pulled into context as you work, and how long the session has been running for. This is the biggest lever, and the easiest to lose track of.</a:t>
            </a:r>
          </a:p>
        </p:txBody>
      </p:sp>
      <p:sp>
        <p:nvSpPr>
          <p:cNvPr id="11" name="Rounded Rectangle 10"/>
          <p:cNvSpPr/>
          <p:nvPr/>
        </p:nvSpPr>
        <p:spPr>
          <a:xfrm>
            <a:off x="858368"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1565C0"/>
                </a:solidFill>
                <a:latin typeface="Consolas"/>
              </a:rPr>
              <a:t>@file · CLAUDE.md · skills</a:t>
            </a:r>
          </a:p>
        </p:txBody>
      </p:sp>
      <p:sp>
        <p:nvSpPr>
          <p:cNvPr id="12" name="Rounded Rectangle 11"/>
          <p:cNvSpPr/>
          <p:nvPr/>
        </p:nvSpPr>
        <p:spPr>
          <a:xfrm>
            <a:off x="3419684"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9684"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19684"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2</a:t>
            </a:r>
          </a:p>
        </p:txBody>
      </p:sp>
      <p:sp>
        <p:nvSpPr>
          <p:cNvPr id="15" name="TextBox 14"/>
          <p:cNvSpPr txBox="1"/>
          <p:nvPr/>
        </p:nvSpPr>
        <p:spPr>
          <a:xfrm>
            <a:off x="4139684" y="1320000"/>
            <a:ext cx="1671316" cy="460000"/>
          </a:xfrm>
          <a:prstGeom prst="rect">
            <a:avLst/>
          </a:prstGeom>
          <a:noFill/>
        </p:spPr>
        <p:txBody>
          <a:bodyPr wrap="square" anchor="ctr">
            <a:spAutoFit/>
          </a:bodyPr>
          <a:lstStyle/>
          <a:p>
            <a:r>
              <a:rPr sz="1500" b="1">
                <a:solidFill>
                  <a:srgbClr val="1A2332"/>
                </a:solidFill>
                <a:latin typeface="Segoe UI Semibold"/>
              </a:rPr>
              <a:t>Tokens out</a:t>
            </a:r>
          </a:p>
        </p:txBody>
      </p:sp>
      <p:cxnSp>
        <p:nvCxnSpPr>
          <p:cNvPr id="16" name="Connector 15"/>
          <p:cNvCxnSpPr/>
          <p:nvPr/>
        </p:nvCxnSpPr>
        <p:spPr>
          <a:xfrm>
            <a:off x="3619684"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619684" y="2000000"/>
            <a:ext cx="2191316" cy="3780000"/>
          </a:xfrm>
          <a:prstGeom prst="rect">
            <a:avLst/>
          </a:prstGeom>
          <a:noFill/>
        </p:spPr>
        <p:txBody>
          <a:bodyPr wrap="square">
            <a:spAutoFit/>
          </a:bodyPr>
          <a:lstStyle/>
          <a:p>
            <a:r>
              <a:rPr sz="1150">
                <a:solidFill>
                  <a:srgbClr val="4A5568"/>
                </a:solidFill>
                <a:latin typeface="Segoe UI"/>
              </a:rPr>
              <a:t>How far the model reaches on each turn — controlled directly by /effort. Higher effort means a longer answer, and more input riding behind it on every subsequent request.</a:t>
            </a:r>
          </a:p>
        </p:txBody>
      </p:sp>
      <p:sp>
        <p:nvSpPr>
          <p:cNvPr id="18" name="Rounded Rectangle 17"/>
          <p:cNvSpPr/>
          <p:nvPr/>
        </p:nvSpPr>
        <p:spPr>
          <a:xfrm>
            <a:off x="3619684"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/effort low…max</a:t>
            </a:r>
          </a:p>
        </p:txBody>
      </p:sp>
      <p:sp>
        <p:nvSpPr>
          <p:cNvPr id="19" name="Rounded Rectangle 18"/>
          <p:cNvSpPr/>
          <p:nvPr/>
        </p:nvSpPr>
        <p:spPr>
          <a:xfrm>
            <a:off x="6181000"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000" y="1150000"/>
            <a:ext cx="57150" cy="520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81000" y="1350000"/>
            <a:ext cx="400000" cy="40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3</a:t>
            </a:r>
          </a:p>
        </p:txBody>
      </p:sp>
      <p:sp>
        <p:nvSpPr>
          <p:cNvPr id="22" name="TextBox 21"/>
          <p:cNvSpPr txBox="1"/>
          <p:nvPr/>
        </p:nvSpPr>
        <p:spPr>
          <a:xfrm>
            <a:off x="6901000" y="1320000"/>
            <a:ext cx="1671316" cy="460000"/>
          </a:xfrm>
          <a:prstGeom prst="rect">
            <a:avLst/>
          </a:prstGeom>
          <a:noFill/>
        </p:spPr>
        <p:txBody>
          <a:bodyPr wrap="square" anchor="ctr">
            <a:spAutoFit/>
          </a:bodyPr>
          <a:lstStyle/>
          <a:p>
            <a:r>
              <a:rPr sz="1500" b="1">
                <a:solidFill>
                  <a:srgbClr val="1A2332"/>
                </a:solidFill>
                <a:latin typeface="Segoe UI Semibold"/>
              </a:rPr>
              <a:t>How many are cached</a:t>
            </a:r>
          </a:p>
        </p:txBody>
      </p:sp>
      <p:cxnSp>
        <p:nvCxnSpPr>
          <p:cNvPr id="23" name="Connector 22"/>
          <p:cNvCxnSpPr/>
          <p:nvPr/>
        </p:nvCxnSpPr>
        <p:spPr>
          <a:xfrm>
            <a:off x="6381000"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81000" y="2000000"/>
            <a:ext cx="2191316" cy="3780000"/>
          </a:xfrm>
          <a:prstGeom prst="rect">
            <a:avLst/>
          </a:prstGeom>
          <a:noFill/>
        </p:spPr>
        <p:txBody>
          <a:bodyPr wrap="square">
            <a:spAutoFit/>
          </a:bodyPr>
          <a:lstStyle/>
          <a:p>
            <a:r>
              <a:rPr sz="1150">
                <a:solidFill>
                  <a:srgbClr val="4A5568"/>
                </a:solidFill>
                <a:latin typeface="Segoe UI"/>
              </a:rPr>
              <a:t>Keep the front of the context identical between requests, and the cache stays warm — that's the difference between paying 0.1× and paying full price for the same tokens.</a:t>
            </a:r>
          </a:p>
        </p:txBody>
      </p:sp>
      <p:sp>
        <p:nvSpPr>
          <p:cNvPr id="25" name="Rounded Rectangle 24"/>
          <p:cNvSpPr/>
          <p:nvPr/>
        </p:nvSpPr>
        <p:spPr>
          <a:xfrm>
            <a:off x="6381000"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059669"/>
                </a:solidFill>
                <a:latin typeface="Consolas"/>
              </a:rPr>
              <a:t>keep the prefix stable</a:t>
            </a:r>
          </a:p>
        </p:txBody>
      </p:sp>
      <p:sp>
        <p:nvSpPr>
          <p:cNvPr id="26" name="Rounded Rectangle 25"/>
          <p:cNvSpPr/>
          <p:nvPr/>
        </p:nvSpPr>
        <p:spPr>
          <a:xfrm>
            <a:off x="8942316"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2316" y="1150000"/>
            <a:ext cx="57150" cy="520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2316" y="1350000"/>
            <a:ext cx="400000" cy="400000"/>
          </a:xfrm>
          <a:prstGeom prst="ellipse">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4</a:t>
            </a:r>
          </a:p>
        </p:txBody>
      </p:sp>
      <p:sp>
        <p:nvSpPr>
          <p:cNvPr id="29" name="TextBox 28"/>
          <p:cNvSpPr txBox="1"/>
          <p:nvPr/>
        </p:nvSpPr>
        <p:spPr>
          <a:xfrm>
            <a:off x="9662316" y="1320000"/>
            <a:ext cx="1671316" cy="460000"/>
          </a:xfrm>
          <a:prstGeom prst="rect">
            <a:avLst/>
          </a:prstGeom>
          <a:noFill/>
        </p:spPr>
        <p:txBody>
          <a:bodyPr wrap="square" anchor="ctr">
            <a:spAutoFit/>
          </a:bodyPr>
          <a:lstStyle/>
          <a:p>
            <a:r>
              <a:rPr sz="1500" b="1">
                <a:solidFill>
                  <a:srgbClr val="1A2332"/>
                </a:solidFill>
                <a:latin typeface="Segoe UI Semibold"/>
              </a:rPr>
              <a:t>Which model</a:t>
            </a:r>
          </a:p>
        </p:txBody>
      </p:sp>
      <p:cxnSp>
        <p:nvCxnSpPr>
          <p:cNvPr id="30" name="Connector 29"/>
          <p:cNvCxnSpPr/>
          <p:nvPr/>
        </p:nvCxnSpPr>
        <p:spPr>
          <a:xfrm>
            <a:off x="9142316"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142316" y="2000000"/>
            <a:ext cx="2191316" cy="3780000"/>
          </a:xfrm>
          <a:prstGeom prst="rect">
            <a:avLst/>
          </a:prstGeom>
          <a:noFill/>
        </p:spPr>
        <p:txBody>
          <a:bodyPr wrap="square">
            <a:spAutoFit/>
          </a:bodyPr>
          <a:lstStyle/>
          <a:p>
            <a:r>
              <a:rPr sz="1150">
                <a:solidFill>
                  <a:srgbClr val="4A5568"/>
                </a:solidFill>
                <a:latin typeface="Segoe UI"/>
              </a:rPr>
              <a:t>The price per token is a multiplier on top of the other three — the same session shape costs 5–10× more on Opus than on Haiku, for the same tokens in and out.</a:t>
            </a:r>
          </a:p>
        </p:txBody>
      </p:sp>
      <p:sp>
        <p:nvSpPr>
          <p:cNvPr id="32" name="Rounded Rectangle 31"/>
          <p:cNvSpPr/>
          <p:nvPr/>
        </p:nvSpPr>
        <p:spPr>
          <a:xfrm>
            <a:off x="9142316"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D4622B"/>
                </a:solidFill>
                <a:latin typeface="Consolas"/>
              </a:rPr>
              <a:t>Haiku…Fable</a:t>
            </a:r>
          </a:p>
        </p:txBody>
      </p:sp>
      <p:sp>
        <p:nvSpPr>
          <p:cNvPr id="33" name="TextBox 32"/>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34" name="TextBox 33"/>
          <p:cNvSpPr txBox="1"/>
          <p:nvPr/>
        </p:nvSpPr>
        <p:spPr>
          <a:xfrm>
            <a:off x="10424160" y="6428232"/>
            <a:ext cx="1097280" cy="182880"/>
          </a:xfrm>
          <a:prstGeom prst="rect">
            <a:avLst/>
          </a:prstGeom>
          <a:noFill/>
        </p:spPr>
        <p:txBody>
          <a:bodyPr wrap="none">
            <a:spAutoFit/>
          </a:bodyPr>
          <a:lstStyle/>
          <a:p>
            <a:pPr algn="r"/>
            <a:r>
              <a:rPr sz="850">
                <a:solidFill>
                  <a:srgbClr val="FFFFFF"/>
                </a:solidFill>
              </a:rPr>
              <a:t>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A larger model does more math per token</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More compute per token → higher price — but bigger isn't automatically better for every job</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5352632" cy="475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475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S</a:t>
            </a:r>
          </a:p>
        </p:txBody>
      </p:sp>
      <p:sp>
        <p:nvSpPr>
          <p:cNvPr id="8" name="TextBox 7"/>
          <p:cNvSpPr txBox="1"/>
          <p:nvPr/>
        </p:nvSpPr>
        <p:spPr>
          <a:xfrm>
            <a:off x="1378368" y="1320000"/>
            <a:ext cx="4432632" cy="460000"/>
          </a:xfrm>
          <a:prstGeom prst="rect">
            <a:avLst/>
          </a:prstGeom>
          <a:noFill/>
        </p:spPr>
        <p:txBody>
          <a:bodyPr wrap="square" anchor="ctr">
            <a:spAutoFit/>
          </a:bodyPr>
          <a:lstStyle/>
          <a:p>
            <a:r>
              <a:rPr sz="1500" b="1">
                <a:solidFill>
                  <a:srgbClr val="1A2332"/>
                </a:solidFill>
                <a:latin typeface="Segoe UI Semibold"/>
              </a:rPr>
              <a:t>Smaller model</a:t>
            </a:r>
          </a:p>
        </p:txBody>
      </p:sp>
      <p:cxnSp>
        <p:nvCxnSpPr>
          <p:cNvPr id="9" name="Connector 8"/>
          <p:cNvCxnSpPr/>
          <p:nvPr/>
        </p:nvCxnSpPr>
        <p:spPr>
          <a:xfrm>
            <a:off x="858368" y="1890000"/>
            <a:ext cx="4952632"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4952632" cy="3330000"/>
          </a:xfrm>
          <a:prstGeom prst="rect">
            <a:avLst/>
          </a:prstGeom>
          <a:noFill/>
        </p:spPr>
        <p:txBody>
          <a:bodyPr wrap="square">
            <a:spAutoFit/>
          </a:bodyPr>
          <a:lstStyle/>
          <a:p>
            <a:r>
              <a:rPr sz="1150">
                <a:solidFill>
                  <a:srgbClr val="4A5568"/>
                </a:solidFill>
                <a:latin typeface="Segoe UI"/>
              </a:rPr>
              <a:t>Fewer layers, and smaller ones — the same prompt passes through less computation on its way to an answer. That's less compute to pay for, per token, which is why smaller models are priced lower on both input and output. Not a worse model — the right choice for scoped, well-specified work like subagent tasks and routine edits.</a:t>
            </a:r>
          </a:p>
        </p:txBody>
      </p:sp>
      <p:sp>
        <p:nvSpPr>
          <p:cNvPr id="11" name="Rounded Rectangle 10"/>
          <p:cNvSpPr/>
          <p:nvPr/>
        </p:nvSpPr>
        <p:spPr>
          <a:xfrm>
            <a:off x="858368" y="5400000"/>
            <a:ext cx="4952632"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1565C0"/>
                </a:solidFill>
                <a:latin typeface="Consolas"/>
              </a:rPr>
              <a:t>fix the failing test… → Read</a:t>
            </a:r>
          </a:p>
        </p:txBody>
      </p:sp>
      <p:sp>
        <p:nvSpPr>
          <p:cNvPr id="12" name="Rounded Rectangle 11"/>
          <p:cNvSpPr/>
          <p:nvPr/>
        </p:nvSpPr>
        <p:spPr>
          <a:xfrm>
            <a:off x="6181000" y="1150000"/>
            <a:ext cx="5352632" cy="475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000" y="1150000"/>
            <a:ext cx="57150" cy="475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81000"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L</a:t>
            </a:r>
          </a:p>
        </p:txBody>
      </p:sp>
      <p:sp>
        <p:nvSpPr>
          <p:cNvPr id="15" name="TextBox 14"/>
          <p:cNvSpPr txBox="1"/>
          <p:nvPr/>
        </p:nvSpPr>
        <p:spPr>
          <a:xfrm>
            <a:off x="6901000" y="1320000"/>
            <a:ext cx="4432632" cy="460000"/>
          </a:xfrm>
          <a:prstGeom prst="rect">
            <a:avLst/>
          </a:prstGeom>
          <a:noFill/>
        </p:spPr>
        <p:txBody>
          <a:bodyPr wrap="square" anchor="ctr">
            <a:spAutoFit/>
          </a:bodyPr>
          <a:lstStyle/>
          <a:p>
            <a:r>
              <a:rPr sz="1500" b="1">
                <a:solidFill>
                  <a:srgbClr val="1A2332"/>
                </a:solidFill>
                <a:latin typeface="Segoe UI Semibold"/>
              </a:rPr>
              <a:t>Larger model</a:t>
            </a:r>
          </a:p>
        </p:txBody>
      </p:sp>
      <p:cxnSp>
        <p:nvCxnSpPr>
          <p:cNvPr id="16" name="Connector 15"/>
          <p:cNvCxnSpPr/>
          <p:nvPr/>
        </p:nvCxnSpPr>
        <p:spPr>
          <a:xfrm>
            <a:off x="6381000" y="1890000"/>
            <a:ext cx="4952632"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81000" y="2000000"/>
            <a:ext cx="4952632" cy="3330000"/>
          </a:xfrm>
          <a:prstGeom prst="rect">
            <a:avLst/>
          </a:prstGeom>
          <a:noFill/>
        </p:spPr>
        <p:txBody>
          <a:bodyPr wrap="square">
            <a:spAutoFit/>
          </a:bodyPr>
          <a:lstStyle/>
          <a:p>
            <a:r>
              <a:rPr sz="1150">
                <a:solidFill>
                  <a:srgbClr val="4A5568"/>
                </a:solidFill>
                <a:latin typeface="Segoe UI"/>
              </a:rPr>
              <a:t>More layers, and bigger ones — the same prompt is processed by substantially more parameters at every step. More compute per token means a higher price per token, on both sides of the request — worth paying for unfamiliar territory, subtle bugs, or genuinely hard problems.</a:t>
            </a:r>
          </a:p>
        </p:txBody>
      </p:sp>
      <p:sp>
        <p:nvSpPr>
          <p:cNvPr id="18" name="Rounded Rectangle 17"/>
          <p:cNvSpPr/>
          <p:nvPr/>
        </p:nvSpPr>
        <p:spPr>
          <a:xfrm>
            <a:off x="6381000" y="5400000"/>
            <a:ext cx="4952632"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fix the failing test… → Read</a:t>
            </a:r>
          </a:p>
        </p:txBody>
      </p:sp>
      <p:sp>
        <p:nvSpPr>
          <p:cNvPr id="19" name="TextBox 18"/>
          <p:cNvSpPr txBox="1"/>
          <p:nvPr/>
        </p:nvSpPr>
        <p:spPr>
          <a:xfrm>
            <a:off x="658368" y="6000000"/>
            <a:ext cx="10875264" cy="300000"/>
          </a:xfrm>
          <a:prstGeom prst="rect">
            <a:avLst/>
          </a:prstGeom>
          <a:noFill/>
        </p:spPr>
        <p:txBody>
          <a:bodyPr wrap="none">
            <a:spAutoFit/>
          </a:bodyPr>
          <a:lstStyle/>
          <a:p>
            <a:r>
              <a:rPr sz="1050" i="1">
                <a:solidFill>
                  <a:srgbClr val="4A5568"/>
                </a:solidFill>
                <a:latin typeface="Segoe UI"/>
              </a:rPr>
              <a:t>Which model for which job, in detail: see “Claude Code models by plan” earlier in this deck.</a:t>
            </a:r>
          </a:p>
        </p:txBody>
      </p:sp>
      <p:sp>
        <p:nvSpPr>
          <p:cNvPr id="20" name="TextBox 19"/>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1" name="TextBox 20"/>
          <p:cNvSpPr txBox="1"/>
          <p:nvPr/>
        </p:nvSpPr>
        <p:spPr>
          <a:xfrm>
            <a:off x="10424160" y="6428232"/>
            <a:ext cx="1097280" cy="182880"/>
          </a:xfrm>
          <a:prstGeom prst="rect">
            <a:avLst/>
          </a:prstGeom>
          <a:noFill/>
        </p:spPr>
        <p:txBody>
          <a:bodyPr wrap="none">
            <a:spAutoFit/>
          </a:bodyPr>
          <a:lstStyle/>
          <a:p>
            <a:pPr algn="r"/>
            <a:r>
              <a:rPr sz="850">
                <a:solidFill>
                  <a:srgbClr val="FFFFFF"/>
                </a:solidFill>
              </a:rPr>
              <a:t>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@-mention the file you already know</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Skip an entire round trip when you already know the path</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658368" y="1150000"/>
          <a:ext cx="10600000" cy="2100000"/>
        </p:xfrm>
        <a:graphic>
          <a:graphicData uri="http://schemas.openxmlformats.org/drawingml/2006/table">
            <a:tbl>
              <a:tblPr firstRow="1" bandRow="1">
                <a:tableStyleId>{5C22544A-7EE6-4342-B048-85BDC9FD1C3A}</a:tableStyleId>
              </a:tblPr>
              <a:tblGrid>
                <a:gridCol w="7300000"/>
                <a:gridCol w="3300000"/>
              </a:tblGrid>
              <a:tr h="700000">
                <a:tc>
                  <a:txBody>
                    <a:bodyPr/>
                    <a:lstStyle/>
                    <a:p>
                      <a:pPr algn="l"/>
                      <a:r>
                        <a:rPr sz="1250" b="1">
                          <a:solidFill>
                            <a:srgbClr val="FFFFFF"/>
                          </a:solidFill>
                          <a:latin typeface="Segoe UI Semibold"/>
                        </a:rPr>
                        <a:t>Prompt</a:t>
                      </a:r>
                    </a:p>
                  </a:txBody>
                  <a:tcPr anchor="ctr">
                    <a:solidFill>
                      <a:srgbClr val="D4622B"/>
                    </a:solidFill>
                  </a:tcPr>
                </a:tc>
                <a:tc>
                  <a:txBody>
                    <a:bodyPr/>
                    <a:lstStyle/>
                    <a:p>
                      <a:pPr algn="ctr"/>
                      <a:r>
                        <a:rPr sz="1250" b="1">
                          <a:solidFill>
                            <a:srgbClr val="FFFFFF"/>
                          </a:solidFill>
                          <a:latin typeface="Segoe UI Semibold"/>
                        </a:rPr>
                        <a:t>Requests</a:t>
                      </a:r>
                    </a:p>
                  </a:txBody>
                  <a:tcPr anchor="ctr">
                    <a:solidFill>
                      <a:srgbClr val="D4622B"/>
                    </a:solidFill>
                  </a:tcPr>
                </a:tc>
              </a:tr>
              <a:tr h="700000">
                <a:tc>
                  <a:txBody>
                    <a:bodyPr/>
                    <a:lstStyle/>
                    <a:p>
                      <a:pPr algn="l"/>
                      <a:r>
                        <a:rPr sz="1250">
                          <a:solidFill>
                            <a:srgbClr val="1A2332"/>
                          </a:solidFill>
                          <a:latin typeface="Segoe UI"/>
                        </a:rPr>
                        <a:t>fix the failing test in utils.test.ts</a:t>
                      </a:r>
                    </a:p>
                  </a:txBody>
                  <a:tcPr anchor="ctr">
                    <a:solidFill>
                      <a:srgbClr val="FFFFFF"/>
                    </a:solidFill>
                  </a:tcPr>
                </a:tc>
                <a:tc>
                  <a:txBody>
                    <a:bodyPr/>
                    <a:lstStyle/>
                    <a:p>
                      <a:pPr algn="ctr"/>
                      <a:r>
                        <a:rPr sz="1250">
                          <a:solidFill>
                            <a:srgbClr val="1A2332"/>
                          </a:solidFill>
                          <a:latin typeface="Segoe UI"/>
                        </a:rPr>
                        <a:t>2 — the model has to ask for the file first</a:t>
                      </a:r>
                    </a:p>
                  </a:txBody>
                  <a:tcPr anchor="ctr">
                    <a:solidFill>
                      <a:srgbClr val="FFFFFF"/>
                    </a:solidFill>
                  </a:tcPr>
                </a:tc>
              </a:tr>
              <a:tr h="700000">
                <a:tc>
                  <a:txBody>
                    <a:bodyPr/>
                    <a:lstStyle/>
                    <a:p>
                      <a:pPr algn="l"/>
                      <a:r>
                        <a:rPr sz="1250">
                          <a:solidFill>
                            <a:srgbClr val="1A2332"/>
                          </a:solidFill>
                          <a:latin typeface="Segoe UI"/>
                        </a:rPr>
                        <a:t>fix the failing test in @utils.test.ts</a:t>
                      </a:r>
                    </a:p>
                  </a:txBody>
                  <a:tcPr anchor="ctr">
                    <a:solidFill>
                      <a:srgbClr val="F8F7FC"/>
                    </a:solidFill>
                  </a:tcPr>
                </a:tc>
                <a:tc>
                  <a:txBody>
                    <a:bodyPr/>
                    <a:lstStyle/>
                    <a:p>
                      <a:pPr algn="ctr"/>
                      <a:r>
                        <a:rPr sz="1250">
                          <a:solidFill>
                            <a:srgbClr val="1A2332"/>
                          </a:solidFill>
                          <a:latin typeface="Segoe UI"/>
                        </a:rPr>
                        <a:t>1 — the file is already in the context</a:t>
                      </a:r>
                    </a:p>
                  </a:txBody>
                  <a:tcPr anchor="ctr">
                    <a:solidFill>
                      <a:srgbClr val="F8F7FC"/>
                    </a:solidFill>
                  </a:tcPr>
                </a:tc>
              </a:tr>
            </a:tbl>
          </a:graphicData>
        </a:graphic>
      </p:graphicFrame>
      <p:sp>
        <p:nvSpPr>
          <p:cNvPr id="6" name="TextBox 5"/>
          <p:cNvSpPr txBox="1"/>
          <p:nvPr/>
        </p:nvSpPr>
        <p:spPr>
          <a:xfrm>
            <a:off x="658368" y="3510000"/>
            <a:ext cx="10875264" cy="900000"/>
          </a:xfrm>
          <a:prstGeom prst="rect">
            <a:avLst/>
          </a:prstGeom>
          <a:noFill/>
        </p:spPr>
        <p:txBody>
          <a:bodyPr wrap="square">
            <a:spAutoFit/>
          </a:bodyPr>
          <a:lstStyle/>
          <a:p>
            <a:r>
              <a:rPr sz="1200">
                <a:solidFill>
                  <a:srgbClr val="4A5568"/>
                </a:solidFill>
                <a:latin typeface="Segoe UI"/>
              </a:rPr>
              <a:t>Without the @-mention, the model has to spend a full round trip just discovering the file exists and asking to read it — that's an entire extra input+output cycle, at full price, for information you already had. @-mentioning it folds that round trip away entirely.</a:t>
            </a:r>
          </a:p>
        </p:txBody>
      </p:sp>
      <p:sp>
        <p:nvSpPr>
          <p:cNvPr id="7" name="TextBox 6"/>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8" name="TextBox 7"/>
          <p:cNvSpPr txBox="1"/>
          <p:nvPr/>
        </p:nvSpPr>
        <p:spPr>
          <a:xfrm>
            <a:off x="10424160" y="6428232"/>
            <a:ext cx="1097280" cy="182880"/>
          </a:xfrm>
          <a:prstGeom prst="rect">
            <a:avLst/>
          </a:prstGeom>
          <a:noFill/>
        </p:spPr>
        <p:txBody>
          <a:bodyPr wrap="none">
            <a:spAutoFit/>
          </a:bodyPr>
          <a:lstStyle/>
          <a:p>
            <a:pPr algn="r"/>
            <a:r>
              <a:rPr sz="850">
                <a:solidFill>
                  <a:srgbClr val="FFFFFF"/>
                </a:solidFill>
              </a:rPr>
              <a:t>32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CLAUDE.md is for what every task needs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Task-specific detail belongs in a skill, not here</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6100000" cy="5200000"/>
          </a:xfrm>
          <a:prstGeom prst="roundRect">
            <a:avLst>
              <a:gd name="adj" fmla="val 4000"/>
            </a:avLst>
          </a:prstGeom>
          <a:solidFill>
            <a:srgbClr val="F5F3FA"/>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70000"/>
            <a:ext cx="5642800" cy="4960000"/>
          </a:xfrm>
          <a:prstGeom prst="rect">
            <a:avLst/>
          </a:prstGeom>
          <a:noFill/>
        </p:spPr>
        <p:txBody>
          <a:bodyPr wrap="square">
            <a:spAutoFit/>
          </a:bodyPr>
          <a:lstStyle/>
          <a:p>
            <a:r>
              <a:rPr sz="1250">
                <a:solidFill>
                  <a:srgbClr val="1A2332"/>
                </a:solidFill>
                <a:latin typeface="Consolas"/>
              </a:rPr>
              <a:t># CLAUDE.md</a:t>
            </a:r>
          </a:p>
          <a:p>
            <a:r>
              <a:rPr sz="1250">
                <a:solidFill>
                  <a:srgbClr val="1A2332"/>
                </a:solidFill>
                <a:latin typeface="Consolas"/>
              </a:rPr>
              <a:t>## Project</a:t>
            </a:r>
          </a:p>
          <a:p>
            <a:r>
              <a:rPr sz="1250">
                <a:solidFill>
                  <a:srgbClr val="1A2332"/>
                </a:solidFill>
                <a:latin typeface="Consolas"/>
              </a:rPr>
              <a:t>pnpm monorepo, Node 22</a:t>
            </a:r>
          </a:p>
          <a:p>
            <a:r>
              <a:rPr sz="1250">
                <a:solidFill>
                  <a:srgbClr val="1A2332"/>
                </a:solidFill>
                <a:latin typeface="Consolas"/>
              </a:rPr>
              <a:t>## Commands</a:t>
            </a:r>
          </a:p>
          <a:p>
            <a:r>
              <a:rPr sz="1250">
                <a:solidFill>
                  <a:srgbClr val="1A2332"/>
                </a:solidFill>
                <a:latin typeface="Consolas"/>
              </a:rPr>
              <a:t>- pnpm test --filter &lt;pkg&gt;</a:t>
            </a:r>
          </a:p>
          <a:p>
            <a:r>
              <a:rPr sz="1250">
                <a:solidFill>
                  <a:srgbClr val="1A2332"/>
                </a:solidFill>
                <a:latin typeface="Consolas"/>
              </a:rPr>
              <a:t>- pnpm lint &amp;&amp; pnpm typecheck</a:t>
            </a:r>
          </a:p>
          <a:p>
            <a:r>
              <a:rPr sz="1250">
                <a:solidFill>
                  <a:srgbClr val="1A2332"/>
                </a:solidFill>
                <a:latin typeface="Consolas"/>
              </a:rPr>
              <a:t>## Conventions</a:t>
            </a:r>
          </a:p>
          <a:p>
            <a:r>
              <a:rPr sz="1250">
                <a:solidFill>
                  <a:srgbClr val="1A2332"/>
                </a:solidFill>
                <a:latin typeface="Consolas"/>
              </a:rPr>
              <a:t>- named exports, no default exports</a:t>
            </a:r>
          </a:p>
          <a:p>
            <a:r>
              <a:rPr sz="1250">
                <a:solidFill>
                  <a:srgbClr val="1A2332"/>
                </a:solidFill>
                <a:latin typeface="Consolas"/>
              </a:rPr>
              <a:t>## Database migrations</a:t>
            </a:r>
          </a:p>
          <a:p>
            <a:r>
              <a:rPr sz="1250">
                <a:solidFill>
                  <a:srgbClr val="1A2332"/>
                </a:solidFill>
                <a:latin typeface="Consolas"/>
              </a:rPr>
              <a:t>1. pnpm db:generate &lt;name&gt;</a:t>
            </a:r>
          </a:p>
          <a:p>
            <a:r>
              <a:rPr sz="1250">
                <a:solidFill>
                  <a:srgbClr val="1A2332"/>
                </a:solidFill>
                <a:latin typeface="Consolas"/>
              </a:rPr>
              <a:t>2. edit the SQL in /migrations</a:t>
            </a:r>
          </a:p>
          <a:p>
            <a:r>
              <a:rPr sz="1250">
                <a:solidFill>
                  <a:srgbClr val="1A2332"/>
                </a:solidFill>
                <a:latin typeface="Consolas"/>
              </a:rPr>
              <a:t>3. pnpm db:migrate, update schema.md</a:t>
            </a:r>
          </a:p>
        </p:txBody>
      </p:sp>
      <p:sp>
        <p:nvSpPr>
          <p:cNvPr id="7" name="Rounded Rectangle 6"/>
          <p:cNvSpPr/>
          <p:nvPr/>
        </p:nvSpPr>
        <p:spPr>
          <a:xfrm>
            <a:off x="6978368" y="1150000"/>
            <a:ext cx="4555264" cy="253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78368" y="1150000"/>
            <a:ext cx="57150" cy="253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17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1</a:t>
            </a:r>
          </a:p>
        </p:txBody>
      </p:sp>
      <p:sp>
        <p:nvSpPr>
          <p:cNvPr id="10" name="TextBox 9"/>
          <p:cNvSpPr txBox="1"/>
          <p:nvPr/>
        </p:nvSpPr>
        <p:spPr>
          <a:xfrm>
            <a:off x="7698368" y="1320000"/>
            <a:ext cx="3635264" cy="460000"/>
          </a:xfrm>
          <a:prstGeom prst="rect">
            <a:avLst/>
          </a:prstGeom>
          <a:noFill/>
        </p:spPr>
        <p:txBody>
          <a:bodyPr wrap="square" anchor="ctr">
            <a:spAutoFit/>
          </a:bodyPr>
          <a:lstStyle/>
          <a:p>
            <a:r>
              <a:rPr sz="1500" b="1">
                <a:solidFill>
                  <a:srgbClr val="1A2332"/>
                </a:solidFill>
                <a:latin typeface="Segoe UI Semibold"/>
              </a:rPr>
              <a:t>Task-specific? Make it a skill.</a:t>
            </a:r>
          </a:p>
        </p:txBody>
      </p:sp>
      <p:cxnSp>
        <p:nvCxnSpPr>
          <p:cNvPr id="11" name="Connector 10"/>
          <p:cNvCxnSpPr/>
          <p:nvPr/>
        </p:nvCxnSpPr>
        <p:spPr>
          <a:xfrm>
            <a:off x="7178368" y="1890000"/>
            <a:ext cx="415526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178368" y="2000000"/>
            <a:ext cx="4155264" cy="1480000"/>
          </a:xfrm>
          <a:prstGeom prst="rect">
            <a:avLst/>
          </a:prstGeom>
          <a:noFill/>
        </p:spPr>
        <p:txBody>
          <a:bodyPr wrap="square">
            <a:spAutoFit/>
          </a:bodyPr>
          <a:lstStyle/>
          <a:p>
            <a:r>
              <a:rPr sz="1150">
                <a:solidFill>
                  <a:srgbClr val="4A5568"/>
                </a:solidFill>
                <a:latin typeface="Segoe UI"/>
              </a:rPr>
              <a:t>The database-migration recipe above rides along on every single request as written in CLAUDE.md. Moved into a skill, it only loads into context when the model actually needs it — for every other task, it costs nothing.</a:t>
            </a:r>
          </a:p>
        </p:txBody>
      </p:sp>
      <p:sp>
        <p:nvSpPr>
          <p:cNvPr id="13" name="Rounded Rectangle 12"/>
          <p:cNvSpPr/>
          <p:nvPr/>
        </p:nvSpPr>
        <p:spPr>
          <a:xfrm>
            <a:off x="6978368" y="3820000"/>
            <a:ext cx="4555264" cy="253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978368" y="3820000"/>
            <a:ext cx="57150" cy="253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178368" y="402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2</a:t>
            </a:r>
          </a:p>
        </p:txBody>
      </p:sp>
      <p:sp>
        <p:nvSpPr>
          <p:cNvPr id="16" name="TextBox 15"/>
          <p:cNvSpPr txBox="1"/>
          <p:nvPr/>
        </p:nvSpPr>
        <p:spPr>
          <a:xfrm>
            <a:off x="7698368" y="3990000"/>
            <a:ext cx="3635264" cy="460000"/>
          </a:xfrm>
          <a:prstGeom prst="rect">
            <a:avLst/>
          </a:prstGeom>
          <a:noFill/>
        </p:spPr>
        <p:txBody>
          <a:bodyPr wrap="square" anchor="ctr">
            <a:spAutoFit/>
          </a:bodyPr>
          <a:lstStyle/>
          <a:p>
            <a:r>
              <a:rPr sz="1500" b="1">
                <a:solidFill>
                  <a:srgbClr val="1A2332"/>
                </a:solidFill>
                <a:latin typeface="Segoe UI Semibold"/>
              </a:rPr>
              <a:t>Still needed at all?</a:t>
            </a:r>
          </a:p>
        </p:txBody>
      </p:sp>
      <p:cxnSp>
        <p:nvCxnSpPr>
          <p:cNvPr id="17" name="Connector 16"/>
          <p:cNvCxnSpPr/>
          <p:nvPr/>
        </p:nvCxnSpPr>
        <p:spPr>
          <a:xfrm>
            <a:off x="7178368" y="4560000"/>
            <a:ext cx="415526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178368" y="4670000"/>
            <a:ext cx="4155264" cy="1110000"/>
          </a:xfrm>
          <a:prstGeom prst="rect">
            <a:avLst/>
          </a:prstGeom>
          <a:noFill/>
        </p:spPr>
        <p:txBody>
          <a:bodyPr wrap="square">
            <a:spAutoFit/>
          </a:bodyPr>
          <a:lstStyle/>
          <a:p>
            <a:r>
              <a:rPr sz="1150">
                <a:solidFill>
                  <a:srgbClr val="4A5568"/>
                </a:solidFill>
                <a:latin typeface="Segoe UI"/>
              </a:rPr>
              <a:t>Run /claude-api prompt-audit periodically to check whether every section of CLAUDE.md is still pulling its weight, or has quietly become dead weight on every request.</a:t>
            </a:r>
          </a:p>
        </p:txBody>
      </p:sp>
      <p:sp>
        <p:nvSpPr>
          <p:cNvPr id="19" name="Rounded Rectangle 18"/>
          <p:cNvSpPr/>
          <p:nvPr/>
        </p:nvSpPr>
        <p:spPr>
          <a:xfrm>
            <a:off x="7178368" y="5850000"/>
            <a:ext cx="415526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/claude-api prompt-audit</a:t>
            </a:r>
          </a:p>
        </p:txBody>
      </p:sp>
      <p:sp>
        <p:nvSpPr>
          <p:cNvPr id="20" name="TextBox 19"/>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1" name="TextBox 20"/>
          <p:cNvSpPr txBox="1"/>
          <p:nvPr/>
        </p:nvSpPr>
        <p:spPr>
          <a:xfrm>
            <a:off x="10424160" y="6428232"/>
            <a:ext cx="1097280" cy="182880"/>
          </a:xfrm>
          <a:prstGeom prst="rect">
            <a:avLst/>
          </a:prstGeom>
          <a:noFill/>
        </p:spPr>
        <p:txBody>
          <a:bodyPr wrap="none">
            <a:spAutoFit/>
          </a:bodyPr>
          <a:lstStyle/>
          <a:p>
            <a:pPr algn="r"/>
            <a:r>
              <a:rPr sz="850">
                <a:solidFill>
                  <a:srgbClr val="FFFFFF"/>
                </a:solidFill>
              </a:rPr>
              <a:t>33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Command output stays in the conversation</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In CLAUDE.md: "Run one test file: npx vitest run &lt;file&gt; --reporter=dot"</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658368" y="1150000"/>
          <a:ext cx="10500000" cy="2600000"/>
        </p:xfrm>
        <a:graphic>
          <a:graphicData uri="http://schemas.openxmlformats.org/drawingml/2006/table">
            <a:tbl>
              <a:tblPr firstRow="1" bandRow="1">
                <a:tableStyleId>{5C22544A-7EE6-4342-B048-85BDC9FD1C3A}</a:tableStyleId>
              </a:tblPr>
              <a:tblGrid>
                <a:gridCol w="3600000"/>
                <a:gridCol w="6900000"/>
              </a:tblGrid>
              <a:tr h="650000">
                <a:tc>
                  <a:txBody>
                    <a:bodyPr/>
                    <a:lstStyle/>
                    <a:p>
                      <a:pPr algn="l"/>
                      <a:r>
                        <a:rPr sz="1250" b="1">
                          <a:solidFill>
                            <a:srgbClr val="FFFFFF"/>
                          </a:solidFill>
                          <a:latin typeface="Segoe UI Semibold"/>
                        </a:rPr>
                        <a:t>Output</a:t>
                      </a:r>
                    </a:p>
                  </a:txBody>
                  <a:tcPr anchor="ctr">
                    <a:solidFill>
                      <a:srgbClr val="D4622B"/>
                    </a:solidFill>
                  </a:tcPr>
                </a:tc>
                <a:tc>
                  <a:txBody>
                    <a:bodyPr/>
                    <a:lstStyle/>
                    <a:p>
                      <a:pPr algn="ctr"/>
                      <a:r>
                        <a:rPr sz="1250" b="1">
                          <a:solidFill>
                            <a:srgbClr val="FFFFFF"/>
                          </a:solidFill>
                          <a:latin typeface="Segoe UI Semibold"/>
                        </a:rPr>
                        <a:t>What lands in context</a:t>
                      </a:r>
                    </a:p>
                  </a:txBody>
                  <a:tcPr anchor="ctr">
                    <a:solidFill>
                      <a:srgbClr val="D4622B"/>
                    </a:solidFill>
                  </a:tcPr>
                </a:tc>
              </a:tr>
              <a:tr h="650000">
                <a:tc>
                  <a:txBody>
                    <a:bodyPr/>
                    <a:lstStyle/>
                    <a:p>
                      <a:pPr algn="l"/>
                      <a:r>
                        <a:rPr sz="1250">
                          <a:solidFill>
                            <a:srgbClr val="1A2332"/>
                          </a:solidFill>
                          <a:latin typeface="Segoe UI"/>
                        </a:rPr>
                        <a:t>400 lines printed</a:t>
                      </a:r>
                    </a:p>
                  </a:txBody>
                  <a:tcPr anchor="ctr">
                    <a:solidFill>
                      <a:srgbClr val="FFFFFF"/>
                    </a:solidFill>
                  </a:tcPr>
                </a:tc>
                <a:tc>
                  <a:txBody>
                    <a:bodyPr/>
                    <a:lstStyle/>
                    <a:p>
                      <a:pPr algn="ctr"/>
                      <a:r>
                        <a:rPr sz="1250">
                          <a:solidFill>
                            <a:srgbClr val="1A2332"/>
                          </a:solidFill>
                          <a:latin typeface="Segoe UI"/>
                        </a:rPr>
                        <a:t>All of it, in every request after it</a:t>
                      </a:r>
                    </a:p>
                  </a:txBody>
                  <a:tcPr anchor="ctr">
                    <a:solidFill>
                      <a:srgbClr val="FFFFFF"/>
                    </a:solidFill>
                  </a:tcPr>
                </a:tc>
              </a:tr>
              <a:tr h="650000">
                <a:tc>
                  <a:txBody>
                    <a:bodyPr/>
                    <a:lstStyle/>
                    <a:p>
                      <a:pPr algn="l"/>
                      <a:r>
                        <a:rPr sz="1250">
                          <a:solidFill>
                            <a:srgbClr val="1A2332"/>
                          </a:solidFill>
                          <a:latin typeface="Segoe UI"/>
                        </a:rPr>
                        <a:t>Only the failures</a:t>
                      </a:r>
                    </a:p>
                  </a:txBody>
                  <a:tcPr anchor="ctr">
                    <a:solidFill>
                      <a:srgbClr val="F8F7FC"/>
                    </a:solidFill>
                  </a:tcPr>
                </a:tc>
                <a:tc>
                  <a:txBody>
                    <a:bodyPr/>
                    <a:lstStyle/>
                    <a:p>
                      <a:pPr algn="ctr"/>
                      <a:r>
                        <a:rPr sz="1250">
                          <a:solidFill>
                            <a:srgbClr val="1A2332"/>
                          </a:solidFill>
                          <a:latin typeface="Segoe UI"/>
                        </a:rPr>
                        <a:t>A few lines</a:t>
                      </a:r>
                    </a:p>
                  </a:txBody>
                  <a:tcPr anchor="ctr">
                    <a:solidFill>
                      <a:srgbClr val="F8F7FC"/>
                    </a:solidFill>
                  </a:tcPr>
                </a:tc>
              </a:tr>
              <a:tr h="650000">
                <a:tc>
                  <a:txBody>
                    <a:bodyPr/>
                    <a:lstStyle/>
                    <a:p>
                      <a:pPr algn="l"/>
                      <a:r>
                        <a:rPr sz="1250">
                          <a:solidFill>
                            <a:srgbClr val="1A2332"/>
                          </a:solidFill>
                          <a:latin typeface="Segoe UI"/>
                        </a:rPr>
                        <a:t>Huge output</a:t>
                      </a:r>
                    </a:p>
                  </a:txBody>
                  <a:tcPr anchor="ctr">
                    <a:solidFill>
                      <a:srgbClr val="FFFFFF"/>
                    </a:solidFill>
                  </a:tcPr>
                </a:tc>
                <a:tc>
                  <a:txBody>
                    <a:bodyPr/>
                    <a:lstStyle/>
                    <a:p>
                      <a:pPr algn="ctr"/>
                      <a:r>
                        <a:rPr sz="1250">
                          <a:solidFill>
                            <a:srgbClr val="1A2332"/>
                          </a:solidFill>
                          <a:latin typeface="Segoe UI"/>
                        </a:rPr>
                        <a:t>Spilled to a file — a short preview goes in</a:t>
                      </a:r>
                    </a:p>
                  </a:txBody>
                  <a:tcPr anchor="ctr">
                    <a:solidFill>
                      <a:srgbClr val="FFFFFF"/>
                    </a:solidFill>
                  </a:tcPr>
                </a:tc>
              </a:tr>
            </a:tbl>
          </a:graphicData>
        </a:graphic>
      </p:graphicFrame>
      <p:sp>
        <p:nvSpPr>
          <p:cNvPr id="6" name="TextBox 5"/>
          <p:cNvSpPr txBox="1"/>
          <p:nvPr/>
        </p:nvSpPr>
        <p:spPr>
          <a:xfrm>
            <a:off x="658368" y="3990000"/>
            <a:ext cx="10875264" cy="900000"/>
          </a:xfrm>
          <a:prstGeom prst="rect">
            <a:avLst/>
          </a:prstGeom>
          <a:noFill/>
        </p:spPr>
        <p:txBody>
          <a:bodyPr wrap="square">
            <a:spAutoFit/>
          </a:bodyPr>
          <a:lstStyle/>
          <a:p>
            <a:r>
              <a:rPr sz="1200">
                <a:solidFill>
                  <a:srgbClr val="4A5568"/>
                </a:solidFill>
                <a:latin typeface="Segoe UI"/>
              </a:rPr>
              <a:t>Whatever a shell command prints becomes part of the conversation, and every request after it resends that output in full. A verbose test runner that prints 400 lines on every run is 400 lines riding along on every subsequent request for the rest of the session — pointing it at a quiet flag (--reporter=dot) in CLAUDE.md fixes this permanently.</a:t>
            </a:r>
          </a:p>
        </p:txBody>
      </p:sp>
      <p:sp>
        <p:nvSpPr>
          <p:cNvPr id="7" name="TextBox 6"/>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8" name="TextBox 7"/>
          <p:cNvSpPr txBox="1"/>
          <p:nvPr/>
        </p:nvSpPr>
        <p:spPr>
          <a:xfrm>
            <a:off x="10424160" y="6428232"/>
            <a:ext cx="1097280" cy="182880"/>
          </a:xfrm>
          <a:prstGeom prst="rect">
            <a:avLst/>
          </a:prstGeom>
          <a:noFill/>
        </p:spPr>
        <p:txBody>
          <a:bodyPr wrap="none">
            <a:spAutoFit/>
          </a:bodyPr>
          <a:lstStyle/>
          <a:p>
            <a:pPr algn="r"/>
            <a:r>
              <a:rPr sz="850">
                <a:solidFill>
                  <a:srgbClr val="FFFFFF"/>
                </a:solidFill>
              </a:rPr>
              <a:t>34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Effort: how far the model reaches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/effort low · medium · high · xhigh · max</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5352632" cy="375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375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L</a:t>
            </a:r>
          </a:p>
        </p:txBody>
      </p:sp>
      <p:sp>
        <p:nvSpPr>
          <p:cNvPr id="8" name="TextBox 7"/>
          <p:cNvSpPr txBox="1"/>
          <p:nvPr/>
        </p:nvSpPr>
        <p:spPr>
          <a:xfrm>
            <a:off x="1378368" y="1320000"/>
            <a:ext cx="4432632" cy="460000"/>
          </a:xfrm>
          <a:prstGeom prst="rect">
            <a:avLst/>
          </a:prstGeom>
          <a:noFill/>
        </p:spPr>
        <p:txBody>
          <a:bodyPr wrap="square" anchor="ctr">
            <a:spAutoFit/>
          </a:bodyPr>
          <a:lstStyle/>
          <a:p>
            <a:r>
              <a:rPr sz="1500" b="1">
                <a:solidFill>
                  <a:srgbClr val="1A2332"/>
                </a:solidFill>
                <a:latin typeface="Segoe UI Semibold"/>
              </a:rPr>
              <a:t>Low effort</a:t>
            </a:r>
          </a:p>
        </p:txBody>
      </p:sp>
      <p:cxnSp>
        <p:nvCxnSpPr>
          <p:cNvPr id="9" name="Connector 8"/>
          <p:cNvCxnSpPr/>
          <p:nvPr/>
        </p:nvCxnSpPr>
        <p:spPr>
          <a:xfrm>
            <a:off x="858368" y="1890000"/>
            <a:ext cx="4952632"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4952632" cy="2700000"/>
          </a:xfrm>
          <a:prstGeom prst="rect">
            <a:avLst/>
          </a:prstGeom>
          <a:noFill/>
        </p:spPr>
        <p:txBody>
          <a:bodyPr wrap="square">
            <a:spAutoFit/>
          </a:bodyPr>
          <a:lstStyle/>
          <a:p>
            <a:r>
              <a:rPr sz="1150">
                <a:solidFill>
                  <a:srgbClr val="4A5568"/>
                </a:solidFill>
                <a:latin typeface="Segoe UI"/>
              </a:rPr>
              <a:t>For the same request ("make the button green"), low effort produces a short context trace: minimal thinking, few or no tool calls, and a compact answer. Cheapest, and often enough for genuinely simple asks.</a:t>
            </a:r>
          </a:p>
        </p:txBody>
      </p:sp>
      <p:sp>
        <p:nvSpPr>
          <p:cNvPr id="11" name="Rounded Rectangle 10"/>
          <p:cNvSpPr/>
          <p:nvPr/>
        </p:nvSpPr>
        <p:spPr>
          <a:xfrm>
            <a:off x="6181000" y="1150000"/>
            <a:ext cx="5352632" cy="375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81000" y="1150000"/>
            <a:ext cx="57150" cy="375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81000"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H</a:t>
            </a:r>
          </a:p>
        </p:txBody>
      </p:sp>
      <p:sp>
        <p:nvSpPr>
          <p:cNvPr id="14" name="TextBox 13"/>
          <p:cNvSpPr txBox="1"/>
          <p:nvPr/>
        </p:nvSpPr>
        <p:spPr>
          <a:xfrm>
            <a:off x="6901000" y="1320000"/>
            <a:ext cx="4432632" cy="460000"/>
          </a:xfrm>
          <a:prstGeom prst="rect">
            <a:avLst/>
          </a:prstGeom>
          <a:noFill/>
        </p:spPr>
        <p:txBody>
          <a:bodyPr wrap="square" anchor="ctr">
            <a:spAutoFit/>
          </a:bodyPr>
          <a:lstStyle/>
          <a:p>
            <a:r>
              <a:rPr sz="1500" b="1">
                <a:solidFill>
                  <a:srgbClr val="1A2332"/>
                </a:solidFill>
                <a:latin typeface="Segoe UI Semibold"/>
              </a:rPr>
              <a:t>High effort</a:t>
            </a:r>
          </a:p>
        </p:txBody>
      </p:sp>
      <p:cxnSp>
        <p:nvCxnSpPr>
          <p:cNvPr id="15" name="Connector 14"/>
          <p:cNvCxnSpPr/>
          <p:nvPr/>
        </p:nvCxnSpPr>
        <p:spPr>
          <a:xfrm>
            <a:off x="6381000" y="1890000"/>
            <a:ext cx="4952632"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381000" y="2000000"/>
            <a:ext cx="4952632" cy="2700000"/>
          </a:xfrm>
          <a:prstGeom prst="rect">
            <a:avLst/>
          </a:prstGeom>
          <a:noFill/>
        </p:spPr>
        <p:txBody>
          <a:bodyPr wrap="square">
            <a:spAutoFit/>
          </a:bodyPr>
          <a:lstStyle/>
          <a:p>
            <a:r>
              <a:rPr sz="1150">
                <a:solidFill>
                  <a:srgbClr val="4A5568"/>
                </a:solidFill>
                <a:latin typeface="Segoe UI"/>
              </a:rPr>
              <a:t>The same request at high effort produces a much longer trace: more thinking tokens, more tool calls to verify the change, and a longer, more thorough answer. More output — and more input riding behind it on the next turn.</a:t>
            </a:r>
          </a:p>
        </p:txBody>
      </p:sp>
      <p:sp>
        <p:nvSpPr>
          <p:cNvPr id="17" name="TextBox 16"/>
          <p:cNvSpPr txBox="1"/>
          <p:nvPr/>
        </p:nvSpPr>
        <p:spPr>
          <a:xfrm>
            <a:off x="658368" y="5050000"/>
            <a:ext cx="10875264" cy="900000"/>
          </a:xfrm>
          <a:prstGeom prst="rect">
            <a:avLst/>
          </a:prstGeom>
          <a:noFill/>
        </p:spPr>
        <p:txBody>
          <a:bodyPr wrap="square">
            <a:spAutoFit/>
          </a:bodyPr>
          <a:lstStyle/>
          <a:p>
            <a:r>
              <a:rPr sz="1200" b="1">
                <a:solidFill>
                  <a:srgbClr val="1A2332"/>
                </a:solidFill>
                <a:latin typeface="Segoe UI Semibold"/>
              </a:rPr>
              <a:t>The default is usually right. Higher effort means more output tokens, and more input tokens riding behind them on every request after.</a:t>
            </a:r>
          </a:p>
        </p:txBody>
      </p:sp>
      <p:sp>
        <p:nvSpPr>
          <p:cNvPr id="18" name="TextBox 17"/>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19" name="TextBox 18"/>
          <p:cNvSpPr txBox="1"/>
          <p:nvPr/>
        </p:nvSpPr>
        <p:spPr>
          <a:xfrm>
            <a:off x="10424160" y="6428232"/>
            <a:ext cx="1097280" cy="182880"/>
          </a:xfrm>
          <a:prstGeom prst="rect">
            <a:avLst/>
          </a:prstGeom>
          <a:noFill/>
        </p:spPr>
        <p:txBody>
          <a:bodyPr wrap="none">
            <a:spAutoFit/>
          </a:bodyPr>
          <a:lstStyle/>
          <a:p>
            <a:pPr algn="r"/>
            <a:r>
              <a:rPr sz="850">
                <a:solidFill>
                  <a:srgbClr val="FFFFFF"/>
                </a:solidFill>
              </a:rPr>
              <a:t>35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The cache matches from the first token on</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One changed token at the front breaks the match for everything after it</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1300000"/>
            <a:ext cx="500000" cy="400000"/>
          </a:xfrm>
          <a:prstGeom prst="rect">
            <a:avLst/>
          </a:prstGeom>
          <a:noFill/>
        </p:spPr>
        <p:txBody>
          <a:bodyPr wrap="none">
            <a:spAutoFit/>
          </a:bodyPr>
          <a:lstStyle/>
          <a:p>
            <a:r>
              <a:rPr sz="1800" b="1">
                <a:solidFill>
                  <a:srgbClr val="D4622B"/>
                </a:solidFill>
              </a:rPr>
              <a:t>1</a:t>
            </a:r>
          </a:p>
        </p:txBody>
      </p:sp>
      <p:sp>
        <p:nvSpPr>
          <p:cNvPr id="6" name="TextBox 5"/>
          <p:cNvSpPr txBox="1"/>
          <p:nvPr/>
        </p:nvSpPr>
        <p:spPr>
          <a:xfrm>
            <a:off x="1200000" y="1300000"/>
            <a:ext cx="4400000" cy="400000"/>
          </a:xfrm>
          <a:prstGeom prst="rect">
            <a:avLst/>
          </a:prstGeom>
          <a:noFill/>
        </p:spPr>
        <p:txBody>
          <a:bodyPr wrap="square">
            <a:spAutoFit/>
          </a:bodyPr>
          <a:lstStyle/>
          <a:p>
            <a:r>
              <a:rPr sz="1350" b="1">
                <a:solidFill>
                  <a:srgbClr val="1A2332"/>
                </a:solidFill>
                <a:latin typeface="Segoe UI Semibold"/>
              </a:rPr>
              <a:t>Nothing changed at the front</a:t>
            </a:r>
          </a:p>
        </p:txBody>
      </p:sp>
      <p:sp>
        <p:nvSpPr>
          <p:cNvPr id="7" name="Rounded Rectangle 6"/>
          <p:cNvSpPr/>
          <p:nvPr/>
        </p:nvSpPr>
        <p:spPr>
          <a:xfrm>
            <a:off x="1200000" y="1730000"/>
            <a:ext cx="4400000" cy="42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200000" y="1520000"/>
            <a:ext cx="650000" cy="190000"/>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00" b="1">
                <a:solidFill>
                  <a:srgbClr val="FFFFFF"/>
                </a:solidFill>
              </a:rPr>
              <a:t>CACHED</a:t>
            </a:r>
          </a:p>
        </p:txBody>
      </p:sp>
      <p:sp>
        <p:nvSpPr>
          <p:cNvPr id="9" name="Rectangle 8"/>
          <p:cNvSpPr/>
          <p:nvPr/>
        </p:nvSpPr>
        <p:spPr>
          <a:xfrm>
            <a:off x="1245000" y="1775000"/>
            <a:ext cx="3879000" cy="33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124000" y="1775000"/>
            <a:ext cx="301700" cy="33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25700" y="1775000"/>
            <a:ext cx="129300" cy="33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00000" y="1450000"/>
            <a:ext cx="5533632" cy="700000"/>
          </a:xfrm>
          <a:prstGeom prst="rect">
            <a:avLst/>
          </a:prstGeom>
          <a:noFill/>
        </p:spPr>
        <p:txBody>
          <a:bodyPr wrap="square">
            <a:spAutoFit/>
          </a:bodyPr>
          <a:lstStyle/>
          <a:p>
            <a:r>
              <a:rPr sz="1200">
                <a:solidFill>
                  <a:srgbClr val="4A5568"/>
                </a:solidFill>
                <a:latin typeface="Segoe UI"/>
              </a:rPr>
              <a:t>The whole history matches — everything is cached.</a:t>
            </a:r>
          </a:p>
        </p:txBody>
      </p:sp>
      <p:sp>
        <p:nvSpPr>
          <p:cNvPr id="13" name="TextBox 12"/>
          <p:cNvSpPr txBox="1"/>
          <p:nvPr/>
        </p:nvSpPr>
        <p:spPr>
          <a:xfrm>
            <a:off x="658368" y="2850000"/>
            <a:ext cx="500000" cy="400000"/>
          </a:xfrm>
          <a:prstGeom prst="rect">
            <a:avLst/>
          </a:prstGeom>
          <a:noFill/>
        </p:spPr>
        <p:txBody>
          <a:bodyPr wrap="none">
            <a:spAutoFit/>
          </a:bodyPr>
          <a:lstStyle/>
          <a:p>
            <a:r>
              <a:rPr sz="1800" b="1">
                <a:solidFill>
                  <a:srgbClr val="D4622B"/>
                </a:solidFill>
              </a:rPr>
              <a:t>2</a:t>
            </a:r>
          </a:p>
        </p:txBody>
      </p:sp>
      <p:sp>
        <p:nvSpPr>
          <p:cNvPr id="14" name="TextBox 13"/>
          <p:cNvSpPr txBox="1"/>
          <p:nvPr/>
        </p:nvSpPr>
        <p:spPr>
          <a:xfrm>
            <a:off x="1200000" y="2850000"/>
            <a:ext cx="4400000" cy="400000"/>
          </a:xfrm>
          <a:prstGeom prst="rect">
            <a:avLst/>
          </a:prstGeom>
          <a:noFill/>
        </p:spPr>
        <p:txBody>
          <a:bodyPr wrap="square">
            <a:spAutoFit/>
          </a:bodyPr>
          <a:lstStyle/>
          <a:p>
            <a:r>
              <a:rPr sz="1350" b="1">
                <a:solidFill>
                  <a:srgbClr val="1A2332"/>
                </a:solidFill>
                <a:latin typeface="Segoe UI Semibold"/>
              </a:rPr>
              <a:t>Something changes near the front</a:t>
            </a:r>
          </a:p>
        </p:txBody>
      </p:sp>
      <p:sp>
        <p:nvSpPr>
          <p:cNvPr id="15" name="Rounded Rectangle 14"/>
          <p:cNvSpPr/>
          <p:nvPr/>
        </p:nvSpPr>
        <p:spPr>
          <a:xfrm>
            <a:off x="1200000" y="3280000"/>
            <a:ext cx="4400000" cy="42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200000" y="3070000"/>
            <a:ext cx="650000" cy="190000"/>
          </a:xfrm>
          <a:prstGeom prst="roundRect">
            <a:avLst>
              <a:gd name="adj" fmla="val 50000"/>
            </a:avLst>
          </a:prstGeom>
          <a:solidFill>
            <a:srgbClr val="1A2332"/>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800" b="1">
                <a:solidFill>
                  <a:srgbClr val="FFFFFF"/>
                </a:solidFill>
              </a:rPr>
              <a:t>CACHED</a:t>
            </a:r>
          </a:p>
        </p:txBody>
      </p:sp>
      <p:sp>
        <p:nvSpPr>
          <p:cNvPr id="17" name="Rectangle 16"/>
          <p:cNvSpPr/>
          <p:nvPr/>
        </p:nvSpPr>
        <p:spPr>
          <a:xfrm>
            <a:off x="1245000" y="3325000"/>
            <a:ext cx="1508500" cy="330000"/>
          </a:xfrm>
          <a:prstGeom prst="rect">
            <a:avLst/>
          </a:prstGeom>
          <a:solidFill>
            <a:srgbClr val="B7C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53500" y="3325000"/>
            <a:ext cx="258600" cy="330000"/>
          </a:xfrm>
          <a:prstGeom prst="rect">
            <a:avLst/>
          </a:prstGeom>
          <a:solidFill>
            <a:srgbClr val="E8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012100" y="3325000"/>
            <a:ext cx="2155000" cy="33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67100" y="3325000"/>
            <a:ext cx="387900" cy="33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0000" y="3000000"/>
            <a:ext cx="5533632" cy="700000"/>
          </a:xfrm>
          <a:prstGeom prst="rect">
            <a:avLst/>
          </a:prstGeom>
          <a:noFill/>
        </p:spPr>
        <p:txBody>
          <a:bodyPr wrap="square">
            <a:spAutoFit/>
          </a:bodyPr>
          <a:lstStyle/>
          <a:p>
            <a:r>
              <a:rPr sz="1200">
                <a:solidFill>
                  <a:srgbClr val="4A5568"/>
                </a:solidFill>
                <a:latin typeface="Segoe UI"/>
              </a:rPr>
              <a:t>e.g. /effort mid-session: the match breaks from that point on.</a:t>
            </a:r>
          </a:p>
        </p:txBody>
      </p:sp>
      <p:sp>
        <p:nvSpPr>
          <p:cNvPr id="22" name="TextBox 21"/>
          <p:cNvSpPr txBox="1"/>
          <p:nvPr/>
        </p:nvSpPr>
        <p:spPr>
          <a:xfrm>
            <a:off x="658368" y="4400000"/>
            <a:ext cx="500000" cy="400000"/>
          </a:xfrm>
          <a:prstGeom prst="rect">
            <a:avLst/>
          </a:prstGeom>
          <a:noFill/>
        </p:spPr>
        <p:txBody>
          <a:bodyPr wrap="none">
            <a:spAutoFit/>
          </a:bodyPr>
          <a:lstStyle/>
          <a:p>
            <a:r>
              <a:rPr sz="1800" b="1">
                <a:solidFill>
                  <a:srgbClr val="D4622B"/>
                </a:solidFill>
              </a:rPr>
              <a:t>3</a:t>
            </a:r>
          </a:p>
        </p:txBody>
      </p:sp>
      <p:sp>
        <p:nvSpPr>
          <p:cNvPr id="23" name="TextBox 22"/>
          <p:cNvSpPr txBox="1"/>
          <p:nvPr/>
        </p:nvSpPr>
        <p:spPr>
          <a:xfrm>
            <a:off x="1200000" y="4400000"/>
            <a:ext cx="4400000" cy="400000"/>
          </a:xfrm>
          <a:prstGeom prst="rect">
            <a:avLst/>
          </a:prstGeom>
          <a:noFill/>
        </p:spPr>
        <p:txBody>
          <a:bodyPr wrap="square">
            <a:spAutoFit/>
          </a:bodyPr>
          <a:lstStyle/>
          <a:p>
            <a:r>
              <a:rPr sz="1350" b="1">
                <a:solidFill>
                  <a:srgbClr val="1A2332"/>
                </a:solidFill>
                <a:latin typeface="Segoe UI Semibold"/>
              </a:rPr>
              <a:t>From the first different token on</a:t>
            </a:r>
          </a:p>
        </p:txBody>
      </p:sp>
      <p:sp>
        <p:nvSpPr>
          <p:cNvPr id="24" name="Rounded Rectangle 23"/>
          <p:cNvSpPr/>
          <p:nvPr/>
        </p:nvSpPr>
        <p:spPr>
          <a:xfrm>
            <a:off x="1200000" y="4830000"/>
            <a:ext cx="4400000" cy="420000"/>
          </a:xfrm>
          <a:prstGeom prst="roundRect">
            <a:avLst>
              <a:gd name="adj" fmla="val 35000"/>
            </a:avLst>
          </a:prstGeom>
          <a:solidFill>
            <a:srgbClr val="F3F4F8"/>
          </a:solidFill>
          <a:ln w="9525">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45000" y="4875000"/>
            <a:ext cx="258600" cy="330000"/>
          </a:xfrm>
          <a:prstGeom prst="rect">
            <a:avLst/>
          </a:prstGeom>
          <a:solidFill>
            <a:srgbClr val="E8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503600" y="4875000"/>
            <a:ext cx="3361800" cy="330000"/>
          </a:xfrm>
          <a:prstGeom prst="rect">
            <a:avLst/>
          </a:prstGeom>
          <a:solidFill>
            <a:srgbClr val="609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865400" y="4875000"/>
            <a:ext cx="689600" cy="33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00000" y="4550000"/>
            <a:ext cx="5533632" cy="700000"/>
          </a:xfrm>
          <a:prstGeom prst="rect">
            <a:avLst/>
          </a:prstGeom>
          <a:noFill/>
        </p:spPr>
        <p:txBody>
          <a:bodyPr wrap="square">
            <a:spAutoFit/>
          </a:bodyPr>
          <a:lstStyle/>
          <a:p>
            <a:r>
              <a:rPr sz="1200">
                <a:solidFill>
                  <a:srgbClr val="4A5568"/>
                </a:solidFill>
                <a:latin typeface="Segoe UI"/>
              </a:rPr>
              <a:t>All of it is processed again, at full input price.</a:t>
            </a:r>
          </a:p>
        </p:txBody>
      </p:sp>
      <p:sp>
        <p:nvSpPr>
          <p:cNvPr id="29" name="TextBox 28"/>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30" name="TextBox 29"/>
          <p:cNvSpPr txBox="1"/>
          <p:nvPr/>
        </p:nvSpPr>
        <p:spPr>
          <a:xfrm>
            <a:off x="10424160" y="6428232"/>
            <a:ext cx="1097280" cy="182880"/>
          </a:xfrm>
          <a:prstGeom prst="rect">
            <a:avLst/>
          </a:prstGeom>
          <a:noFill/>
        </p:spPr>
        <p:txBody>
          <a:bodyPr wrap="none">
            <a:spAutoFit/>
          </a:bodyPr>
          <a:lstStyle/>
          <a:p>
            <a:pPr algn="r"/>
            <a:r>
              <a:rPr sz="850">
                <a:solidFill>
                  <a:srgbClr val="FFFFFF"/>
                </a:solidFill>
              </a:rPr>
              <a:t>36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The cache expires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Every cache hit resets the timer — it costs more when you step away, not while you work</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658368" y="1150000"/>
          <a:ext cx="6000000" cy="2480000"/>
        </p:xfrm>
        <a:graphic>
          <a:graphicData uri="http://schemas.openxmlformats.org/drawingml/2006/table">
            <a:tbl>
              <a:tblPr firstRow="1" bandRow="1">
                <a:tableStyleId>{5C22544A-7EE6-4342-B048-85BDC9FD1C3A}</a:tableStyleId>
              </a:tblPr>
              <a:tblGrid>
                <a:gridCol w="3000000"/>
                <a:gridCol w="3000000"/>
              </a:tblGrid>
              <a:tr h="620000">
                <a:tc>
                  <a:txBody>
                    <a:bodyPr/>
                    <a:lstStyle/>
                    <a:p>
                      <a:pPr algn="l"/>
                      <a:r>
                        <a:rPr sz="1250" b="1">
                          <a:solidFill>
                            <a:srgbClr val="FFFFFF"/>
                          </a:solidFill>
                          <a:latin typeface="Segoe UI Semibold"/>
                        </a:rPr>
                        <a:t>Context</a:t>
                      </a:r>
                    </a:p>
                  </a:txBody>
                  <a:tcPr anchor="ctr">
                    <a:solidFill>
                      <a:srgbClr val="D4622B"/>
                    </a:solidFill>
                  </a:tcPr>
                </a:tc>
                <a:tc>
                  <a:txBody>
                    <a:bodyPr/>
                    <a:lstStyle/>
                    <a:p>
                      <a:pPr algn="ctr"/>
                      <a:r>
                        <a:rPr sz="1250" b="1">
                          <a:solidFill>
                            <a:srgbClr val="FFFFFF"/>
                          </a:solidFill>
                          <a:latin typeface="Segoe UI Semibold"/>
                        </a:rPr>
                        <a:t>Cache TTL</a:t>
                      </a:r>
                    </a:p>
                  </a:txBody>
                  <a:tcPr anchor="ctr">
                    <a:solidFill>
                      <a:srgbClr val="D4622B"/>
                    </a:solidFill>
                  </a:tcPr>
                </a:tc>
              </a:tr>
              <a:tr h="620000">
                <a:tc>
                  <a:txBody>
                    <a:bodyPr/>
                    <a:lstStyle/>
                    <a:p>
                      <a:pPr algn="l"/>
                      <a:r>
                        <a:rPr sz="1250">
                          <a:solidFill>
                            <a:srgbClr val="1A2332"/>
                          </a:solidFill>
                          <a:latin typeface="Segoe UI"/>
                        </a:rPr>
                        <a:t>Plans, within usage</a:t>
                      </a:r>
                    </a:p>
                  </a:txBody>
                  <a:tcPr anchor="ctr">
                    <a:solidFill>
                      <a:srgbClr val="FFFFFF"/>
                    </a:solidFill>
                  </a:tcPr>
                </a:tc>
                <a:tc>
                  <a:txBody>
                    <a:bodyPr/>
                    <a:lstStyle/>
                    <a:p>
                      <a:pPr algn="ctr"/>
                      <a:r>
                        <a:rPr sz="1250">
                          <a:solidFill>
                            <a:srgbClr val="1A2332"/>
                          </a:solidFill>
                          <a:latin typeface="Segoe UI"/>
                        </a:rPr>
                        <a:t>~1 hour</a:t>
                      </a:r>
                    </a:p>
                  </a:txBody>
                  <a:tcPr anchor="ctr">
                    <a:solidFill>
                      <a:srgbClr val="FFFFFF"/>
                    </a:solidFill>
                  </a:tcPr>
                </a:tc>
              </a:tr>
              <a:tr h="620000">
                <a:tc>
                  <a:txBody>
                    <a:bodyPr/>
                    <a:lstStyle/>
                    <a:p>
                      <a:pPr algn="l"/>
                      <a:r>
                        <a:rPr sz="1250">
                          <a:solidFill>
                            <a:srgbClr val="1A2332"/>
                          </a:solidFill>
                          <a:latin typeface="Segoe UI"/>
                        </a:rPr>
                        <a:t>API · cloud</a:t>
                      </a:r>
                    </a:p>
                  </a:txBody>
                  <a:tcPr anchor="ctr">
                    <a:solidFill>
                      <a:srgbClr val="F8F7FC"/>
                    </a:solidFill>
                  </a:tcPr>
                </a:tc>
                <a:tc>
                  <a:txBody>
                    <a:bodyPr/>
                    <a:lstStyle/>
                    <a:p>
                      <a:pPr algn="ctr"/>
                      <a:r>
                        <a:rPr sz="1250">
                          <a:solidFill>
                            <a:srgbClr val="1A2332"/>
                          </a:solidFill>
                          <a:latin typeface="Segoe UI"/>
                        </a:rPr>
                        <a:t>~5 minutes</a:t>
                      </a:r>
                    </a:p>
                  </a:txBody>
                  <a:tcPr anchor="ctr">
                    <a:solidFill>
                      <a:srgbClr val="F8F7FC"/>
                    </a:solidFill>
                  </a:tcPr>
                </a:tc>
              </a:tr>
              <a:tr h="620000">
                <a:tc>
                  <a:txBody>
                    <a:bodyPr/>
                    <a:lstStyle/>
                    <a:p>
                      <a:pPr algn="l"/>
                      <a:r>
                        <a:rPr sz="1250">
                          <a:solidFill>
                            <a:srgbClr val="1A2332"/>
                          </a:solidFill>
                          <a:latin typeface="Segoe UI"/>
                        </a:rPr>
                        <a:t>Subagents</a:t>
                      </a:r>
                    </a:p>
                  </a:txBody>
                  <a:tcPr anchor="ctr">
                    <a:solidFill>
                      <a:srgbClr val="FFFFFF"/>
                    </a:solidFill>
                  </a:tcPr>
                </a:tc>
                <a:tc>
                  <a:txBody>
                    <a:bodyPr/>
                    <a:lstStyle/>
                    <a:p>
                      <a:pPr algn="ctr"/>
                      <a:r>
                        <a:rPr sz="1250">
                          <a:solidFill>
                            <a:srgbClr val="1A2332"/>
                          </a:solidFill>
                          <a:latin typeface="Segoe UI"/>
                        </a:rPr>
                        <a:t>5 minutes</a:t>
                      </a:r>
                    </a:p>
                  </a:txBody>
                  <a:tcPr anchor="ctr">
                    <a:solidFill>
                      <a:srgbClr val="FFFFFF"/>
                    </a:solidFill>
                  </a:tcPr>
                </a:tc>
              </a:tr>
            </a:tbl>
          </a:graphicData>
        </a:graphic>
      </p:graphicFrame>
      <p:sp>
        <p:nvSpPr>
          <p:cNvPr id="6" name="TextBox 5"/>
          <p:cNvSpPr txBox="1"/>
          <p:nvPr/>
        </p:nvSpPr>
        <p:spPr>
          <a:xfrm>
            <a:off x="658368" y="3850000"/>
            <a:ext cx="6000000" cy="1400000"/>
          </a:xfrm>
          <a:prstGeom prst="rect">
            <a:avLst/>
          </a:prstGeom>
          <a:noFill/>
        </p:spPr>
        <p:txBody>
          <a:bodyPr wrap="square">
            <a:spAutoFit/>
          </a:bodyPr>
          <a:lstStyle/>
          <a:p>
            <a:r>
              <a:rPr sz="1150">
                <a:solidFill>
                  <a:srgbClr val="4A5568"/>
                </a:solidFill>
                <a:latin typeface="Segoe UI"/>
              </a:rPr>
              <a:t>A 1-hour cache write is billed at 2× input, a 5-minute one at 1.25× — it costs more when you step away and come back, not while you're actively working, since every request resets the timer.</a:t>
            </a:r>
          </a:p>
        </p:txBody>
      </p:sp>
      <p:sp>
        <p:nvSpPr>
          <p:cNvPr id="7" name="Rounded Rectangle 6"/>
          <p:cNvSpPr/>
          <p:nvPr/>
        </p:nvSpPr>
        <p:spPr>
          <a:xfrm>
            <a:off x="6908368" y="1150000"/>
            <a:ext cx="4625264" cy="5200000"/>
          </a:xfrm>
          <a:prstGeom prst="roundRect">
            <a:avLst>
              <a:gd name="adj" fmla="val 4000"/>
            </a:avLst>
          </a:prstGeom>
          <a:solidFill>
            <a:srgbClr val="F5F3FA"/>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6968" y="1270000"/>
            <a:ext cx="4168064" cy="4960000"/>
          </a:xfrm>
          <a:prstGeom prst="rect">
            <a:avLst/>
          </a:prstGeom>
          <a:noFill/>
        </p:spPr>
        <p:txBody>
          <a:bodyPr wrap="square">
            <a:spAutoFit/>
          </a:bodyPr>
          <a:lstStyle/>
          <a:p>
            <a:r>
              <a:rPr sz="1250">
                <a:solidFill>
                  <a:srgbClr val="1A2332"/>
                </a:solidFill>
                <a:latin typeface="Consolas"/>
              </a:rPr>
              <a:t>~/.claude/settings.json</a:t>
            </a:r>
          </a:p>
          <a:p>
            <a:r>
              <a:rPr sz="1250">
                <a:solidFill>
                  <a:srgbClr val="1A2332"/>
                </a:solidFill>
                <a:latin typeface="Consolas"/>
              </a:rPr>
              <a:t>(or managed settings for a team)</a:t>
            </a:r>
          </a:p>
          <a:p>
            <a:r>
              <a:rPr sz="1250">
                <a:solidFill>
                  <a:srgbClr val="1A2332"/>
                </a:solidFill>
                <a:latin typeface="Consolas"/>
              </a:rPr>
              <a:t> </a:t>
            </a:r>
          </a:p>
          <a:p>
            <a:r>
              <a:rPr sz="1250">
                <a:solidFill>
                  <a:srgbClr val="1A2332"/>
                </a:solidFill>
                <a:latin typeface="Consolas"/>
              </a:rPr>
              <a:t>{</a:t>
            </a:r>
          </a:p>
          <a:p>
            <a:r>
              <a:rPr sz="1250">
                <a:solidFill>
                  <a:srgbClr val="1A2332"/>
                </a:solidFill>
                <a:latin typeface="Consolas"/>
              </a:rPr>
              <a:t>  "promptCacheTtl": "1h",</a:t>
            </a:r>
          </a:p>
          <a:p>
            <a:r>
              <a:rPr sz="1250">
                <a:solidFill>
                  <a:srgbClr val="1A2332"/>
                </a:solidFill>
                <a:latin typeface="Consolas"/>
              </a:rPr>
              <a:t>  "subagentPromptCacheTtl": "1h"</a:t>
            </a:r>
          </a:p>
          <a:p>
            <a:r>
              <a:rPr sz="1250">
                <a:solidFill>
                  <a:srgbClr val="1A2332"/>
                </a:solidFill>
                <a:latin typeface="Consolas"/>
              </a:rPr>
              <a:t>}</a:t>
            </a:r>
          </a:p>
        </p:txBody>
      </p:sp>
      <p:sp>
        <p:nvSpPr>
          <p:cNvPr id="9" name="TextBox 8"/>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10" name="TextBox 9"/>
          <p:cNvSpPr txBox="1"/>
          <p:nvPr/>
        </p:nvSpPr>
        <p:spPr>
          <a:xfrm>
            <a:off x="10424160" y="6428232"/>
            <a:ext cx="1097280" cy="182880"/>
          </a:xfrm>
          <a:prstGeom prst="rect">
            <a:avLst/>
          </a:prstGeom>
          <a:noFill/>
        </p:spPr>
        <p:txBody>
          <a:bodyPr wrap="none">
            <a:spAutoFit/>
          </a:bodyPr>
          <a:lstStyle/>
          <a:p>
            <a:pPr algn="r"/>
            <a:r>
              <a:rPr sz="850">
                <a:solidFill>
                  <a:srgbClr val="FFFFFF"/>
                </a:solidFill>
              </a:rPr>
              <a:t>37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In practice</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Four habits that keep the cache working for you instead of against you</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520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1</a:t>
            </a:r>
          </a:p>
        </p:txBody>
      </p:sp>
      <p:sp>
        <p:nvSpPr>
          <p:cNvPr id="8" name="TextBox 7"/>
          <p:cNvSpPr txBox="1"/>
          <p:nvPr/>
        </p:nvSpPr>
        <p:spPr>
          <a:xfrm>
            <a:off x="1378368" y="1320000"/>
            <a:ext cx="1671316" cy="460000"/>
          </a:xfrm>
          <a:prstGeom prst="rect">
            <a:avLst/>
          </a:prstGeom>
          <a:noFill/>
        </p:spPr>
        <p:txBody>
          <a:bodyPr wrap="square" anchor="ctr">
            <a:spAutoFit/>
          </a:bodyPr>
          <a:lstStyle/>
          <a:p>
            <a:r>
              <a:rPr sz="1500" b="1">
                <a:solidFill>
                  <a:srgbClr val="1A2332"/>
                </a:solidFill>
                <a:latin typeface="Segoe UI Semibold"/>
              </a:rPr>
              <a:t>Choose at the start</a:t>
            </a:r>
          </a:p>
        </p:txBody>
      </p:sp>
      <p:cxnSp>
        <p:nvCxnSpPr>
          <p:cNvPr id="9" name="Connector 8"/>
          <p:cNvCxnSpPr/>
          <p:nvPr/>
        </p:nvCxnSpPr>
        <p:spPr>
          <a:xfrm>
            <a:off x="858368"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2191316" cy="3780000"/>
          </a:xfrm>
          <a:prstGeom prst="rect">
            <a:avLst/>
          </a:prstGeom>
          <a:noFill/>
        </p:spPr>
        <p:txBody>
          <a:bodyPr wrap="square">
            <a:spAutoFit/>
          </a:bodyPr>
          <a:lstStyle/>
          <a:p>
            <a:r>
              <a:rPr sz="1150">
                <a:solidFill>
                  <a:srgbClr val="4A5568"/>
                </a:solidFill>
                <a:latin typeface="Segoe UI"/>
              </a:rPr>
              <a:t>Set model and effort at the start of a session, or right after /clear — not mid-task, once the cache has real value in it.</a:t>
            </a:r>
          </a:p>
        </p:txBody>
      </p:sp>
      <p:sp>
        <p:nvSpPr>
          <p:cNvPr id="11" name="Rounded Rectangle 10"/>
          <p:cNvSpPr/>
          <p:nvPr/>
        </p:nvSpPr>
        <p:spPr>
          <a:xfrm>
            <a:off x="858368"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1565C0"/>
                </a:solidFill>
                <a:latin typeface="Consolas"/>
              </a:rPr>
              <a:t>/model · /effort</a:t>
            </a:r>
          </a:p>
        </p:txBody>
      </p:sp>
      <p:sp>
        <p:nvSpPr>
          <p:cNvPr id="12" name="Rounded Rectangle 11"/>
          <p:cNvSpPr/>
          <p:nvPr/>
        </p:nvSpPr>
        <p:spPr>
          <a:xfrm>
            <a:off x="3419684"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19684"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19684"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2</a:t>
            </a:r>
          </a:p>
        </p:txBody>
      </p:sp>
      <p:sp>
        <p:nvSpPr>
          <p:cNvPr id="15" name="TextBox 14"/>
          <p:cNvSpPr txBox="1"/>
          <p:nvPr/>
        </p:nvSpPr>
        <p:spPr>
          <a:xfrm>
            <a:off x="4139684" y="1320000"/>
            <a:ext cx="1671316" cy="460000"/>
          </a:xfrm>
          <a:prstGeom prst="rect">
            <a:avLst/>
          </a:prstGeom>
          <a:noFill/>
        </p:spPr>
        <p:txBody>
          <a:bodyPr wrap="square" anchor="ctr">
            <a:spAutoFit/>
          </a:bodyPr>
          <a:lstStyle/>
          <a:p>
            <a:r>
              <a:rPr sz="1500" b="1">
                <a:solidFill>
                  <a:srgbClr val="1A2332"/>
                </a:solidFill>
                <a:latin typeface="Segoe UI Semibold"/>
              </a:rPr>
              <a:t>Compact before switching</a:t>
            </a:r>
          </a:p>
        </p:txBody>
      </p:sp>
      <p:cxnSp>
        <p:nvCxnSpPr>
          <p:cNvPr id="16" name="Connector 15"/>
          <p:cNvCxnSpPr/>
          <p:nvPr/>
        </p:nvCxnSpPr>
        <p:spPr>
          <a:xfrm>
            <a:off x="3619684"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619684" y="2000000"/>
            <a:ext cx="2191316" cy="3780000"/>
          </a:xfrm>
          <a:prstGeom prst="rect">
            <a:avLst/>
          </a:prstGeom>
          <a:noFill/>
        </p:spPr>
        <p:txBody>
          <a:bodyPr wrap="square">
            <a:spAutoFit/>
          </a:bodyPr>
          <a:lstStyle/>
          <a:p>
            <a:r>
              <a:rPr sz="1150">
                <a:solidFill>
                  <a:srgbClr val="4A5568"/>
                </a:solidFill>
                <a:latin typeface="Segoe UI"/>
              </a:rPr>
              <a:t>Switching models or effort mid-task? Run /compact first, then switch — you keep the summary, and you're not throwing away a still-warm cache for nothing.</a:t>
            </a:r>
          </a:p>
        </p:txBody>
      </p:sp>
      <p:sp>
        <p:nvSpPr>
          <p:cNvPr id="18" name="Rounded Rectangle 17"/>
          <p:cNvSpPr/>
          <p:nvPr/>
        </p:nvSpPr>
        <p:spPr>
          <a:xfrm>
            <a:off x="3619684"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/compact → /model</a:t>
            </a:r>
          </a:p>
        </p:txBody>
      </p:sp>
      <p:sp>
        <p:nvSpPr>
          <p:cNvPr id="19" name="Rounded Rectangle 18"/>
          <p:cNvSpPr/>
          <p:nvPr/>
        </p:nvSpPr>
        <p:spPr>
          <a:xfrm>
            <a:off x="6181000"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1000" y="1150000"/>
            <a:ext cx="57150" cy="520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81000" y="1350000"/>
            <a:ext cx="400000" cy="40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3</a:t>
            </a:r>
          </a:p>
        </p:txBody>
      </p:sp>
      <p:sp>
        <p:nvSpPr>
          <p:cNvPr id="22" name="TextBox 21"/>
          <p:cNvSpPr txBox="1"/>
          <p:nvPr/>
        </p:nvSpPr>
        <p:spPr>
          <a:xfrm>
            <a:off x="6901000" y="1320000"/>
            <a:ext cx="1671316" cy="460000"/>
          </a:xfrm>
          <a:prstGeom prst="rect">
            <a:avLst/>
          </a:prstGeom>
          <a:noFill/>
        </p:spPr>
        <p:txBody>
          <a:bodyPr wrap="square" anchor="ctr">
            <a:spAutoFit/>
          </a:bodyPr>
          <a:lstStyle/>
          <a:p>
            <a:r>
              <a:rPr sz="1500" b="1">
                <a:solidFill>
                  <a:srgbClr val="1A2332"/>
                </a:solidFill>
                <a:latin typeface="Segoe UI Semibold"/>
              </a:rPr>
              <a:t>Compact before stepping away</a:t>
            </a:r>
          </a:p>
        </p:txBody>
      </p:sp>
      <p:cxnSp>
        <p:nvCxnSpPr>
          <p:cNvPr id="23" name="Connector 22"/>
          <p:cNvCxnSpPr/>
          <p:nvPr/>
        </p:nvCxnSpPr>
        <p:spPr>
          <a:xfrm>
            <a:off x="6381000"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81000" y="2000000"/>
            <a:ext cx="2191316" cy="3780000"/>
          </a:xfrm>
          <a:prstGeom prst="rect">
            <a:avLst/>
          </a:prstGeom>
          <a:noFill/>
        </p:spPr>
        <p:txBody>
          <a:bodyPr wrap="square">
            <a:spAutoFit/>
          </a:bodyPr>
          <a:lstStyle/>
          <a:p>
            <a:r>
              <a:rPr sz="1150">
                <a:solidFill>
                  <a:srgbClr val="4A5568"/>
                </a:solidFill>
                <a:latin typeface="Segoe UI"/>
              </a:rPr>
              <a:t>Do it while the cache is still warm, so the cheap read window isn't wasted on a conversation you're about to leave anyway.</a:t>
            </a:r>
          </a:p>
        </p:txBody>
      </p:sp>
      <p:sp>
        <p:nvSpPr>
          <p:cNvPr id="25" name="Rounded Rectangle 24"/>
          <p:cNvSpPr/>
          <p:nvPr/>
        </p:nvSpPr>
        <p:spPr>
          <a:xfrm>
            <a:off x="6381000"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059669"/>
                </a:solidFill>
                <a:latin typeface="Consolas"/>
              </a:rPr>
              <a:t>/compact</a:t>
            </a:r>
          </a:p>
        </p:txBody>
      </p:sp>
      <p:sp>
        <p:nvSpPr>
          <p:cNvPr id="26" name="Rounded Rectangle 25"/>
          <p:cNvSpPr/>
          <p:nvPr/>
        </p:nvSpPr>
        <p:spPr>
          <a:xfrm>
            <a:off x="8942316" y="1150000"/>
            <a:ext cx="2591316"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2316" y="1150000"/>
            <a:ext cx="57150" cy="5200000"/>
          </a:xfrm>
          <a:prstGeom prst="rect">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2316" y="1350000"/>
            <a:ext cx="400000" cy="400000"/>
          </a:xfrm>
          <a:prstGeom prst="ellipse">
            <a:avLst/>
          </a:prstGeom>
          <a:solidFill>
            <a:srgbClr val="D462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4</a:t>
            </a:r>
          </a:p>
        </p:txBody>
      </p:sp>
      <p:sp>
        <p:nvSpPr>
          <p:cNvPr id="29" name="TextBox 28"/>
          <p:cNvSpPr txBox="1"/>
          <p:nvPr/>
        </p:nvSpPr>
        <p:spPr>
          <a:xfrm>
            <a:off x="9662316" y="1320000"/>
            <a:ext cx="1671316" cy="460000"/>
          </a:xfrm>
          <a:prstGeom prst="rect">
            <a:avLst/>
          </a:prstGeom>
          <a:noFill/>
        </p:spPr>
        <p:txBody>
          <a:bodyPr wrap="square" anchor="ctr">
            <a:spAutoFit/>
          </a:bodyPr>
          <a:lstStyle/>
          <a:p>
            <a:r>
              <a:rPr sz="1500" b="1">
                <a:solidFill>
                  <a:srgbClr val="1A2332"/>
                </a:solidFill>
                <a:latin typeface="Segoe UI Semibold"/>
              </a:rPr>
              <a:t>Compact before resuming</a:t>
            </a:r>
          </a:p>
        </p:txBody>
      </p:sp>
      <p:cxnSp>
        <p:nvCxnSpPr>
          <p:cNvPr id="30" name="Connector 29"/>
          <p:cNvCxnSpPr/>
          <p:nvPr/>
        </p:nvCxnSpPr>
        <p:spPr>
          <a:xfrm>
            <a:off x="9142316" y="1890000"/>
            <a:ext cx="2191316"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142316" y="2000000"/>
            <a:ext cx="2191316" cy="3780000"/>
          </a:xfrm>
          <a:prstGeom prst="rect">
            <a:avLst/>
          </a:prstGeom>
          <a:noFill/>
        </p:spPr>
        <p:txBody>
          <a:bodyPr wrap="square">
            <a:spAutoFit/>
          </a:bodyPr>
          <a:lstStyle/>
          <a:p>
            <a:r>
              <a:rPr sz="1150">
                <a:solidFill>
                  <a:srgbClr val="4A5568"/>
                </a:solidFill>
                <a:latin typeface="Segoe UI"/>
              </a:rPr>
              <a:t>Back tomorrow? Compact before you leave today. A cold --resume re-reads everything at full price if the cache already expired overnight.</a:t>
            </a:r>
          </a:p>
        </p:txBody>
      </p:sp>
      <p:sp>
        <p:nvSpPr>
          <p:cNvPr id="32" name="Rounded Rectangle 31"/>
          <p:cNvSpPr/>
          <p:nvPr/>
        </p:nvSpPr>
        <p:spPr>
          <a:xfrm>
            <a:off x="9142316" y="5850000"/>
            <a:ext cx="2191316"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D4622B"/>
                </a:solidFill>
                <a:latin typeface="Consolas"/>
              </a:rPr>
              <a:t>claude --resume</a:t>
            </a:r>
          </a:p>
        </p:txBody>
      </p:sp>
      <p:sp>
        <p:nvSpPr>
          <p:cNvPr id="33" name="TextBox 32"/>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34" name="TextBox 33"/>
          <p:cNvSpPr txBox="1"/>
          <p:nvPr/>
        </p:nvSpPr>
        <p:spPr>
          <a:xfrm>
            <a:off x="10424160" y="6428232"/>
            <a:ext cx="1097280" cy="182880"/>
          </a:xfrm>
          <a:prstGeom prst="rect">
            <a:avLst/>
          </a:prstGeom>
          <a:noFill/>
        </p:spPr>
        <p:txBody>
          <a:bodyPr wrap="none">
            <a:spAutoFit/>
          </a:bodyPr>
          <a:lstStyle/>
          <a:p>
            <a:pPr algn="r"/>
            <a:r>
              <a:rPr sz="850">
                <a:solidFill>
                  <a:srgbClr val="FFFFFF"/>
                </a:solidFill>
              </a:rPr>
              <a:t>38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Managed settings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One file. Every install picks it up at startup, and users can't override it</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6300000" cy="5200000"/>
          </a:xfrm>
          <a:prstGeom prst="roundRect">
            <a:avLst>
              <a:gd name="adj" fmla="val 4000"/>
            </a:avLst>
          </a:prstGeom>
          <a:solidFill>
            <a:srgbClr val="F5F3FA"/>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70000"/>
            <a:ext cx="5842800" cy="4960000"/>
          </a:xfrm>
          <a:prstGeom prst="rect">
            <a:avLst/>
          </a:prstGeom>
          <a:noFill/>
        </p:spPr>
        <p:txBody>
          <a:bodyPr wrap="square">
            <a:spAutoFit/>
          </a:bodyPr>
          <a:lstStyle/>
          <a:p>
            <a:r>
              <a:rPr sz="1250">
                <a:solidFill>
                  <a:srgbClr val="1A2332"/>
                </a:solidFill>
                <a:latin typeface="Consolas"/>
              </a:rPr>
              <a:t>claude.ai/admin-settings/claude-code</a:t>
            </a:r>
          </a:p>
          <a:p>
            <a:r>
              <a:rPr sz="1250">
                <a:solidFill>
                  <a:srgbClr val="1A2332"/>
                </a:solidFill>
                <a:latin typeface="Consolas"/>
              </a:rPr>
              <a:t>→ Claude Code → Managed settings</a:t>
            </a:r>
          </a:p>
          <a:p>
            <a:r>
              <a:rPr sz="1250">
                <a:solidFill>
                  <a:srgbClr val="1A2332"/>
                </a:solidFill>
                <a:latin typeface="Consolas"/>
              </a:rPr>
              <a:t> </a:t>
            </a:r>
          </a:p>
          <a:p>
            <a:r>
              <a:rPr sz="1250">
                <a:solidFill>
                  <a:srgbClr val="1A2332"/>
                </a:solidFill>
                <a:latin typeface="Consolas"/>
              </a:rPr>
              <a:t>{</a:t>
            </a:r>
          </a:p>
          <a:p>
            <a:r>
              <a:rPr sz="1250">
                <a:solidFill>
                  <a:srgbClr val="1A2332"/>
                </a:solidFill>
                <a:latin typeface="Consolas"/>
              </a:rPr>
              <a:t>  "model": "sonnet",</a:t>
            </a:r>
          </a:p>
          <a:p>
            <a:r>
              <a:rPr sz="1250">
                <a:solidFill>
                  <a:srgbClr val="1A2332"/>
                </a:solidFill>
                <a:latin typeface="Consolas"/>
              </a:rPr>
              <a:t>  "availableModels": ["sonnet","haiku","opus"],</a:t>
            </a:r>
          </a:p>
          <a:p>
            <a:r>
              <a:rPr sz="1250">
                <a:solidFill>
                  <a:srgbClr val="1A2332"/>
                </a:solidFill>
                <a:latin typeface="Consolas"/>
              </a:rPr>
              <a:t>  "effortLevel": "medium",</a:t>
            </a:r>
          </a:p>
          <a:p>
            <a:r>
              <a:rPr sz="1250">
                <a:solidFill>
                  <a:srgbClr val="1A2332"/>
                </a:solidFill>
                <a:latin typeface="Consolas"/>
              </a:rPr>
              <a:t>  "maxEffortLevel": "high",</a:t>
            </a:r>
          </a:p>
          <a:p>
            <a:r>
              <a:rPr sz="1250">
                <a:solidFill>
                  <a:srgbClr val="1A2332"/>
                </a:solidFill>
                <a:latin typeface="Consolas"/>
              </a:rPr>
              <a:t>  "promptCacheTtl": "1h",</a:t>
            </a:r>
          </a:p>
          <a:p>
            <a:r>
              <a:rPr sz="1250">
                <a:solidFill>
                  <a:srgbClr val="1A2332"/>
                </a:solidFill>
                <a:latin typeface="Consolas"/>
              </a:rPr>
              <a:t>  "allowedMcpServers": [ ... ],</a:t>
            </a:r>
          </a:p>
          <a:p>
            <a:r>
              <a:rPr sz="1250">
                <a:solidFill>
                  <a:srgbClr val="1A2332"/>
                </a:solidFill>
                <a:latin typeface="Consolas"/>
              </a:rPr>
              <a:t>  "env": { "CLAUDE_CODE_ENABLE_TELEMETRY": "1" }</a:t>
            </a:r>
          </a:p>
          <a:p>
            <a:r>
              <a:rPr sz="1250">
                <a:solidFill>
                  <a:srgbClr val="1A2332"/>
                </a:solidFill>
                <a:latin typeface="Consolas"/>
              </a:rPr>
              <a:t>}</a:t>
            </a:r>
          </a:p>
        </p:txBody>
      </p:sp>
      <p:sp>
        <p:nvSpPr>
          <p:cNvPr id="7" name="TextBox 6"/>
          <p:cNvSpPr txBox="1"/>
          <p:nvPr/>
        </p:nvSpPr>
        <p:spPr>
          <a:xfrm>
            <a:off x="7178368" y="1150000"/>
            <a:ext cx="4355264" cy="866666"/>
          </a:xfrm>
          <a:prstGeom prst="rect">
            <a:avLst/>
          </a:prstGeom>
          <a:noFill/>
        </p:spPr>
        <p:txBody>
          <a:bodyPr wrap="square">
            <a:spAutoFit/>
          </a:bodyPr>
          <a:lstStyle/>
          <a:p>
            <a:r>
              <a:rPr sz="1250" b="1">
                <a:solidFill>
                  <a:srgbClr val="1565C0"/>
                </a:solidFill>
                <a:latin typeface="Consolas"/>
              </a:rPr>
              <a:t>model</a:t>
            </a:r>
          </a:p>
          <a:p>
            <a:r>
              <a:rPr sz="1100">
                <a:solidFill>
                  <a:srgbClr val="4A5568"/>
                </a:solidFill>
                <a:latin typeface="Segoe UI"/>
              </a:rPr>
              <a:t>What everyone starts on.</a:t>
            </a:r>
          </a:p>
        </p:txBody>
      </p:sp>
      <p:sp>
        <p:nvSpPr>
          <p:cNvPr id="8" name="TextBox 7"/>
          <p:cNvSpPr txBox="1"/>
          <p:nvPr/>
        </p:nvSpPr>
        <p:spPr>
          <a:xfrm>
            <a:off x="7178368" y="2016666"/>
            <a:ext cx="4355264" cy="866666"/>
          </a:xfrm>
          <a:prstGeom prst="rect">
            <a:avLst/>
          </a:prstGeom>
          <a:noFill/>
        </p:spPr>
        <p:txBody>
          <a:bodyPr wrap="square">
            <a:spAutoFit/>
          </a:bodyPr>
          <a:lstStyle/>
          <a:p>
            <a:r>
              <a:rPr sz="1250" b="1">
                <a:solidFill>
                  <a:srgbClr val="1565C0"/>
                </a:solidFill>
                <a:latin typeface="Consolas"/>
              </a:rPr>
              <a:t>availableModels</a:t>
            </a:r>
          </a:p>
          <a:p>
            <a:r>
              <a:rPr sz="1100">
                <a:solidFill>
                  <a:srgbClr val="4A5568"/>
                </a:solidFill>
                <a:latin typeface="Segoe UI"/>
              </a:rPr>
              <a:t>What they're allowed to switch to.</a:t>
            </a:r>
          </a:p>
        </p:txBody>
      </p:sp>
      <p:sp>
        <p:nvSpPr>
          <p:cNvPr id="9" name="TextBox 8"/>
          <p:cNvSpPr txBox="1"/>
          <p:nvPr/>
        </p:nvSpPr>
        <p:spPr>
          <a:xfrm>
            <a:off x="7178368" y="2883332"/>
            <a:ext cx="4355264" cy="866666"/>
          </a:xfrm>
          <a:prstGeom prst="rect">
            <a:avLst/>
          </a:prstGeom>
          <a:noFill/>
        </p:spPr>
        <p:txBody>
          <a:bodyPr wrap="square">
            <a:spAutoFit/>
          </a:bodyPr>
          <a:lstStyle/>
          <a:p>
            <a:r>
              <a:rPr sz="1250" b="1">
                <a:solidFill>
                  <a:srgbClr val="1565C0"/>
                </a:solidFill>
                <a:latin typeface="Consolas"/>
              </a:rPr>
              <a:t>effortLevel / maxEffortLevel</a:t>
            </a:r>
          </a:p>
          <a:p>
            <a:r>
              <a:rPr sz="1100">
                <a:solidFill>
                  <a:srgbClr val="4A5568"/>
                </a:solidFill>
                <a:latin typeface="Segoe UI"/>
              </a:rPr>
              <a:t>Starting effort, and a hard cap.</a:t>
            </a:r>
          </a:p>
        </p:txBody>
      </p:sp>
      <p:sp>
        <p:nvSpPr>
          <p:cNvPr id="10" name="TextBox 9"/>
          <p:cNvSpPr txBox="1"/>
          <p:nvPr/>
        </p:nvSpPr>
        <p:spPr>
          <a:xfrm>
            <a:off x="7178368" y="3749998"/>
            <a:ext cx="4355264" cy="866666"/>
          </a:xfrm>
          <a:prstGeom prst="rect">
            <a:avLst/>
          </a:prstGeom>
          <a:noFill/>
        </p:spPr>
        <p:txBody>
          <a:bodyPr wrap="square">
            <a:spAutoFit/>
          </a:bodyPr>
          <a:lstStyle/>
          <a:p>
            <a:r>
              <a:rPr sz="1250" b="1">
                <a:solidFill>
                  <a:srgbClr val="1565C0"/>
                </a:solidFill>
                <a:latin typeface="Consolas"/>
              </a:rPr>
              <a:t>promptCacheTtl</a:t>
            </a:r>
          </a:p>
          <a:p>
            <a:r>
              <a:rPr sz="1100">
                <a:solidFill>
                  <a:srgbClr val="4A5568"/>
                </a:solidFill>
                <a:latin typeface="Segoe UI"/>
              </a:rPr>
              <a:t>The long cache window, for API and cloud.</a:t>
            </a:r>
          </a:p>
        </p:txBody>
      </p:sp>
      <p:sp>
        <p:nvSpPr>
          <p:cNvPr id="11" name="TextBox 10"/>
          <p:cNvSpPr txBox="1"/>
          <p:nvPr/>
        </p:nvSpPr>
        <p:spPr>
          <a:xfrm>
            <a:off x="7178368" y="4616664"/>
            <a:ext cx="4355264" cy="866666"/>
          </a:xfrm>
          <a:prstGeom prst="rect">
            <a:avLst/>
          </a:prstGeom>
          <a:noFill/>
        </p:spPr>
        <p:txBody>
          <a:bodyPr wrap="square">
            <a:spAutoFit/>
          </a:bodyPr>
          <a:lstStyle/>
          <a:p>
            <a:r>
              <a:rPr sz="1250" b="1">
                <a:solidFill>
                  <a:srgbClr val="1565C0"/>
                </a:solidFill>
                <a:latin typeface="Consolas"/>
              </a:rPr>
              <a:t>allowedMcpServers</a:t>
            </a:r>
          </a:p>
          <a:p>
            <a:r>
              <a:rPr sz="1100">
                <a:solidFill>
                  <a:srgbClr val="4A5568"/>
                </a:solidFill>
                <a:latin typeface="Segoe UI"/>
              </a:rPr>
              <a:t>Which servers people can add.</a:t>
            </a:r>
          </a:p>
        </p:txBody>
      </p:sp>
      <p:sp>
        <p:nvSpPr>
          <p:cNvPr id="12" name="TextBox 11"/>
          <p:cNvSpPr txBox="1"/>
          <p:nvPr/>
        </p:nvSpPr>
        <p:spPr>
          <a:xfrm>
            <a:off x="7178368" y="5483330"/>
            <a:ext cx="4355264" cy="866666"/>
          </a:xfrm>
          <a:prstGeom prst="rect">
            <a:avLst/>
          </a:prstGeom>
          <a:noFill/>
        </p:spPr>
        <p:txBody>
          <a:bodyPr wrap="square">
            <a:spAutoFit/>
          </a:bodyPr>
          <a:lstStyle/>
          <a:p>
            <a:r>
              <a:rPr sz="1250" b="1">
                <a:solidFill>
                  <a:srgbClr val="1565C0"/>
                </a:solidFill>
                <a:latin typeface="Consolas"/>
              </a:rPr>
              <a:t>env</a:t>
            </a:r>
          </a:p>
          <a:p>
            <a:r>
              <a:rPr sz="1100">
                <a:solidFill>
                  <a:srgbClr val="4A5568"/>
                </a:solidFill>
                <a:latin typeface="Segoe UI"/>
              </a:rPr>
              <a:t>Telemetry, enabled for every install.</a:t>
            </a:r>
          </a:p>
        </p:txBody>
      </p:sp>
      <p:sp>
        <p:nvSpPr>
          <p:cNvPr id="13" name="TextBox 12"/>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14" name="TextBox 13"/>
          <p:cNvSpPr txBox="1"/>
          <p:nvPr/>
        </p:nvSpPr>
        <p:spPr>
          <a:xfrm>
            <a:off x="10424160" y="6428232"/>
            <a:ext cx="1097280" cy="182880"/>
          </a:xfrm>
          <a:prstGeom prst="rect">
            <a:avLst/>
          </a:prstGeom>
          <a:noFill/>
        </p:spPr>
        <p:txBody>
          <a:bodyPr wrap="none">
            <a:spAutoFit/>
          </a:bodyPr>
          <a:lstStyle/>
          <a:p>
            <a:pPr algn="r"/>
            <a:r>
              <a:rPr sz="850">
                <a:solidFill>
                  <a:srgbClr val="FFFFFF"/>
                </a:solidFill>
              </a:rPr>
              <a:t>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OpenTelemetry</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Cache reads as a share of input should be the biggest chunk of everyone's usage</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5300000" cy="2150000"/>
          </a:xfrm>
          <a:prstGeom prst="roundRect">
            <a:avLst>
              <a:gd name="adj" fmla="val 4000"/>
            </a:avLst>
          </a:prstGeom>
          <a:solidFill>
            <a:srgbClr val="F5F3FA"/>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 y="1270000"/>
            <a:ext cx="4842800" cy="1910000"/>
          </a:xfrm>
          <a:prstGeom prst="rect">
            <a:avLst/>
          </a:prstGeom>
          <a:noFill/>
        </p:spPr>
        <p:txBody>
          <a:bodyPr wrap="square">
            <a:spAutoFit/>
          </a:bodyPr>
          <a:lstStyle/>
          <a:p>
            <a:r>
              <a:rPr sz="1250">
                <a:solidFill>
                  <a:srgbClr val="1A2332"/>
                </a:solidFill>
                <a:latin typeface="Consolas"/>
              </a:rPr>
              <a:t>"env": {</a:t>
            </a:r>
          </a:p>
          <a:p>
            <a:r>
              <a:rPr sz="1250">
                <a:solidFill>
                  <a:srgbClr val="1A2332"/>
                </a:solidFill>
                <a:latin typeface="Consolas"/>
              </a:rPr>
              <a:t>  "CLAUDE_CODE_ENABLE_TELEMETRY": "1",</a:t>
            </a:r>
          </a:p>
          <a:p>
            <a:r>
              <a:rPr sz="1250">
                <a:solidFill>
                  <a:srgbClr val="1A2332"/>
                </a:solidFill>
                <a:latin typeface="Consolas"/>
              </a:rPr>
              <a:t>  "OTEL_METRICS_EXPORTER": "otlp",</a:t>
            </a:r>
          </a:p>
          <a:p>
            <a:r>
              <a:rPr sz="1250">
                <a:solidFill>
                  <a:srgbClr val="1A2332"/>
                </a:solidFill>
                <a:latin typeface="Consolas"/>
              </a:rPr>
              <a:t>  "OTEL_EXPORTER_OTLP_ENDPOINT":</a:t>
            </a:r>
          </a:p>
          <a:p>
            <a:r>
              <a:rPr sz="1250">
                <a:solidFill>
                  <a:srgbClr val="1A2332"/>
                </a:solidFill>
                <a:latin typeface="Consolas"/>
              </a:rPr>
              <a:t>    "https://collector:4317"</a:t>
            </a:r>
          </a:p>
          <a:p>
            <a:r>
              <a:rPr sz="1250">
                <a:solidFill>
                  <a:srgbClr val="1A2332"/>
                </a:solidFill>
                <a:latin typeface="Consolas"/>
              </a:rPr>
              <a:t>}</a:t>
            </a:r>
          </a:p>
        </p:txBody>
      </p:sp>
      <p:graphicFrame>
        <p:nvGraphicFramePr>
          <p:cNvPr id="7" name="Table 6"/>
          <p:cNvGraphicFramePr>
            <a:graphicFrameLocks noGrp="1"/>
          </p:cNvGraphicFramePr>
          <p:nvPr/>
        </p:nvGraphicFramePr>
        <p:xfrm>
          <a:off x="658368" y="1150000"/>
          <a:ext cx="5355264" cy="2240000"/>
        </p:xfrm>
        <a:graphic>
          <a:graphicData uri="http://schemas.openxmlformats.org/drawingml/2006/table">
            <a:tbl>
              <a:tblPr firstRow="1" bandRow="1">
                <a:tableStyleId>{5C22544A-7EE6-4342-B048-85BDC9FD1C3A}</a:tableStyleId>
              </a:tblPr>
              <a:tblGrid>
                <a:gridCol w="1785088"/>
                <a:gridCol w="1785088"/>
                <a:gridCol w="1785088"/>
              </a:tblGrid>
              <a:tr h="560000">
                <a:tc>
                  <a:txBody>
                    <a:bodyPr/>
                    <a:lstStyle/>
                    <a:p>
                      <a:pPr algn="l"/>
                      <a:r>
                        <a:rPr sz="1250" b="1">
                          <a:solidFill>
                            <a:srgbClr val="FFFFFF"/>
                          </a:solidFill>
                          <a:latin typeface="Segoe UI Semibold"/>
                        </a:rPr>
                        <a:t>Dev</a:t>
                      </a:r>
                    </a:p>
                  </a:txBody>
                  <a:tcPr anchor="ctr">
                    <a:solidFill>
                      <a:srgbClr val="D4622B"/>
                    </a:solidFill>
                  </a:tcPr>
                </a:tc>
                <a:tc>
                  <a:txBody>
                    <a:bodyPr/>
                    <a:lstStyle/>
                    <a:p>
                      <a:pPr algn="ctr"/>
                      <a:r>
                        <a:rPr sz="1250" b="1">
                          <a:solidFill>
                            <a:srgbClr val="FFFFFF"/>
                          </a:solidFill>
                          <a:latin typeface="Segoe UI Semibold"/>
                        </a:rPr>
                        <a:t>Cache reads</a:t>
                      </a:r>
                    </a:p>
                  </a:txBody>
                  <a:tcPr anchor="ctr">
                    <a:solidFill>
                      <a:srgbClr val="D4622B"/>
                    </a:solidFill>
                  </a:tcPr>
                </a:tc>
                <a:tc>
                  <a:txBody>
                    <a:bodyPr/>
                    <a:lstStyle/>
                    <a:p>
                      <a:pPr algn="ctr"/>
                      <a:r>
                        <a:rPr sz="1250" b="1">
                          <a:solidFill>
                            <a:srgbClr val="FFFFFF"/>
                          </a:solidFill>
                          <a:latin typeface="Segoe UI Semibold"/>
                        </a:rPr>
                        <a:t>Cost by model</a:t>
                      </a:r>
                    </a:p>
                  </a:txBody>
                  <a:tcPr anchor="ctr">
                    <a:solidFill>
                      <a:srgbClr val="D4622B"/>
                    </a:solidFill>
                  </a:tcPr>
                </a:tc>
              </a:tr>
              <a:tr h="560000">
                <a:tc>
                  <a:txBody>
                    <a:bodyPr/>
                    <a:lstStyle/>
                    <a:p>
                      <a:pPr algn="l"/>
                      <a:r>
                        <a:rPr sz="1250">
                          <a:solidFill>
                            <a:srgbClr val="1A2332"/>
                          </a:solidFill>
                          <a:latin typeface="Segoe UI"/>
                        </a:rPr>
                        <a:t>Dev A</a:t>
                      </a:r>
                    </a:p>
                  </a:txBody>
                  <a:tcPr anchor="ctr">
                    <a:solidFill>
                      <a:srgbClr val="FFFFFF"/>
                    </a:solidFill>
                  </a:tcPr>
                </a:tc>
                <a:tc>
                  <a:txBody>
                    <a:bodyPr/>
                    <a:lstStyle/>
                    <a:p>
                      <a:pPr algn="ctr"/>
                      <a:r>
                        <a:rPr sz="1250">
                          <a:solidFill>
                            <a:srgbClr val="1A2332"/>
                          </a:solidFill>
                          <a:latin typeface="Segoe UI"/>
                        </a:rPr>
                        <a:t>92%</a:t>
                      </a:r>
                    </a:p>
                  </a:txBody>
                  <a:tcPr anchor="ctr">
                    <a:solidFill>
                      <a:srgbClr val="FFFFFF"/>
                    </a:solidFill>
                  </a:tcPr>
                </a:tc>
                <a:tc>
                  <a:txBody>
                    <a:bodyPr/>
                    <a:lstStyle/>
                    <a:p>
                      <a:pPr algn="ctr"/>
                      <a:r>
                        <a:rPr sz="1250">
                          <a:solidFill>
                            <a:srgbClr val="1A2332"/>
                          </a:solidFill>
                          <a:latin typeface="Segoe UI"/>
                        </a:rPr>
                        <a:t>Mostly Sonnet</a:t>
                      </a:r>
                    </a:p>
                  </a:txBody>
                  <a:tcPr anchor="ctr">
                    <a:solidFill>
                      <a:srgbClr val="FFFFFF"/>
                    </a:solidFill>
                  </a:tcPr>
                </a:tc>
              </a:tr>
              <a:tr h="560000">
                <a:tc>
                  <a:txBody>
                    <a:bodyPr/>
                    <a:lstStyle/>
                    <a:p>
                      <a:pPr algn="l"/>
                      <a:r>
                        <a:rPr sz="1250">
                          <a:solidFill>
                            <a:srgbClr val="1A2332"/>
                          </a:solidFill>
                          <a:latin typeface="Segoe UI"/>
                        </a:rPr>
                        <a:t>Dev B</a:t>
                      </a:r>
                    </a:p>
                  </a:txBody>
                  <a:tcPr anchor="ctr">
                    <a:solidFill>
                      <a:srgbClr val="F8F7FC"/>
                    </a:solidFill>
                  </a:tcPr>
                </a:tc>
                <a:tc>
                  <a:txBody>
                    <a:bodyPr/>
                    <a:lstStyle/>
                    <a:p>
                      <a:pPr algn="ctr"/>
                      <a:r>
                        <a:rPr sz="1250">
                          <a:solidFill>
                            <a:srgbClr val="1A2332"/>
                          </a:solidFill>
                          <a:latin typeface="Segoe UI"/>
                        </a:rPr>
                        <a:t>88%</a:t>
                      </a:r>
                    </a:p>
                  </a:txBody>
                  <a:tcPr anchor="ctr">
                    <a:solidFill>
                      <a:srgbClr val="F8F7FC"/>
                    </a:solidFill>
                  </a:tcPr>
                </a:tc>
                <a:tc>
                  <a:txBody>
                    <a:bodyPr/>
                    <a:lstStyle/>
                    <a:p>
                      <a:pPr algn="ctr"/>
                      <a:r>
                        <a:rPr sz="1250">
                          <a:solidFill>
                            <a:srgbClr val="1A2332"/>
                          </a:solidFill>
                          <a:latin typeface="Segoe UI"/>
                        </a:rPr>
                        <a:t>Mostly Sonnet</a:t>
                      </a:r>
                    </a:p>
                  </a:txBody>
                  <a:tcPr anchor="ctr">
                    <a:solidFill>
                      <a:srgbClr val="F8F7FC"/>
                    </a:solidFill>
                  </a:tcPr>
                </a:tc>
              </a:tr>
              <a:tr h="560000">
                <a:tc>
                  <a:txBody>
                    <a:bodyPr/>
                    <a:lstStyle/>
                    <a:p>
                      <a:pPr algn="l"/>
                      <a:r>
                        <a:rPr sz="1250">
                          <a:solidFill>
                            <a:srgbClr val="1A2332"/>
                          </a:solidFill>
                          <a:latin typeface="Segoe UI"/>
                        </a:rPr>
                        <a:t>Dev C</a:t>
                      </a:r>
                    </a:p>
                  </a:txBody>
                  <a:tcPr anchor="ctr">
                    <a:solidFill>
                      <a:srgbClr val="FFFFFF"/>
                    </a:solidFill>
                  </a:tcPr>
                </a:tc>
                <a:tc>
                  <a:txBody>
                    <a:bodyPr/>
                    <a:lstStyle/>
                    <a:p>
                      <a:pPr algn="ctr"/>
                      <a:r>
                        <a:rPr sz="1250">
                          <a:solidFill>
                            <a:srgbClr val="1A2332"/>
                          </a:solidFill>
                          <a:latin typeface="Segoe UI"/>
                        </a:rPr>
                        <a:t>41%</a:t>
                      </a:r>
                    </a:p>
                  </a:txBody>
                  <a:tcPr anchor="ctr">
                    <a:solidFill>
                      <a:srgbClr val="FFFFFF"/>
                    </a:solidFill>
                  </a:tcPr>
                </a:tc>
                <a:tc>
                  <a:txBody>
                    <a:bodyPr/>
                    <a:lstStyle/>
                    <a:p>
                      <a:pPr algn="ctr"/>
                      <a:r>
                        <a:rPr sz="1250">
                          <a:solidFill>
                            <a:srgbClr val="1A2332"/>
                          </a:solidFill>
                          <a:latin typeface="Segoe UI"/>
                        </a:rPr>
                        <a:t>All Opus</a:t>
                      </a:r>
                    </a:p>
                  </a:txBody>
                  <a:tcPr anchor="ctr">
                    <a:solidFill>
                      <a:srgbClr val="FFFFFF"/>
                    </a:solidFill>
                  </a:tcPr>
                </a:tc>
              </a:tr>
            </a:tbl>
          </a:graphicData>
        </a:graphic>
      </p:graphicFrame>
      <p:sp>
        <p:nvSpPr>
          <p:cNvPr id="8" name="TextBox 7"/>
          <p:cNvSpPr txBox="1"/>
          <p:nvPr/>
        </p:nvSpPr>
        <p:spPr>
          <a:xfrm>
            <a:off x="658368" y="3550000"/>
            <a:ext cx="10875264" cy="1600000"/>
          </a:xfrm>
          <a:prstGeom prst="rect">
            <a:avLst/>
          </a:prstGeom>
          <a:noFill/>
        </p:spPr>
        <p:txBody>
          <a:bodyPr wrap="square">
            <a:spAutoFit/>
          </a:bodyPr>
          <a:lstStyle/>
          <a:p>
            <a:r>
              <a:rPr sz="1200">
                <a:solidFill>
                  <a:srgbClr val="4A5568"/>
                </a:solidFill>
                <a:latin typeface="Segoe UI"/>
              </a:rPr>
              <a:t>Dev C's low cache-reads share and all-Opus usage are two symptoms of the same habit: frequent model/effort switches or long gaps between requests keep breaking the cache, and the biggest model has been left on for everything rather than matched to the task. Both are one-message fixes — a managed settings default, or a nudge to switch back to Sonnet for routine work.</a:t>
            </a:r>
          </a:p>
        </p:txBody>
      </p:sp>
      <p:sp>
        <p:nvSpPr>
          <p:cNvPr id="9" name="TextBox 8"/>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10" name="TextBox 9"/>
          <p:cNvSpPr txBox="1"/>
          <p:nvPr/>
        </p:nvSpPr>
        <p:spPr>
          <a:xfrm>
            <a:off x="10424160" y="6428232"/>
            <a:ext cx="1097280" cy="182880"/>
          </a:xfrm>
          <a:prstGeom prst="rect">
            <a:avLst/>
          </a:prstGeom>
          <a:noFill/>
        </p:spPr>
        <p:txBody>
          <a:bodyPr wrap="none">
            <a:spAutoFit/>
          </a:bodyPr>
          <a:lstStyle/>
          <a:p>
            <a:pPr algn="r"/>
            <a:r>
              <a:rPr sz="850">
                <a:solidFill>
                  <a:srgbClr val="FFFFFF"/>
                </a:solidFill>
              </a:rPr>
              <a:t>40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Three things to take home</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The model multiplies all of it — for a team, the same choices, made once, as managed settings</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150000"/>
            <a:ext cx="57150" cy="520000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8368" y="1350000"/>
            <a:ext cx="400000" cy="400000"/>
          </a:xfrm>
          <a:prstGeom prst="ellipse">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1</a:t>
            </a:r>
          </a:p>
        </p:txBody>
      </p:sp>
      <p:sp>
        <p:nvSpPr>
          <p:cNvPr id="8" name="TextBox 7"/>
          <p:cNvSpPr txBox="1"/>
          <p:nvPr/>
        </p:nvSpPr>
        <p:spPr>
          <a:xfrm>
            <a:off x="1378368" y="1320000"/>
            <a:ext cx="2591754" cy="460000"/>
          </a:xfrm>
          <a:prstGeom prst="rect">
            <a:avLst/>
          </a:prstGeom>
          <a:noFill/>
        </p:spPr>
        <p:txBody>
          <a:bodyPr wrap="square" anchor="ctr">
            <a:spAutoFit/>
          </a:bodyPr>
          <a:lstStyle/>
          <a:p>
            <a:r>
              <a:rPr sz="1500" b="1">
                <a:solidFill>
                  <a:srgbClr val="1A2332"/>
                </a:solidFill>
                <a:latin typeface="Segoe UI Semibold"/>
              </a:rPr>
              <a:t>Decide at the start, then leave it</a:t>
            </a:r>
          </a:p>
        </p:txBody>
      </p:sp>
      <p:cxnSp>
        <p:nvCxnSpPr>
          <p:cNvPr id="9" name="Connector 8"/>
          <p:cNvCxnSpPr/>
          <p:nvPr/>
        </p:nvCxnSpPr>
        <p:spPr>
          <a:xfrm>
            <a:off x="858368"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8368" y="2000000"/>
            <a:ext cx="3111754" cy="3780000"/>
          </a:xfrm>
          <a:prstGeom prst="rect">
            <a:avLst/>
          </a:prstGeom>
          <a:noFill/>
        </p:spPr>
        <p:txBody>
          <a:bodyPr wrap="square">
            <a:spAutoFit/>
          </a:bodyPr>
          <a:lstStyle/>
          <a:p>
            <a:r>
              <a:rPr sz="1150">
                <a:solidFill>
                  <a:srgbClr val="4A5568"/>
                </a:solidFill>
                <a:latin typeface="Segoe UI"/>
              </a:rPr>
              <a:t>Model, effort, and MCP servers — pick them deliberately at the start of a session or right after /clear, and don't second-guess them mid-task.</a:t>
            </a:r>
          </a:p>
        </p:txBody>
      </p:sp>
      <p:sp>
        <p:nvSpPr>
          <p:cNvPr id="11" name="Rounded Rectangle 10"/>
          <p:cNvSpPr/>
          <p:nvPr/>
        </p:nvSpPr>
        <p:spPr>
          <a:xfrm>
            <a:off x="858368"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1565C0"/>
                </a:solidFill>
                <a:latin typeface="Consolas"/>
              </a:rPr>
              <a:t>model · effort · MCP</a:t>
            </a:r>
          </a:p>
        </p:txBody>
      </p:sp>
      <p:sp>
        <p:nvSpPr>
          <p:cNvPr id="12" name="Rounded Rectangle 11"/>
          <p:cNvSpPr/>
          <p:nvPr/>
        </p:nvSpPr>
        <p:spPr>
          <a:xfrm>
            <a:off x="4340122"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0122" y="1150000"/>
            <a:ext cx="57150" cy="5200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40122" y="1350000"/>
            <a:ext cx="400000" cy="4000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2</a:t>
            </a:r>
          </a:p>
        </p:txBody>
      </p:sp>
      <p:sp>
        <p:nvSpPr>
          <p:cNvPr id="15" name="TextBox 14"/>
          <p:cNvSpPr txBox="1"/>
          <p:nvPr/>
        </p:nvSpPr>
        <p:spPr>
          <a:xfrm>
            <a:off x="5060122" y="1320000"/>
            <a:ext cx="2591754" cy="460000"/>
          </a:xfrm>
          <a:prstGeom prst="rect">
            <a:avLst/>
          </a:prstGeom>
          <a:noFill/>
        </p:spPr>
        <p:txBody>
          <a:bodyPr wrap="square" anchor="ctr">
            <a:spAutoFit/>
          </a:bodyPr>
          <a:lstStyle/>
          <a:p>
            <a:r>
              <a:rPr sz="1500" b="1">
                <a:solidFill>
                  <a:srgbClr val="1A2332"/>
                </a:solidFill>
                <a:latin typeface="Segoe UI Semibold"/>
              </a:rPr>
              <a:t>Be deliberate about what goes in</a:t>
            </a:r>
          </a:p>
        </p:txBody>
      </p:sp>
      <p:cxnSp>
        <p:nvCxnSpPr>
          <p:cNvPr id="16" name="Connector 15"/>
          <p:cNvCxnSpPr/>
          <p:nvPr/>
        </p:nvCxnSpPr>
        <p:spPr>
          <a:xfrm>
            <a:off x="4540122"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40122" y="2000000"/>
            <a:ext cx="3111754" cy="3780000"/>
          </a:xfrm>
          <a:prstGeom prst="rect">
            <a:avLst/>
          </a:prstGeom>
          <a:noFill/>
        </p:spPr>
        <p:txBody>
          <a:bodyPr wrap="square">
            <a:spAutoFit/>
          </a:bodyPr>
          <a:lstStyle/>
          <a:p>
            <a:r>
              <a:rPr sz="1150">
                <a:solidFill>
                  <a:srgbClr val="4A5568"/>
                </a:solidFill>
                <a:latin typeface="Segoe UI"/>
              </a:rPr>
              <a:t>@-mention the files you already know, keep CLAUDE.md lean, push task-specific steps into skills, and offload noisy work to a subagent.</a:t>
            </a:r>
          </a:p>
        </p:txBody>
      </p:sp>
      <p:sp>
        <p:nvSpPr>
          <p:cNvPr id="18" name="Rounded Rectangle 17"/>
          <p:cNvSpPr/>
          <p:nvPr/>
        </p:nvSpPr>
        <p:spPr>
          <a:xfrm>
            <a:off x="4540122"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7C3AED"/>
                </a:solidFill>
                <a:latin typeface="Consolas"/>
              </a:rPr>
              <a:t>@file · skills</a:t>
            </a:r>
          </a:p>
        </p:txBody>
      </p:sp>
      <p:sp>
        <p:nvSpPr>
          <p:cNvPr id="19" name="Rounded Rectangle 18"/>
          <p:cNvSpPr/>
          <p:nvPr/>
        </p:nvSpPr>
        <p:spPr>
          <a:xfrm>
            <a:off x="8021876" y="1150000"/>
            <a:ext cx="3511754" cy="5200000"/>
          </a:xfrm>
          <a:prstGeom prst="roundRect">
            <a:avLst>
              <a:gd name="adj" fmla="val 5000"/>
            </a:avLst>
          </a:prstGeom>
          <a:solidFill>
            <a:srgbClr val="FFFFFF"/>
          </a:solidFill>
          <a:ln w="6350">
            <a:solidFill>
              <a:srgbClr val="E8E0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21876" y="1150000"/>
            <a:ext cx="57150" cy="5200000"/>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1876" y="1350000"/>
            <a:ext cx="400000" cy="400000"/>
          </a:xfrm>
          <a:prstGeom prst="ellipse">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emibold"/>
              </a:rPr>
              <a:t>3</a:t>
            </a:r>
          </a:p>
        </p:txBody>
      </p:sp>
      <p:sp>
        <p:nvSpPr>
          <p:cNvPr id="22" name="TextBox 21"/>
          <p:cNvSpPr txBox="1"/>
          <p:nvPr/>
        </p:nvSpPr>
        <p:spPr>
          <a:xfrm>
            <a:off x="8741876" y="1320000"/>
            <a:ext cx="2591754" cy="460000"/>
          </a:xfrm>
          <a:prstGeom prst="rect">
            <a:avLst/>
          </a:prstGeom>
          <a:noFill/>
        </p:spPr>
        <p:txBody>
          <a:bodyPr wrap="square" anchor="ctr">
            <a:spAutoFit/>
          </a:bodyPr>
          <a:lstStyle/>
          <a:p>
            <a:r>
              <a:rPr sz="1500" b="1">
                <a:solidFill>
                  <a:srgbClr val="1A2332"/>
                </a:solidFill>
                <a:latin typeface="Segoe UI Semibold"/>
              </a:rPr>
              <a:t>Don't let one session run forever</a:t>
            </a:r>
          </a:p>
        </p:txBody>
      </p:sp>
      <p:cxnSp>
        <p:nvCxnSpPr>
          <p:cNvPr id="23" name="Connector 22"/>
          <p:cNvCxnSpPr/>
          <p:nvPr/>
        </p:nvCxnSpPr>
        <p:spPr>
          <a:xfrm>
            <a:off x="8221876" y="1890000"/>
            <a:ext cx="3111754" cy="0"/>
          </a:xfrm>
          <a:prstGeom prst="line">
            <a:avLst/>
          </a:prstGeom>
          <a:ln w="9525">
            <a:solidFill>
              <a:srgbClr val="E8E0F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1876" y="2000000"/>
            <a:ext cx="3111754" cy="3780000"/>
          </a:xfrm>
          <a:prstGeom prst="rect">
            <a:avLst/>
          </a:prstGeom>
          <a:noFill/>
        </p:spPr>
        <p:txBody>
          <a:bodyPr wrap="square">
            <a:spAutoFit/>
          </a:bodyPr>
          <a:lstStyle/>
          <a:p>
            <a:r>
              <a:rPr sz="1150">
                <a:solidFill>
                  <a:srgbClr val="4A5568"/>
                </a:solidFill>
                <a:latin typeface="Segoe UI"/>
              </a:rPr>
              <a:t>/clear for a genuinely new task, /compact before you step away — a session that never resets just keeps compounding cost for no extra value.</a:t>
            </a:r>
          </a:p>
        </p:txBody>
      </p:sp>
      <p:sp>
        <p:nvSpPr>
          <p:cNvPr id="25" name="Rounded Rectangle 24"/>
          <p:cNvSpPr/>
          <p:nvPr/>
        </p:nvSpPr>
        <p:spPr>
          <a:xfrm>
            <a:off x="8221876" y="5850000"/>
            <a:ext cx="3111754" cy="300000"/>
          </a:xfrm>
          <a:prstGeom prst="roundRect">
            <a:avLst>
              <a:gd name="adj" fmla="val 18000"/>
            </a:avLst>
          </a:prstGeom>
          <a:solidFill>
            <a:srgbClr val="F5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a:r>
              <a:rPr sz="1050">
                <a:solidFill>
                  <a:srgbClr val="059669"/>
                </a:solidFill>
                <a:latin typeface="Consolas"/>
              </a:rPr>
              <a:t>/clear · /compact</a:t>
            </a:r>
          </a:p>
        </p:txBody>
      </p:sp>
      <p:sp>
        <p:nvSpPr>
          <p:cNvPr id="26" name="TextBox 25"/>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27" name="TextBox 26"/>
          <p:cNvSpPr txBox="1"/>
          <p:nvPr/>
        </p:nvSpPr>
        <p:spPr>
          <a:xfrm>
            <a:off x="10424160" y="6428232"/>
            <a:ext cx="1097280" cy="182880"/>
          </a:xfrm>
          <a:prstGeom prst="rect">
            <a:avLst/>
          </a:prstGeom>
          <a:noFill/>
        </p:spPr>
        <p:txBody>
          <a:bodyPr wrap="none">
            <a:spAutoFit/>
          </a:bodyPr>
          <a:lstStyle/>
          <a:p>
            <a:pPr algn="r"/>
            <a:r>
              <a:rPr sz="850">
                <a:solidFill>
                  <a:srgbClr val="FFFFFF"/>
                </a:solidFill>
              </a:rPr>
              <a:t>41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76200"/>
            <a:ext cx="10500000" cy="381000"/>
          </a:xfrm>
          <a:prstGeom prst="rect">
            <a:avLst/>
          </a:prstGeom>
          <a:noFill/>
        </p:spPr>
        <p:txBody>
          <a:bodyPr wrap="square">
            <a:spAutoFit/>
          </a:bodyPr>
          <a:lstStyle/>
          <a:p>
            <a:r>
              <a:rPr sz="2700" b="1">
                <a:solidFill>
                  <a:srgbClr val="FFFFFF"/>
                </a:solidFill>
                <a:latin typeface="Aptos Display"/>
              </a:rPr>
              <a:t>Efficient doesn't mean fewer tokens</a:t>
            </a:r>
          </a:p>
        </p:txBody>
      </p:sp>
      <p:sp>
        <p:nvSpPr>
          <p:cNvPr id="3" name="TextBox 2"/>
          <p:cNvSpPr txBox="1"/>
          <p:nvPr/>
        </p:nvSpPr>
        <p:spPr>
          <a:xfrm>
            <a:off x="658368" y="609600"/>
            <a:ext cx="10500000" cy="254000"/>
          </a:xfrm>
          <a:prstGeom prst="rect">
            <a:avLst/>
          </a:prstGeom>
          <a:noFill/>
        </p:spPr>
        <p:txBody>
          <a:bodyPr wrap="square">
            <a:spAutoFit/>
          </a:bodyPr>
          <a:lstStyle/>
          <a:p>
            <a:r>
              <a:rPr sz="1350">
                <a:solidFill>
                  <a:srgbClr val="3972C1"/>
                </a:solidFill>
                <a:latin typeface="Aptos"/>
              </a:rPr>
              <a:t>It means the ones you use go toward what you actually asked for</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58368" y="2400000"/>
            <a:ext cx="10875264" cy="2200000"/>
          </a:xfrm>
          <a:prstGeom prst="rect">
            <a:avLst/>
          </a:prstGeom>
          <a:noFill/>
        </p:spPr>
        <p:txBody>
          <a:bodyPr wrap="square" anchor="ctr">
            <a:spAutoFit/>
          </a:bodyPr>
          <a:lstStyle/>
          <a:p>
            <a:pPr>
              <a:spcAft>
                <a:spcPts val="1400"/>
              </a:spcAft>
            </a:pPr>
            <a:r>
              <a:rPr sz="2600" b="1">
                <a:solidFill>
                  <a:srgbClr val="1A2332"/>
                </a:solidFill>
                <a:latin typeface="Aptos Display"/>
              </a:rPr>
              <a:t>“Efficient doesn't mean fewer tokens.</a:t>
            </a:r>
          </a:p>
          <a:p>
            <a:pPr>
              <a:spcAft>
                <a:spcPts val="1400"/>
              </a:spcAft>
            </a:pPr>
            <a:r>
              <a:rPr sz="2600" b="1">
                <a:solidFill>
                  <a:srgbClr val="1A2332"/>
                </a:solidFill>
                <a:latin typeface="Aptos Display"/>
              </a:rPr>
              <a:t>It means the ones you use go toward what you actually asked for.”</a:t>
            </a:r>
          </a:p>
        </p:txBody>
      </p:sp>
      <p:sp>
        <p:nvSpPr>
          <p:cNvPr id="6" name="TextBox 5"/>
          <p:cNvSpPr txBox="1"/>
          <p:nvPr/>
        </p:nvSpPr>
        <p:spPr>
          <a:xfrm>
            <a:off x="658368" y="6428232"/>
            <a:ext cx="3840480" cy="182880"/>
          </a:xfrm>
          <a:prstGeom prst="rect">
            <a:avLst/>
          </a:prstGeom>
          <a:noFill/>
        </p:spPr>
        <p:txBody>
          <a:bodyPr wrap="none">
            <a:spAutoFit/>
          </a:bodyPr>
          <a:lstStyle/>
          <a:p>
            <a:r>
              <a:rPr sz="850">
                <a:solidFill>
                  <a:srgbClr val="FFFFFF"/>
                </a:solidFill>
              </a:rPr>
              <a:t>Token economics</a:t>
            </a:r>
          </a:p>
        </p:txBody>
      </p:sp>
      <p:sp>
        <p:nvSpPr>
          <p:cNvPr id="7" name="TextBox 6"/>
          <p:cNvSpPr txBox="1"/>
          <p:nvPr/>
        </p:nvSpPr>
        <p:spPr>
          <a:xfrm>
            <a:off x="10424160" y="6428232"/>
            <a:ext cx="1097280" cy="182880"/>
          </a:xfrm>
          <a:prstGeom prst="rect">
            <a:avLst/>
          </a:prstGeom>
          <a:noFill/>
        </p:spPr>
        <p:txBody>
          <a:bodyPr wrap="none">
            <a:spAutoFit/>
          </a:bodyPr>
          <a:lstStyle/>
          <a:p>
            <a:pPr algn="r"/>
            <a:r>
              <a:rPr sz="850">
                <a:solidFill>
                  <a:srgbClr val="FFFFFF"/>
                </a:solidFill>
              </a:rPr>
              <a:t>42</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6">
    <p:bg>
      <p:bgPr>
        <a:solidFill>
          <a:srgbClr val="FFFFFF">
            <a:alpha val="100000"/>
          </a:srgbClr>
        </a:solidFill>
        <a:effectLst/>
      </p:bgPr>
    </p:bg>
    <p:spTree>
      <p:nvGrpSpPr>
        <p:cNvPr id="1" name=""/>
        <p:cNvGrpSpPr/>
        <p:nvPr/>
      </p:nvGrpSpPr>
      <p:grpSpPr>
        <a:xfrm>
          <a:off x="0" y="0"/>
          <a:ext cx="0" cy="0"/>
          <a:chOff x="0" y="0"/>
          <a:chExt cx="0" cy="0"/>
        </a:xfrm>
      </p:grpSpPr>
      <p:sp>
        <p:nvSpPr>
          <p:cNvPr id="100" name="Title"/>
          <p:cNvSpPr/>
          <p:nvPr/>
        </p:nvSpPr>
        <p:spPr>
          <a:xfrm>
            <a:off x="660400" y="76200"/>
            <a:ext cx="8051800" cy="381000"/>
          </a:xfrm>
          <a:prstGeom prst="rect">
            <a:avLst/>
          </a:prstGeom>
          <a:noFill/>
          <a:ln>
            <a:noFill/>
          </a:ln>
        </p:spPr>
        <p:txBody>
          <a:bodyPr wrap="square" lIns="0" tIns="0" rIns="0" bIns="0" anchor="ctr"/>
          <a:lstStyle/>
          <a:p>
            <a:pPr marL="0" indent="0">
              <a:buNone/>
            </a:pPr>
            <a:r>
              <a:rPr lang="en-US" sz="2700" b="1" dirty="0">
                <a:solidFill>
                  <a:srgbClr val="FFFFFF"/>
                </a:solidFill>
                <a:latin typeface="Segoe UI Semibold"/>
                <a:cs typeface="Segoe UI Semibold"/>
              </a:rPr>
              <a:t>Prompt formula for Claude Code</a:t>
            </a:r>
          </a:p>
        </p:txBody>
      </p:sp>
      <p:sp>
        <p:nvSpPr>
          <p:cNvPr id="101" name="Tagline"/>
          <p:cNvSpPr/>
          <p:nvPr/>
        </p:nvSpPr>
        <p:spPr>
          <a:xfrm>
            <a:off x="660400" y="609600"/>
            <a:ext cx="9512300" cy="279400"/>
          </a:xfrm>
          <a:prstGeom prst="rect">
            <a:avLst/>
          </a:prstGeom>
          <a:noFill/>
          <a:ln>
            <a:noFill/>
          </a:ln>
        </p:spPr>
        <p:txBody>
          <a:bodyPr wrap="square" lIns="0" tIns="0" rIns="0" bIns="0" anchor="ctr"/>
          <a:lstStyle/>
          <a:p>
            <a:pPr marL="0" indent="0">
              <a:buNone/>
            </a:pPr>
            <a:r>
              <a:rPr lang="en-US" sz="1400" dirty="0">
                <a:solidFill>
                  <a:srgbClr val="3972C1"/>
                </a:solidFill>
                <a:latin typeface="Segoe UI"/>
                <a:cs typeface="Segoe UI"/>
              </a:rPr>
              <a:t>A good prompt gives Claude a target, a boundary, and a way to prove the outcome</a:t>
            </a:r>
          </a:p>
        </p:txBody>
      </p:sp>
      <p:sp>
        <p:nvSpPr>
          <p:cNvPr id="102" name="Divider"/>
          <p:cNvSpPr/>
          <p:nvPr/>
        </p:nvSpPr>
        <p:spPr>
          <a:xfrm>
            <a:off x="0" y="939800"/>
            <a:ext cx="12192000" cy="0"/>
          </a:xfrm>
          <a:prstGeom prst="line">
            <a:avLst/>
          </a:prstGeom>
          <a:ln w="12700">
            <a:solidFill>
              <a:srgbClr val="1565C0"/>
            </a:solidFill>
          </a:ln>
        </p:spPr>
        <p:txBody>
          <a:bodyPr/>
          <a:lstStyle/>
          <a:p>
            <a:endParaRPr lang="en-US"/>
          </a:p>
        </p:txBody>
      </p:sp>
      <p:sp>
        <p:nvSpPr>
          <p:cNvPr id="110" name="Gutter"/>
          <p:cNvSpPr/>
          <p:nvPr/>
        </p:nvSpPr>
        <p:spPr>
          <a:xfrm>
            <a:off x="393700" y="1651000"/>
            <a:ext cx="406400" cy="3556000"/>
          </a:xfrm>
          <a:prstGeom prst="rect">
            <a:avLst/>
          </a:prstGeom>
          <a:solidFill>
            <a:srgbClr val="F3F4F6"/>
          </a:solidFill>
          <a:ln/>
        </p:spPr>
        <p:txBody>
          <a:bodyPr/>
          <a:lstStyle/>
          <a:p>
            <a:endParaRPr lang="en-US"/>
          </a:p>
        </p:txBody>
      </p:sp>
      <p:sp>
        <p:nvSpPr>
          <p:cNvPr id="120" name="LineNum0"/>
          <p:cNvSpPr/>
          <p:nvPr/>
        </p:nvSpPr>
        <p:spPr>
          <a:xfrm>
            <a:off x="444500" y="1727200"/>
            <a:ext cx="279400" cy="203200"/>
          </a:xfrm>
          <a:prstGeom prst="rect">
            <a:avLst/>
          </a:prstGeom>
          <a:noFill/>
          <a:ln>
            <a:noFill/>
          </a:ln>
        </p:spPr>
        <p:txBody>
          <a:bodyPr wrap="square" lIns="0" tIns="0" rIns="0" bIns="0" anchor="ctr"/>
          <a:lstStyle/>
          <a:p>
            <a:pPr marL="0" indent="0" algn="r">
              <a:buNone/>
            </a:pPr>
            <a:r>
              <a:rPr lang="en-US" sz="1100" dirty="0">
                <a:solidFill>
                  <a:srgbClr val="7A8A9E"/>
                </a:solidFill>
                <a:latin typeface="Consolas"/>
                <a:cs typeface="Consolas"/>
              </a:rPr>
              <a:t>1</a:t>
            </a:r>
          </a:p>
        </p:txBody>
      </p:sp>
      <p:sp>
        <p:nvSpPr>
          <p:cNvPr id="121" name="Keyword0"/>
          <p:cNvSpPr/>
          <p:nvPr/>
        </p:nvSpPr>
        <p:spPr>
          <a:xfrm>
            <a:off x="863600" y="1727200"/>
            <a:ext cx="1397000" cy="203200"/>
          </a:xfrm>
          <a:prstGeom prst="rect">
            <a:avLst/>
          </a:prstGeom>
          <a:noFill/>
          <a:ln>
            <a:noFill/>
          </a:ln>
        </p:spPr>
        <p:txBody>
          <a:bodyPr wrap="square" lIns="0" tIns="0" rIns="0" bIns="0" anchor="ctr"/>
          <a:lstStyle/>
          <a:p>
            <a:pPr marL="0" indent="0">
              <a:buNone/>
            </a:pPr>
            <a:r>
              <a:rPr lang="en-US" sz="1200" b="1" dirty="0">
                <a:solidFill>
                  <a:srgbClr val="1565C0"/>
                </a:solidFill>
                <a:latin typeface="Consolas"/>
                <a:cs typeface="Consolas"/>
              </a:rPr>
              <a:t>Goal:</a:t>
            </a:r>
          </a:p>
        </p:txBody>
      </p:sp>
      <p:sp>
        <p:nvSpPr>
          <p:cNvPr id="122" name="Value0"/>
          <p:cNvSpPr/>
          <p:nvPr/>
        </p:nvSpPr>
        <p:spPr>
          <a:xfrm>
            <a:off x="914400" y="1955799"/>
            <a:ext cx="5003800" cy="304797"/>
          </a:xfrm>
          <a:prstGeom prst="rect">
            <a:avLst/>
          </a:prstGeom>
          <a:noFill/>
          <a:ln>
            <a:noFill/>
          </a:ln>
        </p:spPr>
        <p:txBody>
          <a:bodyPr wrap="square" lIns="0" tIns="0" rIns="0" bIns="0" anchor="ctr"/>
          <a:lstStyle/>
          <a:p>
            <a:r>
              <a:rPr lang="en-US" sz="1100" dirty="0">
                <a:solidFill>
                  <a:srgbClr val="1A2332"/>
                </a:solidFill>
                <a:latin typeface="Consolas"/>
                <a:cs typeface="Consolas"/>
              </a:rPr>
              <a:t>Fix the user auth bug by aligning claims in JWT token as per the RFC-7519 : </a:t>
            </a:r>
            <a:r>
              <a:rPr lang="en-US" sz="1100" dirty="0">
                <a:solidFill>
                  <a:srgbClr val="1A2332"/>
                </a:solidFill>
                <a:latin typeface="Consolas"/>
                <a:cs typeface="Consolas"/>
                <a:hlinkClick r:id="rId3"/>
              </a:rPr>
              <a:t>https://datatracker.ietf.org/doc/html/rfc7519</a:t>
            </a:r>
            <a:r>
              <a:rPr lang="en-US" sz="1100" dirty="0">
                <a:solidFill>
                  <a:srgbClr val="1A2332"/>
                </a:solidFill>
                <a:latin typeface="Consolas"/>
                <a:cs typeface="Consolas"/>
              </a:rPr>
              <a:t> </a:t>
            </a:r>
          </a:p>
        </p:txBody>
      </p:sp>
      <p:sp>
        <p:nvSpPr>
          <p:cNvPr id="200" name="Sep0"/>
          <p:cNvSpPr/>
          <p:nvPr/>
        </p:nvSpPr>
        <p:spPr>
          <a:xfrm>
            <a:off x="863600" y="2260600"/>
            <a:ext cx="5054600" cy="0"/>
          </a:xfrm>
          <a:prstGeom prst="line">
            <a:avLst/>
          </a:prstGeom>
          <a:ln w="6350">
            <a:solidFill>
              <a:srgbClr val="E5E7EB"/>
            </a:solidFill>
            <a:prstDash val="dot"/>
          </a:ln>
        </p:spPr>
        <p:txBody>
          <a:bodyPr/>
          <a:lstStyle/>
          <a:p>
            <a:endParaRPr lang="en-US"/>
          </a:p>
        </p:txBody>
      </p:sp>
      <p:sp>
        <p:nvSpPr>
          <p:cNvPr id="123" name="LineNum1"/>
          <p:cNvSpPr/>
          <p:nvPr/>
        </p:nvSpPr>
        <p:spPr>
          <a:xfrm>
            <a:off x="444500" y="2311400"/>
            <a:ext cx="279400" cy="203200"/>
          </a:xfrm>
          <a:prstGeom prst="rect">
            <a:avLst/>
          </a:prstGeom>
          <a:noFill/>
          <a:ln>
            <a:noFill/>
          </a:ln>
        </p:spPr>
        <p:txBody>
          <a:bodyPr wrap="square" lIns="0" tIns="0" rIns="0" bIns="0" anchor="ctr"/>
          <a:lstStyle/>
          <a:p>
            <a:pPr marL="0" indent="0" algn="r">
              <a:buNone/>
            </a:pPr>
            <a:r>
              <a:rPr lang="en-US" sz="1100" dirty="0">
                <a:solidFill>
                  <a:srgbClr val="7A8A9E"/>
                </a:solidFill>
                <a:latin typeface="Consolas"/>
                <a:cs typeface="Consolas"/>
              </a:rPr>
              <a:t>2</a:t>
            </a:r>
          </a:p>
        </p:txBody>
      </p:sp>
      <p:sp>
        <p:nvSpPr>
          <p:cNvPr id="124" name="Keyword1"/>
          <p:cNvSpPr/>
          <p:nvPr/>
        </p:nvSpPr>
        <p:spPr>
          <a:xfrm>
            <a:off x="863600" y="2311400"/>
            <a:ext cx="1397000" cy="203200"/>
          </a:xfrm>
          <a:prstGeom prst="rect">
            <a:avLst/>
          </a:prstGeom>
          <a:noFill/>
          <a:ln>
            <a:noFill/>
          </a:ln>
        </p:spPr>
        <p:txBody>
          <a:bodyPr wrap="square" lIns="0" tIns="0" rIns="0" bIns="0" anchor="ctr"/>
          <a:lstStyle/>
          <a:p>
            <a:pPr marL="0" indent="0">
              <a:buNone/>
            </a:pPr>
            <a:r>
              <a:rPr lang="en-US" sz="1200" b="1" dirty="0">
                <a:solidFill>
                  <a:srgbClr val="7C3AED"/>
                </a:solidFill>
                <a:latin typeface="Consolas"/>
                <a:cs typeface="Consolas"/>
              </a:rPr>
              <a:t>Files:</a:t>
            </a:r>
          </a:p>
        </p:txBody>
      </p:sp>
      <p:sp>
        <p:nvSpPr>
          <p:cNvPr id="125" name="Value1"/>
          <p:cNvSpPr/>
          <p:nvPr/>
        </p:nvSpPr>
        <p:spPr>
          <a:xfrm>
            <a:off x="914400" y="2540000"/>
            <a:ext cx="5003800" cy="203200"/>
          </a:xfrm>
          <a:prstGeom prst="rect">
            <a:avLst/>
          </a:prstGeom>
          <a:noFill/>
          <a:ln>
            <a:noFill/>
          </a:ln>
        </p:spPr>
        <p:txBody>
          <a:bodyPr wrap="square" lIns="0" tIns="0" rIns="0" bIns="0" anchor="ctr"/>
          <a:lstStyle/>
          <a:p>
            <a:pPr marL="0" indent="0">
              <a:buNone/>
            </a:pPr>
            <a:r>
              <a:rPr lang="en-US" sz="1100" dirty="0">
                <a:solidFill>
                  <a:srgbClr val="1A2332"/>
                </a:solidFill>
                <a:latin typeface="Consolas"/>
                <a:cs typeface="Consolas"/>
              </a:rPr>
              <a:t>@src/auth/handler.ts @src/api/session.ts</a:t>
            </a:r>
          </a:p>
        </p:txBody>
      </p:sp>
      <p:sp>
        <p:nvSpPr>
          <p:cNvPr id="201" name="Sep1"/>
          <p:cNvSpPr/>
          <p:nvPr/>
        </p:nvSpPr>
        <p:spPr>
          <a:xfrm>
            <a:off x="863600" y="2844800"/>
            <a:ext cx="5054600" cy="0"/>
          </a:xfrm>
          <a:prstGeom prst="line">
            <a:avLst/>
          </a:prstGeom>
          <a:ln w="6350">
            <a:solidFill>
              <a:srgbClr val="E5E7EB"/>
            </a:solidFill>
            <a:prstDash val="dot"/>
          </a:ln>
        </p:spPr>
        <p:txBody>
          <a:bodyPr/>
          <a:lstStyle/>
          <a:p>
            <a:endParaRPr lang="en-US"/>
          </a:p>
        </p:txBody>
      </p:sp>
      <p:sp>
        <p:nvSpPr>
          <p:cNvPr id="126" name="LineNum2"/>
          <p:cNvSpPr/>
          <p:nvPr/>
        </p:nvSpPr>
        <p:spPr>
          <a:xfrm>
            <a:off x="444500" y="2895600"/>
            <a:ext cx="279400" cy="203200"/>
          </a:xfrm>
          <a:prstGeom prst="rect">
            <a:avLst/>
          </a:prstGeom>
          <a:noFill/>
          <a:ln>
            <a:noFill/>
          </a:ln>
        </p:spPr>
        <p:txBody>
          <a:bodyPr wrap="square" lIns="0" tIns="0" rIns="0" bIns="0" anchor="ctr"/>
          <a:lstStyle/>
          <a:p>
            <a:pPr marL="0" indent="0" algn="r">
              <a:buNone/>
            </a:pPr>
            <a:r>
              <a:rPr lang="en-US" sz="1100" dirty="0">
                <a:solidFill>
                  <a:srgbClr val="7A8A9E"/>
                </a:solidFill>
                <a:latin typeface="Consolas"/>
                <a:cs typeface="Consolas"/>
              </a:rPr>
              <a:t>3</a:t>
            </a:r>
          </a:p>
        </p:txBody>
      </p:sp>
      <p:sp>
        <p:nvSpPr>
          <p:cNvPr id="127" name="Keyword2"/>
          <p:cNvSpPr/>
          <p:nvPr/>
        </p:nvSpPr>
        <p:spPr>
          <a:xfrm>
            <a:off x="863600" y="2895600"/>
            <a:ext cx="1397000" cy="203200"/>
          </a:xfrm>
          <a:prstGeom prst="rect">
            <a:avLst/>
          </a:prstGeom>
          <a:noFill/>
          <a:ln>
            <a:noFill/>
          </a:ln>
        </p:spPr>
        <p:txBody>
          <a:bodyPr wrap="square" lIns="0" tIns="0" rIns="0" bIns="0" anchor="ctr"/>
          <a:lstStyle/>
          <a:p>
            <a:pPr marL="0" indent="0">
              <a:buNone/>
            </a:pPr>
            <a:r>
              <a:rPr lang="en-US" sz="1200" b="1" dirty="0">
                <a:solidFill>
                  <a:srgbClr val="C2185B"/>
                </a:solidFill>
                <a:latin typeface="Consolas"/>
                <a:cs typeface="Consolas"/>
              </a:rPr>
              <a:t>Constraints:</a:t>
            </a:r>
          </a:p>
        </p:txBody>
      </p:sp>
      <p:sp>
        <p:nvSpPr>
          <p:cNvPr id="128" name="Value2"/>
          <p:cNvSpPr/>
          <p:nvPr/>
        </p:nvSpPr>
        <p:spPr>
          <a:xfrm>
            <a:off x="914400" y="3124200"/>
            <a:ext cx="5003800" cy="203200"/>
          </a:xfrm>
          <a:prstGeom prst="rect">
            <a:avLst/>
          </a:prstGeom>
          <a:noFill/>
          <a:ln>
            <a:noFill/>
          </a:ln>
        </p:spPr>
        <p:txBody>
          <a:bodyPr wrap="square" lIns="0" tIns="0" rIns="0" bIns="0" anchor="ctr"/>
          <a:lstStyle/>
          <a:p>
            <a:pPr marL="0" indent="0">
              <a:buNone/>
            </a:pPr>
            <a:r>
              <a:rPr lang="en-US" sz="1100" dirty="0">
                <a:solidFill>
                  <a:srgbClr val="1A2332"/>
                </a:solidFill>
                <a:latin typeface="Consolas"/>
                <a:cs typeface="Consolas"/>
              </a:rPr>
              <a:t>Do not change token format or middleware</a:t>
            </a:r>
          </a:p>
        </p:txBody>
      </p:sp>
      <p:sp>
        <p:nvSpPr>
          <p:cNvPr id="202" name="Sep2"/>
          <p:cNvSpPr/>
          <p:nvPr/>
        </p:nvSpPr>
        <p:spPr>
          <a:xfrm>
            <a:off x="863600" y="3429000"/>
            <a:ext cx="5054600" cy="0"/>
          </a:xfrm>
          <a:prstGeom prst="line">
            <a:avLst/>
          </a:prstGeom>
          <a:ln w="6350">
            <a:solidFill>
              <a:srgbClr val="E5E7EB"/>
            </a:solidFill>
            <a:prstDash val="dot"/>
          </a:ln>
        </p:spPr>
        <p:txBody>
          <a:bodyPr/>
          <a:lstStyle/>
          <a:p>
            <a:endParaRPr lang="en-US"/>
          </a:p>
        </p:txBody>
      </p:sp>
      <p:sp>
        <p:nvSpPr>
          <p:cNvPr id="129" name="LineNum3"/>
          <p:cNvSpPr/>
          <p:nvPr/>
        </p:nvSpPr>
        <p:spPr>
          <a:xfrm>
            <a:off x="444500" y="3479800"/>
            <a:ext cx="279400" cy="203200"/>
          </a:xfrm>
          <a:prstGeom prst="rect">
            <a:avLst/>
          </a:prstGeom>
          <a:noFill/>
          <a:ln>
            <a:noFill/>
          </a:ln>
        </p:spPr>
        <p:txBody>
          <a:bodyPr wrap="square" lIns="0" tIns="0" rIns="0" bIns="0" anchor="ctr"/>
          <a:lstStyle/>
          <a:p>
            <a:pPr marL="0" indent="0" algn="r">
              <a:buNone/>
            </a:pPr>
            <a:r>
              <a:rPr lang="en-US" sz="1100" dirty="0">
                <a:solidFill>
                  <a:srgbClr val="7A8A9E"/>
                </a:solidFill>
                <a:latin typeface="Consolas"/>
                <a:cs typeface="Consolas"/>
              </a:rPr>
              <a:t>4</a:t>
            </a:r>
          </a:p>
        </p:txBody>
      </p:sp>
      <p:sp>
        <p:nvSpPr>
          <p:cNvPr id="130" name="Keyword3"/>
          <p:cNvSpPr/>
          <p:nvPr/>
        </p:nvSpPr>
        <p:spPr>
          <a:xfrm>
            <a:off x="863600" y="3479800"/>
            <a:ext cx="1397000" cy="203200"/>
          </a:xfrm>
          <a:prstGeom prst="rect">
            <a:avLst/>
          </a:prstGeom>
          <a:noFill/>
          <a:ln>
            <a:noFill/>
          </a:ln>
        </p:spPr>
        <p:txBody>
          <a:bodyPr wrap="square" lIns="0" tIns="0" rIns="0" bIns="0" anchor="ctr"/>
          <a:lstStyle/>
          <a:p>
            <a:pPr marL="0" indent="0">
              <a:buNone/>
            </a:pPr>
            <a:r>
              <a:rPr lang="en-US" sz="1200" b="1" dirty="0">
                <a:solidFill>
                  <a:srgbClr val="D4622B"/>
                </a:solidFill>
                <a:latin typeface="Consolas"/>
                <a:cs typeface="Consolas"/>
              </a:rPr>
              <a:t>Scope:</a:t>
            </a:r>
          </a:p>
        </p:txBody>
      </p:sp>
      <p:sp>
        <p:nvSpPr>
          <p:cNvPr id="131" name="Value3"/>
          <p:cNvSpPr/>
          <p:nvPr/>
        </p:nvSpPr>
        <p:spPr>
          <a:xfrm>
            <a:off x="863600" y="3586109"/>
            <a:ext cx="5003800" cy="650979"/>
          </a:xfrm>
          <a:prstGeom prst="rect">
            <a:avLst/>
          </a:prstGeom>
          <a:noFill/>
          <a:ln>
            <a:noFill/>
          </a:ln>
        </p:spPr>
        <p:txBody>
          <a:bodyPr wrap="square" lIns="0" tIns="0" rIns="0" bIns="0" anchor="ctr"/>
          <a:lstStyle/>
          <a:p>
            <a:pPr marL="0" indent="0">
              <a:buNone/>
            </a:pPr>
            <a:r>
              <a:rPr lang="en-US" sz="1100" dirty="0">
                <a:solidFill>
                  <a:srgbClr val="1A2332"/>
                </a:solidFill>
                <a:latin typeface="Consolas"/>
                <a:cs typeface="Consolas"/>
              </a:rPr>
              <a:t>Do not scan the full project — only read listed files </a:t>
            </a:r>
          </a:p>
          <a:p>
            <a:r>
              <a:rPr lang="en-US" sz="1100" dirty="0">
                <a:solidFill>
                  <a:srgbClr val="1A2332"/>
                </a:solidFill>
                <a:latin typeface="Consolas"/>
                <a:cs typeface="Consolas"/>
              </a:rPr>
              <a:t>Do not scan entire RFC – scan only section 4 : </a:t>
            </a:r>
            <a:r>
              <a:rPr lang="en-US" sz="1100" dirty="0">
                <a:solidFill>
                  <a:srgbClr val="1A2332"/>
                </a:solidFill>
                <a:latin typeface="Consolas"/>
                <a:cs typeface="Consolas"/>
                <a:hlinkClick r:id="rId4"/>
              </a:rPr>
              <a:t>https://datatracker.ietf.org/doc/html/rfc7519#section-4</a:t>
            </a:r>
            <a:r>
              <a:rPr lang="en-US" sz="1100" dirty="0">
                <a:solidFill>
                  <a:srgbClr val="1A2332"/>
                </a:solidFill>
                <a:latin typeface="Consolas"/>
                <a:cs typeface="Consolas"/>
              </a:rPr>
              <a:t> </a:t>
            </a:r>
          </a:p>
        </p:txBody>
      </p:sp>
      <p:sp>
        <p:nvSpPr>
          <p:cNvPr id="203" name="Sep3"/>
          <p:cNvSpPr/>
          <p:nvPr/>
        </p:nvSpPr>
        <p:spPr>
          <a:xfrm>
            <a:off x="863600" y="4209840"/>
            <a:ext cx="5054600" cy="0"/>
          </a:xfrm>
          <a:prstGeom prst="line">
            <a:avLst/>
          </a:prstGeom>
          <a:ln w="6350">
            <a:solidFill>
              <a:srgbClr val="E5E7EB"/>
            </a:solidFill>
            <a:prstDash val="dot"/>
          </a:ln>
        </p:spPr>
        <p:txBody>
          <a:bodyPr/>
          <a:lstStyle/>
          <a:p>
            <a:endParaRPr lang="en-US" dirty="0"/>
          </a:p>
        </p:txBody>
      </p:sp>
      <p:sp>
        <p:nvSpPr>
          <p:cNvPr id="132" name="LineNum4"/>
          <p:cNvSpPr/>
          <p:nvPr/>
        </p:nvSpPr>
        <p:spPr>
          <a:xfrm>
            <a:off x="453512" y="4227869"/>
            <a:ext cx="279400" cy="203200"/>
          </a:xfrm>
          <a:prstGeom prst="rect">
            <a:avLst/>
          </a:prstGeom>
          <a:noFill/>
          <a:ln>
            <a:noFill/>
          </a:ln>
        </p:spPr>
        <p:txBody>
          <a:bodyPr wrap="square" lIns="0" tIns="0" rIns="0" bIns="0" anchor="ctr"/>
          <a:lstStyle/>
          <a:p>
            <a:pPr marL="0" indent="0" algn="r">
              <a:buNone/>
            </a:pPr>
            <a:r>
              <a:rPr lang="en-US" sz="1100" dirty="0">
                <a:solidFill>
                  <a:srgbClr val="7A8A9E"/>
                </a:solidFill>
                <a:latin typeface="Consolas"/>
                <a:cs typeface="Consolas"/>
              </a:rPr>
              <a:t>5</a:t>
            </a:r>
          </a:p>
        </p:txBody>
      </p:sp>
      <p:sp>
        <p:nvSpPr>
          <p:cNvPr id="133" name="Keyword4"/>
          <p:cNvSpPr/>
          <p:nvPr/>
        </p:nvSpPr>
        <p:spPr>
          <a:xfrm>
            <a:off x="849262" y="4247331"/>
            <a:ext cx="1397000" cy="203200"/>
          </a:xfrm>
          <a:prstGeom prst="rect">
            <a:avLst/>
          </a:prstGeom>
          <a:noFill/>
          <a:ln>
            <a:noFill/>
          </a:ln>
        </p:spPr>
        <p:txBody>
          <a:bodyPr wrap="square" lIns="0" tIns="0" rIns="0" bIns="0" anchor="ctr"/>
          <a:lstStyle/>
          <a:p>
            <a:pPr marL="0" indent="0">
              <a:buNone/>
            </a:pPr>
            <a:r>
              <a:rPr lang="en-US" sz="1200" b="1" dirty="0">
                <a:solidFill>
                  <a:srgbClr val="0E7A4F"/>
                </a:solidFill>
                <a:latin typeface="Consolas"/>
                <a:cs typeface="Consolas"/>
              </a:rPr>
              <a:t>Validation:</a:t>
            </a:r>
          </a:p>
        </p:txBody>
      </p:sp>
      <p:sp>
        <p:nvSpPr>
          <p:cNvPr id="134" name="Value4"/>
          <p:cNvSpPr/>
          <p:nvPr/>
        </p:nvSpPr>
        <p:spPr>
          <a:xfrm>
            <a:off x="863600" y="4458928"/>
            <a:ext cx="5003800" cy="203200"/>
          </a:xfrm>
          <a:prstGeom prst="rect">
            <a:avLst/>
          </a:prstGeom>
          <a:noFill/>
          <a:ln>
            <a:noFill/>
          </a:ln>
        </p:spPr>
        <p:txBody>
          <a:bodyPr wrap="square" lIns="0" tIns="0" rIns="0" bIns="0" anchor="ctr"/>
          <a:lstStyle/>
          <a:p>
            <a:pPr marL="0" indent="0">
              <a:buNone/>
            </a:pPr>
            <a:r>
              <a:rPr lang="en-US" sz="1100" dirty="0">
                <a:solidFill>
                  <a:srgbClr val="1A2332"/>
                </a:solidFill>
                <a:latin typeface="Consolas"/>
                <a:cs typeface="Consolas"/>
              </a:rPr>
              <a:t>Add a regression test, run auth suite</a:t>
            </a:r>
          </a:p>
        </p:txBody>
      </p:sp>
      <p:sp>
        <p:nvSpPr>
          <p:cNvPr id="204" name="Sep4"/>
          <p:cNvSpPr/>
          <p:nvPr/>
        </p:nvSpPr>
        <p:spPr>
          <a:xfrm>
            <a:off x="863600" y="4636728"/>
            <a:ext cx="5054600" cy="0"/>
          </a:xfrm>
          <a:prstGeom prst="line">
            <a:avLst/>
          </a:prstGeom>
          <a:ln w="6350">
            <a:solidFill>
              <a:srgbClr val="E5E7EB"/>
            </a:solidFill>
            <a:prstDash val="dot"/>
          </a:ln>
        </p:spPr>
        <p:txBody>
          <a:bodyPr/>
          <a:lstStyle/>
          <a:p>
            <a:endParaRPr lang="en-US"/>
          </a:p>
        </p:txBody>
      </p:sp>
      <p:sp>
        <p:nvSpPr>
          <p:cNvPr id="135" name="LineNum5"/>
          <p:cNvSpPr/>
          <p:nvPr/>
        </p:nvSpPr>
        <p:spPr>
          <a:xfrm>
            <a:off x="444500" y="4697360"/>
            <a:ext cx="279400" cy="203200"/>
          </a:xfrm>
          <a:prstGeom prst="rect">
            <a:avLst/>
          </a:prstGeom>
          <a:noFill/>
          <a:ln>
            <a:noFill/>
          </a:ln>
        </p:spPr>
        <p:txBody>
          <a:bodyPr wrap="square" lIns="0" tIns="0" rIns="0" bIns="0" anchor="ctr"/>
          <a:lstStyle/>
          <a:p>
            <a:pPr marL="0" indent="0" algn="r">
              <a:buNone/>
            </a:pPr>
            <a:r>
              <a:rPr lang="en-US" sz="1100" dirty="0">
                <a:solidFill>
                  <a:srgbClr val="7A8A9E"/>
                </a:solidFill>
                <a:latin typeface="Consolas"/>
                <a:cs typeface="Consolas"/>
              </a:rPr>
              <a:t>6</a:t>
            </a:r>
          </a:p>
        </p:txBody>
      </p:sp>
      <p:sp>
        <p:nvSpPr>
          <p:cNvPr id="136" name="Keyword5"/>
          <p:cNvSpPr/>
          <p:nvPr/>
        </p:nvSpPr>
        <p:spPr>
          <a:xfrm>
            <a:off x="863600" y="4687528"/>
            <a:ext cx="1397000" cy="203200"/>
          </a:xfrm>
          <a:prstGeom prst="rect">
            <a:avLst/>
          </a:prstGeom>
          <a:noFill/>
          <a:ln>
            <a:noFill/>
          </a:ln>
        </p:spPr>
        <p:txBody>
          <a:bodyPr wrap="square" lIns="0" tIns="0" rIns="0" bIns="0" anchor="ctr"/>
          <a:lstStyle/>
          <a:p>
            <a:pPr marL="0" indent="0">
              <a:buNone/>
            </a:pPr>
            <a:r>
              <a:rPr lang="en-US" sz="1200" b="1" dirty="0">
                <a:solidFill>
                  <a:srgbClr val="B8860B"/>
                </a:solidFill>
                <a:latin typeface="Consolas"/>
                <a:cs typeface="Consolas"/>
              </a:rPr>
              <a:t>Output:</a:t>
            </a:r>
          </a:p>
        </p:txBody>
      </p:sp>
      <p:sp>
        <p:nvSpPr>
          <p:cNvPr id="137" name="Value5"/>
          <p:cNvSpPr/>
          <p:nvPr/>
        </p:nvSpPr>
        <p:spPr>
          <a:xfrm>
            <a:off x="914400" y="4876800"/>
            <a:ext cx="5003800" cy="203200"/>
          </a:xfrm>
          <a:prstGeom prst="rect">
            <a:avLst/>
          </a:prstGeom>
          <a:noFill/>
          <a:ln>
            <a:noFill/>
          </a:ln>
        </p:spPr>
        <p:txBody>
          <a:bodyPr wrap="square" lIns="0" tIns="0" rIns="0" bIns="0" anchor="ctr"/>
          <a:lstStyle/>
          <a:p>
            <a:pPr marL="0" indent="0">
              <a:buNone/>
            </a:pPr>
            <a:r>
              <a:rPr lang="en-US" sz="1100" dirty="0">
                <a:solidFill>
                  <a:srgbClr val="1A2332"/>
                </a:solidFill>
                <a:latin typeface="Consolas"/>
                <a:cs typeface="Consolas"/>
              </a:rPr>
              <a:t>Root cause first, then smallest safe fix</a:t>
            </a:r>
          </a:p>
        </p:txBody>
      </p:sp>
      <p:sp>
        <p:nvSpPr>
          <p:cNvPr id="145" name="SkeletonLabel"/>
          <p:cNvSpPr/>
          <p:nvPr/>
        </p:nvSpPr>
        <p:spPr>
          <a:xfrm>
            <a:off x="406400" y="1041400"/>
            <a:ext cx="2032000" cy="228600"/>
          </a:xfrm>
          <a:prstGeom prst="rect">
            <a:avLst/>
          </a:prstGeom>
          <a:noFill/>
          <a:ln>
            <a:noFill/>
          </a:ln>
        </p:spPr>
        <p:txBody>
          <a:bodyPr wrap="square" lIns="0" tIns="0" rIns="0" bIns="0" anchor="ctr"/>
          <a:lstStyle/>
          <a:p>
            <a:pPr marL="0" indent="0">
              <a:buNone/>
            </a:pPr>
            <a:r>
              <a:rPr lang="en-US" sz="1100" b="1" dirty="0">
                <a:solidFill>
                  <a:srgbClr val="5B6ABF"/>
                </a:solidFill>
                <a:latin typeface="Segoe UI Semibold"/>
                <a:cs typeface="Segoe UI Semibold"/>
              </a:rPr>
              <a:t>PROMPT SKELETON</a:t>
            </a:r>
          </a:p>
        </p:txBody>
      </p:sp>
      <p:sp>
        <p:nvSpPr>
          <p:cNvPr id="150" name="TipShadow0"/>
          <p:cNvSpPr/>
          <p:nvPr/>
        </p:nvSpPr>
        <p:spPr>
          <a:xfrm>
            <a:off x="6248400" y="12954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E8E8E8"/>
          </a:solidFill>
          <a:ln>
            <a:noFill/>
          </a:ln>
        </p:spPr>
        <p:txBody>
          <a:bodyPr/>
          <a:lstStyle/>
          <a:p>
            <a:endParaRPr lang="en-US"/>
          </a:p>
        </p:txBody>
      </p:sp>
      <p:sp>
        <p:nvSpPr>
          <p:cNvPr id="151" name="TipCard0"/>
          <p:cNvSpPr/>
          <p:nvPr/>
        </p:nvSpPr>
        <p:spPr>
          <a:xfrm>
            <a:off x="6223000" y="12700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FFFFFF"/>
          </a:solidFill>
          <a:ln w="9525">
            <a:solidFill>
              <a:srgbClr val="E5E7EB"/>
            </a:solidFill>
          </a:ln>
        </p:spPr>
        <p:txBody>
          <a:bodyPr/>
          <a:lstStyle/>
          <a:p>
            <a:endParaRPr lang="en-US"/>
          </a:p>
        </p:txBody>
      </p:sp>
      <p:sp>
        <p:nvSpPr>
          <p:cNvPr id="152" name="TipAccent0"/>
          <p:cNvSpPr/>
          <p:nvPr/>
        </p:nvSpPr>
        <p:spPr>
          <a:xfrm>
            <a:off x="6218904" y="1270000"/>
            <a:ext cx="2772696" cy="76200"/>
          </a:xfrm>
          <a:prstGeom prst="rect">
            <a:avLst/>
          </a:prstGeom>
          <a:solidFill>
            <a:srgbClr val="1565C0"/>
          </a:solidFill>
          <a:ln>
            <a:noFill/>
          </a:ln>
        </p:spPr>
        <p:txBody>
          <a:bodyPr/>
          <a:lstStyle/>
          <a:p>
            <a:endParaRPr lang="en-US"/>
          </a:p>
        </p:txBody>
      </p:sp>
      <p:sp>
        <p:nvSpPr>
          <p:cNvPr id="153" name="TipNum0"/>
          <p:cNvSpPr/>
          <p:nvPr/>
        </p:nvSpPr>
        <p:spPr>
          <a:xfrm>
            <a:off x="6350000" y="1447800"/>
            <a:ext cx="304800" cy="304800"/>
          </a:xfrm>
          <a:prstGeom prst="ellipse">
            <a:avLst/>
          </a:prstGeom>
          <a:solidFill>
            <a:srgbClr val="1565C0"/>
          </a:solidFill>
          <a:ln>
            <a:noFill/>
          </a:ln>
        </p:spPr>
        <p:txBody>
          <a:bodyPr wrap="none" lIns="0" tIns="0" rIns="0" bIns="0" anchor="ctr"/>
          <a:lstStyle/>
          <a:p>
            <a:pPr marL="0" indent="0" algn="ctr">
              <a:buNone/>
            </a:pPr>
            <a:r>
              <a:rPr lang="en-US" sz="1100" b="1" dirty="0">
                <a:solidFill>
                  <a:srgbClr val="FFFFFF"/>
                </a:solidFill>
                <a:latin typeface="Segoe UI Semibold"/>
              </a:rPr>
              <a:t>A</a:t>
            </a:r>
          </a:p>
        </p:txBody>
      </p:sp>
      <p:sp>
        <p:nvSpPr>
          <p:cNvPr id="154" name="TipTitle0"/>
          <p:cNvSpPr/>
          <p:nvPr/>
        </p:nvSpPr>
        <p:spPr>
          <a:xfrm>
            <a:off x="6731000" y="1447800"/>
            <a:ext cx="2108200" cy="304800"/>
          </a:xfrm>
          <a:prstGeom prst="rect">
            <a:avLst/>
          </a:prstGeom>
          <a:noFill/>
          <a:ln>
            <a:noFill/>
          </a:ln>
        </p:spPr>
        <p:txBody>
          <a:bodyPr wrap="square" lIns="0" tIns="0" rIns="0" bIns="0" anchor="ctr"/>
          <a:lstStyle/>
          <a:p>
            <a:pPr marL="0" indent="0">
              <a:buNone/>
            </a:pPr>
            <a:r>
              <a:rPr lang="en-US" sz="1200" b="1" dirty="0">
                <a:solidFill>
                  <a:srgbClr val="1A2332"/>
                </a:solidFill>
                <a:latin typeface="Segoe UI Semibold"/>
                <a:cs typeface="Segoe UI Semibold"/>
              </a:rPr>
              <a:t>Plan first</a:t>
            </a:r>
          </a:p>
        </p:txBody>
      </p:sp>
      <p:sp>
        <p:nvSpPr>
          <p:cNvPr id="190" name="TipDesc0"/>
          <p:cNvSpPr/>
          <p:nvPr/>
        </p:nvSpPr>
        <p:spPr>
          <a:xfrm>
            <a:off x="6350000" y="1828800"/>
            <a:ext cx="2489200" cy="736600"/>
          </a:xfrm>
          <a:prstGeom prst="rect">
            <a:avLst/>
          </a:prstGeom>
          <a:noFill/>
          <a:ln>
            <a:noFill/>
          </a:ln>
        </p:spPr>
        <p:txBody>
          <a:bodyPr wrap="square" lIns="0" tIns="0" rIns="50800" bIns="0" anchor="t"/>
          <a:lstStyle/>
          <a:p>
            <a:pPr marL="0" indent="0">
              <a:buNone/>
            </a:pPr>
            <a:r>
              <a:rPr lang="en-US" sz="1000" dirty="0">
                <a:solidFill>
                  <a:srgbClr val="4B5563"/>
                </a:solidFill>
                <a:latin typeface="Segoe UI"/>
                <a:cs typeface="Segoe UI"/>
              </a:rPr>
              <a:t>Use /plan to map approach before writing any code</a:t>
            </a:r>
          </a:p>
        </p:txBody>
      </p:sp>
      <p:sp>
        <p:nvSpPr>
          <p:cNvPr id="155" name="TipShadow1"/>
          <p:cNvSpPr/>
          <p:nvPr/>
        </p:nvSpPr>
        <p:spPr>
          <a:xfrm>
            <a:off x="9144000" y="12954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E8E8E8"/>
          </a:solidFill>
          <a:ln>
            <a:noFill/>
          </a:ln>
        </p:spPr>
        <p:txBody>
          <a:bodyPr/>
          <a:lstStyle/>
          <a:p>
            <a:endParaRPr lang="en-US"/>
          </a:p>
        </p:txBody>
      </p:sp>
      <p:sp>
        <p:nvSpPr>
          <p:cNvPr id="156" name="TipCard1"/>
          <p:cNvSpPr/>
          <p:nvPr/>
        </p:nvSpPr>
        <p:spPr>
          <a:xfrm>
            <a:off x="9118600" y="12700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FFFFFF"/>
          </a:solidFill>
          <a:ln w="9525">
            <a:solidFill>
              <a:srgbClr val="E5E7EB"/>
            </a:solidFill>
          </a:ln>
        </p:spPr>
        <p:txBody>
          <a:bodyPr/>
          <a:lstStyle/>
          <a:p>
            <a:endParaRPr lang="en-US"/>
          </a:p>
        </p:txBody>
      </p:sp>
      <p:sp>
        <p:nvSpPr>
          <p:cNvPr id="157" name="TipAccent1"/>
          <p:cNvSpPr/>
          <p:nvPr/>
        </p:nvSpPr>
        <p:spPr>
          <a:xfrm>
            <a:off x="9118600" y="1277988"/>
            <a:ext cx="2743200" cy="68211"/>
          </a:xfrm>
          <a:prstGeom prst="rect">
            <a:avLst/>
          </a:prstGeom>
          <a:solidFill>
            <a:srgbClr val="7C3AED"/>
          </a:solidFill>
          <a:ln>
            <a:noFill/>
          </a:ln>
        </p:spPr>
        <p:txBody>
          <a:bodyPr/>
          <a:lstStyle/>
          <a:p>
            <a:endParaRPr lang="en-US"/>
          </a:p>
        </p:txBody>
      </p:sp>
      <p:sp>
        <p:nvSpPr>
          <p:cNvPr id="158" name="TipNum1"/>
          <p:cNvSpPr/>
          <p:nvPr/>
        </p:nvSpPr>
        <p:spPr>
          <a:xfrm>
            <a:off x="9245600" y="1447800"/>
            <a:ext cx="304800" cy="304800"/>
          </a:xfrm>
          <a:prstGeom prst="ellipse">
            <a:avLst/>
          </a:prstGeom>
          <a:solidFill>
            <a:srgbClr val="7C3AED"/>
          </a:solidFill>
          <a:ln>
            <a:noFill/>
          </a:ln>
        </p:spPr>
        <p:txBody>
          <a:bodyPr wrap="none" lIns="0" tIns="0" rIns="0" bIns="0" anchor="ctr"/>
          <a:lstStyle/>
          <a:p>
            <a:pPr marL="0" indent="0" algn="ctr">
              <a:buNone/>
            </a:pPr>
            <a:r>
              <a:rPr lang="en-US" sz="1100" b="1" dirty="0">
                <a:solidFill>
                  <a:srgbClr val="FFFFFF"/>
                </a:solidFill>
                <a:latin typeface="Segoe UI Semibold"/>
              </a:rPr>
              <a:t>B</a:t>
            </a:r>
          </a:p>
        </p:txBody>
      </p:sp>
      <p:sp>
        <p:nvSpPr>
          <p:cNvPr id="159" name="TipTitle1"/>
          <p:cNvSpPr/>
          <p:nvPr/>
        </p:nvSpPr>
        <p:spPr>
          <a:xfrm>
            <a:off x="9626600" y="1447800"/>
            <a:ext cx="2108200" cy="304800"/>
          </a:xfrm>
          <a:prstGeom prst="rect">
            <a:avLst/>
          </a:prstGeom>
          <a:noFill/>
          <a:ln>
            <a:noFill/>
          </a:ln>
        </p:spPr>
        <p:txBody>
          <a:bodyPr wrap="square" lIns="0" tIns="0" rIns="0" bIns="0" anchor="ctr"/>
          <a:lstStyle/>
          <a:p>
            <a:pPr marL="0" indent="0">
              <a:buNone/>
            </a:pPr>
            <a:r>
              <a:rPr lang="en-US" sz="1200" b="1" dirty="0">
                <a:solidFill>
                  <a:srgbClr val="1A2332"/>
                </a:solidFill>
                <a:latin typeface="Segoe UI Semibold"/>
                <a:cs typeface="Segoe UI Semibold"/>
              </a:rPr>
              <a:t>Pin your files</a:t>
            </a:r>
          </a:p>
        </p:txBody>
      </p:sp>
      <p:sp>
        <p:nvSpPr>
          <p:cNvPr id="191" name="TipDesc1"/>
          <p:cNvSpPr/>
          <p:nvPr/>
        </p:nvSpPr>
        <p:spPr>
          <a:xfrm>
            <a:off x="9245600" y="1828800"/>
            <a:ext cx="2489200" cy="736600"/>
          </a:xfrm>
          <a:prstGeom prst="rect">
            <a:avLst/>
          </a:prstGeom>
          <a:noFill/>
          <a:ln>
            <a:noFill/>
          </a:ln>
        </p:spPr>
        <p:txBody>
          <a:bodyPr wrap="square" lIns="0" tIns="0" rIns="50800" bIns="0" anchor="t"/>
          <a:lstStyle/>
          <a:p>
            <a:pPr marL="0" indent="0">
              <a:buNone/>
            </a:pPr>
            <a:r>
              <a:rPr lang="en-US" sz="1000" dirty="0">
                <a:solidFill>
                  <a:srgbClr val="4B5563"/>
                </a:solidFill>
                <a:latin typeface="Segoe UI"/>
                <a:cs typeface="Segoe UI"/>
              </a:rPr>
              <a:t>@ references keep context focused and prevent full-project scans</a:t>
            </a:r>
          </a:p>
        </p:txBody>
      </p:sp>
      <p:sp>
        <p:nvSpPr>
          <p:cNvPr id="160" name="TipShadow2"/>
          <p:cNvSpPr/>
          <p:nvPr/>
        </p:nvSpPr>
        <p:spPr>
          <a:xfrm>
            <a:off x="6248400" y="28448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E8E8E8"/>
          </a:solidFill>
          <a:ln>
            <a:noFill/>
          </a:ln>
        </p:spPr>
        <p:txBody>
          <a:bodyPr/>
          <a:lstStyle/>
          <a:p>
            <a:endParaRPr lang="en-US"/>
          </a:p>
        </p:txBody>
      </p:sp>
      <p:sp>
        <p:nvSpPr>
          <p:cNvPr id="161" name="TipCard2"/>
          <p:cNvSpPr/>
          <p:nvPr/>
        </p:nvSpPr>
        <p:spPr>
          <a:xfrm>
            <a:off x="6223000" y="28194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FFFFFF"/>
          </a:solidFill>
          <a:ln w="9525">
            <a:solidFill>
              <a:srgbClr val="E5E7EB"/>
            </a:solidFill>
          </a:ln>
        </p:spPr>
        <p:txBody>
          <a:bodyPr/>
          <a:lstStyle/>
          <a:p>
            <a:endParaRPr lang="en-US"/>
          </a:p>
        </p:txBody>
      </p:sp>
      <p:sp>
        <p:nvSpPr>
          <p:cNvPr id="162" name="TipAccent2"/>
          <p:cNvSpPr/>
          <p:nvPr/>
        </p:nvSpPr>
        <p:spPr>
          <a:xfrm>
            <a:off x="6218904" y="2832100"/>
            <a:ext cx="2743200" cy="63500"/>
          </a:xfrm>
          <a:prstGeom prst="rect">
            <a:avLst/>
          </a:prstGeom>
          <a:solidFill>
            <a:srgbClr val="059669"/>
          </a:solidFill>
          <a:ln>
            <a:noFill/>
          </a:ln>
        </p:spPr>
        <p:txBody>
          <a:bodyPr/>
          <a:lstStyle/>
          <a:p>
            <a:endParaRPr lang="en-US"/>
          </a:p>
        </p:txBody>
      </p:sp>
      <p:sp>
        <p:nvSpPr>
          <p:cNvPr id="163" name="TipNum2"/>
          <p:cNvSpPr/>
          <p:nvPr/>
        </p:nvSpPr>
        <p:spPr>
          <a:xfrm>
            <a:off x="6350000" y="2997200"/>
            <a:ext cx="304800" cy="304800"/>
          </a:xfrm>
          <a:prstGeom prst="ellipse">
            <a:avLst/>
          </a:prstGeom>
          <a:solidFill>
            <a:srgbClr val="059669"/>
          </a:solidFill>
          <a:ln>
            <a:noFill/>
          </a:ln>
        </p:spPr>
        <p:txBody>
          <a:bodyPr wrap="none" lIns="0" tIns="0" rIns="0" bIns="0" anchor="ctr"/>
          <a:lstStyle/>
          <a:p>
            <a:pPr marL="0" indent="0" algn="ctr">
              <a:buNone/>
            </a:pPr>
            <a:r>
              <a:rPr lang="en-US" sz="1100" b="1" dirty="0">
                <a:solidFill>
                  <a:srgbClr val="FFFFFF"/>
                </a:solidFill>
                <a:latin typeface="Segoe UI Semibold"/>
              </a:rPr>
              <a:t>C</a:t>
            </a:r>
          </a:p>
        </p:txBody>
      </p:sp>
      <p:sp>
        <p:nvSpPr>
          <p:cNvPr id="164" name="TipTitle2"/>
          <p:cNvSpPr/>
          <p:nvPr/>
        </p:nvSpPr>
        <p:spPr>
          <a:xfrm>
            <a:off x="6731000" y="2997200"/>
            <a:ext cx="2108200" cy="304800"/>
          </a:xfrm>
          <a:prstGeom prst="rect">
            <a:avLst/>
          </a:prstGeom>
          <a:noFill/>
          <a:ln>
            <a:noFill/>
          </a:ln>
        </p:spPr>
        <p:txBody>
          <a:bodyPr wrap="square" lIns="0" tIns="0" rIns="0" bIns="0" anchor="ctr"/>
          <a:lstStyle/>
          <a:p>
            <a:pPr marL="0" indent="0">
              <a:buNone/>
            </a:pPr>
            <a:r>
              <a:rPr lang="en-US" sz="1200" b="1" dirty="0">
                <a:solidFill>
                  <a:srgbClr val="1A2332"/>
                </a:solidFill>
                <a:latin typeface="Segoe UI Semibold"/>
                <a:cs typeface="Segoe UI Semibold"/>
              </a:rPr>
              <a:t>Demand proof</a:t>
            </a:r>
          </a:p>
        </p:txBody>
      </p:sp>
      <p:sp>
        <p:nvSpPr>
          <p:cNvPr id="192" name="TipDesc2"/>
          <p:cNvSpPr/>
          <p:nvPr/>
        </p:nvSpPr>
        <p:spPr>
          <a:xfrm>
            <a:off x="6350000" y="3378200"/>
            <a:ext cx="2489200" cy="736600"/>
          </a:xfrm>
          <a:prstGeom prst="rect">
            <a:avLst/>
          </a:prstGeom>
          <a:noFill/>
          <a:ln>
            <a:noFill/>
          </a:ln>
        </p:spPr>
        <p:txBody>
          <a:bodyPr wrap="square" lIns="0" tIns="0" rIns="50800" bIns="0" anchor="t"/>
          <a:lstStyle/>
          <a:p>
            <a:pPr marL="0" indent="0">
              <a:buNone/>
            </a:pPr>
            <a:r>
              <a:rPr lang="en-US" sz="1000" dirty="0">
                <a:solidFill>
                  <a:srgbClr val="4B5563"/>
                </a:solidFill>
                <a:latin typeface="Segoe UI"/>
                <a:cs typeface="Segoe UI"/>
              </a:rPr>
              <a:t>State validation criteria — tests, lint, or type-check must pass</a:t>
            </a:r>
          </a:p>
        </p:txBody>
      </p:sp>
      <p:sp>
        <p:nvSpPr>
          <p:cNvPr id="165" name="TipShadow3"/>
          <p:cNvSpPr/>
          <p:nvPr/>
        </p:nvSpPr>
        <p:spPr>
          <a:xfrm>
            <a:off x="9144000" y="28448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E8E8E8"/>
          </a:solidFill>
          <a:ln>
            <a:noFill/>
          </a:ln>
        </p:spPr>
        <p:txBody>
          <a:bodyPr/>
          <a:lstStyle/>
          <a:p>
            <a:endParaRPr lang="en-US"/>
          </a:p>
        </p:txBody>
      </p:sp>
      <p:sp>
        <p:nvSpPr>
          <p:cNvPr id="166" name="TipCard3"/>
          <p:cNvSpPr/>
          <p:nvPr/>
        </p:nvSpPr>
        <p:spPr>
          <a:xfrm>
            <a:off x="9118600" y="28194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FFFFFF"/>
          </a:solidFill>
          <a:ln w="9525">
            <a:solidFill>
              <a:srgbClr val="E5E7EB"/>
            </a:solidFill>
          </a:ln>
        </p:spPr>
        <p:txBody>
          <a:bodyPr/>
          <a:lstStyle/>
          <a:p>
            <a:endParaRPr lang="en-US"/>
          </a:p>
        </p:txBody>
      </p:sp>
      <p:sp>
        <p:nvSpPr>
          <p:cNvPr id="167" name="TipAccent3"/>
          <p:cNvSpPr/>
          <p:nvPr/>
        </p:nvSpPr>
        <p:spPr>
          <a:xfrm>
            <a:off x="9114504" y="2831894"/>
            <a:ext cx="2743200" cy="63705"/>
          </a:xfrm>
          <a:prstGeom prst="rect">
            <a:avLst/>
          </a:prstGeom>
          <a:solidFill>
            <a:srgbClr val="D4622B"/>
          </a:solidFill>
          <a:ln>
            <a:noFill/>
          </a:ln>
        </p:spPr>
        <p:txBody>
          <a:bodyPr/>
          <a:lstStyle/>
          <a:p>
            <a:endParaRPr lang="en-US"/>
          </a:p>
        </p:txBody>
      </p:sp>
      <p:sp>
        <p:nvSpPr>
          <p:cNvPr id="168" name="TipNum3"/>
          <p:cNvSpPr/>
          <p:nvPr/>
        </p:nvSpPr>
        <p:spPr>
          <a:xfrm>
            <a:off x="9245600" y="2997200"/>
            <a:ext cx="304800" cy="304800"/>
          </a:xfrm>
          <a:prstGeom prst="ellipse">
            <a:avLst/>
          </a:prstGeom>
          <a:solidFill>
            <a:srgbClr val="D4622B"/>
          </a:solidFill>
          <a:ln>
            <a:noFill/>
          </a:ln>
        </p:spPr>
        <p:txBody>
          <a:bodyPr wrap="none" lIns="0" tIns="0" rIns="0" bIns="0" anchor="ctr"/>
          <a:lstStyle/>
          <a:p>
            <a:pPr marL="0" indent="0" algn="ctr">
              <a:buNone/>
            </a:pPr>
            <a:r>
              <a:rPr lang="en-US" sz="1100" b="1" dirty="0">
                <a:solidFill>
                  <a:srgbClr val="FFFFFF"/>
                </a:solidFill>
                <a:latin typeface="Segoe UI Semibold"/>
              </a:rPr>
              <a:t>D</a:t>
            </a:r>
          </a:p>
        </p:txBody>
      </p:sp>
      <p:sp>
        <p:nvSpPr>
          <p:cNvPr id="169" name="TipTitle3"/>
          <p:cNvSpPr/>
          <p:nvPr/>
        </p:nvSpPr>
        <p:spPr>
          <a:xfrm>
            <a:off x="9626600" y="2997200"/>
            <a:ext cx="2108200" cy="304800"/>
          </a:xfrm>
          <a:prstGeom prst="rect">
            <a:avLst/>
          </a:prstGeom>
          <a:noFill/>
          <a:ln>
            <a:noFill/>
          </a:ln>
        </p:spPr>
        <p:txBody>
          <a:bodyPr wrap="square" lIns="0" tIns="0" rIns="0" bIns="0" anchor="ctr"/>
          <a:lstStyle/>
          <a:p>
            <a:pPr marL="0" indent="0">
              <a:buNone/>
            </a:pPr>
            <a:r>
              <a:rPr lang="en-US" sz="1200" b="1" dirty="0">
                <a:solidFill>
                  <a:srgbClr val="1A2332"/>
                </a:solidFill>
                <a:latin typeface="Segoe UI Semibold"/>
                <a:cs typeface="Segoe UI Semibold"/>
              </a:rPr>
              <a:t>Guard scope</a:t>
            </a:r>
          </a:p>
        </p:txBody>
      </p:sp>
      <p:sp>
        <p:nvSpPr>
          <p:cNvPr id="193" name="TipDesc3"/>
          <p:cNvSpPr/>
          <p:nvPr/>
        </p:nvSpPr>
        <p:spPr>
          <a:xfrm>
            <a:off x="9245600" y="3378200"/>
            <a:ext cx="2489200" cy="736600"/>
          </a:xfrm>
          <a:prstGeom prst="rect">
            <a:avLst/>
          </a:prstGeom>
          <a:noFill/>
          <a:ln>
            <a:noFill/>
          </a:ln>
        </p:spPr>
        <p:txBody>
          <a:bodyPr wrap="square" lIns="0" tIns="0" rIns="50800" bIns="0" anchor="t"/>
          <a:lstStyle/>
          <a:p>
            <a:pPr marL="0" indent="0">
              <a:buNone/>
            </a:pPr>
            <a:r>
              <a:rPr lang="en-US" sz="1000" dirty="0">
                <a:solidFill>
                  <a:srgbClr val="4B5563"/>
                </a:solidFill>
                <a:latin typeface="Segoe UI"/>
                <a:cs typeface="Segoe UI"/>
              </a:rPr>
              <a:t>"Do not scan" constraints save tokens and prevent drift</a:t>
            </a:r>
          </a:p>
        </p:txBody>
      </p:sp>
      <p:sp>
        <p:nvSpPr>
          <p:cNvPr id="170" name="TipShadow4"/>
          <p:cNvSpPr/>
          <p:nvPr/>
        </p:nvSpPr>
        <p:spPr>
          <a:xfrm>
            <a:off x="6248400" y="43942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E8E8E8"/>
          </a:solidFill>
          <a:ln>
            <a:noFill/>
          </a:ln>
        </p:spPr>
        <p:txBody>
          <a:bodyPr/>
          <a:lstStyle/>
          <a:p>
            <a:endParaRPr lang="en-US"/>
          </a:p>
        </p:txBody>
      </p:sp>
      <p:sp>
        <p:nvSpPr>
          <p:cNvPr id="171" name="TipCard4"/>
          <p:cNvSpPr/>
          <p:nvPr/>
        </p:nvSpPr>
        <p:spPr>
          <a:xfrm>
            <a:off x="6223000" y="43688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FFFFFF"/>
          </a:solidFill>
          <a:ln w="9525">
            <a:solidFill>
              <a:srgbClr val="E5E7EB"/>
            </a:solidFill>
          </a:ln>
        </p:spPr>
        <p:txBody>
          <a:bodyPr/>
          <a:lstStyle/>
          <a:p>
            <a:endParaRPr lang="en-US"/>
          </a:p>
        </p:txBody>
      </p:sp>
      <p:sp>
        <p:nvSpPr>
          <p:cNvPr id="172" name="TipAccent4"/>
          <p:cNvSpPr/>
          <p:nvPr/>
        </p:nvSpPr>
        <p:spPr>
          <a:xfrm>
            <a:off x="6218904" y="4368800"/>
            <a:ext cx="2743200" cy="76200"/>
          </a:xfrm>
          <a:prstGeom prst="rect">
            <a:avLst/>
          </a:prstGeom>
          <a:solidFill>
            <a:srgbClr val="0369A1"/>
          </a:solidFill>
          <a:ln>
            <a:noFill/>
          </a:ln>
        </p:spPr>
        <p:txBody>
          <a:bodyPr/>
          <a:lstStyle/>
          <a:p>
            <a:endParaRPr lang="en-US"/>
          </a:p>
        </p:txBody>
      </p:sp>
      <p:sp>
        <p:nvSpPr>
          <p:cNvPr id="173" name="TipNum4"/>
          <p:cNvSpPr/>
          <p:nvPr/>
        </p:nvSpPr>
        <p:spPr>
          <a:xfrm>
            <a:off x="6350000" y="4546600"/>
            <a:ext cx="304800" cy="304800"/>
          </a:xfrm>
          <a:prstGeom prst="ellipse">
            <a:avLst/>
          </a:prstGeom>
          <a:solidFill>
            <a:srgbClr val="0369A1"/>
          </a:solidFill>
          <a:ln>
            <a:noFill/>
          </a:ln>
        </p:spPr>
        <p:txBody>
          <a:bodyPr wrap="none" lIns="0" tIns="0" rIns="0" bIns="0" anchor="ctr"/>
          <a:lstStyle/>
          <a:p>
            <a:pPr marL="0" indent="0" algn="ctr">
              <a:buNone/>
            </a:pPr>
            <a:r>
              <a:rPr lang="en-US" sz="1100" b="1" dirty="0">
                <a:solidFill>
                  <a:srgbClr val="FFFFFF"/>
                </a:solidFill>
                <a:latin typeface="Segoe UI Semibold"/>
              </a:rPr>
              <a:t>E</a:t>
            </a:r>
          </a:p>
        </p:txBody>
      </p:sp>
      <p:sp>
        <p:nvSpPr>
          <p:cNvPr id="174" name="TipTitle4"/>
          <p:cNvSpPr/>
          <p:nvPr/>
        </p:nvSpPr>
        <p:spPr>
          <a:xfrm>
            <a:off x="6731000" y="4546600"/>
            <a:ext cx="2108200" cy="304800"/>
          </a:xfrm>
          <a:prstGeom prst="rect">
            <a:avLst/>
          </a:prstGeom>
          <a:noFill/>
          <a:ln>
            <a:noFill/>
          </a:ln>
        </p:spPr>
        <p:txBody>
          <a:bodyPr wrap="square" lIns="0" tIns="0" rIns="0" bIns="0" anchor="ctr"/>
          <a:lstStyle/>
          <a:p>
            <a:pPr marL="0" indent="0">
              <a:buNone/>
            </a:pPr>
            <a:r>
              <a:rPr lang="en-US" sz="1200" b="1" dirty="0">
                <a:solidFill>
                  <a:srgbClr val="1A2332"/>
                </a:solidFill>
                <a:latin typeface="Segoe UI Semibold"/>
                <a:cs typeface="Segoe UI Semibold"/>
              </a:rPr>
              <a:t>Reuse patterns</a:t>
            </a:r>
          </a:p>
        </p:txBody>
      </p:sp>
      <p:sp>
        <p:nvSpPr>
          <p:cNvPr id="194" name="TipDesc4"/>
          <p:cNvSpPr/>
          <p:nvPr/>
        </p:nvSpPr>
        <p:spPr>
          <a:xfrm>
            <a:off x="6350000" y="4927600"/>
            <a:ext cx="2489200" cy="736600"/>
          </a:xfrm>
          <a:prstGeom prst="rect">
            <a:avLst/>
          </a:prstGeom>
          <a:noFill/>
          <a:ln>
            <a:noFill/>
          </a:ln>
        </p:spPr>
        <p:txBody>
          <a:bodyPr wrap="square" lIns="0" tIns="0" rIns="50800" bIns="0" anchor="t"/>
          <a:lstStyle/>
          <a:p>
            <a:pPr marL="0" indent="0">
              <a:buNone/>
            </a:pPr>
            <a:r>
              <a:rPr lang="en-US" sz="1000" dirty="0">
                <a:solidFill>
                  <a:srgbClr val="4B5563"/>
                </a:solidFill>
                <a:latin typeface="Segoe UI"/>
                <a:cs typeface="Segoe UI"/>
              </a:rPr>
              <a:t>Store reusable prompts in skills or CLAUDE.md for team use</a:t>
            </a:r>
          </a:p>
        </p:txBody>
      </p:sp>
      <p:sp>
        <p:nvSpPr>
          <p:cNvPr id="175" name="TipShadow5"/>
          <p:cNvSpPr/>
          <p:nvPr/>
        </p:nvSpPr>
        <p:spPr>
          <a:xfrm>
            <a:off x="9144000" y="43942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E8E8E8"/>
          </a:solidFill>
          <a:ln>
            <a:noFill/>
          </a:ln>
        </p:spPr>
        <p:txBody>
          <a:bodyPr/>
          <a:lstStyle/>
          <a:p>
            <a:endParaRPr lang="en-US"/>
          </a:p>
        </p:txBody>
      </p:sp>
      <p:sp>
        <p:nvSpPr>
          <p:cNvPr id="176" name="TipCard5"/>
          <p:cNvSpPr/>
          <p:nvPr/>
        </p:nvSpPr>
        <p:spPr>
          <a:xfrm>
            <a:off x="9118600" y="4368800"/>
            <a:ext cx="2743200" cy="1397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FFFFFF"/>
          </a:solidFill>
          <a:ln w="9525">
            <a:solidFill>
              <a:srgbClr val="E5E7EB"/>
            </a:solidFill>
          </a:ln>
        </p:spPr>
        <p:txBody>
          <a:bodyPr/>
          <a:lstStyle/>
          <a:p>
            <a:endParaRPr lang="en-US"/>
          </a:p>
        </p:txBody>
      </p:sp>
      <p:sp>
        <p:nvSpPr>
          <p:cNvPr id="177" name="TipAccent5"/>
          <p:cNvSpPr/>
          <p:nvPr/>
        </p:nvSpPr>
        <p:spPr>
          <a:xfrm>
            <a:off x="9114504" y="4368799"/>
            <a:ext cx="2743200" cy="76199"/>
          </a:xfrm>
          <a:prstGeom prst="rect">
            <a:avLst/>
          </a:prstGeom>
          <a:solidFill>
            <a:srgbClr val="7E22CE"/>
          </a:solidFill>
          <a:ln>
            <a:noFill/>
          </a:ln>
        </p:spPr>
        <p:txBody>
          <a:bodyPr/>
          <a:lstStyle/>
          <a:p>
            <a:endParaRPr lang="en-US"/>
          </a:p>
        </p:txBody>
      </p:sp>
      <p:sp>
        <p:nvSpPr>
          <p:cNvPr id="178" name="TipNum5"/>
          <p:cNvSpPr/>
          <p:nvPr/>
        </p:nvSpPr>
        <p:spPr>
          <a:xfrm>
            <a:off x="9245600" y="4546600"/>
            <a:ext cx="304800" cy="304800"/>
          </a:xfrm>
          <a:prstGeom prst="ellipse">
            <a:avLst/>
          </a:prstGeom>
          <a:solidFill>
            <a:srgbClr val="7E22CE"/>
          </a:solidFill>
          <a:ln>
            <a:noFill/>
          </a:ln>
        </p:spPr>
        <p:txBody>
          <a:bodyPr wrap="none" lIns="0" tIns="0" rIns="0" bIns="0" anchor="ctr"/>
          <a:lstStyle/>
          <a:p>
            <a:pPr marL="0" indent="0" algn="ctr">
              <a:buNone/>
            </a:pPr>
            <a:r>
              <a:rPr lang="en-US" sz="1100" b="1" dirty="0">
                <a:solidFill>
                  <a:srgbClr val="FFFFFF"/>
                </a:solidFill>
                <a:latin typeface="Segoe UI Semibold"/>
              </a:rPr>
              <a:t>F</a:t>
            </a:r>
          </a:p>
        </p:txBody>
      </p:sp>
      <p:sp>
        <p:nvSpPr>
          <p:cNvPr id="179" name="TipTitle5"/>
          <p:cNvSpPr/>
          <p:nvPr/>
        </p:nvSpPr>
        <p:spPr>
          <a:xfrm>
            <a:off x="9626600" y="4546600"/>
            <a:ext cx="2108200" cy="304800"/>
          </a:xfrm>
          <a:prstGeom prst="rect">
            <a:avLst/>
          </a:prstGeom>
          <a:noFill/>
          <a:ln>
            <a:noFill/>
          </a:ln>
        </p:spPr>
        <p:txBody>
          <a:bodyPr wrap="square" lIns="0" tIns="0" rIns="0" bIns="0" anchor="ctr"/>
          <a:lstStyle/>
          <a:p>
            <a:pPr marL="0" indent="0">
              <a:buNone/>
            </a:pPr>
            <a:r>
              <a:rPr lang="en-US" sz="1200" b="1" dirty="0">
                <a:solidFill>
                  <a:srgbClr val="1A2332"/>
                </a:solidFill>
                <a:latin typeface="Segoe UI Semibold"/>
                <a:cs typeface="Segoe UI Semibold"/>
              </a:rPr>
              <a:t>Batch smartly</a:t>
            </a:r>
          </a:p>
        </p:txBody>
      </p:sp>
      <p:sp>
        <p:nvSpPr>
          <p:cNvPr id="195" name="TipDesc5"/>
          <p:cNvSpPr/>
          <p:nvPr/>
        </p:nvSpPr>
        <p:spPr>
          <a:xfrm>
            <a:off x="9245600" y="4927600"/>
            <a:ext cx="2489200" cy="736600"/>
          </a:xfrm>
          <a:prstGeom prst="rect">
            <a:avLst/>
          </a:prstGeom>
          <a:noFill/>
          <a:ln>
            <a:noFill/>
          </a:ln>
        </p:spPr>
        <p:txBody>
          <a:bodyPr wrap="square" lIns="0" tIns="0" rIns="50800" bIns="0" anchor="t"/>
          <a:lstStyle/>
          <a:p>
            <a:pPr marL="0" indent="0">
              <a:buNone/>
            </a:pPr>
            <a:r>
              <a:rPr lang="en-US" sz="1000" dirty="0">
                <a:solidFill>
                  <a:srgbClr val="4B5563"/>
                </a:solidFill>
                <a:latin typeface="Segoe UI"/>
                <a:cs typeface="Segoe UI"/>
              </a:rPr>
              <a:t>Use subagents and /batch for bulk multi-file operations</a:t>
            </a:r>
          </a:p>
        </p:txBody>
      </p:sp>
      <p:sp>
        <p:nvSpPr>
          <p:cNvPr id="210" name="TipBanner"/>
          <p:cNvSpPr/>
          <p:nvPr/>
        </p:nvSpPr>
        <p:spPr>
          <a:xfrm>
            <a:off x="381000" y="6070600"/>
            <a:ext cx="11430000" cy="3302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EDE8F5"/>
          </a:solidFill>
          <a:ln>
            <a:solidFill>
              <a:srgbClr val="C5B9E0"/>
            </a:solidFill>
          </a:ln>
        </p:spPr>
        <p:txBody>
          <a:bodyPr wrap="square" lIns="152400" tIns="25400" rIns="101600" bIns="25400" anchor="ctr"/>
          <a:lstStyle/>
          <a:p>
            <a:pPr marL="0" indent="0">
              <a:buNone/>
            </a:pPr>
            <a:r>
              <a:rPr lang="en-US" sz="1000" b="1" dirty="0">
                <a:solidFill>
                  <a:srgbClr val="5B6ABF"/>
                </a:solidFill>
                <a:latin typeface="Segoe UI Semibold"/>
              </a:rPr>
              <a:t>       Pro Tip   </a:t>
            </a:r>
            <a:r>
              <a:rPr lang="en-US" sz="1000" dirty="0">
                <a:solidFill>
                  <a:srgbClr val="1A2332"/>
                </a:solidFill>
                <a:latin typeface="Segoe UI"/>
              </a:rPr>
              <a:t>Use Plan Mode when the change is uncertain or multi-file — skip the plan for obvious tiny edits.</a:t>
            </a:r>
          </a:p>
        </p:txBody>
      </p:sp>
      <p:pic>
        <p:nvPicPr>
          <p:cNvPr id="222" name="Graphic 22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4500" y="6108700"/>
            <a:ext cx="254000" cy="254000"/>
          </a:xfrm>
          <a:prstGeom prst="rect">
            <a:avLst/>
          </a:prstGeom>
        </p:spPr>
      </p:pic>
      <p:sp>
        <p:nvSpPr>
          <p:cNvPr id="250" name="FileTab"/>
          <p:cNvSpPr/>
          <p:nvPr/>
        </p:nvSpPr>
        <p:spPr>
          <a:xfrm>
            <a:off x="381000" y="1270000"/>
            <a:ext cx="5588000" cy="381000"/>
          </a:xfrm>
          <a:custGeom>
            <a:avLst/>
            <a:gdLst>
              <a:gd name="rad" fmla="val 50000"/>
              <a:gd name="rr" fmla="*/ ss rad 100000"/>
              <a:gd name="maxr" fmla="*/ h 1 4"/>
              <a:gd name="r" fmla="min rr maxr"/>
              <a:gd name="yArc" fmla="+- h 0 r"/>
              <a:gd name="xEnd" fmla="+- w 0 r"/>
            </a:gdLst>
            <a:ahLst/>
            <a:cxnLst/>
            <a:rect l="0" t="0" r="w" b="h"/>
            <a:pathLst>
              <a:path w="21600" h="21600">
                <a:moveTo>
                  <a:pt x="0" y="0"/>
                </a:moveTo>
                <a:lnTo>
                  <a:pt x="21600" y="0"/>
                </a:lnTo>
                <a:lnTo>
                  <a:pt x="21600" y="19800"/>
                </a:lnTo>
                <a:arcTo wR="1800" hR="1800" stAng="0" swAng="5400000"/>
                <a:lnTo>
                  <a:pt x="1800" y="21600"/>
                </a:lnTo>
                <a:arcTo wR="1800" hR="1800" stAng="5400000" swAng="5400000"/>
                <a:lnTo>
                  <a:pt x="0" y="0"/>
                </a:lnTo>
                <a:close/>
              </a:path>
            </a:pathLst>
          </a:custGeom>
          <a:solidFill>
            <a:srgbClr val="F0F4F8"/>
          </a:solidFill>
          <a:ln w="9525">
            <a:solidFill>
              <a:srgbClr val="C5CAD4"/>
            </a:solidFill>
          </a:ln>
        </p:spPr>
        <p:txBody>
          <a:bodyPr wrap="square" lIns="508000" tIns="25400" rIns="101600" bIns="25400" anchor="ctr"/>
          <a:lstStyle/>
          <a:p>
            <a:pPr marL="0" indent="0">
              <a:buNone/>
            </a:pPr>
            <a:r>
              <a:rPr lang="en-US" sz="1050" b="1" dirty="0">
                <a:solidFill>
                  <a:srgbClr val="5B6ABF"/>
                </a:solidFill>
                <a:latin typeface="Consolas"/>
                <a:cs typeface="Consolas"/>
              </a:rPr>
              <a:t>prompt-skeleton.md</a:t>
            </a:r>
          </a:p>
        </p:txBody>
      </p:sp>
      <p:pic>
        <p:nvPicPr>
          <p:cNvPr id="252" name="Graphic 252"/>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2600" y="1333500"/>
            <a:ext cx="228600" cy="228600"/>
          </a:xfrm>
          <a:prstGeom prst="rect">
            <a:avLst/>
          </a:prstGeom>
        </p:spPr>
      </p:pic>
      <p:sp>
        <p:nvSpPr>
          <p:cNvPr id="3" name="Rectangle 2">
            <a:extLst>
              <a:ext uri="{FF2B5EF4-FFF2-40B4-BE49-F238E27FC236}">
                <a16:creationId xmlns:a16="http://schemas.microsoft.com/office/drawing/2014/main" id="{3234C24B-88E8-0109-9FE1-F691C4E7E63E}"/>
              </a:ext>
            </a:extLst>
          </p:cNvPr>
          <p:cNvSpPr/>
          <p:nvPr/>
        </p:nvSpPr>
        <p:spPr>
          <a:xfrm>
            <a:off x="381000" y="1270000"/>
            <a:ext cx="5588000" cy="3937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12627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7">
    <p:bg>
      <p:bgPr>
        <a:solidFill>
          <a:srgbClr val="FFFFFF">
            <a:alpha val="100000"/>
          </a:srgbClr>
        </a:solidFill>
        <a:effectLst/>
      </p:bgPr>
    </p:bg>
    <p:spTree>
      <p:nvGrpSpPr>
        <p:cNvPr id="1" name=""/>
        <p:cNvGrpSpPr/>
        <p:nvPr/>
      </p:nvGrpSpPr>
      <p:grpSpPr>
        <a:xfrm>
          <a:off x="0" y="0"/>
          <a:ext cx="0" cy="0"/>
          <a:chOff x="0" y="0"/>
          <a:chExt cx="0" cy="0"/>
        </a:xfrm>
      </p:grpSpPr>
      <p:sp>
        <p:nvSpPr>
          <p:cNvPr id="100" name="Title"/>
          <p:cNvSpPr/>
          <p:nvPr/>
        </p:nvSpPr>
        <p:spPr>
          <a:xfrm>
            <a:off x="660400" y="76200"/>
            <a:ext cx="8890000" cy="381000"/>
          </a:xfrm>
          <a:prstGeom prst="rect">
            <a:avLst/>
          </a:prstGeom>
          <a:noFill/>
          <a:ln>
            <a:noFill/>
          </a:ln>
        </p:spPr>
        <p:txBody>
          <a:bodyPr wrap="square" lIns="0" tIns="0" rIns="0" bIns="0" anchor="ctr"/>
          <a:lstStyle/>
          <a:p>
            <a:pPr marL="0" indent="0">
              <a:buNone/>
            </a:pPr>
            <a:r>
              <a:rPr lang="en-US" sz="2700" b="1" dirty="0">
                <a:solidFill>
                  <a:srgbClr val="FFFFFF"/>
                </a:solidFill>
                <a:latin typeface="Segoe UI Semibold"/>
                <a:cs typeface="Segoe UI Semibold"/>
              </a:rPr>
              <a:t>Reduce hallucinations and unsafe edits</a:t>
            </a:r>
          </a:p>
        </p:txBody>
      </p:sp>
      <p:sp>
        <p:nvSpPr>
          <p:cNvPr id="101" name="Tagline"/>
          <p:cNvSpPr/>
          <p:nvPr/>
        </p:nvSpPr>
        <p:spPr>
          <a:xfrm>
            <a:off x="660400" y="609600"/>
            <a:ext cx="9512300" cy="279400"/>
          </a:xfrm>
          <a:prstGeom prst="rect">
            <a:avLst/>
          </a:prstGeom>
          <a:noFill/>
          <a:ln>
            <a:noFill/>
          </a:ln>
        </p:spPr>
        <p:txBody>
          <a:bodyPr wrap="square" lIns="0" tIns="0" rIns="0" bIns="0" anchor="ctr"/>
          <a:lstStyle/>
          <a:p>
            <a:pPr marL="0" indent="0">
              <a:buNone/>
            </a:pPr>
            <a:r>
              <a:rPr lang="en-US" sz="1400" dirty="0">
                <a:solidFill>
                  <a:srgbClr val="3972C1"/>
                </a:solidFill>
                <a:latin typeface="Segoe UI"/>
                <a:cs typeface="Segoe UI"/>
              </a:rPr>
              <a:t>Anthropic recommends grounding, explicit uncertainty, and factual evidence</a:t>
            </a:r>
          </a:p>
        </p:txBody>
      </p:sp>
      <p:sp>
        <p:nvSpPr>
          <p:cNvPr id="102" name="Divider"/>
          <p:cNvSpPr/>
          <p:nvPr/>
        </p:nvSpPr>
        <p:spPr>
          <a:xfrm>
            <a:off x="0" y="939800"/>
            <a:ext cx="12192000" cy="0"/>
          </a:xfrm>
          <a:prstGeom prst="line">
            <a:avLst/>
          </a:prstGeom>
          <a:ln w="12700">
            <a:solidFill>
              <a:srgbClr val="1565C0"/>
            </a:solidFill>
          </a:ln>
        </p:spPr>
        <p:txBody>
          <a:bodyPr/>
          <a:lstStyle/>
          <a:p>
            <a:endParaRPr lang="en-US"/>
          </a:p>
        </p:txBody>
      </p:sp>
      <p:sp>
        <p:nvSpPr>
          <p:cNvPr id="103" name="SectionLabel"/>
          <p:cNvSpPr/>
          <p:nvPr/>
        </p:nvSpPr>
        <p:spPr>
          <a:xfrm>
            <a:off x="431800" y="1041400"/>
            <a:ext cx="2540000" cy="203200"/>
          </a:xfrm>
          <a:prstGeom prst="rect">
            <a:avLst/>
          </a:prstGeom>
          <a:noFill/>
          <a:ln>
            <a:noFill/>
          </a:ln>
        </p:spPr>
        <p:txBody>
          <a:bodyPr wrap="square" lIns="0" tIns="0" rIns="0" bIns="0" anchor="ctr"/>
          <a:lstStyle/>
          <a:p>
            <a:pPr marL="0" indent="0">
              <a:buNone/>
            </a:pPr>
            <a:r>
              <a:rPr lang="en-US" sz="1100" b="1" dirty="0">
                <a:solidFill>
                  <a:srgbClr val="5B6ABF"/>
                </a:solidFill>
                <a:latin typeface="Segoe UI Semibold"/>
              </a:rPr>
              <a:t>THE TRUST PIPELINE</a:t>
            </a:r>
          </a:p>
        </p:txBody>
      </p:sp>
      <p:sp>
        <p:nvSpPr>
          <p:cNvPr id="701" name="Card1"/>
          <p:cNvSpPr/>
          <p:nvPr/>
        </p:nvSpPr>
        <p:spPr>
          <a:xfrm>
            <a:off x="431800" y="1676400"/>
            <a:ext cx="1651000" cy="2489200"/>
          </a:xfrm>
          <a:prstGeom prst="rect">
            <a:avLst/>
          </a:prstGeom>
          <a:solidFill>
            <a:srgbClr val="FFFFFF"/>
          </a:solidFill>
          <a:ln w="12700">
            <a:solidFill>
              <a:srgbClr val="E1E5EA"/>
            </a:solidFill>
          </a:ln>
        </p:spPr>
        <p:txBody>
          <a:bodyPr/>
          <a:lstStyle/>
          <a:p>
            <a:endParaRPr/>
          </a:p>
        </p:txBody>
      </p:sp>
      <p:sp>
        <p:nvSpPr>
          <p:cNvPr id="702" name="Accent1"/>
          <p:cNvSpPr/>
          <p:nvPr/>
        </p:nvSpPr>
        <p:spPr>
          <a:xfrm>
            <a:off x="431800" y="1676400"/>
            <a:ext cx="1651000" cy="50800"/>
          </a:xfrm>
          <a:prstGeom prst="rect">
            <a:avLst/>
          </a:prstGeom>
          <a:solidFill>
            <a:srgbClr val="1565C0"/>
          </a:solidFill>
          <a:ln>
            <a:noFill/>
          </a:ln>
        </p:spPr>
        <p:txBody>
          <a:bodyPr/>
          <a:lstStyle/>
          <a:p>
            <a:endParaRPr/>
          </a:p>
        </p:txBody>
      </p:sp>
      <p:sp>
        <p:nvSpPr>
          <p:cNvPr id="703" name="Badge1"/>
          <p:cNvSpPr/>
          <p:nvPr/>
        </p:nvSpPr>
        <p:spPr>
          <a:xfrm>
            <a:off x="609600" y="1930400"/>
            <a:ext cx="381000" cy="381000"/>
          </a:xfrm>
          <a:prstGeom prst="ellipse">
            <a:avLst/>
          </a:prstGeom>
          <a:solidFill>
            <a:srgbClr val="1565C0"/>
          </a:solidFill>
          <a:ln>
            <a:noFill/>
          </a:ln>
        </p:spPr>
        <p:txBody>
          <a:bodyPr wrap="square" lIns="0" tIns="0" rIns="0" bIns="0" anchor="ctr">
            <a:noAutofit/>
          </a:bodyPr>
          <a:lstStyle/>
          <a:p>
            <a:pPr marL="0" indent="0" algn="ctr">
              <a:buNone/>
            </a:pPr>
            <a:r>
              <a:rPr lang="en-US" sz="1300" b="1" dirty="0">
                <a:solidFill>
                  <a:srgbClr val="FFFFFF"/>
                </a:solidFill>
                <a:latin typeface="Segoe UI"/>
                <a:cs typeface="Segoe UI"/>
              </a:rPr>
              <a:t>1</a:t>
            </a:r>
          </a:p>
        </p:txBody>
      </p:sp>
      <p:sp>
        <p:nvSpPr>
          <p:cNvPr id="704" name="CTitle1"/>
          <p:cNvSpPr/>
          <p:nvPr/>
        </p:nvSpPr>
        <p:spPr>
          <a:xfrm>
            <a:off x="609600" y="2438400"/>
            <a:ext cx="1295400" cy="330200"/>
          </a:xfrm>
          <a:prstGeom prst="rect">
            <a:avLst/>
          </a:prstGeom>
          <a:noFill/>
          <a:ln>
            <a:noFill/>
          </a:ln>
        </p:spPr>
        <p:txBody>
          <a:bodyPr wrap="square" lIns="0" tIns="0" rIns="0" bIns="0" anchor="ctr">
            <a:noAutofit/>
          </a:bodyPr>
          <a:lstStyle/>
          <a:p>
            <a:pPr marL="0" indent="0" algn="l">
              <a:buNone/>
            </a:pPr>
            <a:r>
              <a:rPr lang="en-US" sz="1700" b="1" dirty="0">
                <a:solidFill>
                  <a:srgbClr val="1F2937"/>
                </a:solidFill>
                <a:latin typeface="Segoe UI"/>
                <a:cs typeface="Segoe UI"/>
              </a:rPr>
              <a:t>Ground</a:t>
            </a:r>
          </a:p>
        </p:txBody>
      </p:sp>
      <p:sp>
        <p:nvSpPr>
          <p:cNvPr id="705" name="CDesc1"/>
          <p:cNvSpPr/>
          <p:nvPr/>
        </p:nvSpPr>
        <p:spPr>
          <a:xfrm>
            <a:off x="609600" y="2870200"/>
            <a:ext cx="1295400" cy="1168400"/>
          </a:xfrm>
          <a:prstGeom prst="rect">
            <a:avLst/>
          </a:prstGeom>
          <a:noFill/>
          <a:ln>
            <a:noFill/>
          </a:ln>
        </p:spPr>
        <p:txBody>
          <a:bodyPr wrap="square" lIns="0" tIns="0" rIns="0" bIns="0" anchor="t">
            <a:noAutofit/>
          </a:bodyPr>
          <a:lstStyle/>
          <a:p>
            <a:pPr marL="0" indent="0" algn="l">
              <a:buNone/>
            </a:pPr>
            <a:r>
              <a:rPr lang="en-US" sz="1300" dirty="0">
                <a:solidFill>
                  <a:srgbClr val="4B5563"/>
                </a:solidFill>
                <a:latin typeface="Segoe UI"/>
                <a:cs typeface="Segoe UI"/>
              </a:rPr>
              <a:t>@ refs aim Claude at the exact files to read first</a:t>
            </a:r>
          </a:p>
        </p:txBody>
      </p:sp>
      <p:sp>
        <p:nvSpPr>
          <p:cNvPr id="706" name="Arrow1"/>
          <p:cNvSpPr/>
          <p:nvPr/>
        </p:nvSpPr>
        <p:spPr>
          <a:xfrm>
            <a:off x="2133600" y="2832100"/>
            <a:ext cx="177800" cy="177800"/>
          </a:xfrm>
          <a:prstGeom prst="rightArrow">
            <a:avLst/>
          </a:prstGeom>
          <a:solidFill>
            <a:srgbClr val="9AA3B2"/>
          </a:solidFill>
          <a:ln>
            <a:noFill/>
          </a:ln>
        </p:spPr>
        <p:txBody>
          <a:bodyPr/>
          <a:lstStyle/>
          <a:p>
            <a:endParaRPr/>
          </a:p>
        </p:txBody>
      </p:sp>
      <p:sp>
        <p:nvSpPr>
          <p:cNvPr id="707" name="Card2"/>
          <p:cNvSpPr/>
          <p:nvPr/>
        </p:nvSpPr>
        <p:spPr>
          <a:xfrm>
            <a:off x="2362200" y="1676400"/>
            <a:ext cx="1651000" cy="2489200"/>
          </a:xfrm>
          <a:prstGeom prst="rect">
            <a:avLst/>
          </a:prstGeom>
          <a:solidFill>
            <a:srgbClr val="FFFFFF"/>
          </a:solidFill>
          <a:ln w="12700">
            <a:solidFill>
              <a:srgbClr val="E1E5EA"/>
            </a:solidFill>
          </a:ln>
        </p:spPr>
        <p:txBody>
          <a:bodyPr/>
          <a:lstStyle/>
          <a:p>
            <a:endParaRPr/>
          </a:p>
        </p:txBody>
      </p:sp>
      <p:sp>
        <p:nvSpPr>
          <p:cNvPr id="708" name="Accent2"/>
          <p:cNvSpPr/>
          <p:nvPr/>
        </p:nvSpPr>
        <p:spPr>
          <a:xfrm>
            <a:off x="2362200" y="1676400"/>
            <a:ext cx="1651000" cy="50800"/>
          </a:xfrm>
          <a:prstGeom prst="rect">
            <a:avLst/>
          </a:prstGeom>
          <a:solidFill>
            <a:srgbClr val="1565C0"/>
          </a:solidFill>
          <a:ln>
            <a:noFill/>
          </a:ln>
        </p:spPr>
        <p:txBody>
          <a:bodyPr/>
          <a:lstStyle/>
          <a:p>
            <a:endParaRPr/>
          </a:p>
        </p:txBody>
      </p:sp>
      <p:sp>
        <p:nvSpPr>
          <p:cNvPr id="709" name="Badge2"/>
          <p:cNvSpPr/>
          <p:nvPr/>
        </p:nvSpPr>
        <p:spPr>
          <a:xfrm>
            <a:off x="2540000" y="1930400"/>
            <a:ext cx="381000" cy="381000"/>
          </a:xfrm>
          <a:prstGeom prst="ellipse">
            <a:avLst/>
          </a:prstGeom>
          <a:solidFill>
            <a:srgbClr val="1565C0"/>
          </a:solidFill>
          <a:ln>
            <a:noFill/>
          </a:ln>
        </p:spPr>
        <p:txBody>
          <a:bodyPr wrap="square" lIns="0" tIns="0" rIns="0" bIns="0" anchor="ctr">
            <a:noAutofit/>
          </a:bodyPr>
          <a:lstStyle/>
          <a:p>
            <a:pPr marL="0" indent="0" algn="ctr">
              <a:buNone/>
            </a:pPr>
            <a:r>
              <a:rPr lang="en-US" sz="1300" b="1" dirty="0">
                <a:solidFill>
                  <a:srgbClr val="FFFFFF"/>
                </a:solidFill>
                <a:latin typeface="Segoe UI"/>
                <a:cs typeface="Segoe UI"/>
              </a:rPr>
              <a:t>2</a:t>
            </a:r>
          </a:p>
        </p:txBody>
      </p:sp>
      <p:sp>
        <p:nvSpPr>
          <p:cNvPr id="710" name="CTitle2"/>
          <p:cNvSpPr/>
          <p:nvPr/>
        </p:nvSpPr>
        <p:spPr>
          <a:xfrm>
            <a:off x="2540000" y="2438400"/>
            <a:ext cx="1295400" cy="330200"/>
          </a:xfrm>
          <a:prstGeom prst="rect">
            <a:avLst/>
          </a:prstGeom>
          <a:noFill/>
          <a:ln>
            <a:noFill/>
          </a:ln>
        </p:spPr>
        <p:txBody>
          <a:bodyPr wrap="square" lIns="0" tIns="0" rIns="0" bIns="0" anchor="ctr">
            <a:noAutofit/>
          </a:bodyPr>
          <a:lstStyle/>
          <a:p>
            <a:pPr marL="0" indent="0" algn="l">
              <a:buNone/>
            </a:pPr>
            <a:r>
              <a:rPr lang="en-US" sz="1700" b="1" dirty="0">
                <a:solidFill>
                  <a:srgbClr val="1F2937"/>
                </a:solidFill>
                <a:latin typeface="Segoe UI"/>
                <a:cs typeface="Segoe UI"/>
              </a:rPr>
              <a:t>Plan</a:t>
            </a:r>
          </a:p>
        </p:txBody>
      </p:sp>
      <p:sp>
        <p:nvSpPr>
          <p:cNvPr id="711" name="CDesc2"/>
          <p:cNvSpPr/>
          <p:nvPr/>
        </p:nvSpPr>
        <p:spPr>
          <a:xfrm>
            <a:off x="2540000" y="2870200"/>
            <a:ext cx="1295400" cy="1168400"/>
          </a:xfrm>
          <a:prstGeom prst="rect">
            <a:avLst/>
          </a:prstGeom>
          <a:noFill/>
          <a:ln>
            <a:noFill/>
          </a:ln>
        </p:spPr>
        <p:txBody>
          <a:bodyPr wrap="square" lIns="0" tIns="0" rIns="0" bIns="0" anchor="t">
            <a:noAutofit/>
          </a:bodyPr>
          <a:lstStyle/>
          <a:p>
            <a:pPr marL="0" indent="0" algn="l">
              <a:buNone/>
            </a:pPr>
            <a:r>
              <a:rPr lang="en-US" sz="1300" dirty="0">
                <a:solidFill>
                  <a:srgbClr val="4B5563"/>
                </a:solidFill>
                <a:latin typeface="Segoe UI"/>
                <a:cs typeface="Segoe UI"/>
              </a:rPr>
              <a:t>/plan previews the approach before any edit lands</a:t>
            </a:r>
          </a:p>
        </p:txBody>
      </p:sp>
      <p:sp>
        <p:nvSpPr>
          <p:cNvPr id="712" name="Arrow2"/>
          <p:cNvSpPr/>
          <p:nvPr/>
        </p:nvSpPr>
        <p:spPr>
          <a:xfrm>
            <a:off x="4064000" y="2832100"/>
            <a:ext cx="177800" cy="177800"/>
          </a:xfrm>
          <a:prstGeom prst="rightArrow">
            <a:avLst/>
          </a:prstGeom>
          <a:solidFill>
            <a:srgbClr val="9AA3B2"/>
          </a:solidFill>
          <a:ln>
            <a:noFill/>
          </a:ln>
        </p:spPr>
        <p:txBody>
          <a:bodyPr/>
          <a:lstStyle/>
          <a:p>
            <a:endParaRPr/>
          </a:p>
        </p:txBody>
      </p:sp>
      <p:sp>
        <p:nvSpPr>
          <p:cNvPr id="713" name="Card3"/>
          <p:cNvSpPr/>
          <p:nvPr/>
        </p:nvSpPr>
        <p:spPr>
          <a:xfrm>
            <a:off x="4292600" y="1676400"/>
            <a:ext cx="1651000" cy="2489200"/>
          </a:xfrm>
          <a:prstGeom prst="rect">
            <a:avLst/>
          </a:prstGeom>
          <a:solidFill>
            <a:srgbClr val="FFFFFF"/>
          </a:solidFill>
          <a:ln w="12700">
            <a:solidFill>
              <a:srgbClr val="E1E5EA"/>
            </a:solidFill>
          </a:ln>
        </p:spPr>
        <p:txBody>
          <a:bodyPr/>
          <a:lstStyle/>
          <a:p>
            <a:endParaRPr/>
          </a:p>
        </p:txBody>
      </p:sp>
      <p:sp>
        <p:nvSpPr>
          <p:cNvPr id="714" name="Accent3"/>
          <p:cNvSpPr/>
          <p:nvPr/>
        </p:nvSpPr>
        <p:spPr>
          <a:xfrm>
            <a:off x="4292600" y="1676400"/>
            <a:ext cx="1651000" cy="50800"/>
          </a:xfrm>
          <a:prstGeom prst="rect">
            <a:avLst/>
          </a:prstGeom>
          <a:solidFill>
            <a:srgbClr val="1565C0"/>
          </a:solidFill>
          <a:ln>
            <a:noFill/>
          </a:ln>
        </p:spPr>
        <p:txBody>
          <a:bodyPr/>
          <a:lstStyle/>
          <a:p>
            <a:endParaRPr/>
          </a:p>
        </p:txBody>
      </p:sp>
      <p:sp>
        <p:nvSpPr>
          <p:cNvPr id="715" name="Badge3"/>
          <p:cNvSpPr/>
          <p:nvPr/>
        </p:nvSpPr>
        <p:spPr>
          <a:xfrm>
            <a:off x="4470400" y="1930400"/>
            <a:ext cx="381000" cy="381000"/>
          </a:xfrm>
          <a:prstGeom prst="ellipse">
            <a:avLst/>
          </a:prstGeom>
          <a:solidFill>
            <a:srgbClr val="1565C0"/>
          </a:solidFill>
          <a:ln>
            <a:noFill/>
          </a:ln>
        </p:spPr>
        <p:txBody>
          <a:bodyPr wrap="square" lIns="0" tIns="0" rIns="0" bIns="0" anchor="ctr">
            <a:noAutofit/>
          </a:bodyPr>
          <a:lstStyle/>
          <a:p>
            <a:pPr marL="0" indent="0" algn="ctr">
              <a:buNone/>
            </a:pPr>
            <a:r>
              <a:rPr lang="en-US" sz="1300" b="1" dirty="0">
                <a:solidFill>
                  <a:srgbClr val="FFFFFF"/>
                </a:solidFill>
                <a:latin typeface="Segoe UI"/>
                <a:cs typeface="Segoe UI"/>
              </a:rPr>
              <a:t>3</a:t>
            </a:r>
          </a:p>
        </p:txBody>
      </p:sp>
      <p:sp>
        <p:nvSpPr>
          <p:cNvPr id="716" name="CTitle3"/>
          <p:cNvSpPr/>
          <p:nvPr/>
        </p:nvSpPr>
        <p:spPr>
          <a:xfrm>
            <a:off x="4470400" y="2438400"/>
            <a:ext cx="1295400" cy="330200"/>
          </a:xfrm>
          <a:prstGeom prst="rect">
            <a:avLst/>
          </a:prstGeom>
          <a:noFill/>
          <a:ln>
            <a:noFill/>
          </a:ln>
        </p:spPr>
        <p:txBody>
          <a:bodyPr wrap="square" lIns="0" tIns="0" rIns="0" bIns="0" anchor="ctr">
            <a:noAutofit/>
          </a:bodyPr>
          <a:lstStyle/>
          <a:p>
            <a:pPr marL="0" indent="0" algn="l">
              <a:buNone/>
            </a:pPr>
            <a:r>
              <a:rPr lang="en-US" sz="1700" b="1" dirty="0">
                <a:solidFill>
                  <a:srgbClr val="1F2937"/>
                </a:solidFill>
                <a:latin typeface="Segoe UI"/>
                <a:cs typeface="Segoe UI"/>
              </a:rPr>
              <a:t>Evidence</a:t>
            </a:r>
          </a:p>
        </p:txBody>
      </p:sp>
      <p:sp>
        <p:nvSpPr>
          <p:cNvPr id="717" name="CDesc3"/>
          <p:cNvSpPr/>
          <p:nvPr/>
        </p:nvSpPr>
        <p:spPr>
          <a:xfrm>
            <a:off x="4470400" y="2870200"/>
            <a:ext cx="1295400" cy="1168400"/>
          </a:xfrm>
          <a:prstGeom prst="rect">
            <a:avLst/>
          </a:prstGeom>
          <a:noFill/>
          <a:ln>
            <a:noFill/>
          </a:ln>
        </p:spPr>
        <p:txBody>
          <a:bodyPr wrap="square" lIns="0" tIns="0" rIns="0" bIns="0" anchor="t">
            <a:noAutofit/>
          </a:bodyPr>
          <a:lstStyle/>
          <a:p>
            <a:pPr marL="0" indent="0" algn="l">
              <a:buNone/>
            </a:pPr>
            <a:r>
              <a:rPr lang="en-US" sz="1300" dirty="0">
                <a:solidFill>
                  <a:srgbClr val="4B5563"/>
                </a:solidFill>
                <a:latin typeface="Segoe UI"/>
                <a:cs typeface="Segoe UI"/>
              </a:rPr>
              <a:t>Ask for file paths, test output, command results</a:t>
            </a:r>
          </a:p>
        </p:txBody>
      </p:sp>
      <p:sp>
        <p:nvSpPr>
          <p:cNvPr id="718" name="Arrow3"/>
          <p:cNvSpPr/>
          <p:nvPr/>
        </p:nvSpPr>
        <p:spPr>
          <a:xfrm>
            <a:off x="5994400" y="2832100"/>
            <a:ext cx="177800" cy="177800"/>
          </a:xfrm>
          <a:prstGeom prst="rightArrow">
            <a:avLst/>
          </a:prstGeom>
          <a:solidFill>
            <a:srgbClr val="9AA3B2"/>
          </a:solidFill>
          <a:ln>
            <a:noFill/>
          </a:ln>
        </p:spPr>
        <p:txBody>
          <a:bodyPr/>
          <a:lstStyle/>
          <a:p>
            <a:endParaRPr/>
          </a:p>
        </p:txBody>
      </p:sp>
      <p:sp>
        <p:nvSpPr>
          <p:cNvPr id="719" name="Card4"/>
          <p:cNvSpPr/>
          <p:nvPr/>
        </p:nvSpPr>
        <p:spPr>
          <a:xfrm>
            <a:off x="6223000" y="1676400"/>
            <a:ext cx="1651000" cy="2489200"/>
          </a:xfrm>
          <a:prstGeom prst="rect">
            <a:avLst/>
          </a:prstGeom>
          <a:solidFill>
            <a:srgbClr val="FFFFFF"/>
          </a:solidFill>
          <a:ln w="12700">
            <a:solidFill>
              <a:srgbClr val="E1E5EA"/>
            </a:solidFill>
          </a:ln>
        </p:spPr>
        <p:txBody>
          <a:bodyPr/>
          <a:lstStyle/>
          <a:p>
            <a:endParaRPr/>
          </a:p>
        </p:txBody>
      </p:sp>
      <p:sp>
        <p:nvSpPr>
          <p:cNvPr id="720" name="Accent4"/>
          <p:cNvSpPr/>
          <p:nvPr/>
        </p:nvSpPr>
        <p:spPr>
          <a:xfrm>
            <a:off x="6223000" y="1676400"/>
            <a:ext cx="1651000" cy="50800"/>
          </a:xfrm>
          <a:prstGeom prst="rect">
            <a:avLst/>
          </a:prstGeom>
          <a:solidFill>
            <a:srgbClr val="1565C0"/>
          </a:solidFill>
          <a:ln>
            <a:noFill/>
          </a:ln>
        </p:spPr>
        <p:txBody>
          <a:bodyPr/>
          <a:lstStyle/>
          <a:p>
            <a:endParaRPr/>
          </a:p>
        </p:txBody>
      </p:sp>
      <p:sp>
        <p:nvSpPr>
          <p:cNvPr id="721" name="Badge4"/>
          <p:cNvSpPr/>
          <p:nvPr/>
        </p:nvSpPr>
        <p:spPr>
          <a:xfrm>
            <a:off x="6400800" y="1930400"/>
            <a:ext cx="381000" cy="381000"/>
          </a:xfrm>
          <a:prstGeom prst="ellipse">
            <a:avLst/>
          </a:prstGeom>
          <a:solidFill>
            <a:srgbClr val="1565C0"/>
          </a:solidFill>
          <a:ln>
            <a:noFill/>
          </a:ln>
        </p:spPr>
        <p:txBody>
          <a:bodyPr wrap="square" lIns="0" tIns="0" rIns="0" bIns="0" anchor="ctr">
            <a:noAutofit/>
          </a:bodyPr>
          <a:lstStyle/>
          <a:p>
            <a:pPr marL="0" indent="0" algn="ctr">
              <a:buNone/>
            </a:pPr>
            <a:r>
              <a:rPr lang="en-US" sz="1300" b="1" dirty="0">
                <a:solidFill>
                  <a:srgbClr val="FFFFFF"/>
                </a:solidFill>
                <a:latin typeface="Segoe UI"/>
                <a:cs typeface="Segoe UI"/>
              </a:rPr>
              <a:t>4</a:t>
            </a:r>
          </a:p>
        </p:txBody>
      </p:sp>
      <p:sp>
        <p:nvSpPr>
          <p:cNvPr id="722" name="CTitle4"/>
          <p:cNvSpPr/>
          <p:nvPr/>
        </p:nvSpPr>
        <p:spPr>
          <a:xfrm>
            <a:off x="6400800" y="2438400"/>
            <a:ext cx="1295400" cy="330200"/>
          </a:xfrm>
          <a:prstGeom prst="rect">
            <a:avLst/>
          </a:prstGeom>
          <a:noFill/>
          <a:ln>
            <a:noFill/>
          </a:ln>
        </p:spPr>
        <p:txBody>
          <a:bodyPr wrap="square" lIns="0" tIns="0" rIns="0" bIns="0" anchor="ctr">
            <a:noAutofit/>
          </a:bodyPr>
          <a:lstStyle/>
          <a:p>
            <a:pPr marL="0" indent="0" algn="l">
              <a:buNone/>
            </a:pPr>
            <a:r>
              <a:rPr lang="en-US" sz="1700" b="1" dirty="0">
                <a:solidFill>
                  <a:srgbClr val="1F2937"/>
                </a:solidFill>
                <a:latin typeface="Segoe UI"/>
                <a:cs typeface="Segoe UI"/>
              </a:rPr>
              <a:t>Validate</a:t>
            </a:r>
          </a:p>
        </p:txBody>
      </p:sp>
      <p:sp>
        <p:nvSpPr>
          <p:cNvPr id="723" name="CDesc4"/>
          <p:cNvSpPr/>
          <p:nvPr/>
        </p:nvSpPr>
        <p:spPr>
          <a:xfrm>
            <a:off x="6400800" y="2870200"/>
            <a:ext cx="1295400" cy="1168400"/>
          </a:xfrm>
          <a:prstGeom prst="rect">
            <a:avLst/>
          </a:prstGeom>
          <a:noFill/>
          <a:ln>
            <a:noFill/>
          </a:ln>
        </p:spPr>
        <p:txBody>
          <a:bodyPr wrap="square" lIns="0" tIns="0" rIns="0" bIns="0" anchor="t">
            <a:noAutofit/>
          </a:bodyPr>
          <a:lstStyle/>
          <a:p>
            <a:pPr marL="0" indent="0" algn="l">
              <a:buNone/>
            </a:pPr>
            <a:r>
              <a:rPr lang="en-US" sz="1300" dirty="0">
                <a:solidFill>
                  <a:srgbClr val="4B5563"/>
                </a:solidFill>
                <a:latin typeface="Segoe UI"/>
                <a:cs typeface="Segoe UI"/>
              </a:rPr>
              <a:t>Tests and lint on every change; enforce with hooks</a:t>
            </a:r>
          </a:p>
        </p:txBody>
      </p:sp>
      <p:sp>
        <p:nvSpPr>
          <p:cNvPr id="724" name="Arrow4"/>
          <p:cNvSpPr/>
          <p:nvPr/>
        </p:nvSpPr>
        <p:spPr>
          <a:xfrm>
            <a:off x="7924800" y="2832100"/>
            <a:ext cx="177800" cy="177800"/>
          </a:xfrm>
          <a:prstGeom prst="rightArrow">
            <a:avLst/>
          </a:prstGeom>
          <a:solidFill>
            <a:srgbClr val="9AA3B2"/>
          </a:solidFill>
          <a:ln>
            <a:noFill/>
          </a:ln>
        </p:spPr>
        <p:txBody>
          <a:bodyPr/>
          <a:lstStyle/>
          <a:p>
            <a:endParaRPr/>
          </a:p>
        </p:txBody>
      </p:sp>
      <p:sp>
        <p:nvSpPr>
          <p:cNvPr id="725" name="Card5"/>
          <p:cNvSpPr/>
          <p:nvPr/>
        </p:nvSpPr>
        <p:spPr>
          <a:xfrm>
            <a:off x="8153400" y="1676400"/>
            <a:ext cx="1651000" cy="2489200"/>
          </a:xfrm>
          <a:prstGeom prst="rect">
            <a:avLst/>
          </a:prstGeom>
          <a:solidFill>
            <a:srgbClr val="FFFFFF"/>
          </a:solidFill>
          <a:ln w="12700">
            <a:solidFill>
              <a:srgbClr val="E1E5EA"/>
            </a:solidFill>
          </a:ln>
        </p:spPr>
        <p:txBody>
          <a:bodyPr/>
          <a:lstStyle/>
          <a:p>
            <a:endParaRPr/>
          </a:p>
        </p:txBody>
      </p:sp>
      <p:sp>
        <p:nvSpPr>
          <p:cNvPr id="726" name="Accent5"/>
          <p:cNvSpPr/>
          <p:nvPr/>
        </p:nvSpPr>
        <p:spPr>
          <a:xfrm>
            <a:off x="8153400" y="1676400"/>
            <a:ext cx="1651000" cy="50800"/>
          </a:xfrm>
          <a:prstGeom prst="rect">
            <a:avLst/>
          </a:prstGeom>
          <a:solidFill>
            <a:srgbClr val="1565C0"/>
          </a:solidFill>
          <a:ln>
            <a:noFill/>
          </a:ln>
        </p:spPr>
        <p:txBody>
          <a:bodyPr/>
          <a:lstStyle/>
          <a:p>
            <a:endParaRPr/>
          </a:p>
        </p:txBody>
      </p:sp>
      <p:sp>
        <p:nvSpPr>
          <p:cNvPr id="727" name="Badge5"/>
          <p:cNvSpPr/>
          <p:nvPr/>
        </p:nvSpPr>
        <p:spPr>
          <a:xfrm>
            <a:off x="8331200" y="1930400"/>
            <a:ext cx="381000" cy="381000"/>
          </a:xfrm>
          <a:prstGeom prst="ellipse">
            <a:avLst/>
          </a:prstGeom>
          <a:solidFill>
            <a:srgbClr val="1565C0"/>
          </a:solidFill>
          <a:ln>
            <a:noFill/>
          </a:ln>
        </p:spPr>
        <p:txBody>
          <a:bodyPr wrap="square" lIns="0" tIns="0" rIns="0" bIns="0" anchor="ctr">
            <a:noAutofit/>
          </a:bodyPr>
          <a:lstStyle/>
          <a:p>
            <a:pPr marL="0" indent="0" algn="ctr">
              <a:buNone/>
            </a:pPr>
            <a:r>
              <a:rPr lang="en-US" sz="1300" b="1" dirty="0">
                <a:solidFill>
                  <a:srgbClr val="FFFFFF"/>
                </a:solidFill>
                <a:latin typeface="Segoe UI"/>
                <a:cs typeface="Segoe UI"/>
              </a:rPr>
              <a:t>5</a:t>
            </a:r>
          </a:p>
        </p:txBody>
      </p:sp>
      <p:sp>
        <p:nvSpPr>
          <p:cNvPr id="728" name="CTitle5"/>
          <p:cNvSpPr/>
          <p:nvPr/>
        </p:nvSpPr>
        <p:spPr>
          <a:xfrm>
            <a:off x="8331200" y="2438400"/>
            <a:ext cx="1295400" cy="330200"/>
          </a:xfrm>
          <a:prstGeom prst="rect">
            <a:avLst/>
          </a:prstGeom>
          <a:noFill/>
          <a:ln>
            <a:noFill/>
          </a:ln>
        </p:spPr>
        <p:txBody>
          <a:bodyPr wrap="square" lIns="0" tIns="0" rIns="0" bIns="0" anchor="ctr">
            <a:noAutofit/>
          </a:bodyPr>
          <a:lstStyle/>
          <a:p>
            <a:pPr marL="0" indent="0" algn="l">
              <a:buNone/>
            </a:pPr>
            <a:r>
              <a:rPr lang="en-US" sz="1700" b="1" dirty="0">
                <a:solidFill>
                  <a:srgbClr val="1F2937"/>
                </a:solidFill>
                <a:latin typeface="Segoe UI"/>
                <a:cs typeface="Segoe UI"/>
              </a:rPr>
              <a:t>Review</a:t>
            </a:r>
          </a:p>
        </p:txBody>
      </p:sp>
      <p:sp>
        <p:nvSpPr>
          <p:cNvPr id="729" name="CDesc5"/>
          <p:cNvSpPr/>
          <p:nvPr/>
        </p:nvSpPr>
        <p:spPr>
          <a:xfrm>
            <a:off x="8331200" y="2870200"/>
            <a:ext cx="1295400" cy="1168400"/>
          </a:xfrm>
          <a:prstGeom prst="rect">
            <a:avLst/>
          </a:prstGeom>
          <a:noFill/>
          <a:ln>
            <a:noFill/>
          </a:ln>
        </p:spPr>
        <p:txBody>
          <a:bodyPr wrap="square" lIns="0" tIns="0" rIns="0" bIns="0" anchor="t">
            <a:noAutofit/>
          </a:bodyPr>
          <a:lstStyle/>
          <a:p>
            <a:pPr marL="0" indent="0" algn="l">
              <a:buNone/>
            </a:pPr>
            <a:r>
              <a:rPr lang="en-US" sz="1300" dirty="0">
                <a:solidFill>
                  <a:srgbClr val="4B5563"/>
                </a:solidFill>
                <a:latin typeface="Segoe UI"/>
                <a:cs typeface="Segoe UI"/>
              </a:rPr>
              <a:t>A summary of changes, risks, and what was left alone</a:t>
            </a:r>
          </a:p>
        </p:txBody>
      </p:sp>
      <p:sp>
        <p:nvSpPr>
          <p:cNvPr id="730" name="Arrow5"/>
          <p:cNvSpPr/>
          <p:nvPr/>
        </p:nvSpPr>
        <p:spPr>
          <a:xfrm>
            <a:off x="9855200" y="2832100"/>
            <a:ext cx="177800" cy="177800"/>
          </a:xfrm>
          <a:prstGeom prst="rightArrow">
            <a:avLst/>
          </a:prstGeom>
          <a:solidFill>
            <a:srgbClr val="9AA3B2"/>
          </a:solidFill>
          <a:ln>
            <a:noFill/>
          </a:ln>
        </p:spPr>
        <p:txBody>
          <a:bodyPr/>
          <a:lstStyle/>
          <a:p>
            <a:endParaRPr/>
          </a:p>
        </p:txBody>
      </p:sp>
      <p:sp>
        <p:nvSpPr>
          <p:cNvPr id="731" name="Card6"/>
          <p:cNvSpPr/>
          <p:nvPr/>
        </p:nvSpPr>
        <p:spPr>
          <a:xfrm>
            <a:off x="10083800" y="1676400"/>
            <a:ext cx="1651000" cy="2489200"/>
          </a:xfrm>
          <a:prstGeom prst="rect">
            <a:avLst/>
          </a:prstGeom>
          <a:solidFill>
            <a:srgbClr val="FFFFFF"/>
          </a:solidFill>
          <a:ln w="12700">
            <a:solidFill>
              <a:srgbClr val="E1E5EA"/>
            </a:solidFill>
          </a:ln>
        </p:spPr>
        <p:txBody>
          <a:bodyPr/>
          <a:lstStyle/>
          <a:p>
            <a:endParaRPr/>
          </a:p>
        </p:txBody>
      </p:sp>
      <p:sp>
        <p:nvSpPr>
          <p:cNvPr id="732" name="Accent6"/>
          <p:cNvSpPr/>
          <p:nvPr/>
        </p:nvSpPr>
        <p:spPr>
          <a:xfrm>
            <a:off x="10083800" y="1676400"/>
            <a:ext cx="1651000" cy="50800"/>
          </a:xfrm>
          <a:prstGeom prst="rect">
            <a:avLst/>
          </a:prstGeom>
          <a:solidFill>
            <a:srgbClr val="1565C0"/>
          </a:solidFill>
          <a:ln>
            <a:noFill/>
          </a:ln>
        </p:spPr>
        <p:txBody>
          <a:bodyPr/>
          <a:lstStyle/>
          <a:p>
            <a:endParaRPr/>
          </a:p>
        </p:txBody>
      </p:sp>
      <p:sp>
        <p:nvSpPr>
          <p:cNvPr id="733" name="Badge6"/>
          <p:cNvSpPr/>
          <p:nvPr/>
        </p:nvSpPr>
        <p:spPr>
          <a:xfrm>
            <a:off x="10261600" y="1930400"/>
            <a:ext cx="381000" cy="381000"/>
          </a:xfrm>
          <a:prstGeom prst="ellipse">
            <a:avLst/>
          </a:prstGeom>
          <a:solidFill>
            <a:srgbClr val="1565C0"/>
          </a:solidFill>
          <a:ln>
            <a:noFill/>
          </a:ln>
        </p:spPr>
        <p:txBody>
          <a:bodyPr wrap="square" lIns="0" tIns="0" rIns="0" bIns="0" anchor="ctr">
            <a:noAutofit/>
          </a:bodyPr>
          <a:lstStyle/>
          <a:p>
            <a:pPr marL="0" indent="0" algn="ctr">
              <a:buNone/>
            </a:pPr>
            <a:r>
              <a:rPr lang="en-US" sz="1300" b="1" dirty="0">
                <a:solidFill>
                  <a:srgbClr val="FFFFFF"/>
                </a:solidFill>
                <a:latin typeface="Segoe UI"/>
                <a:cs typeface="Segoe UI"/>
              </a:rPr>
              <a:t>6</a:t>
            </a:r>
          </a:p>
        </p:txBody>
      </p:sp>
      <p:sp>
        <p:nvSpPr>
          <p:cNvPr id="734" name="CTitle6"/>
          <p:cNvSpPr/>
          <p:nvPr/>
        </p:nvSpPr>
        <p:spPr>
          <a:xfrm>
            <a:off x="10261600" y="2438400"/>
            <a:ext cx="1295400" cy="330200"/>
          </a:xfrm>
          <a:prstGeom prst="rect">
            <a:avLst/>
          </a:prstGeom>
          <a:noFill/>
          <a:ln>
            <a:noFill/>
          </a:ln>
        </p:spPr>
        <p:txBody>
          <a:bodyPr wrap="square" lIns="0" tIns="0" rIns="0" bIns="0" anchor="ctr">
            <a:noAutofit/>
          </a:bodyPr>
          <a:lstStyle/>
          <a:p>
            <a:pPr marL="0" indent="0" algn="l">
              <a:buNone/>
            </a:pPr>
            <a:r>
              <a:rPr lang="en-US" sz="1700" b="1" dirty="0">
                <a:solidFill>
                  <a:srgbClr val="1F2937"/>
                </a:solidFill>
                <a:latin typeface="Segoe UI"/>
                <a:cs typeface="Segoe UI"/>
              </a:rPr>
              <a:t>Escalate</a:t>
            </a:r>
          </a:p>
        </p:txBody>
      </p:sp>
      <p:sp>
        <p:nvSpPr>
          <p:cNvPr id="735" name="CDesc6"/>
          <p:cNvSpPr/>
          <p:nvPr/>
        </p:nvSpPr>
        <p:spPr>
          <a:xfrm>
            <a:off x="10261600" y="2870200"/>
            <a:ext cx="1295400" cy="1168400"/>
          </a:xfrm>
          <a:prstGeom prst="rect">
            <a:avLst/>
          </a:prstGeom>
          <a:noFill/>
          <a:ln>
            <a:noFill/>
          </a:ln>
        </p:spPr>
        <p:txBody>
          <a:bodyPr wrap="square" lIns="0" tIns="0" rIns="0" bIns="0" anchor="t">
            <a:noAutofit/>
          </a:bodyPr>
          <a:lstStyle/>
          <a:p>
            <a:pPr marL="0" indent="0" algn="l">
              <a:buNone/>
            </a:pPr>
            <a:r>
              <a:rPr lang="en-US" sz="1300" dirty="0">
                <a:solidFill>
                  <a:srgbClr val="4B5563"/>
                </a:solidFill>
                <a:latin typeface="Segoe UI"/>
                <a:cs typeface="Segoe UI"/>
              </a:rPr>
              <a:t>Claude says when it is unsure and names the human check</a:t>
            </a:r>
          </a:p>
        </p:txBody>
      </p:sp>
      <p:sp>
        <p:nvSpPr>
          <p:cNvPr id="736" name="NoteBand"/>
          <p:cNvSpPr/>
          <p:nvPr/>
        </p:nvSpPr>
        <p:spPr>
          <a:xfrm>
            <a:off x="431800" y="4572000"/>
            <a:ext cx="11303000" cy="1320800"/>
          </a:xfrm>
          <a:prstGeom prst="rect">
            <a:avLst/>
          </a:prstGeom>
          <a:solidFill>
            <a:srgbClr val="F4F6FA"/>
          </a:solidFill>
          <a:ln>
            <a:noFill/>
          </a:ln>
        </p:spPr>
        <p:txBody>
          <a:bodyPr/>
          <a:lstStyle/>
          <a:p>
            <a:endParaRPr/>
          </a:p>
        </p:txBody>
      </p:sp>
      <p:sp>
        <p:nvSpPr>
          <p:cNvPr id="737" name="NoteAccent"/>
          <p:cNvSpPr/>
          <p:nvPr/>
        </p:nvSpPr>
        <p:spPr>
          <a:xfrm>
            <a:off x="431800" y="4572000"/>
            <a:ext cx="63500" cy="1320800"/>
          </a:xfrm>
          <a:prstGeom prst="rect">
            <a:avLst/>
          </a:prstGeom>
          <a:solidFill>
            <a:srgbClr val="5B6ABF"/>
          </a:solidFill>
          <a:ln>
            <a:noFill/>
          </a:ln>
        </p:spPr>
        <p:txBody>
          <a:bodyPr/>
          <a:lstStyle/>
          <a:p>
            <a:endParaRPr/>
          </a:p>
        </p:txBody>
      </p:sp>
      <p:sp>
        <p:nvSpPr>
          <p:cNvPr id="738" name="NoteText"/>
          <p:cNvSpPr/>
          <p:nvPr/>
        </p:nvSpPr>
        <p:spPr>
          <a:xfrm>
            <a:off x="800100" y="4673600"/>
            <a:ext cx="10922000" cy="1117600"/>
          </a:xfrm>
          <a:prstGeom prst="rect">
            <a:avLst/>
          </a:prstGeom>
          <a:noFill/>
          <a:ln>
            <a:noFill/>
          </a:ln>
        </p:spPr>
        <p:txBody>
          <a:bodyPr wrap="square" lIns="0" tIns="0" rIns="0" bIns="0" anchor="ctr">
            <a:noAutofit/>
          </a:bodyPr>
          <a:lstStyle/>
          <a:p>
            <a:pPr marL="0" indent="0" algn="l">
              <a:buNone/>
            </a:pPr>
            <a:r>
              <a:rPr lang="en-US" sz="2000" b="1" dirty="0">
                <a:solidFill>
                  <a:srgbClr val="2B3A67"/>
                </a:solidFill>
                <a:latin typeface="Segoe UI"/>
              </a:rPr>
              <a:t>Never trust "looks right."</a:t>
            </a:r>
          </a:p>
          <a:p>
            <a:pPr marL="0" indent="0" algn="l">
              <a:spcBef>
                <a:spcPts val="600"/>
              </a:spcBef>
              <a:buNone/>
            </a:pPr>
            <a:r>
              <a:rPr lang="en-US" sz="1400" dirty="0">
                <a:solidFill>
                  <a:srgbClr val="4B5563"/>
                </a:solidFill>
                <a:latin typeface="Segoe UI"/>
              </a:rPr>
              <a:t>Each step replaces confidence with evidence a human can check before the change lands.</a:t>
            </a:r>
          </a:p>
        </p:txBody>
      </p:sp>
    </p:spTree>
    <p:extLst>
      <p:ext uri="{BB962C8B-B14F-4D97-AF65-F5344CB8AC3E}">
        <p14:creationId xmlns:p14="http://schemas.microsoft.com/office/powerpoint/2010/main" val="19841495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8">
    <p:bg>
      <p:bgPr>
        <a:solidFill>
          <a:srgbClr val="FFFFFF">
            <a:alpha val="100000"/>
          </a:srgbClr>
        </a:solidFill>
        <a:effectLst/>
      </p:bgPr>
    </p:bg>
    <p:spTree>
      <p:nvGrpSpPr>
        <p:cNvPr id="1" name=""/>
        <p:cNvGrpSpPr/>
        <p:nvPr/>
      </p:nvGrpSpPr>
      <p:grpSpPr>
        <a:xfrm>
          <a:off x="0" y="0"/>
          <a:ext cx="0" cy="0"/>
          <a:chOff x="0" y="0"/>
          <a:chExt cx="0" cy="0"/>
        </a:xfrm>
      </p:grpSpPr>
      <p:sp>
        <p:nvSpPr>
          <p:cNvPr id="100" name="Title"/>
          <p:cNvSpPr/>
          <p:nvPr/>
        </p:nvSpPr>
        <p:spPr>
          <a:xfrm>
            <a:off x="660400" y="76200"/>
            <a:ext cx="8890000" cy="381000"/>
          </a:xfrm>
          <a:prstGeom prst="rect">
            <a:avLst/>
          </a:prstGeom>
          <a:noFill/>
          <a:ln>
            <a:noFill/>
          </a:ln>
        </p:spPr>
        <p:txBody>
          <a:bodyPr wrap="square" lIns="0" tIns="0" rIns="0" bIns="0" anchor="ctr"/>
          <a:lstStyle/>
          <a:p>
            <a:pPr marL="0" indent="0">
              <a:buNone/>
            </a:pPr>
            <a:r>
              <a:rPr lang="en-US" sz="2400" b="1" dirty="0">
                <a:solidFill>
                  <a:srgbClr val="FFFFFF"/>
                </a:solidFill>
                <a:latin typeface="Segoe UI Semibold"/>
              </a:rPr>
              <a:t>Which feature solves which problem?</a:t>
            </a:r>
          </a:p>
        </p:txBody>
      </p:sp>
      <p:sp>
        <p:nvSpPr>
          <p:cNvPr id="101" name="Tagline"/>
          <p:cNvSpPr/>
          <p:nvPr/>
        </p:nvSpPr>
        <p:spPr>
          <a:xfrm>
            <a:off x="660400" y="609600"/>
            <a:ext cx="9512300" cy="279400"/>
          </a:xfrm>
          <a:prstGeom prst="rect">
            <a:avLst/>
          </a:prstGeom>
          <a:noFill/>
          <a:ln>
            <a:noFill/>
          </a:ln>
        </p:spPr>
        <p:txBody>
          <a:bodyPr wrap="square" lIns="0" tIns="0" rIns="0" bIns="0" anchor="ctr"/>
          <a:lstStyle/>
          <a:p>
            <a:pPr marL="0" indent="0">
              <a:buNone/>
            </a:pPr>
            <a:r>
              <a:rPr lang="en-US" sz="1400" dirty="0">
                <a:solidFill>
                  <a:srgbClr val="3972C1"/>
                </a:solidFill>
                <a:latin typeface="Segoe UI"/>
              </a:rPr>
              <a:t>Use the lightest-weight mechanism that still gives Claude what it needs</a:t>
            </a:r>
          </a:p>
        </p:txBody>
      </p:sp>
      <p:sp>
        <p:nvSpPr>
          <p:cNvPr id="102" name="Divider"/>
          <p:cNvSpPr/>
          <p:nvPr/>
        </p:nvSpPr>
        <p:spPr>
          <a:xfrm>
            <a:off x="0" y="939800"/>
            <a:ext cx="12192000" cy="0"/>
          </a:xfrm>
          <a:prstGeom prst="line">
            <a:avLst/>
          </a:prstGeom>
          <a:ln w="12700">
            <a:solidFill>
              <a:srgbClr val="1565C0"/>
            </a:solidFill>
          </a:ln>
        </p:spPr>
        <p:txBody>
          <a:bodyPr/>
          <a:lstStyle/>
          <a:p>
            <a:endParaRPr lang="en-US"/>
          </a:p>
        </p:txBody>
      </p:sp>
      <p:sp>
        <p:nvSpPr>
          <p:cNvPr id="103" name="Rail"/>
          <p:cNvSpPr/>
          <p:nvPr/>
        </p:nvSpPr>
        <p:spPr>
          <a:xfrm>
            <a:off x="1447800" y="1397000"/>
            <a:ext cx="9347200" cy="0"/>
          </a:xfrm>
          <a:prstGeom prst="line">
            <a:avLst/>
          </a:prstGeom>
          <a:ln w="19050">
            <a:solidFill>
              <a:srgbClr val="C5CAD4"/>
            </a:solidFill>
          </a:ln>
        </p:spPr>
        <p:txBody>
          <a:bodyPr/>
          <a:lstStyle/>
          <a:p>
            <a:endParaRPr lang="en-US"/>
          </a:p>
        </p:txBody>
      </p:sp>
      <p:sp>
        <p:nvSpPr>
          <p:cNvPr id="200" name="Node0"/>
          <p:cNvSpPr/>
          <p:nvPr/>
        </p:nvSpPr>
        <p:spPr>
          <a:xfrm>
            <a:off x="1168400" y="1117600"/>
            <a:ext cx="558800" cy="558800"/>
          </a:xfrm>
          <a:prstGeom prst="ellipse">
            <a:avLst/>
          </a:prstGeom>
          <a:solidFill>
            <a:srgbClr val="1565C0"/>
          </a:solidFill>
          <a:ln w="19050">
            <a:solidFill>
              <a:srgbClr val="FFFFFF"/>
            </a:solidFill>
          </a:ln>
        </p:spPr>
        <p:txBody>
          <a:bodyPr wrap="none" lIns="0" tIns="0" rIns="0" bIns="0" anchor="ctr"/>
          <a:lstStyle/>
          <a:p>
            <a:pPr marL="0" indent="0" algn="ctr">
              <a:buNone/>
            </a:pPr>
            <a:r>
              <a:rPr lang="en-US" sz="1100" b="1" dirty="0">
                <a:solidFill>
                  <a:srgbClr val="FFFFFF"/>
                </a:solidFill>
                <a:latin typeface="Segoe UI Semibold"/>
              </a:rPr>
              <a:t>1</a:t>
            </a:r>
          </a:p>
        </p:txBody>
      </p:sp>
      <p:sp>
        <p:nvSpPr>
          <p:cNvPr id="201" name="Stem0"/>
          <p:cNvSpPr/>
          <p:nvPr/>
        </p:nvSpPr>
        <p:spPr>
          <a:xfrm>
            <a:off x="1447800" y="1676400"/>
            <a:ext cx="0" cy="177800"/>
          </a:xfrm>
          <a:prstGeom prst="line">
            <a:avLst/>
          </a:prstGeom>
          <a:ln w="12700">
            <a:solidFill>
              <a:srgbClr val="1565C0"/>
            </a:solidFill>
          </a:ln>
        </p:spPr>
        <p:txBody>
          <a:bodyPr/>
          <a:lstStyle/>
          <a:p>
            <a:endParaRPr lang="en-US"/>
          </a:p>
        </p:txBody>
      </p:sp>
      <p:sp>
        <p:nvSpPr>
          <p:cNvPr id="202" name="Panel0"/>
          <p:cNvSpPr/>
          <p:nvPr/>
        </p:nvSpPr>
        <p:spPr>
          <a:xfrm>
            <a:off x="317500" y="1854200"/>
            <a:ext cx="2260600" cy="4445000"/>
          </a:xfrm>
          <a:prstGeom prst="roundRect">
            <a:avLst>
              <a:gd name="adj" fmla="val 8000"/>
            </a:avLst>
          </a:prstGeom>
          <a:solidFill>
            <a:srgbClr val="EBF2FA"/>
          </a:solidFill>
          <a:ln w="9525">
            <a:solidFill>
              <a:srgbClr val="1565C0">
                <a:alpha val="30000"/>
              </a:srgbClr>
            </a:solidFill>
          </a:ln>
        </p:spPr>
        <p:txBody>
          <a:bodyPr/>
          <a:lstStyle/>
          <a:p>
            <a:endParaRPr lang="en-US"/>
          </a:p>
        </p:txBody>
      </p:sp>
      <p:sp>
        <p:nvSpPr>
          <p:cNvPr id="203" name="PTitle0"/>
          <p:cNvSpPr/>
          <p:nvPr/>
        </p:nvSpPr>
        <p:spPr>
          <a:xfrm>
            <a:off x="419100" y="1981200"/>
            <a:ext cx="2057400" cy="279400"/>
          </a:xfrm>
          <a:prstGeom prst="rect">
            <a:avLst/>
          </a:prstGeom>
          <a:noFill/>
          <a:ln>
            <a:noFill/>
          </a:ln>
        </p:spPr>
        <p:txBody>
          <a:bodyPr wrap="square" lIns="0" tIns="0" rIns="0" bIns="0" anchor="ctr"/>
          <a:lstStyle/>
          <a:p>
            <a:pPr marL="0" indent="0" algn="ctr">
              <a:buNone/>
            </a:pPr>
            <a:r>
              <a:rPr lang="en-US" sz="1400" b="1" dirty="0">
                <a:solidFill>
                  <a:srgbClr val="1565C0"/>
                </a:solidFill>
                <a:latin typeface="Segoe UI Semibold"/>
              </a:rPr>
              <a:t>CLAUDE.md</a:t>
            </a:r>
          </a:p>
        </p:txBody>
      </p:sp>
      <p:sp>
        <p:nvSpPr>
          <p:cNvPr id="204" name="PSub0"/>
          <p:cNvSpPr/>
          <p:nvPr/>
        </p:nvSpPr>
        <p:spPr>
          <a:xfrm>
            <a:off x="419100" y="2286000"/>
            <a:ext cx="2057400" cy="203200"/>
          </a:xfrm>
          <a:prstGeom prst="rect">
            <a:avLst/>
          </a:prstGeom>
          <a:noFill/>
          <a:ln>
            <a:noFill/>
          </a:ln>
        </p:spPr>
        <p:txBody>
          <a:bodyPr wrap="square" lIns="0" tIns="0" rIns="0" bIns="0" anchor="ctr"/>
          <a:lstStyle/>
          <a:p>
            <a:pPr marL="0" indent="0" algn="ctr">
              <a:buNone/>
            </a:pPr>
            <a:r>
              <a:rPr lang="en-US" sz="900" dirty="0">
                <a:solidFill>
                  <a:srgbClr val="7A8A9E"/>
                </a:solidFill>
                <a:latin typeface="Segoe UI"/>
              </a:rPr>
              <a:t>Persistent project memory</a:t>
            </a:r>
          </a:p>
        </p:txBody>
      </p:sp>
      <p:sp>
        <p:nvSpPr>
          <p:cNvPr id="205" name="PSep1_0"/>
          <p:cNvSpPr/>
          <p:nvPr/>
        </p:nvSpPr>
        <p:spPr>
          <a:xfrm>
            <a:off x="495300" y="2540000"/>
            <a:ext cx="1905000" cy="0"/>
          </a:xfrm>
          <a:prstGeom prst="line">
            <a:avLst/>
          </a:prstGeom>
          <a:ln w="6350">
            <a:solidFill>
              <a:srgbClr val="1565C0"/>
            </a:solidFill>
          </a:ln>
        </p:spPr>
        <p:txBody>
          <a:bodyPr/>
          <a:lstStyle/>
          <a:p>
            <a:endParaRPr lang="en-US"/>
          </a:p>
        </p:txBody>
      </p:sp>
      <p:sp>
        <p:nvSpPr>
          <p:cNvPr id="206" name="PLdLbl0"/>
          <p:cNvSpPr/>
          <p:nvPr/>
        </p:nvSpPr>
        <p:spPr>
          <a:xfrm>
            <a:off x="419100" y="2641600"/>
            <a:ext cx="2057400" cy="177800"/>
          </a:xfrm>
          <a:prstGeom prst="rect">
            <a:avLst/>
          </a:prstGeom>
          <a:noFill/>
          <a:ln>
            <a:noFill/>
          </a:ln>
        </p:spPr>
        <p:txBody>
          <a:bodyPr wrap="square" lIns="0" tIns="0" rIns="0" bIns="0" anchor="ctr"/>
          <a:lstStyle/>
          <a:p>
            <a:pPr marL="0" indent="0">
              <a:buNone/>
            </a:pPr>
            <a:r>
              <a:rPr lang="en-US" sz="800" b="1" dirty="0">
                <a:solidFill>
                  <a:srgbClr val="1565C0"/>
                </a:solidFill>
                <a:latin typeface="Segoe UI Semibold"/>
              </a:rPr>
              <a:t>LOADS</a:t>
            </a:r>
          </a:p>
        </p:txBody>
      </p:sp>
      <p:sp>
        <p:nvSpPr>
          <p:cNvPr id="207" name="PLdVal0"/>
          <p:cNvSpPr/>
          <p:nvPr/>
        </p:nvSpPr>
        <p:spPr>
          <a:xfrm>
            <a:off x="419100" y="2819400"/>
            <a:ext cx="2057400" cy="2794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Session start</a:t>
            </a:r>
          </a:p>
        </p:txBody>
      </p:sp>
      <p:sp>
        <p:nvSpPr>
          <p:cNvPr id="208" name="PBfLbl0"/>
          <p:cNvSpPr/>
          <p:nvPr/>
        </p:nvSpPr>
        <p:spPr>
          <a:xfrm>
            <a:off x="419100" y="3149600"/>
            <a:ext cx="2057400" cy="177800"/>
          </a:xfrm>
          <a:prstGeom prst="rect">
            <a:avLst/>
          </a:prstGeom>
          <a:noFill/>
          <a:ln>
            <a:noFill/>
          </a:ln>
        </p:spPr>
        <p:txBody>
          <a:bodyPr wrap="square" lIns="0" tIns="0" rIns="0" bIns="0" anchor="ctr"/>
          <a:lstStyle/>
          <a:p>
            <a:pPr marL="0" indent="0">
              <a:buNone/>
            </a:pPr>
            <a:r>
              <a:rPr lang="en-US" sz="800" b="1" dirty="0">
                <a:solidFill>
                  <a:srgbClr val="1565C0"/>
                </a:solidFill>
                <a:latin typeface="Segoe UI Semibold"/>
              </a:rPr>
              <a:t>BEST FOR</a:t>
            </a:r>
          </a:p>
        </p:txBody>
      </p:sp>
      <p:sp>
        <p:nvSpPr>
          <p:cNvPr id="209" name="PBfVal0"/>
          <p:cNvSpPr/>
          <p:nvPr/>
        </p:nvSpPr>
        <p:spPr>
          <a:xfrm>
            <a:off x="419100" y="3327400"/>
            <a:ext cx="2057400" cy="6350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Project context, code style, build/test commands, gotchas</a:t>
            </a:r>
          </a:p>
        </p:txBody>
      </p:sp>
      <p:sp>
        <p:nvSpPr>
          <p:cNvPr id="210" name="PSep2_0"/>
          <p:cNvSpPr/>
          <p:nvPr/>
        </p:nvSpPr>
        <p:spPr>
          <a:xfrm>
            <a:off x="495300" y="4013200"/>
            <a:ext cx="1905000" cy="0"/>
          </a:xfrm>
          <a:prstGeom prst="line">
            <a:avLst/>
          </a:prstGeom>
          <a:ln w="6350">
            <a:solidFill>
              <a:srgbClr val="1565C0"/>
            </a:solidFill>
          </a:ln>
        </p:spPr>
        <p:txBody>
          <a:bodyPr/>
          <a:lstStyle/>
          <a:p>
            <a:endParaRPr lang="en-US"/>
          </a:p>
        </p:txBody>
      </p:sp>
      <p:sp>
        <p:nvSpPr>
          <p:cNvPr id="211" name="PExBg0"/>
          <p:cNvSpPr/>
          <p:nvPr/>
        </p:nvSpPr>
        <p:spPr>
          <a:xfrm>
            <a:off x="393700" y="4114800"/>
            <a:ext cx="2108200" cy="2057400"/>
          </a:xfrm>
          <a:prstGeom prst="roundRect">
            <a:avLst>
              <a:gd name="adj" fmla="val 8000"/>
            </a:avLst>
          </a:prstGeom>
          <a:solidFill>
            <a:srgbClr val="FFFFFF"/>
          </a:solidFill>
          <a:ln w="6350">
            <a:solidFill>
              <a:srgbClr val="1565C0">
                <a:alpha val="40000"/>
              </a:srgbClr>
            </a:solidFill>
          </a:ln>
        </p:spPr>
        <p:txBody>
          <a:bodyPr/>
          <a:lstStyle/>
          <a:p>
            <a:endParaRPr lang="en-US"/>
          </a:p>
        </p:txBody>
      </p:sp>
      <p:sp>
        <p:nvSpPr>
          <p:cNvPr id="212" name="PExLbl0"/>
          <p:cNvSpPr/>
          <p:nvPr/>
        </p:nvSpPr>
        <p:spPr>
          <a:xfrm>
            <a:off x="495300" y="4191000"/>
            <a:ext cx="1905000" cy="177800"/>
          </a:xfrm>
          <a:prstGeom prst="rect">
            <a:avLst/>
          </a:prstGeom>
          <a:noFill/>
          <a:ln>
            <a:noFill/>
          </a:ln>
        </p:spPr>
        <p:txBody>
          <a:bodyPr wrap="square" lIns="0" tIns="0" rIns="0" bIns="0" anchor="ctr"/>
          <a:lstStyle/>
          <a:p>
            <a:pPr marL="0" indent="0">
              <a:buNone/>
            </a:pPr>
            <a:r>
              <a:rPr lang="en-US" sz="800" b="1" dirty="0">
                <a:solidFill>
                  <a:srgbClr val="1565C0"/>
                </a:solidFill>
                <a:latin typeface="Segoe UI Semibold"/>
              </a:rPr>
              <a:t>EXAMPLE</a:t>
            </a:r>
          </a:p>
        </p:txBody>
      </p:sp>
      <p:sp>
        <p:nvSpPr>
          <p:cNvPr id="213" name="PExVal0"/>
          <p:cNvSpPr/>
          <p:nvPr/>
        </p:nvSpPr>
        <p:spPr>
          <a:xfrm>
            <a:off x="495300" y="4394200"/>
            <a:ext cx="1905000" cy="1727200"/>
          </a:xfrm>
          <a:prstGeom prst="rect">
            <a:avLst/>
          </a:prstGeom>
          <a:noFill/>
          <a:ln>
            <a:noFill/>
          </a:ln>
        </p:spPr>
        <p:txBody>
          <a:bodyPr wrap="square" lIns="0" tIns="0" rIns="0" bIns="0" anchor="t"/>
          <a:lstStyle/>
          <a:p>
            <a:r>
              <a:rPr lang="en-US" sz="900" dirty="0">
                <a:solidFill>
                  <a:srgbClr val="4B5563"/>
                </a:solidFill>
                <a:latin typeface="Consolas"/>
                <a:cs typeface="Consolas"/>
              </a:rPr>
              <a:t># Project Name</a:t>
            </a:r>
          </a:p>
          <a:p>
            <a:endParaRPr lang="en-US" sz="900" dirty="0">
              <a:solidFill>
                <a:srgbClr val="4B5563"/>
              </a:solidFill>
              <a:latin typeface="Consolas"/>
              <a:cs typeface="Consolas"/>
            </a:endParaRPr>
          </a:p>
          <a:p>
            <a:r>
              <a:rPr lang="en-US" sz="900" dirty="0">
                <a:solidFill>
                  <a:srgbClr val="4B5563"/>
                </a:solidFill>
                <a:latin typeface="Consolas"/>
                <a:cs typeface="Consolas"/>
              </a:rPr>
              <a:t>## Tech Stack</a:t>
            </a:r>
          </a:p>
          <a:p>
            <a:endParaRPr lang="en-US" sz="900" dirty="0">
              <a:solidFill>
                <a:srgbClr val="4B5563"/>
              </a:solidFill>
              <a:latin typeface="Consolas"/>
              <a:cs typeface="Consolas"/>
            </a:endParaRPr>
          </a:p>
          <a:p>
            <a:r>
              <a:rPr lang="en-US" sz="900" dirty="0">
                <a:solidFill>
                  <a:srgbClr val="4B5563"/>
                </a:solidFill>
                <a:latin typeface="Consolas"/>
                <a:cs typeface="Consolas"/>
              </a:rPr>
              <a:t>## Architecture</a:t>
            </a:r>
          </a:p>
          <a:p>
            <a:endParaRPr lang="en-US" sz="900" dirty="0">
              <a:solidFill>
                <a:srgbClr val="4B5563"/>
              </a:solidFill>
              <a:latin typeface="Consolas"/>
              <a:cs typeface="Consolas"/>
            </a:endParaRPr>
          </a:p>
          <a:p>
            <a:r>
              <a:rPr lang="en-US" sz="900" dirty="0">
                <a:solidFill>
                  <a:srgbClr val="4B5563"/>
                </a:solidFill>
                <a:latin typeface="Consolas"/>
                <a:cs typeface="Consolas"/>
              </a:rPr>
              <a:t>## Key Commands</a:t>
            </a:r>
          </a:p>
          <a:p>
            <a:endParaRPr lang="en-US" sz="900" dirty="0">
              <a:solidFill>
                <a:srgbClr val="4B5563"/>
              </a:solidFill>
              <a:latin typeface="Consolas"/>
              <a:cs typeface="Consolas"/>
            </a:endParaRPr>
          </a:p>
          <a:p>
            <a:r>
              <a:rPr lang="en-US" sz="900" dirty="0">
                <a:solidFill>
                  <a:srgbClr val="4B5563"/>
                </a:solidFill>
                <a:latin typeface="Consolas"/>
                <a:cs typeface="Consolas"/>
              </a:rPr>
              <a:t>## Code Style and Conventions</a:t>
            </a:r>
          </a:p>
          <a:p>
            <a:endParaRPr lang="en-US" sz="900" dirty="0">
              <a:solidFill>
                <a:srgbClr val="4B5563"/>
              </a:solidFill>
              <a:latin typeface="Consolas"/>
              <a:cs typeface="Consolas"/>
            </a:endParaRPr>
          </a:p>
          <a:p>
            <a:r>
              <a:rPr lang="en-US" sz="900" dirty="0">
                <a:solidFill>
                  <a:srgbClr val="4B5563"/>
                </a:solidFill>
                <a:latin typeface="Consolas"/>
                <a:cs typeface="Consolas"/>
              </a:rPr>
              <a:t>## Development Workflow</a:t>
            </a:r>
          </a:p>
          <a:p>
            <a:endParaRPr lang="en-US" sz="900" dirty="0">
              <a:solidFill>
                <a:srgbClr val="4B5563"/>
              </a:solidFill>
              <a:latin typeface="Consolas"/>
              <a:cs typeface="Consolas"/>
            </a:endParaRPr>
          </a:p>
        </p:txBody>
      </p:sp>
      <p:sp>
        <p:nvSpPr>
          <p:cNvPr id="220" name="Node1"/>
          <p:cNvSpPr/>
          <p:nvPr/>
        </p:nvSpPr>
        <p:spPr>
          <a:xfrm>
            <a:off x="3505200" y="1117600"/>
            <a:ext cx="558800" cy="558800"/>
          </a:xfrm>
          <a:prstGeom prst="ellipse">
            <a:avLst/>
          </a:prstGeom>
          <a:solidFill>
            <a:srgbClr val="7C3AED"/>
          </a:solidFill>
          <a:ln w="19050">
            <a:solidFill>
              <a:srgbClr val="FFFFFF"/>
            </a:solidFill>
          </a:ln>
        </p:spPr>
        <p:txBody>
          <a:bodyPr wrap="none" lIns="0" tIns="0" rIns="0" bIns="0" anchor="ctr"/>
          <a:lstStyle/>
          <a:p>
            <a:pPr marL="0" indent="0" algn="ctr">
              <a:buNone/>
            </a:pPr>
            <a:r>
              <a:rPr lang="en-US" sz="1100" b="1" dirty="0">
                <a:solidFill>
                  <a:srgbClr val="FFFFFF"/>
                </a:solidFill>
                <a:latin typeface="Segoe UI Semibold"/>
              </a:rPr>
              <a:t>2</a:t>
            </a:r>
          </a:p>
        </p:txBody>
      </p:sp>
      <p:sp>
        <p:nvSpPr>
          <p:cNvPr id="221" name="Stem1"/>
          <p:cNvSpPr/>
          <p:nvPr/>
        </p:nvSpPr>
        <p:spPr>
          <a:xfrm>
            <a:off x="3784600" y="1676400"/>
            <a:ext cx="0" cy="177800"/>
          </a:xfrm>
          <a:prstGeom prst="line">
            <a:avLst/>
          </a:prstGeom>
          <a:ln w="12700">
            <a:solidFill>
              <a:srgbClr val="7C3AED"/>
            </a:solidFill>
          </a:ln>
        </p:spPr>
        <p:txBody>
          <a:bodyPr/>
          <a:lstStyle/>
          <a:p>
            <a:endParaRPr lang="en-US"/>
          </a:p>
        </p:txBody>
      </p:sp>
      <p:sp>
        <p:nvSpPr>
          <p:cNvPr id="222" name="Panel1"/>
          <p:cNvSpPr/>
          <p:nvPr/>
        </p:nvSpPr>
        <p:spPr>
          <a:xfrm>
            <a:off x="2654300" y="1854200"/>
            <a:ext cx="2260600" cy="4445000"/>
          </a:xfrm>
          <a:prstGeom prst="roundRect">
            <a:avLst>
              <a:gd name="adj" fmla="val 8000"/>
            </a:avLst>
          </a:prstGeom>
          <a:solidFill>
            <a:srgbClr val="F0EAFB"/>
          </a:solidFill>
          <a:ln w="9525">
            <a:solidFill>
              <a:srgbClr val="7C3AED">
                <a:alpha val="30000"/>
              </a:srgbClr>
            </a:solidFill>
          </a:ln>
        </p:spPr>
        <p:txBody>
          <a:bodyPr/>
          <a:lstStyle/>
          <a:p>
            <a:endParaRPr lang="en-US"/>
          </a:p>
        </p:txBody>
      </p:sp>
      <p:sp>
        <p:nvSpPr>
          <p:cNvPr id="223" name="PTitle1"/>
          <p:cNvSpPr/>
          <p:nvPr/>
        </p:nvSpPr>
        <p:spPr>
          <a:xfrm>
            <a:off x="2755900" y="1981200"/>
            <a:ext cx="2057400" cy="279400"/>
          </a:xfrm>
          <a:prstGeom prst="rect">
            <a:avLst/>
          </a:prstGeom>
          <a:noFill/>
          <a:ln>
            <a:noFill/>
          </a:ln>
        </p:spPr>
        <p:txBody>
          <a:bodyPr wrap="square" lIns="0" tIns="0" rIns="0" bIns="0" anchor="ctr"/>
          <a:lstStyle/>
          <a:p>
            <a:pPr marL="0" indent="0" algn="ctr">
              <a:buNone/>
            </a:pPr>
            <a:r>
              <a:rPr lang="en-US" sz="1400" b="1" dirty="0">
                <a:solidFill>
                  <a:srgbClr val="7C3AED"/>
                </a:solidFill>
                <a:latin typeface="Segoe UI Semibold"/>
              </a:rPr>
              <a:t>Rules</a:t>
            </a:r>
          </a:p>
        </p:txBody>
      </p:sp>
      <p:sp>
        <p:nvSpPr>
          <p:cNvPr id="224" name="PSub1"/>
          <p:cNvSpPr/>
          <p:nvPr/>
        </p:nvSpPr>
        <p:spPr>
          <a:xfrm>
            <a:off x="2755900" y="2286000"/>
            <a:ext cx="2057400" cy="203200"/>
          </a:xfrm>
          <a:prstGeom prst="rect">
            <a:avLst/>
          </a:prstGeom>
          <a:noFill/>
          <a:ln>
            <a:noFill/>
          </a:ln>
        </p:spPr>
        <p:txBody>
          <a:bodyPr wrap="square" lIns="0" tIns="0" rIns="0" bIns="0" anchor="ctr"/>
          <a:lstStyle/>
          <a:p>
            <a:pPr marL="0" indent="0" algn="ctr">
              <a:buNone/>
            </a:pPr>
            <a:r>
              <a:rPr lang="en-US" sz="900" dirty="0">
                <a:solidFill>
                  <a:srgbClr val="7A8A9E"/>
                </a:solidFill>
                <a:latin typeface="Segoe UI"/>
              </a:rPr>
              <a:t>Scoped guidance</a:t>
            </a:r>
          </a:p>
        </p:txBody>
      </p:sp>
      <p:sp>
        <p:nvSpPr>
          <p:cNvPr id="225" name="PSep1_1"/>
          <p:cNvSpPr/>
          <p:nvPr/>
        </p:nvSpPr>
        <p:spPr>
          <a:xfrm>
            <a:off x="2832100" y="2540000"/>
            <a:ext cx="1905000" cy="0"/>
          </a:xfrm>
          <a:prstGeom prst="line">
            <a:avLst/>
          </a:prstGeom>
          <a:ln w="6350">
            <a:solidFill>
              <a:srgbClr val="7C3AED"/>
            </a:solidFill>
          </a:ln>
        </p:spPr>
        <p:txBody>
          <a:bodyPr/>
          <a:lstStyle/>
          <a:p>
            <a:endParaRPr lang="en-US"/>
          </a:p>
        </p:txBody>
      </p:sp>
      <p:sp>
        <p:nvSpPr>
          <p:cNvPr id="226" name="PLdLbl1"/>
          <p:cNvSpPr/>
          <p:nvPr/>
        </p:nvSpPr>
        <p:spPr>
          <a:xfrm>
            <a:off x="2755900" y="2641600"/>
            <a:ext cx="2057400" cy="177800"/>
          </a:xfrm>
          <a:prstGeom prst="rect">
            <a:avLst/>
          </a:prstGeom>
          <a:noFill/>
          <a:ln>
            <a:noFill/>
          </a:ln>
        </p:spPr>
        <p:txBody>
          <a:bodyPr wrap="square" lIns="0" tIns="0" rIns="0" bIns="0" anchor="ctr"/>
          <a:lstStyle/>
          <a:p>
            <a:pPr marL="0" indent="0">
              <a:buNone/>
            </a:pPr>
            <a:r>
              <a:rPr lang="en-US" sz="800" b="1" dirty="0">
                <a:solidFill>
                  <a:srgbClr val="7C3AED"/>
                </a:solidFill>
                <a:latin typeface="Segoe UI Semibold"/>
              </a:rPr>
              <a:t>LOADS</a:t>
            </a:r>
          </a:p>
        </p:txBody>
      </p:sp>
      <p:sp>
        <p:nvSpPr>
          <p:cNvPr id="227" name="PLdVal1"/>
          <p:cNvSpPr/>
          <p:nvPr/>
        </p:nvSpPr>
        <p:spPr>
          <a:xfrm>
            <a:off x="2755900" y="2819400"/>
            <a:ext cx="2057400" cy="2794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Path-matched files</a:t>
            </a:r>
          </a:p>
        </p:txBody>
      </p:sp>
      <p:sp>
        <p:nvSpPr>
          <p:cNvPr id="228" name="PBfLbl1"/>
          <p:cNvSpPr/>
          <p:nvPr/>
        </p:nvSpPr>
        <p:spPr>
          <a:xfrm>
            <a:off x="2755900" y="3149600"/>
            <a:ext cx="2057400" cy="177800"/>
          </a:xfrm>
          <a:prstGeom prst="rect">
            <a:avLst/>
          </a:prstGeom>
          <a:noFill/>
          <a:ln>
            <a:noFill/>
          </a:ln>
        </p:spPr>
        <p:txBody>
          <a:bodyPr wrap="square" lIns="0" tIns="0" rIns="0" bIns="0" anchor="ctr"/>
          <a:lstStyle/>
          <a:p>
            <a:pPr marL="0" indent="0">
              <a:buNone/>
            </a:pPr>
            <a:r>
              <a:rPr lang="en-US" sz="800" b="1" dirty="0">
                <a:solidFill>
                  <a:srgbClr val="7C3AED"/>
                </a:solidFill>
                <a:latin typeface="Segoe UI Semibold"/>
              </a:rPr>
              <a:t>BEST FOR</a:t>
            </a:r>
          </a:p>
        </p:txBody>
      </p:sp>
      <p:sp>
        <p:nvSpPr>
          <p:cNvPr id="229" name="PBfVal1"/>
          <p:cNvSpPr/>
          <p:nvPr/>
        </p:nvSpPr>
        <p:spPr>
          <a:xfrm>
            <a:off x="2755900" y="3327400"/>
            <a:ext cx="2057400" cy="6350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File-type or path conventions</a:t>
            </a:r>
          </a:p>
        </p:txBody>
      </p:sp>
      <p:sp>
        <p:nvSpPr>
          <p:cNvPr id="230" name="PSep2_1"/>
          <p:cNvSpPr/>
          <p:nvPr/>
        </p:nvSpPr>
        <p:spPr>
          <a:xfrm>
            <a:off x="2832100" y="4013200"/>
            <a:ext cx="1905000" cy="0"/>
          </a:xfrm>
          <a:prstGeom prst="line">
            <a:avLst/>
          </a:prstGeom>
          <a:ln w="6350">
            <a:solidFill>
              <a:srgbClr val="7C3AED"/>
            </a:solidFill>
          </a:ln>
        </p:spPr>
        <p:txBody>
          <a:bodyPr/>
          <a:lstStyle/>
          <a:p>
            <a:endParaRPr lang="en-US"/>
          </a:p>
        </p:txBody>
      </p:sp>
      <p:sp>
        <p:nvSpPr>
          <p:cNvPr id="231" name="PExBg1"/>
          <p:cNvSpPr/>
          <p:nvPr/>
        </p:nvSpPr>
        <p:spPr>
          <a:xfrm>
            <a:off x="2730500" y="4114800"/>
            <a:ext cx="2108200" cy="2057400"/>
          </a:xfrm>
          <a:prstGeom prst="roundRect">
            <a:avLst>
              <a:gd name="adj" fmla="val 8000"/>
            </a:avLst>
          </a:prstGeom>
          <a:solidFill>
            <a:srgbClr val="FFFFFF"/>
          </a:solidFill>
          <a:ln w="6350">
            <a:solidFill>
              <a:srgbClr val="7C3AED">
                <a:alpha val="40000"/>
              </a:srgbClr>
            </a:solidFill>
          </a:ln>
        </p:spPr>
        <p:txBody>
          <a:bodyPr/>
          <a:lstStyle/>
          <a:p>
            <a:endParaRPr lang="en-US"/>
          </a:p>
        </p:txBody>
      </p:sp>
      <p:sp>
        <p:nvSpPr>
          <p:cNvPr id="232" name="PExLbl1"/>
          <p:cNvSpPr/>
          <p:nvPr/>
        </p:nvSpPr>
        <p:spPr>
          <a:xfrm>
            <a:off x="2832100" y="4191000"/>
            <a:ext cx="1905000" cy="177800"/>
          </a:xfrm>
          <a:prstGeom prst="rect">
            <a:avLst/>
          </a:prstGeom>
          <a:noFill/>
          <a:ln>
            <a:noFill/>
          </a:ln>
        </p:spPr>
        <p:txBody>
          <a:bodyPr wrap="square" lIns="0" tIns="0" rIns="0" bIns="0" anchor="ctr"/>
          <a:lstStyle/>
          <a:p>
            <a:pPr marL="0" indent="0">
              <a:buNone/>
            </a:pPr>
            <a:r>
              <a:rPr lang="en-US" sz="800" b="1" dirty="0">
                <a:solidFill>
                  <a:srgbClr val="7C3AED"/>
                </a:solidFill>
                <a:latin typeface="Segoe UI Semibold"/>
              </a:rPr>
              <a:t>EXAMPLE</a:t>
            </a:r>
          </a:p>
        </p:txBody>
      </p:sp>
      <p:sp>
        <p:nvSpPr>
          <p:cNvPr id="233" name="PExVal1"/>
          <p:cNvSpPr/>
          <p:nvPr/>
        </p:nvSpPr>
        <p:spPr>
          <a:xfrm>
            <a:off x="2832100" y="4394200"/>
            <a:ext cx="1905000" cy="1727200"/>
          </a:xfrm>
          <a:prstGeom prst="rect">
            <a:avLst/>
          </a:prstGeom>
          <a:noFill/>
          <a:ln>
            <a:noFill/>
          </a:ln>
        </p:spPr>
        <p:txBody>
          <a:bodyPr wrap="square" lIns="0" tIns="0" rIns="0" bIns="0" anchor="t"/>
          <a:lstStyle/>
          <a:p>
            <a:pPr marL="0" indent="0">
              <a:buNone/>
            </a:pPr>
            <a:r>
              <a:rPr lang="en-US" sz="900" dirty="0">
                <a:solidFill>
                  <a:srgbClr val="4B5563"/>
                </a:solidFill>
                <a:latin typeface="Consolas"/>
                <a:cs typeface="Consolas"/>
              </a:rPr>
              <a:t>*.test.ts → "Use vitest, mock external APIs, never use snapshots"</a:t>
            </a:r>
          </a:p>
        </p:txBody>
      </p:sp>
      <p:sp>
        <p:nvSpPr>
          <p:cNvPr id="240" name="Node2"/>
          <p:cNvSpPr/>
          <p:nvPr/>
        </p:nvSpPr>
        <p:spPr>
          <a:xfrm>
            <a:off x="5842000" y="1117600"/>
            <a:ext cx="558800" cy="558800"/>
          </a:xfrm>
          <a:prstGeom prst="ellipse">
            <a:avLst/>
          </a:prstGeom>
          <a:solidFill>
            <a:srgbClr val="059669"/>
          </a:solidFill>
          <a:ln w="19050">
            <a:solidFill>
              <a:srgbClr val="FFFFFF"/>
            </a:solidFill>
          </a:ln>
        </p:spPr>
        <p:txBody>
          <a:bodyPr wrap="none" lIns="0" tIns="0" rIns="0" bIns="0" anchor="ctr"/>
          <a:lstStyle/>
          <a:p>
            <a:pPr marL="0" indent="0" algn="ctr">
              <a:buNone/>
            </a:pPr>
            <a:r>
              <a:rPr lang="en-US" sz="1100" b="1" dirty="0">
                <a:solidFill>
                  <a:srgbClr val="FFFFFF"/>
                </a:solidFill>
                <a:latin typeface="Segoe UI Semibold"/>
              </a:rPr>
              <a:t>3</a:t>
            </a:r>
          </a:p>
        </p:txBody>
      </p:sp>
      <p:sp>
        <p:nvSpPr>
          <p:cNvPr id="241" name="Stem2"/>
          <p:cNvSpPr/>
          <p:nvPr/>
        </p:nvSpPr>
        <p:spPr>
          <a:xfrm>
            <a:off x="6121400" y="1676400"/>
            <a:ext cx="0" cy="177800"/>
          </a:xfrm>
          <a:prstGeom prst="line">
            <a:avLst/>
          </a:prstGeom>
          <a:ln w="12700">
            <a:solidFill>
              <a:srgbClr val="059669"/>
            </a:solidFill>
          </a:ln>
        </p:spPr>
        <p:txBody>
          <a:bodyPr/>
          <a:lstStyle/>
          <a:p>
            <a:endParaRPr lang="en-US"/>
          </a:p>
        </p:txBody>
      </p:sp>
      <p:sp>
        <p:nvSpPr>
          <p:cNvPr id="242" name="Panel2"/>
          <p:cNvSpPr/>
          <p:nvPr/>
        </p:nvSpPr>
        <p:spPr>
          <a:xfrm>
            <a:off x="4991100" y="1854200"/>
            <a:ext cx="2260600" cy="4445000"/>
          </a:xfrm>
          <a:prstGeom prst="roundRect">
            <a:avLst>
              <a:gd name="adj" fmla="val 8000"/>
            </a:avLst>
          </a:prstGeom>
          <a:solidFill>
            <a:srgbClr val="ECFDF5"/>
          </a:solidFill>
          <a:ln w="9525">
            <a:solidFill>
              <a:srgbClr val="059669">
                <a:alpha val="30000"/>
              </a:srgbClr>
            </a:solidFill>
          </a:ln>
        </p:spPr>
        <p:txBody>
          <a:bodyPr/>
          <a:lstStyle/>
          <a:p>
            <a:endParaRPr lang="en-US"/>
          </a:p>
        </p:txBody>
      </p:sp>
      <p:sp>
        <p:nvSpPr>
          <p:cNvPr id="243" name="PTitle2"/>
          <p:cNvSpPr/>
          <p:nvPr/>
        </p:nvSpPr>
        <p:spPr>
          <a:xfrm>
            <a:off x="5092700" y="1981200"/>
            <a:ext cx="2057400" cy="279400"/>
          </a:xfrm>
          <a:prstGeom prst="rect">
            <a:avLst/>
          </a:prstGeom>
          <a:noFill/>
          <a:ln>
            <a:noFill/>
          </a:ln>
        </p:spPr>
        <p:txBody>
          <a:bodyPr wrap="square" lIns="0" tIns="0" rIns="0" bIns="0" anchor="ctr"/>
          <a:lstStyle/>
          <a:p>
            <a:pPr marL="0" indent="0" algn="ctr">
              <a:buNone/>
            </a:pPr>
            <a:r>
              <a:rPr lang="en-US" sz="1400" b="1" dirty="0">
                <a:solidFill>
                  <a:srgbClr val="059669"/>
                </a:solidFill>
                <a:latin typeface="Segoe UI Semibold"/>
              </a:rPr>
              <a:t>Skills</a:t>
            </a:r>
          </a:p>
        </p:txBody>
      </p:sp>
      <p:sp>
        <p:nvSpPr>
          <p:cNvPr id="244" name="PSub2"/>
          <p:cNvSpPr/>
          <p:nvPr/>
        </p:nvSpPr>
        <p:spPr>
          <a:xfrm>
            <a:off x="5092700" y="2286000"/>
            <a:ext cx="2057400" cy="203200"/>
          </a:xfrm>
          <a:prstGeom prst="rect">
            <a:avLst/>
          </a:prstGeom>
          <a:noFill/>
          <a:ln>
            <a:noFill/>
          </a:ln>
        </p:spPr>
        <p:txBody>
          <a:bodyPr wrap="square" lIns="0" tIns="0" rIns="0" bIns="0" anchor="ctr"/>
          <a:lstStyle/>
          <a:p>
            <a:pPr marL="0" indent="0" algn="ctr">
              <a:buNone/>
            </a:pPr>
            <a:r>
              <a:rPr lang="en-US" sz="900" dirty="0">
                <a:solidFill>
                  <a:srgbClr val="7A8A9E"/>
                </a:solidFill>
                <a:latin typeface="Segoe UI"/>
              </a:rPr>
              <a:t>Composable expertise packages</a:t>
            </a:r>
          </a:p>
        </p:txBody>
      </p:sp>
      <p:sp>
        <p:nvSpPr>
          <p:cNvPr id="245" name="PSep1_2"/>
          <p:cNvSpPr/>
          <p:nvPr/>
        </p:nvSpPr>
        <p:spPr>
          <a:xfrm>
            <a:off x="5168900" y="2540000"/>
            <a:ext cx="1905000" cy="0"/>
          </a:xfrm>
          <a:prstGeom prst="line">
            <a:avLst/>
          </a:prstGeom>
          <a:ln w="6350">
            <a:solidFill>
              <a:srgbClr val="059669"/>
            </a:solidFill>
          </a:ln>
        </p:spPr>
        <p:txBody>
          <a:bodyPr/>
          <a:lstStyle/>
          <a:p>
            <a:endParaRPr lang="en-US"/>
          </a:p>
        </p:txBody>
      </p:sp>
      <p:sp>
        <p:nvSpPr>
          <p:cNvPr id="246" name="PLdLbl2"/>
          <p:cNvSpPr/>
          <p:nvPr/>
        </p:nvSpPr>
        <p:spPr>
          <a:xfrm>
            <a:off x="5092700" y="2641600"/>
            <a:ext cx="2057400" cy="177800"/>
          </a:xfrm>
          <a:prstGeom prst="rect">
            <a:avLst/>
          </a:prstGeom>
          <a:noFill/>
          <a:ln>
            <a:noFill/>
          </a:ln>
        </p:spPr>
        <p:txBody>
          <a:bodyPr wrap="square" lIns="0" tIns="0" rIns="0" bIns="0" anchor="ctr"/>
          <a:lstStyle/>
          <a:p>
            <a:pPr marL="0" indent="0">
              <a:buNone/>
            </a:pPr>
            <a:r>
              <a:rPr lang="en-US" sz="800" b="1" dirty="0">
                <a:solidFill>
                  <a:srgbClr val="059669"/>
                </a:solidFill>
                <a:latin typeface="Segoe UI Semibold"/>
              </a:rPr>
              <a:t>LOADS</a:t>
            </a:r>
          </a:p>
        </p:txBody>
      </p:sp>
      <p:sp>
        <p:nvSpPr>
          <p:cNvPr id="247" name="PLdVal2"/>
          <p:cNvSpPr/>
          <p:nvPr/>
        </p:nvSpPr>
        <p:spPr>
          <a:xfrm>
            <a:off x="5092700" y="2819400"/>
            <a:ext cx="2057400" cy="2794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/slash-cmd or auto when relevant</a:t>
            </a:r>
          </a:p>
        </p:txBody>
      </p:sp>
      <p:sp>
        <p:nvSpPr>
          <p:cNvPr id="248" name="PBfLbl2"/>
          <p:cNvSpPr/>
          <p:nvPr/>
        </p:nvSpPr>
        <p:spPr>
          <a:xfrm>
            <a:off x="5092700" y="3149600"/>
            <a:ext cx="2057400" cy="177800"/>
          </a:xfrm>
          <a:prstGeom prst="rect">
            <a:avLst/>
          </a:prstGeom>
          <a:noFill/>
          <a:ln>
            <a:noFill/>
          </a:ln>
        </p:spPr>
        <p:txBody>
          <a:bodyPr wrap="square" lIns="0" tIns="0" rIns="0" bIns="0" anchor="ctr"/>
          <a:lstStyle/>
          <a:p>
            <a:pPr marL="0" indent="0">
              <a:buNone/>
            </a:pPr>
            <a:r>
              <a:rPr lang="en-US" sz="800" b="1" dirty="0">
                <a:solidFill>
                  <a:srgbClr val="059669"/>
                </a:solidFill>
                <a:latin typeface="Segoe UI Semibold"/>
              </a:rPr>
              <a:t>BEST FOR</a:t>
            </a:r>
          </a:p>
        </p:txBody>
      </p:sp>
      <p:sp>
        <p:nvSpPr>
          <p:cNvPr id="249" name="PBfVal2"/>
          <p:cNvSpPr/>
          <p:nvPr/>
        </p:nvSpPr>
        <p:spPr>
          <a:xfrm>
            <a:off x="5092700" y="3327400"/>
            <a:ext cx="2057400" cy="6350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Repeatable workflows, doc generation, TDD, code review, design</a:t>
            </a:r>
          </a:p>
        </p:txBody>
      </p:sp>
      <p:sp>
        <p:nvSpPr>
          <p:cNvPr id="250" name="PSep2_2"/>
          <p:cNvSpPr/>
          <p:nvPr/>
        </p:nvSpPr>
        <p:spPr>
          <a:xfrm>
            <a:off x="5168900" y="4013200"/>
            <a:ext cx="1905000" cy="0"/>
          </a:xfrm>
          <a:prstGeom prst="line">
            <a:avLst/>
          </a:prstGeom>
          <a:ln w="6350">
            <a:solidFill>
              <a:srgbClr val="059669"/>
            </a:solidFill>
          </a:ln>
        </p:spPr>
        <p:txBody>
          <a:bodyPr/>
          <a:lstStyle/>
          <a:p>
            <a:endParaRPr lang="en-US"/>
          </a:p>
        </p:txBody>
      </p:sp>
      <p:sp>
        <p:nvSpPr>
          <p:cNvPr id="251" name="PExBg2"/>
          <p:cNvSpPr/>
          <p:nvPr/>
        </p:nvSpPr>
        <p:spPr>
          <a:xfrm>
            <a:off x="5067300" y="4114800"/>
            <a:ext cx="2108200" cy="2057400"/>
          </a:xfrm>
          <a:prstGeom prst="roundRect">
            <a:avLst>
              <a:gd name="adj" fmla="val 8000"/>
            </a:avLst>
          </a:prstGeom>
          <a:solidFill>
            <a:srgbClr val="FFFFFF"/>
          </a:solidFill>
          <a:ln w="6350">
            <a:solidFill>
              <a:srgbClr val="059669">
                <a:alpha val="40000"/>
              </a:srgbClr>
            </a:solidFill>
          </a:ln>
        </p:spPr>
        <p:txBody>
          <a:bodyPr/>
          <a:lstStyle/>
          <a:p>
            <a:endParaRPr lang="en-US"/>
          </a:p>
        </p:txBody>
      </p:sp>
      <p:sp>
        <p:nvSpPr>
          <p:cNvPr id="252" name="PExLbl2"/>
          <p:cNvSpPr/>
          <p:nvPr/>
        </p:nvSpPr>
        <p:spPr>
          <a:xfrm>
            <a:off x="5168900" y="4191000"/>
            <a:ext cx="1905000" cy="177800"/>
          </a:xfrm>
          <a:prstGeom prst="rect">
            <a:avLst/>
          </a:prstGeom>
          <a:noFill/>
          <a:ln>
            <a:noFill/>
          </a:ln>
        </p:spPr>
        <p:txBody>
          <a:bodyPr wrap="square" lIns="0" tIns="0" rIns="0" bIns="0" anchor="ctr"/>
          <a:lstStyle/>
          <a:p>
            <a:pPr marL="0" indent="0">
              <a:buNone/>
            </a:pPr>
            <a:r>
              <a:rPr lang="en-US" sz="800" b="1" dirty="0">
                <a:solidFill>
                  <a:srgbClr val="059669"/>
                </a:solidFill>
                <a:latin typeface="Segoe UI Semibold"/>
              </a:rPr>
              <a:t>EXAMPLE</a:t>
            </a:r>
          </a:p>
        </p:txBody>
      </p:sp>
      <p:sp>
        <p:nvSpPr>
          <p:cNvPr id="253" name="PExVal2"/>
          <p:cNvSpPr/>
          <p:nvPr/>
        </p:nvSpPr>
        <p:spPr>
          <a:xfrm>
            <a:off x="5168900" y="4394200"/>
            <a:ext cx="1905000" cy="1727200"/>
          </a:xfrm>
          <a:prstGeom prst="rect">
            <a:avLst/>
          </a:prstGeom>
          <a:noFill/>
          <a:ln>
            <a:noFill/>
          </a:ln>
        </p:spPr>
        <p:txBody>
          <a:bodyPr wrap="square" lIns="0" tIns="0" rIns="0" bIns="0" anchor="t"/>
          <a:lstStyle/>
          <a:p>
            <a:pPr marL="0" indent="0">
              <a:buNone/>
            </a:pPr>
            <a:r>
              <a:rPr lang="en-US" sz="900" dirty="0">
                <a:solidFill>
                  <a:srgbClr val="4B5563"/>
                </a:solidFill>
                <a:latin typeface="Consolas"/>
                <a:cs typeface="Consolas"/>
              </a:rPr>
              <a:t>Official: frontend-design,</a:t>
            </a:r>
          </a:p>
          <a:p>
            <a:pPr marL="0" indent="0">
              <a:buNone/>
            </a:pPr>
            <a:r>
              <a:rPr lang="en-US" sz="900" dirty="0">
                <a:solidFill>
                  <a:srgbClr val="4B5563"/>
                </a:solidFill>
                <a:latin typeface="Consolas"/>
                <a:cs typeface="Consolas"/>
              </a:rPr>
              <a:t>mcp-builder, skill-creator</a:t>
            </a:r>
          </a:p>
          <a:p>
            <a:pPr marL="0" indent="0">
              <a:buNone/>
            </a:pPr>
            <a:r>
              <a:rPr lang="en-US" sz="900" dirty="0">
                <a:solidFill>
                  <a:srgbClr val="4B5563"/>
                </a:solidFill>
                <a:latin typeface="Consolas"/>
                <a:cs typeface="Consolas"/>
              </a:rPr>
              <a:t>Community: superpowers,</a:t>
            </a:r>
          </a:p>
          <a:p>
            <a:pPr marL="0" indent="0">
              <a:buNone/>
            </a:pPr>
            <a:r>
              <a:rPr lang="en-US" sz="900" dirty="0">
                <a:solidFill>
                  <a:srgbClr val="4B5563"/>
                </a:solidFill>
                <a:latin typeface="Consolas"/>
                <a:cs typeface="Consolas"/>
              </a:rPr>
              <a:t>remotion, webapp-testing</a:t>
            </a:r>
          </a:p>
        </p:txBody>
      </p:sp>
      <p:sp>
        <p:nvSpPr>
          <p:cNvPr id="260" name="Node3"/>
          <p:cNvSpPr/>
          <p:nvPr/>
        </p:nvSpPr>
        <p:spPr>
          <a:xfrm>
            <a:off x="8178800" y="1117600"/>
            <a:ext cx="558800" cy="558800"/>
          </a:xfrm>
          <a:prstGeom prst="ellipse">
            <a:avLst/>
          </a:prstGeom>
          <a:solidFill>
            <a:srgbClr val="D4622B"/>
          </a:solidFill>
          <a:ln w="19050">
            <a:solidFill>
              <a:srgbClr val="FFFFFF"/>
            </a:solidFill>
          </a:ln>
        </p:spPr>
        <p:txBody>
          <a:bodyPr wrap="none" lIns="0" tIns="0" rIns="0" bIns="0" anchor="ctr"/>
          <a:lstStyle/>
          <a:p>
            <a:pPr marL="0" indent="0" algn="ctr">
              <a:buNone/>
            </a:pPr>
            <a:r>
              <a:rPr lang="en-US" sz="1100" b="1" dirty="0">
                <a:solidFill>
                  <a:srgbClr val="FFFFFF"/>
                </a:solidFill>
                <a:latin typeface="Segoe UI Semibold"/>
              </a:rPr>
              <a:t>4</a:t>
            </a:r>
          </a:p>
        </p:txBody>
      </p:sp>
      <p:sp>
        <p:nvSpPr>
          <p:cNvPr id="261" name="Stem3"/>
          <p:cNvSpPr/>
          <p:nvPr/>
        </p:nvSpPr>
        <p:spPr>
          <a:xfrm>
            <a:off x="8458200" y="1676400"/>
            <a:ext cx="0" cy="177800"/>
          </a:xfrm>
          <a:prstGeom prst="line">
            <a:avLst/>
          </a:prstGeom>
          <a:ln w="12700">
            <a:solidFill>
              <a:srgbClr val="D4622B"/>
            </a:solidFill>
          </a:ln>
        </p:spPr>
        <p:txBody>
          <a:bodyPr/>
          <a:lstStyle/>
          <a:p>
            <a:endParaRPr lang="en-US"/>
          </a:p>
        </p:txBody>
      </p:sp>
      <p:sp>
        <p:nvSpPr>
          <p:cNvPr id="262" name="Panel3"/>
          <p:cNvSpPr/>
          <p:nvPr/>
        </p:nvSpPr>
        <p:spPr>
          <a:xfrm>
            <a:off x="7327900" y="1854200"/>
            <a:ext cx="2260600" cy="4445000"/>
          </a:xfrm>
          <a:prstGeom prst="roundRect">
            <a:avLst>
              <a:gd name="adj" fmla="val 8000"/>
            </a:avLst>
          </a:prstGeom>
          <a:solidFill>
            <a:srgbClr val="FEF3EC"/>
          </a:solidFill>
          <a:ln w="9525">
            <a:solidFill>
              <a:srgbClr val="D4622B">
                <a:alpha val="30000"/>
              </a:srgbClr>
            </a:solidFill>
          </a:ln>
        </p:spPr>
        <p:txBody>
          <a:bodyPr/>
          <a:lstStyle/>
          <a:p>
            <a:endParaRPr lang="en-US"/>
          </a:p>
        </p:txBody>
      </p:sp>
      <p:sp>
        <p:nvSpPr>
          <p:cNvPr id="263" name="PTitle3"/>
          <p:cNvSpPr/>
          <p:nvPr/>
        </p:nvSpPr>
        <p:spPr>
          <a:xfrm>
            <a:off x="7429500" y="1981200"/>
            <a:ext cx="2057400" cy="279400"/>
          </a:xfrm>
          <a:prstGeom prst="rect">
            <a:avLst/>
          </a:prstGeom>
          <a:noFill/>
          <a:ln>
            <a:noFill/>
          </a:ln>
        </p:spPr>
        <p:txBody>
          <a:bodyPr wrap="square" lIns="0" tIns="0" rIns="0" bIns="0" anchor="ctr"/>
          <a:lstStyle/>
          <a:p>
            <a:pPr marL="0" indent="0" algn="ctr">
              <a:buNone/>
            </a:pPr>
            <a:r>
              <a:rPr lang="en-US" sz="1400" b="1" dirty="0">
                <a:solidFill>
                  <a:srgbClr val="D4622B"/>
                </a:solidFill>
                <a:latin typeface="Segoe UI Semibold"/>
              </a:rPr>
              <a:t>MCP</a:t>
            </a:r>
          </a:p>
        </p:txBody>
      </p:sp>
      <p:sp>
        <p:nvSpPr>
          <p:cNvPr id="264" name="PSub3"/>
          <p:cNvSpPr/>
          <p:nvPr/>
        </p:nvSpPr>
        <p:spPr>
          <a:xfrm>
            <a:off x="7429500" y="2286000"/>
            <a:ext cx="2057400" cy="203200"/>
          </a:xfrm>
          <a:prstGeom prst="rect">
            <a:avLst/>
          </a:prstGeom>
          <a:noFill/>
          <a:ln>
            <a:noFill/>
          </a:ln>
        </p:spPr>
        <p:txBody>
          <a:bodyPr wrap="square" lIns="0" tIns="0" rIns="0" bIns="0" anchor="ctr"/>
          <a:lstStyle/>
          <a:p>
            <a:pPr marL="0" indent="0" algn="ctr">
              <a:buNone/>
            </a:pPr>
            <a:r>
              <a:rPr lang="en-US" sz="900" dirty="0">
                <a:solidFill>
                  <a:srgbClr val="7A8A9E"/>
                </a:solidFill>
                <a:latin typeface="Segoe UI"/>
              </a:rPr>
              <a:t>External connections</a:t>
            </a:r>
          </a:p>
        </p:txBody>
      </p:sp>
      <p:sp>
        <p:nvSpPr>
          <p:cNvPr id="265" name="PSep1_3"/>
          <p:cNvSpPr/>
          <p:nvPr/>
        </p:nvSpPr>
        <p:spPr>
          <a:xfrm>
            <a:off x="7505700" y="2540000"/>
            <a:ext cx="1905000" cy="0"/>
          </a:xfrm>
          <a:prstGeom prst="line">
            <a:avLst/>
          </a:prstGeom>
          <a:ln w="6350">
            <a:solidFill>
              <a:srgbClr val="D4622B"/>
            </a:solidFill>
          </a:ln>
        </p:spPr>
        <p:txBody>
          <a:bodyPr/>
          <a:lstStyle/>
          <a:p>
            <a:endParaRPr lang="en-US"/>
          </a:p>
        </p:txBody>
      </p:sp>
      <p:sp>
        <p:nvSpPr>
          <p:cNvPr id="266" name="PLdLbl3"/>
          <p:cNvSpPr/>
          <p:nvPr/>
        </p:nvSpPr>
        <p:spPr>
          <a:xfrm>
            <a:off x="7429500" y="2641600"/>
            <a:ext cx="2057400" cy="177800"/>
          </a:xfrm>
          <a:prstGeom prst="rect">
            <a:avLst/>
          </a:prstGeom>
          <a:noFill/>
          <a:ln>
            <a:noFill/>
          </a:ln>
        </p:spPr>
        <p:txBody>
          <a:bodyPr wrap="square" lIns="0" tIns="0" rIns="0" bIns="0" anchor="ctr"/>
          <a:lstStyle/>
          <a:p>
            <a:pPr marL="0" indent="0">
              <a:buNone/>
            </a:pPr>
            <a:r>
              <a:rPr lang="en-US" sz="800" b="1" dirty="0">
                <a:solidFill>
                  <a:srgbClr val="D4622B"/>
                </a:solidFill>
                <a:latin typeface="Segoe UI Semibold"/>
              </a:rPr>
              <a:t>LOADS</a:t>
            </a:r>
          </a:p>
        </p:txBody>
      </p:sp>
      <p:sp>
        <p:nvSpPr>
          <p:cNvPr id="267" name="PLdVal3"/>
          <p:cNvSpPr/>
          <p:nvPr/>
        </p:nvSpPr>
        <p:spPr>
          <a:xfrm>
            <a:off x="7429500" y="2819400"/>
            <a:ext cx="2057400" cy="2794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Tool defs at start</a:t>
            </a:r>
          </a:p>
        </p:txBody>
      </p:sp>
      <p:sp>
        <p:nvSpPr>
          <p:cNvPr id="268" name="PBfLbl3"/>
          <p:cNvSpPr/>
          <p:nvPr/>
        </p:nvSpPr>
        <p:spPr>
          <a:xfrm>
            <a:off x="7429500" y="3149600"/>
            <a:ext cx="2057400" cy="177800"/>
          </a:xfrm>
          <a:prstGeom prst="rect">
            <a:avLst/>
          </a:prstGeom>
          <a:noFill/>
          <a:ln>
            <a:noFill/>
          </a:ln>
        </p:spPr>
        <p:txBody>
          <a:bodyPr wrap="square" lIns="0" tIns="0" rIns="0" bIns="0" anchor="ctr"/>
          <a:lstStyle/>
          <a:p>
            <a:pPr marL="0" indent="0">
              <a:buNone/>
            </a:pPr>
            <a:r>
              <a:rPr lang="en-US" sz="800" b="1" dirty="0">
                <a:solidFill>
                  <a:srgbClr val="D4622B"/>
                </a:solidFill>
                <a:latin typeface="Segoe UI Semibold"/>
              </a:rPr>
              <a:t>BEST FOR</a:t>
            </a:r>
          </a:p>
        </p:txBody>
      </p:sp>
      <p:sp>
        <p:nvSpPr>
          <p:cNvPr id="269" name="PBfVal3"/>
          <p:cNvSpPr/>
          <p:nvPr/>
        </p:nvSpPr>
        <p:spPr>
          <a:xfrm>
            <a:off x="7429500" y="3327400"/>
            <a:ext cx="2057400" cy="6350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Slack, Jira, Drive, DB, APIs</a:t>
            </a:r>
          </a:p>
        </p:txBody>
      </p:sp>
      <p:sp>
        <p:nvSpPr>
          <p:cNvPr id="270" name="PSep2_3"/>
          <p:cNvSpPr/>
          <p:nvPr/>
        </p:nvSpPr>
        <p:spPr>
          <a:xfrm>
            <a:off x="7505700" y="4013200"/>
            <a:ext cx="1905000" cy="0"/>
          </a:xfrm>
          <a:prstGeom prst="line">
            <a:avLst/>
          </a:prstGeom>
          <a:ln w="6350">
            <a:solidFill>
              <a:srgbClr val="D4622B"/>
            </a:solidFill>
          </a:ln>
        </p:spPr>
        <p:txBody>
          <a:bodyPr/>
          <a:lstStyle/>
          <a:p>
            <a:endParaRPr lang="en-US"/>
          </a:p>
        </p:txBody>
      </p:sp>
      <p:sp>
        <p:nvSpPr>
          <p:cNvPr id="271" name="PExBg3"/>
          <p:cNvSpPr/>
          <p:nvPr/>
        </p:nvSpPr>
        <p:spPr>
          <a:xfrm>
            <a:off x="7404100" y="4114800"/>
            <a:ext cx="2108200" cy="2057400"/>
          </a:xfrm>
          <a:prstGeom prst="roundRect">
            <a:avLst>
              <a:gd name="adj" fmla="val 8000"/>
            </a:avLst>
          </a:prstGeom>
          <a:solidFill>
            <a:srgbClr val="FFFFFF"/>
          </a:solidFill>
          <a:ln w="6350">
            <a:solidFill>
              <a:srgbClr val="D4622B">
                <a:alpha val="40000"/>
              </a:srgbClr>
            </a:solidFill>
          </a:ln>
        </p:spPr>
        <p:txBody>
          <a:bodyPr/>
          <a:lstStyle/>
          <a:p>
            <a:endParaRPr lang="en-US"/>
          </a:p>
        </p:txBody>
      </p:sp>
      <p:sp>
        <p:nvSpPr>
          <p:cNvPr id="272" name="PExLbl3"/>
          <p:cNvSpPr/>
          <p:nvPr/>
        </p:nvSpPr>
        <p:spPr>
          <a:xfrm>
            <a:off x="7505700" y="4191000"/>
            <a:ext cx="1905000" cy="177800"/>
          </a:xfrm>
          <a:prstGeom prst="rect">
            <a:avLst/>
          </a:prstGeom>
          <a:noFill/>
          <a:ln>
            <a:noFill/>
          </a:ln>
        </p:spPr>
        <p:txBody>
          <a:bodyPr wrap="square" lIns="0" tIns="0" rIns="0" bIns="0" anchor="ctr"/>
          <a:lstStyle/>
          <a:p>
            <a:pPr marL="0" indent="0">
              <a:buNone/>
            </a:pPr>
            <a:r>
              <a:rPr lang="en-US" sz="800" b="1" dirty="0">
                <a:solidFill>
                  <a:srgbClr val="D4622B"/>
                </a:solidFill>
                <a:latin typeface="Segoe UI Semibold"/>
              </a:rPr>
              <a:t>EXAMPLE</a:t>
            </a:r>
          </a:p>
        </p:txBody>
      </p:sp>
      <p:sp>
        <p:nvSpPr>
          <p:cNvPr id="273" name="PExVal3"/>
          <p:cNvSpPr/>
          <p:nvPr/>
        </p:nvSpPr>
        <p:spPr>
          <a:xfrm>
            <a:off x="7505700" y="4394200"/>
            <a:ext cx="1905000" cy="1727200"/>
          </a:xfrm>
          <a:prstGeom prst="rect">
            <a:avLst/>
          </a:prstGeom>
          <a:noFill/>
          <a:ln>
            <a:noFill/>
          </a:ln>
        </p:spPr>
        <p:txBody>
          <a:bodyPr wrap="square" lIns="0" tIns="0" rIns="0" bIns="0" anchor="t"/>
          <a:lstStyle/>
          <a:p>
            <a:pPr marL="0" indent="0">
              <a:buNone/>
            </a:pPr>
            <a:r>
              <a:rPr lang="en-US" sz="900" dirty="0">
                <a:solidFill>
                  <a:srgbClr val="4B5563"/>
                </a:solidFill>
                <a:latin typeface="Consolas"/>
                <a:cs typeface="Consolas"/>
              </a:rPr>
              <a:t>"Read JIRA-1234, update status to In Review, post to #eng"</a:t>
            </a:r>
          </a:p>
        </p:txBody>
      </p:sp>
      <p:sp>
        <p:nvSpPr>
          <p:cNvPr id="280" name="Node4"/>
          <p:cNvSpPr/>
          <p:nvPr/>
        </p:nvSpPr>
        <p:spPr>
          <a:xfrm>
            <a:off x="10515600" y="1117600"/>
            <a:ext cx="558800" cy="558800"/>
          </a:xfrm>
          <a:prstGeom prst="ellipse">
            <a:avLst/>
          </a:prstGeom>
          <a:solidFill>
            <a:srgbClr val="B91C1C"/>
          </a:solidFill>
          <a:ln w="19050">
            <a:solidFill>
              <a:srgbClr val="FFFFFF"/>
            </a:solidFill>
          </a:ln>
        </p:spPr>
        <p:txBody>
          <a:bodyPr wrap="none" lIns="0" tIns="0" rIns="0" bIns="0" anchor="ctr"/>
          <a:lstStyle/>
          <a:p>
            <a:pPr marL="0" indent="0" algn="ctr">
              <a:buNone/>
            </a:pPr>
            <a:r>
              <a:rPr lang="en-US" sz="1100" b="1" dirty="0">
                <a:solidFill>
                  <a:srgbClr val="FFFFFF"/>
                </a:solidFill>
                <a:latin typeface="Segoe UI Semibold"/>
              </a:rPr>
              <a:t>5</a:t>
            </a:r>
          </a:p>
        </p:txBody>
      </p:sp>
      <p:sp>
        <p:nvSpPr>
          <p:cNvPr id="281" name="Stem4"/>
          <p:cNvSpPr/>
          <p:nvPr/>
        </p:nvSpPr>
        <p:spPr>
          <a:xfrm>
            <a:off x="10795000" y="1676400"/>
            <a:ext cx="0" cy="177800"/>
          </a:xfrm>
          <a:prstGeom prst="line">
            <a:avLst/>
          </a:prstGeom>
          <a:ln w="12700">
            <a:solidFill>
              <a:srgbClr val="B91C1C"/>
            </a:solidFill>
          </a:ln>
        </p:spPr>
        <p:txBody>
          <a:bodyPr/>
          <a:lstStyle/>
          <a:p>
            <a:endParaRPr lang="en-US"/>
          </a:p>
        </p:txBody>
      </p:sp>
      <p:sp>
        <p:nvSpPr>
          <p:cNvPr id="282" name="Panel4"/>
          <p:cNvSpPr/>
          <p:nvPr/>
        </p:nvSpPr>
        <p:spPr>
          <a:xfrm>
            <a:off x="9664700" y="1854200"/>
            <a:ext cx="2260600" cy="4445000"/>
          </a:xfrm>
          <a:prstGeom prst="roundRect">
            <a:avLst>
              <a:gd name="adj" fmla="val 8000"/>
            </a:avLst>
          </a:prstGeom>
          <a:solidFill>
            <a:srgbClr val="FEF2F2"/>
          </a:solidFill>
          <a:ln w="9525">
            <a:solidFill>
              <a:srgbClr val="B91C1C">
                <a:alpha val="30000"/>
              </a:srgbClr>
            </a:solidFill>
          </a:ln>
        </p:spPr>
        <p:txBody>
          <a:bodyPr/>
          <a:lstStyle/>
          <a:p>
            <a:endParaRPr lang="en-US"/>
          </a:p>
        </p:txBody>
      </p:sp>
      <p:sp>
        <p:nvSpPr>
          <p:cNvPr id="283" name="PTitle4"/>
          <p:cNvSpPr/>
          <p:nvPr/>
        </p:nvSpPr>
        <p:spPr>
          <a:xfrm>
            <a:off x="9766300" y="1981200"/>
            <a:ext cx="2057400" cy="279400"/>
          </a:xfrm>
          <a:prstGeom prst="rect">
            <a:avLst/>
          </a:prstGeom>
          <a:noFill/>
          <a:ln>
            <a:noFill/>
          </a:ln>
        </p:spPr>
        <p:txBody>
          <a:bodyPr wrap="square" lIns="0" tIns="0" rIns="0" bIns="0" anchor="ctr"/>
          <a:lstStyle/>
          <a:p>
            <a:pPr marL="0" indent="0" algn="ctr">
              <a:buNone/>
            </a:pPr>
            <a:r>
              <a:rPr lang="en-US" sz="1400" b="1" dirty="0">
                <a:solidFill>
                  <a:srgbClr val="B91C1C"/>
                </a:solidFill>
                <a:latin typeface="Segoe UI Semibold"/>
              </a:rPr>
              <a:t>Hooks</a:t>
            </a:r>
          </a:p>
        </p:txBody>
      </p:sp>
      <p:sp>
        <p:nvSpPr>
          <p:cNvPr id="284" name="PSub4"/>
          <p:cNvSpPr/>
          <p:nvPr/>
        </p:nvSpPr>
        <p:spPr>
          <a:xfrm>
            <a:off x="9766300" y="2286000"/>
            <a:ext cx="2057400" cy="203200"/>
          </a:xfrm>
          <a:prstGeom prst="rect">
            <a:avLst/>
          </a:prstGeom>
          <a:noFill/>
          <a:ln>
            <a:noFill/>
          </a:ln>
        </p:spPr>
        <p:txBody>
          <a:bodyPr wrap="square" lIns="0" tIns="0" rIns="0" bIns="0" anchor="ctr"/>
          <a:lstStyle/>
          <a:p>
            <a:pPr marL="0" indent="0" algn="ctr">
              <a:buNone/>
            </a:pPr>
            <a:r>
              <a:rPr lang="en-US" sz="900" dirty="0">
                <a:solidFill>
                  <a:srgbClr val="7A8A9E"/>
                </a:solidFill>
                <a:latin typeface="Segoe UI"/>
              </a:rPr>
              <a:t>Deterministic lifecycle triggers</a:t>
            </a:r>
          </a:p>
        </p:txBody>
      </p:sp>
      <p:sp>
        <p:nvSpPr>
          <p:cNvPr id="285" name="PSep1_4"/>
          <p:cNvSpPr/>
          <p:nvPr/>
        </p:nvSpPr>
        <p:spPr>
          <a:xfrm>
            <a:off x="9842500" y="2540000"/>
            <a:ext cx="1905000" cy="0"/>
          </a:xfrm>
          <a:prstGeom prst="line">
            <a:avLst/>
          </a:prstGeom>
          <a:ln w="6350">
            <a:solidFill>
              <a:srgbClr val="B91C1C"/>
            </a:solidFill>
          </a:ln>
        </p:spPr>
        <p:txBody>
          <a:bodyPr/>
          <a:lstStyle/>
          <a:p>
            <a:endParaRPr lang="en-US"/>
          </a:p>
        </p:txBody>
      </p:sp>
      <p:sp>
        <p:nvSpPr>
          <p:cNvPr id="286" name="PLdLbl4"/>
          <p:cNvSpPr/>
          <p:nvPr/>
        </p:nvSpPr>
        <p:spPr>
          <a:xfrm>
            <a:off x="9766300" y="2641600"/>
            <a:ext cx="2057400" cy="177800"/>
          </a:xfrm>
          <a:prstGeom prst="rect">
            <a:avLst/>
          </a:prstGeom>
          <a:noFill/>
          <a:ln>
            <a:noFill/>
          </a:ln>
        </p:spPr>
        <p:txBody>
          <a:bodyPr wrap="square" lIns="0" tIns="0" rIns="0" bIns="0" anchor="ctr"/>
          <a:lstStyle/>
          <a:p>
            <a:pPr marL="0" indent="0">
              <a:buNone/>
            </a:pPr>
            <a:r>
              <a:rPr lang="en-US" sz="800" b="1" dirty="0">
                <a:solidFill>
                  <a:srgbClr val="B91C1C"/>
                </a:solidFill>
                <a:latin typeface="Segoe UI Semibold"/>
              </a:rPr>
              <a:t>LOADS</a:t>
            </a:r>
          </a:p>
        </p:txBody>
      </p:sp>
      <p:sp>
        <p:nvSpPr>
          <p:cNvPr id="287" name="PLdVal4"/>
          <p:cNvSpPr/>
          <p:nvPr/>
        </p:nvSpPr>
        <p:spPr>
          <a:xfrm>
            <a:off x="9766300" y="2819400"/>
            <a:ext cx="2057400" cy="2794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On trigger events</a:t>
            </a:r>
          </a:p>
        </p:txBody>
      </p:sp>
      <p:sp>
        <p:nvSpPr>
          <p:cNvPr id="288" name="PBfLbl4"/>
          <p:cNvSpPr/>
          <p:nvPr/>
        </p:nvSpPr>
        <p:spPr>
          <a:xfrm>
            <a:off x="9766300" y="3149600"/>
            <a:ext cx="2057400" cy="177800"/>
          </a:xfrm>
          <a:prstGeom prst="rect">
            <a:avLst/>
          </a:prstGeom>
          <a:noFill/>
          <a:ln>
            <a:noFill/>
          </a:ln>
        </p:spPr>
        <p:txBody>
          <a:bodyPr wrap="square" lIns="0" tIns="0" rIns="0" bIns="0" anchor="ctr"/>
          <a:lstStyle/>
          <a:p>
            <a:pPr marL="0" indent="0">
              <a:buNone/>
            </a:pPr>
            <a:r>
              <a:rPr lang="en-US" sz="800" b="1" dirty="0">
                <a:solidFill>
                  <a:srgbClr val="B91C1C"/>
                </a:solidFill>
                <a:latin typeface="Segoe UI Semibold"/>
              </a:rPr>
              <a:t>BEST FOR</a:t>
            </a:r>
          </a:p>
        </p:txBody>
      </p:sp>
      <p:sp>
        <p:nvSpPr>
          <p:cNvPr id="289" name="PBfVal4"/>
          <p:cNvSpPr/>
          <p:nvPr/>
        </p:nvSpPr>
        <p:spPr>
          <a:xfrm>
            <a:off x="9766300" y="3327400"/>
            <a:ext cx="2057400" cy="635000"/>
          </a:xfrm>
          <a:prstGeom prst="rect">
            <a:avLst/>
          </a:prstGeom>
          <a:noFill/>
          <a:ln>
            <a:noFill/>
          </a:ln>
        </p:spPr>
        <p:txBody>
          <a:bodyPr wrap="square" lIns="0" tIns="0" rIns="0" bIns="0" anchor="t"/>
          <a:lstStyle/>
          <a:p>
            <a:pPr marL="0" indent="0">
              <a:buNone/>
            </a:pPr>
            <a:r>
              <a:rPr lang="en-US" sz="1000" dirty="0">
                <a:solidFill>
                  <a:srgbClr val="1A2332"/>
                </a:solidFill>
                <a:latin typeface="Segoe UI"/>
              </a:rPr>
              <a:t>Lint, format, security gates, guaranteed enforcement</a:t>
            </a:r>
          </a:p>
        </p:txBody>
      </p:sp>
      <p:sp>
        <p:nvSpPr>
          <p:cNvPr id="290" name="PSep2_4"/>
          <p:cNvSpPr/>
          <p:nvPr/>
        </p:nvSpPr>
        <p:spPr>
          <a:xfrm>
            <a:off x="9842500" y="4013200"/>
            <a:ext cx="1905000" cy="0"/>
          </a:xfrm>
          <a:prstGeom prst="line">
            <a:avLst/>
          </a:prstGeom>
          <a:ln w="6350">
            <a:solidFill>
              <a:srgbClr val="B91C1C"/>
            </a:solidFill>
          </a:ln>
        </p:spPr>
        <p:txBody>
          <a:bodyPr/>
          <a:lstStyle/>
          <a:p>
            <a:endParaRPr lang="en-US"/>
          </a:p>
        </p:txBody>
      </p:sp>
      <p:sp>
        <p:nvSpPr>
          <p:cNvPr id="291" name="PExBg4"/>
          <p:cNvSpPr/>
          <p:nvPr/>
        </p:nvSpPr>
        <p:spPr>
          <a:xfrm>
            <a:off x="9740900" y="4114800"/>
            <a:ext cx="2108200" cy="2057400"/>
          </a:xfrm>
          <a:prstGeom prst="roundRect">
            <a:avLst>
              <a:gd name="adj" fmla="val 8000"/>
            </a:avLst>
          </a:prstGeom>
          <a:solidFill>
            <a:srgbClr val="FFFFFF"/>
          </a:solidFill>
          <a:ln w="6350">
            <a:solidFill>
              <a:srgbClr val="B91C1C">
                <a:alpha val="40000"/>
              </a:srgbClr>
            </a:solidFill>
          </a:ln>
        </p:spPr>
        <p:txBody>
          <a:bodyPr/>
          <a:lstStyle/>
          <a:p>
            <a:endParaRPr lang="en-US"/>
          </a:p>
        </p:txBody>
      </p:sp>
      <p:sp>
        <p:nvSpPr>
          <p:cNvPr id="292" name="PExLbl4"/>
          <p:cNvSpPr/>
          <p:nvPr/>
        </p:nvSpPr>
        <p:spPr>
          <a:xfrm>
            <a:off x="9842500" y="4191000"/>
            <a:ext cx="1905000" cy="177800"/>
          </a:xfrm>
          <a:prstGeom prst="rect">
            <a:avLst/>
          </a:prstGeom>
          <a:noFill/>
          <a:ln>
            <a:noFill/>
          </a:ln>
        </p:spPr>
        <p:txBody>
          <a:bodyPr wrap="square" lIns="0" tIns="0" rIns="0" bIns="0" anchor="ctr"/>
          <a:lstStyle/>
          <a:p>
            <a:pPr marL="0" indent="0">
              <a:buNone/>
            </a:pPr>
            <a:r>
              <a:rPr lang="en-US" sz="800" b="1" dirty="0">
                <a:solidFill>
                  <a:srgbClr val="B91C1C"/>
                </a:solidFill>
                <a:latin typeface="Segoe UI Semibold"/>
              </a:rPr>
              <a:t>EXAMPLE</a:t>
            </a:r>
          </a:p>
        </p:txBody>
      </p:sp>
      <p:sp>
        <p:nvSpPr>
          <p:cNvPr id="293" name="PExVal4"/>
          <p:cNvSpPr/>
          <p:nvPr/>
        </p:nvSpPr>
        <p:spPr>
          <a:xfrm>
            <a:off x="9842500" y="4394200"/>
            <a:ext cx="1905000" cy="1727200"/>
          </a:xfrm>
          <a:prstGeom prst="rect">
            <a:avLst/>
          </a:prstGeom>
          <a:noFill/>
          <a:ln>
            <a:noFill/>
          </a:ln>
        </p:spPr>
        <p:txBody>
          <a:bodyPr wrap="square" lIns="0" tIns="0" rIns="0" bIns="0" anchor="t"/>
          <a:lstStyle/>
          <a:p>
            <a:pPr marL="0" indent="0">
              <a:buNone/>
            </a:pPr>
            <a:r>
              <a:rPr lang="en-US" sz="900" dirty="0">
                <a:solidFill>
                  <a:srgbClr val="4B5563"/>
                </a:solidFill>
                <a:latin typeface="Consolas"/>
                <a:cs typeface="Consolas"/>
              </a:rPr>
              <a:t>PostToolUse → eslint --fix</a:t>
            </a:r>
          </a:p>
          <a:p>
            <a:pPr marL="0" indent="0">
              <a:buNone/>
            </a:pPr>
            <a:r>
              <a:rPr lang="en-US" sz="900" dirty="0">
                <a:solidFill>
                  <a:srgbClr val="4B5563"/>
                </a:solidFill>
                <a:latin typeface="Consolas"/>
                <a:cs typeface="Consolas"/>
              </a:rPr>
              <a:t>PreToolUse → block rm -rf</a:t>
            </a:r>
          </a:p>
          <a:p>
            <a:pPr marL="0" indent="0">
              <a:buNone/>
            </a:pPr>
            <a:r>
              <a:rPr lang="en-US" sz="900" dirty="0">
                <a:solidFill>
                  <a:srgbClr val="4B5563"/>
                </a:solidFill>
                <a:latin typeface="Consolas"/>
                <a:cs typeface="Consolas"/>
              </a:rPr>
              <a:t>Stop → POST /api/log</a:t>
            </a:r>
          </a:p>
        </p:txBody>
      </p:sp>
    </p:spTree>
    <p:extLst>
      <p:ext uri="{BB962C8B-B14F-4D97-AF65-F5344CB8AC3E}">
        <p14:creationId xmlns:p14="http://schemas.microsoft.com/office/powerpoint/2010/main" val="22995293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9">
    <p:bg>
      <p:bgPr>
        <a:solidFill>
          <a:srgbClr val="FFFFFF">
            <a:alpha val="100000"/>
          </a:srgbClr>
        </a:solidFill>
        <a:effectLst/>
      </p:bgPr>
    </p:bg>
    <p:spTree>
      <p:nvGrpSpPr>
        <p:cNvPr id="1" name=""/>
        <p:cNvGrpSpPr/>
        <p:nvPr/>
      </p:nvGrpSpPr>
      <p:grpSpPr>
        <a:xfrm>
          <a:off x="0" y="0"/>
          <a:ext cx="0" cy="0"/>
          <a:chOff x="0" y="0"/>
          <a:chExt cx="0" cy="0"/>
        </a:xfrm>
      </p:grpSpPr>
      <p:sp>
        <p:nvSpPr>
          <p:cNvPr id="2" name="Text 0"/>
          <p:cNvSpPr/>
          <p:nvPr/>
        </p:nvSpPr>
        <p:spPr>
          <a:xfrm>
            <a:off x="658368" y="76200"/>
            <a:ext cx="8046720" cy="38100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Subagents: isolate, specialize, and parallelize work</a:t>
            </a:r>
            <a:endParaRPr lang="en-US" sz="2700" dirty="0">
              <a:solidFill>
                <a:srgbClr val="FFFFFF"/>
              </a:solidFill>
            </a:endParaRPr>
          </a:p>
        </p:txBody>
      </p:sp>
      <p:sp>
        <p:nvSpPr>
          <p:cNvPr id="3" name="Text 1"/>
          <p:cNvSpPr/>
          <p:nvPr/>
        </p:nvSpPr>
        <p:spPr>
          <a:xfrm>
            <a:off x="658368" y="609600"/>
            <a:ext cx="9509760" cy="254000"/>
          </a:xfrm>
          <a:prstGeom prst="rect">
            <a:avLst/>
          </a:prstGeom>
          <a:noFill/>
          <a:ln/>
        </p:spPr>
        <p:txBody>
          <a:bodyPr wrap="square" lIns="0" tIns="0" rIns="0" bIns="0" rtlCol="0" anchor="ctr"/>
          <a:lstStyle/>
          <a:p>
            <a:pPr marL="0" indent="0">
              <a:buNone/>
            </a:pPr>
            <a:r>
              <a:rPr lang="en-US" sz="1400" dirty="0">
                <a:solidFill>
                  <a:srgbClr val="3972C1"/>
                </a:solidFill>
                <a:latin typeface="Aptos" pitchFamily="34" charset="0"/>
                <a:ea typeface="Aptos" pitchFamily="34" charset="-122"/>
                <a:cs typeface="Aptos" pitchFamily="34" charset="-120"/>
              </a:rPr>
              <a:t>Subagents run in isolated contexts. Agent Teams (preview) enable multi-agent collaboration across worktrees.</a:t>
            </a:r>
            <a:endParaRPr lang="en-US" sz="1400" dirty="0">
              <a:solidFill>
                <a:srgbClr val="3972C1"/>
              </a:solidFill>
            </a:endParaRPr>
          </a:p>
        </p:txBody>
      </p:sp>
      <p:sp>
        <p:nvSpPr>
          <p:cNvPr id="4" name="Shape 2"/>
          <p:cNvSpPr/>
          <p:nvPr/>
        </p:nvSpPr>
        <p:spPr>
          <a:xfrm>
            <a:off x="0" y="896112"/>
            <a:ext cx="12192000" cy="9094"/>
          </a:xfrm>
          <a:prstGeom prst="line">
            <a:avLst/>
          </a:prstGeom>
          <a:noFill/>
          <a:ln w="12700">
            <a:solidFill>
              <a:srgbClr val="1565C0"/>
            </a:solidFill>
            <a:prstDash val="solid"/>
          </a:ln>
        </p:spPr>
        <p:txBody>
          <a:bodyPr/>
          <a:lstStyle/>
          <a:p>
            <a:endParaRPr lang="en-US"/>
          </a:p>
        </p:txBody>
      </p:sp>
      <p:sp>
        <p:nvSpPr>
          <p:cNvPr id="5" name="Shape 3"/>
          <p:cNvSpPr/>
          <p:nvPr/>
        </p:nvSpPr>
        <p:spPr>
          <a:xfrm>
            <a:off x="3835400" y="3556000"/>
            <a:ext cx="863600" cy="0"/>
          </a:xfrm>
          <a:prstGeom prst="line">
            <a:avLst/>
          </a:prstGeom>
          <a:noFill/>
          <a:ln w="15875">
            <a:solidFill>
              <a:srgbClr val="94A3B8"/>
            </a:solidFill>
            <a:tailEnd type="triangle" w="med" len="med"/>
          </a:ln>
        </p:spPr>
        <p:txBody>
          <a:bodyPr/>
          <a:lstStyle/>
          <a:p>
            <a:endParaRPr lang="en-US"/>
          </a:p>
        </p:txBody>
      </p:sp>
      <p:sp>
        <p:nvSpPr>
          <p:cNvPr id="6" name="Shape 4"/>
          <p:cNvSpPr/>
          <p:nvPr/>
        </p:nvSpPr>
        <p:spPr>
          <a:xfrm flipV="1">
            <a:off x="3835400" y="2133600"/>
            <a:ext cx="863600" cy="1422400"/>
          </a:xfrm>
          <a:prstGeom prst="line">
            <a:avLst/>
          </a:prstGeom>
          <a:noFill/>
          <a:ln w="15875">
            <a:solidFill>
              <a:srgbClr val="94A3B8"/>
            </a:solidFill>
            <a:tailEnd type="triangle" w="med" len="med"/>
          </a:ln>
        </p:spPr>
        <p:txBody>
          <a:bodyPr/>
          <a:lstStyle/>
          <a:p>
            <a:endParaRPr lang="en-US"/>
          </a:p>
        </p:txBody>
      </p:sp>
      <p:sp>
        <p:nvSpPr>
          <p:cNvPr id="7" name="Shape 5"/>
          <p:cNvSpPr/>
          <p:nvPr/>
        </p:nvSpPr>
        <p:spPr>
          <a:xfrm>
            <a:off x="3835400" y="3556000"/>
            <a:ext cx="863600" cy="1422400"/>
          </a:xfrm>
          <a:prstGeom prst="line">
            <a:avLst/>
          </a:prstGeom>
          <a:noFill/>
          <a:ln w="15875">
            <a:solidFill>
              <a:srgbClr val="94A3B8"/>
            </a:solidFill>
            <a:tailEnd type="triangle" w="med" len="med"/>
          </a:ln>
        </p:spPr>
        <p:txBody>
          <a:bodyPr/>
          <a:lstStyle/>
          <a:p>
            <a:endParaRPr lang="en-US"/>
          </a:p>
        </p:txBody>
      </p:sp>
      <p:sp>
        <p:nvSpPr>
          <p:cNvPr id="8" name="Shape 6"/>
          <p:cNvSpPr/>
          <p:nvPr/>
        </p:nvSpPr>
        <p:spPr>
          <a:xfrm>
            <a:off x="660400" y="2794000"/>
            <a:ext cx="3175000" cy="1524000"/>
          </a:xfrm>
          <a:prstGeom prst="roundRect">
            <a:avLst>
              <a:gd name="adj" fmla="val 6000"/>
            </a:avLst>
          </a:prstGeom>
          <a:solidFill>
            <a:schemeClr val="accent4">
              <a:lumMod val="60000"/>
              <a:lumOff val="40000"/>
            </a:schemeClr>
          </a:solidFill>
          <a:ln w="12700">
            <a:solidFill>
              <a:srgbClr val="1E1E1E"/>
            </a:solidFill>
            <a:prstDash val="solid"/>
          </a:ln>
          <a:effectLst>
            <a:outerShdw blurRad="63500" dist="38100" dir="5400000" algn="tl" rotWithShape="0">
              <a:srgbClr val="000000">
                <a:alpha val="20000"/>
              </a:srgbClr>
            </a:outerShdw>
          </a:effectLst>
        </p:spPr>
        <p:txBody>
          <a:bodyPr/>
          <a:lstStyle/>
          <a:p>
            <a:endParaRPr lang="en-US"/>
          </a:p>
        </p:txBody>
      </p:sp>
      <p:sp>
        <p:nvSpPr>
          <p:cNvPr id="9" name="Text 7"/>
          <p:cNvSpPr/>
          <p:nvPr/>
        </p:nvSpPr>
        <p:spPr>
          <a:xfrm>
            <a:off x="863600" y="2997200"/>
            <a:ext cx="2768600" cy="279400"/>
          </a:xfrm>
          <a:prstGeom prst="rect">
            <a:avLst/>
          </a:prstGeom>
          <a:noFill/>
          <a:ln/>
        </p:spPr>
        <p:txBody>
          <a:bodyPr wrap="square" lIns="0" tIns="0" rIns="0" bIns="0" rtlCol="0" anchor="ctr"/>
          <a:lstStyle/>
          <a:p>
            <a:pPr marL="0" indent="0" algn="ctr">
              <a:buNone/>
            </a:pPr>
            <a:r>
              <a:rPr lang="en-US" sz="1700" b="1" dirty="0">
                <a:solidFill>
                  <a:srgbClr val="FFFFFF"/>
                </a:solidFill>
              </a:rPr>
              <a:t>Main conversation</a:t>
            </a:r>
            <a:endParaRPr lang="en-US" sz="1700" dirty="0"/>
          </a:p>
        </p:txBody>
      </p:sp>
      <p:sp>
        <p:nvSpPr>
          <p:cNvPr id="10" name="Text 8"/>
          <p:cNvSpPr/>
          <p:nvPr/>
        </p:nvSpPr>
        <p:spPr>
          <a:xfrm>
            <a:off x="863600" y="3352800"/>
            <a:ext cx="2768600" cy="787400"/>
          </a:xfrm>
          <a:prstGeom prst="rect">
            <a:avLst/>
          </a:prstGeom>
          <a:noFill/>
          <a:ln/>
        </p:spPr>
        <p:txBody>
          <a:bodyPr wrap="square" lIns="254" tIns="254" rIns="254" bIns="254" rtlCol="0" anchor="ctr"/>
          <a:lstStyle/>
          <a:p>
            <a:pPr marL="0" indent="0" algn="ctr">
              <a:buNone/>
            </a:pPr>
            <a:r>
              <a:rPr lang="en-US" sz="1200" dirty="0">
                <a:solidFill>
                  <a:srgbClr val="CBD5E0"/>
                </a:solidFill>
              </a:rPr>
              <a:t>Holds decisions, synthesis, and final changes. Delegates noisy work out.</a:t>
            </a:r>
          </a:p>
        </p:txBody>
      </p:sp>
      <p:sp>
        <p:nvSpPr>
          <p:cNvPr id="11" name="Shape 9"/>
          <p:cNvSpPr/>
          <p:nvPr/>
        </p:nvSpPr>
        <p:spPr>
          <a:xfrm>
            <a:off x="4699000" y="1612900"/>
            <a:ext cx="3556000" cy="1041400"/>
          </a:xfrm>
          <a:prstGeom prst="roundRect">
            <a:avLst>
              <a:gd name="adj" fmla="val 5000"/>
            </a:avLst>
          </a:prstGeom>
          <a:solidFill>
            <a:srgbClr val="F7F9FC"/>
          </a:solidFill>
          <a:ln w="6350">
            <a:solidFill>
              <a:srgbClr val="E2E8F0"/>
            </a:solidFill>
          </a:ln>
          <a:effectLst>
            <a:outerShdw blurRad="50800" dist="25400" dir="5400000" algn="tl" rotWithShape="0">
              <a:srgbClr val="000000">
                <a:alpha val="15000"/>
              </a:srgbClr>
            </a:outerShdw>
          </a:effectLst>
        </p:spPr>
        <p:txBody>
          <a:bodyPr/>
          <a:lstStyle/>
          <a:p>
            <a:endParaRPr lang="en-US"/>
          </a:p>
        </p:txBody>
      </p:sp>
      <p:sp>
        <p:nvSpPr>
          <p:cNvPr id="12" name="Text 10"/>
          <p:cNvSpPr/>
          <p:nvPr/>
        </p:nvSpPr>
        <p:spPr>
          <a:xfrm>
            <a:off x="4902200" y="1765300"/>
            <a:ext cx="2032000" cy="228600"/>
          </a:xfrm>
          <a:prstGeom prst="rect">
            <a:avLst/>
          </a:prstGeom>
          <a:noFill/>
          <a:ln/>
        </p:spPr>
        <p:txBody>
          <a:bodyPr wrap="square" lIns="0" tIns="0" rIns="0" bIns="0" rtlCol="0" anchor="ctr"/>
          <a:lstStyle/>
          <a:p>
            <a:pPr marL="0" indent="0">
              <a:buNone/>
            </a:pPr>
            <a:r>
              <a:rPr lang="en-US" sz="1400" b="1" dirty="0">
                <a:solidFill>
                  <a:srgbClr val="1565C0"/>
                </a:solidFill>
              </a:rPr>
              <a:t>Explore</a:t>
            </a:r>
          </a:p>
        </p:txBody>
      </p:sp>
      <p:sp>
        <p:nvSpPr>
          <p:cNvPr id="13" name="Text 11"/>
          <p:cNvSpPr/>
          <p:nvPr/>
        </p:nvSpPr>
        <p:spPr>
          <a:xfrm>
            <a:off x="4902200" y="2044700"/>
            <a:ext cx="2921000" cy="508000"/>
          </a:xfrm>
          <a:prstGeom prst="rect">
            <a:avLst/>
          </a:prstGeom>
          <a:noFill/>
          <a:ln/>
        </p:spPr>
        <p:txBody>
          <a:bodyPr wrap="square" lIns="254" tIns="254" rIns="254" bIns="254" rtlCol="0" anchor="ctr"/>
          <a:lstStyle/>
          <a:p>
            <a:pPr marL="0" indent="0">
              <a:buNone/>
            </a:pPr>
            <a:r>
              <a:rPr lang="en-US" sz="1100" dirty="0">
                <a:solidFill>
                  <a:srgbClr val="4A5568"/>
                </a:solidFill>
              </a:rPr>
              <a:t>Fast, read-only search via Haiku; keeps exploration out of main context</a:t>
            </a:r>
          </a:p>
        </p:txBody>
      </p:sp>
      <p:sp>
        <p:nvSpPr>
          <p:cNvPr id="14" name="Shape 12"/>
          <p:cNvSpPr/>
          <p:nvPr/>
        </p:nvSpPr>
        <p:spPr>
          <a:xfrm>
            <a:off x="4699000" y="3035300"/>
            <a:ext cx="3556000" cy="1041400"/>
          </a:xfrm>
          <a:prstGeom prst="roundRect">
            <a:avLst>
              <a:gd name="adj" fmla="val 5000"/>
            </a:avLst>
          </a:prstGeom>
          <a:solidFill>
            <a:srgbClr val="E8EEF5"/>
          </a:solidFill>
          <a:ln w="6350">
            <a:solidFill>
              <a:srgbClr val="E2E8F0"/>
            </a:solidFill>
          </a:ln>
          <a:effectLst>
            <a:outerShdw blurRad="50800" dist="25400" dir="5400000" algn="tl" rotWithShape="0">
              <a:srgbClr val="000000">
                <a:alpha val="15000"/>
              </a:srgbClr>
            </a:outerShdw>
          </a:effectLst>
        </p:spPr>
        <p:txBody>
          <a:bodyPr/>
          <a:lstStyle/>
          <a:p>
            <a:endParaRPr lang="en-US"/>
          </a:p>
        </p:txBody>
      </p:sp>
      <p:sp>
        <p:nvSpPr>
          <p:cNvPr id="15" name="Text 13"/>
          <p:cNvSpPr/>
          <p:nvPr/>
        </p:nvSpPr>
        <p:spPr>
          <a:xfrm>
            <a:off x="4902200" y="3187700"/>
            <a:ext cx="2032000" cy="228600"/>
          </a:xfrm>
          <a:prstGeom prst="rect">
            <a:avLst/>
          </a:prstGeom>
          <a:noFill/>
          <a:ln/>
        </p:spPr>
        <p:txBody>
          <a:bodyPr wrap="square" lIns="0" tIns="0" rIns="0" bIns="0" rtlCol="0" anchor="ctr"/>
          <a:lstStyle/>
          <a:p>
            <a:pPr marL="0" indent="0">
              <a:buNone/>
            </a:pPr>
            <a:r>
              <a:rPr lang="en-US" sz="1400" b="1" dirty="0">
                <a:solidFill>
                  <a:srgbClr val="7C3AED"/>
                </a:solidFill>
              </a:rPr>
              <a:t>Plan</a:t>
            </a:r>
          </a:p>
        </p:txBody>
      </p:sp>
      <p:sp>
        <p:nvSpPr>
          <p:cNvPr id="16" name="Text 14"/>
          <p:cNvSpPr/>
          <p:nvPr/>
        </p:nvSpPr>
        <p:spPr>
          <a:xfrm>
            <a:off x="4902200" y="3467100"/>
            <a:ext cx="2921000" cy="508000"/>
          </a:xfrm>
          <a:prstGeom prst="rect">
            <a:avLst/>
          </a:prstGeom>
          <a:noFill/>
          <a:ln/>
        </p:spPr>
        <p:txBody>
          <a:bodyPr wrap="square" lIns="254" tIns="254" rIns="254" bIns="254" rtlCol="0" anchor="ctr"/>
          <a:lstStyle/>
          <a:p>
            <a:pPr marL="0" indent="0">
              <a:buNone/>
            </a:pPr>
            <a:r>
              <a:rPr lang="en-US" sz="1100" dirty="0">
                <a:solidFill>
                  <a:srgbClr val="4A5568"/>
                </a:solidFill>
              </a:rPr>
              <a:t>Codebase research during plan mode; prevents infinite nesting</a:t>
            </a:r>
          </a:p>
        </p:txBody>
      </p:sp>
      <p:sp>
        <p:nvSpPr>
          <p:cNvPr id="17" name="Shape 15"/>
          <p:cNvSpPr/>
          <p:nvPr/>
        </p:nvSpPr>
        <p:spPr>
          <a:xfrm>
            <a:off x="4699000" y="4457700"/>
            <a:ext cx="3556000" cy="1041400"/>
          </a:xfrm>
          <a:prstGeom prst="roundRect">
            <a:avLst>
              <a:gd name="adj" fmla="val 5000"/>
            </a:avLst>
          </a:prstGeom>
          <a:solidFill>
            <a:srgbClr val="F7F9FC"/>
          </a:solidFill>
          <a:ln w="6350">
            <a:solidFill>
              <a:srgbClr val="E2E8F0"/>
            </a:solidFill>
          </a:ln>
          <a:effectLst>
            <a:outerShdw blurRad="50800" dist="25400" dir="5400000" algn="tl" rotWithShape="0">
              <a:srgbClr val="000000">
                <a:alpha val="15000"/>
              </a:srgbClr>
            </a:outerShdw>
          </a:effectLst>
        </p:spPr>
        <p:txBody>
          <a:bodyPr/>
          <a:lstStyle/>
          <a:p>
            <a:endParaRPr lang="en-US"/>
          </a:p>
        </p:txBody>
      </p:sp>
      <p:sp>
        <p:nvSpPr>
          <p:cNvPr id="18" name="Text 16"/>
          <p:cNvSpPr/>
          <p:nvPr/>
        </p:nvSpPr>
        <p:spPr>
          <a:xfrm>
            <a:off x="4902200" y="4610100"/>
            <a:ext cx="2032000" cy="228600"/>
          </a:xfrm>
          <a:prstGeom prst="rect">
            <a:avLst/>
          </a:prstGeom>
          <a:noFill/>
          <a:ln/>
        </p:spPr>
        <p:txBody>
          <a:bodyPr wrap="square" lIns="0" tIns="0" rIns="0" bIns="0" rtlCol="0" anchor="ctr"/>
          <a:lstStyle/>
          <a:p>
            <a:pPr marL="0" indent="0">
              <a:buNone/>
            </a:pPr>
            <a:r>
              <a:rPr lang="en-US" sz="1400" b="1" dirty="0">
                <a:solidFill>
                  <a:srgbClr val="059669"/>
                </a:solidFill>
              </a:rPr>
              <a:t>General-purpose</a:t>
            </a:r>
          </a:p>
        </p:txBody>
      </p:sp>
      <p:sp>
        <p:nvSpPr>
          <p:cNvPr id="19" name="Text 17"/>
          <p:cNvSpPr/>
          <p:nvPr/>
        </p:nvSpPr>
        <p:spPr>
          <a:xfrm>
            <a:off x="4902200" y="4889500"/>
            <a:ext cx="2921000" cy="508000"/>
          </a:xfrm>
          <a:prstGeom prst="rect">
            <a:avLst/>
          </a:prstGeom>
          <a:noFill/>
          <a:ln/>
        </p:spPr>
        <p:txBody>
          <a:bodyPr wrap="square" lIns="254" tIns="254" rIns="254" bIns="254" rtlCol="0" anchor="ctr"/>
          <a:lstStyle/>
          <a:p>
            <a:pPr marL="0" indent="0">
              <a:buNone/>
            </a:pPr>
            <a:r>
              <a:rPr lang="en-US" sz="1100" dirty="0">
                <a:solidFill>
                  <a:srgbClr val="4A5568"/>
                </a:solidFill>
              </a:rPr>
              <a:t>Complex multi-step tasks requiring both exploration and code modification</a:t>
            </a:r>
          </a:p>
        </p:txBody>
      </p:sp>
      <p:sp>
        <p:nvSpPr>
          <p:cNvPr id="20" name="Shape 18"/>
          <p:cNvSpPr/>
          <p:nvPr/>
        </p:nvSpPr>
        <p:spPr>
          <a:xfrm>
            <a:off x="8763000" y="1612900"/>
            <a:ext cx="3022600" cy="3886200"/>
          </a:xfrm>
          <a:prstGeom prst="roundRect">
            <a:avLst>
              <a:gd name="adj" fmla="val 5000"/>
            </a:avLst>
          </a:prstGeom>
          <a:solidFill>
            <a:srgbClr val="F7F9FC"/>
          </a:solidFill>
          <a:ln w="12700">
            <a:solidFill>
              <a:srgbClr val="E8EEF5"/>
            </a:solidFill>
            <a:prstDash val="solid"/>
          </a:ln>
          <a:effectLst>
            <a:outerShdw blurRad="19050" dist="6350" dir="2700000" algn="bl" rotWithShape="0">
              <a:srgbClr val="000000">
                <a:alpha val="12000"/>
              </a:srgbClr>
            </a:outerShdw>
          </a:effectLst>
        </p:spPr>
        <p:txBody>
          <a:bodyPr/>
          <a:lstStyle/>
          <a:p>
            <a:endParaRPr lang="en-US"/>
          </a:p>
        </p:txBody>
      </p:sp>
      <p:sp>
        <p:nvSpPr>
          <p:cNvPr id="21" name="Text 19"/>
          <p:cNvSpPr/>
          <p:nvPr/>
        </p:nvSpPr>
        <p:spPr>
          <a:xfrm>
            <a:off x="8966200" y="1816100"/>
            <a:ext cx="2616200" cy="228600"/>
          </a:xfrm>
          <a:prstGeom prst="rect">
            <a:avLst/>
          </a:prstGeom>
          <a:noFill/>
          <a:ln/>
        </p:spPr>
        <p:txBody>
          <a:bodyPr wrap="square" lIns="0" tIns="0" rIns="0" bIns="0" rtlCol="0" anchor="ctr"/>
          <a:lstStyle/>
          <a:p>
            <a:pPr marL="0" indent="0">
              <a:buNone/>
            </a:pPr>
            <a:r>
              <a:rPr lang="en-US" sz="1200" b="1" dirty="0">
                <a:solidFill>
                  <a:srgbClr val="D4622B"/>
                </a:solidFill>
              </a:rPr>
              <a:t>Use subagents when...</a:t>
            </a:r>
          </a:p>
        </p:txBody>
      </p:sp>
      <p:sp>
        <p:nvSpPr>
          <p:cNvPr id="22" name="Text 20"/>
          <p:cNvSpPr/>
          <p:nvPr/>
        </p:nvSpPr>
        <p:spPr>
          <a:xfrm>
            <a:off x="8966200" y="2171700"/>
            <a:ext cx="2616200" cy="1524000"/>
          </a:xfrm>
          <a:prstGeom prst="rect">
            <a:avLst/>
          </a:prstGeom>
          <a:noFill/>
          <a:ln/>
        </p:spPr>
        <p:txBody>
          <a:bodyPr wrap="square" lIns="254" tIns="254" rIns="254" bIns="254" rtlCol="0" anchor="ctr"/>
          <a:lstStyle/>
          <a:p>
            <a:pPr marL="171450" indent="-171450">
              <a:buFont typeface="Arial"/>
              <a:buChar char="•"/>
            </a:pPr>
            <a:r>
              <a:rPr lang="en-US" sz="1100" dirty="0">
                <a:solidFill>
                  <a:srgbClr val="2D3748"/>
                </a:solidFill>
              </a:rPr>
              <a:t>task produces verbose output</a:t>
            </a:r>
          </a:p>
          <a:p>
            <a:pPr marL="171450" indent="-171450">
              <a:spcBef>
                <a:spcPts val="400"/>
              </a:spcBef>
              <a:buFont typeface="Arial"/>
              <a:buChar char="•"/>
            </a:pPr>
            <a:r>
              <a:rPr lang="en-US" sz="1100" dirty="0">
                <a:solidFill>
                  <a:srgbClr val="2D3748"/>
                </a:solidFill>
              </a:rPr>
              <a:t>work is self-contained</a:t>
            </a:r>
          </a:p>
          <a:p>
            <a:pPr marL="171450" indent="-171450">
              <a:spcBef>
                <a:spcPts val="400"/>
              </a:spcBef>
              <a:buFont typeface="Arial"/>
              <a:buChar char="•"/>
            </a:pPr>
            <a:r>
              <a:rPr lang="en-US" sz="1100" dirty="0">
                <a:solidFill>
                  <a:srgbClr val="2D3748"/>
                </a:solidFill>
              </a:rPr>
              <a:t>you need tool restrictions</a:t>
            </a:r>
          </a:p>
          <a:p>
            <a:pPr marL="171450" indent="-171450">
              <a:spcBef>
                <a:spcPts val="400"/>
              </a:spcBef>
              <a:buFont typeface="Arial"/>
              <a:buChar char="•"/>
            </a:pPr>
            <a:r>
              <a:rPr lang="en-US" sz="1100" dirty="0">
                <a:solidFill>
                  <a:srgbClr val="2D3748"/>
                </a:solidFill>
              </a:rPr>
              <a:t>investigations can run in parallel</a:t>
            </a:r>
          </a:p>
        </p:txBody>
      </p:sp>
      <p:sp>
        <p:nvSpPr>
          <p:cNvPr id="23" name="Text 21"/>
          <p:cNvSpPr/>
          <p:nvPr/>
        </p:nvSpPr>
        <p:spPr>
          <a:xfrm>
            <a:off x="8966200" y="4089400"/>
            <a:ext cx="2616200" cy="1270000"/>
          </a:xfrm>
          <a:prstGeom prst="rect">
            <a:avLst/>
          </a:prstGeom>
          <a:noFill/>
          <a:ln/>
        </p:spPr>
        <p:txBody>
          <a:bodyPr wrap="square" lIns="254" tIns="254" rIns="254" bIns="254" rtlCol="0" anchor="ctr"/>
          <a:lstStyle/>
          <a:p>
            <a:pPr marL="0" indent="0">
              <a:buNone/>
            </a:pPr>
            <a:r>
              <a:rPr lang="en-US" sz="1000" b="1" dirty="0">
                <a:solidFill>
                  <a:srgbClr val="4A5568"/>
                </a:solidFill>
              </a:rPr>
              <a:t>+ Custom agents</a:t>
            </a:r>
            <a:r>
              <a:rPr lang="en-US" sz="1000" dirty="0">
                <a:solidFill>
                  <a:srgbClr val="4A5568"/>
                </a:solidFill>
              </a:rPr>
              <a:t> via .claude/agents/*.md with scoped tools, model, hooks.</a:t>
            </a:r>
          </a:p>
          <a:p>
            <a:pPr marL="0" indent="0">
              <a:spcBef>
                <a:spcPts val="400"/>
              </a:spcBef>
              <a:buNone/>
            </a:pPr>
            <a:r>
              <a:rPr lang="en-US" sz="1000" b="1" dirty="0">
                <a:solidFill>
                  <a:srgbClr val="4A5568"/>
                </a:solidFill>
              </a:rPr>
              <a:t>Agent Teams:</a:t>
            </a:r>
            <a:r>
              <a:rPr lang="en-US" sz="1000" dirty="0">
                <a:solidFill>
                  <a:srgbClr val="4A5568"/>
                </a:solidFill>
              </a:rPr>
              <a:t> multi-agent collaboration across git worktrees.</a:t>
            </a:r>
          </a:p>
        </p:txBody>
      </p:sp>
      <p:sp>
        <p:nvSpPr>
          <p:cNvPr id="24" name="Text 22"/>
          <p:cNvSpPr/>
          <p:nvPr/>
        </p:nvSpPr>
        <p:spPr>
          <a:xfrm>
            <a:off x="658368" y="6428232"/>
            <a:ext cx="3840480" cy="182880"/>
          </a:xfrm>
          <a:prstGeom prst="rect">
            <a:avLst/>
          </a:prstGeom>
          <a:noFill/>
          <a:ln/>
        </p:spPr>
        <p:txBody>
          <a:bodyPr wrap="square" lIns="0" tIns="0" rIns="0" bIns="0" rtlCol="0" anchor="ctr"/>
          <a:lstStyle/>
          <a:p>
            <a:pPr marL="0" indent="0">
              <a:buNone/>
            </a:pPr>
            <a:r>
              <a:rPr lang="en-US" sz="850" dirty="0">
                <a:solidFill>
                  <a:srgbClr val="FFFFFF"/>
                </a:solidFill>
              </a:rPr>
              <a:t>Delegation</a:t>
            </a:r>
          </a:p>
        </p:txBody>
      </p:sp>
      <p:sp>
        <p:nvSpPr>
          <p:cNvPr id="25" name="Text 23"/>
          <p:cNvSpPr/>
          <p:nvPr/>
        </p:nvSpPr>
        <p:spPr>
          <a:xfrm>
            <a:off x="10424160" y="6428232"/>
            <a:ext cx="1097280" cy="182880"/>
          </a:xfrm>
          <a:prstGeom prst="rect">
            <a:avLst/>
          </a:prstGeom>
          <a:noFill/>
          <a:ln/>
        </p:spPr>
        <p:txBody>
          <a:bodyPr wrap="square" lIns="0" tIns="0" rIns="0" bIns="0" rtlCol="0" anchor="ctr"/>
          <a:lstStyle/>
          <a:p>
            <a:pPr marL="0" indent="0" algn="r">
              <a:buNone/>
            </a:pPr>
            <a:r>
              <a:rPr lang="en-US" sz="850" dirty="0">
                <a:solidFill>
                  <a:srgbClr val="FFFFFF"/>
                </a:solidFill>
              </a:rPr>
              <a:t>46</a:t>
            </a:r>
          </a:p>
        </p:txBody>
      </p:sp>
      <p:sp>
        <p:nvSpPr>
          <p:cNvPr id="500" name="AccentBar501"/>
          <p:cNvSpPr/>
          <p:nvPr/>
        </p:nvSpPr>
        <p:spPr>
          <a:xfrm>
            <a:off x="4699000" y="1612900"/>
            <a:ext cx="3556000" cy="50800"/>
          </a:xfrm>
          <a:prstGeom prst="roundRect">
            <a:avLst>
              <a:gd name="adj" fmla="val 50000"/>
            </a:avLst>
          </a:prstGeom>
          <a:solidFill>
            <a:srgbClr val="1565C0"/>
          </a:solidFill>
          <a:ln w="0">
            <a:noFill/>
          </a:ln>
        </p:spPr>
        <p:txBody>
          <a:bodyPr/>
          <a:lstStyle/>
          <a:p>
            <a:endParaRPr lang="en-US"/>
          </a:p>
        </p:txBody>
      </p:sp>
      <p:sp>
        <p:nvSpPr>
          <p:cNvPr id="501" name="AccentBar502"/>
          <p:cNvSpPr/>
          <p:nvPr/>
        </p:nvSpPr>
        <p:spPr>
          <a:xfrm>
            <a:off x="4699000" y="3035300"/>
            <a:ext cx="3556000" cy="50800"/>
          </a:xfrm>
          <a:prstGeom prst="roundRect">
            <a:avLst>
              <a:gd name="adj" fmla="val 50000"/>
            </a:avLst>
          </a:prstGeom>
          <a:solidFill>
            <a:srgbClr val="7C3AED"/>
          </a:solidFill>
          <a:ln w="0">
            <a:noFill/>
          </a:ln>
        </p:spPr>
        <p:txBody>
          <a:bodyPr/>
          <a:lstStyle/>
          <a:p>
            <a:endParaRPr lang="en-US"/>
          </a:p>
        </p:txBody>
      </p:sp>
      <p:sp>
        <p:nvSpPr>
          <p:cNvPr id="502" name="AccentBar503"/>
          <p:cNvSpPr/>
          <p:nvPr/>
        </p:nvSpPr>
        <p:spPr>
          <a:xfrm>
            <a:off x="4699000" y="4457700"/>
            <a:ext cx="3556000" cy="50800"/>
          </a:xfrm>
          <a:prstGeom prst="roundRect">
            <a:avLst>
              <a:gd name="adj" fmla="val 50000"/>
            </a:avLst>
          </a:prstGeom>
          <a:solidFill>
            <a:srgbClr val="059669"/>
          </a:solidFill>
          <a:ln w="0">
            <a:noFill/>
          </a:ln>
        </p:spPr>
        <p:txBody>
          <a:bodyPr/>
          <a:lstStyle/>
          <a:p>
            <a:endParaRPr lang="en-US"/>
          </a:p>
        </p:txBody>
      </p:sp>
      <p:sp>
        <p:nvSpPr>
          <p:cNvPr id="503" name="RPAccent"/>
          <p:cNvSpPr/>
          <p:nvPr/>
        </p:nvSpPr>
        <p:spPr>
          <a:xfrm>
            <a:off x="8763000" y="1612900"/>
            <a:ext cx="3022600" cy="50800"/>
          </a:xfrm>
          <a:prstGeom prst="roundRect">
            <a:avLst>
              <a:gd name="adj" fmla="val 50000"/>
            </a:avLst>
          </a:prstGeom>
          <a:solidFill>
            <a:srgbClr val="D4622B"/>
          </a:solidFill>
          <a:ln w="0">
            <a:noFill/>
          </a:ln>
        </p:spPr>
        <p:txBody>
          <a:bodyPr/>
          <a:lstStyle/>
          <a:p>
            <a:endParaRPr lang="en-US"/>
          </a:p>
        </p:txBody>
      </p:sp>
      <p:sp>
        <p:nvSpPr>
          <p:cNvPr id="504" name="OrchLabel"/>
          <p:cNvSpPr/>
          <p:nvPr/>
        </p:nvSpPr>
        <p:spPr>
          <a:xfrm>
            <a:off x="1308100" y="2489200"/>
            <a:ext cx="1879600" cy="254000"/>
          </a:xfrm>
          <a:prstGeom prst="roundRect">
            <a:avLst>
              <a:gd name="adj" fmla="val 30000"/>
            </a:avLst>
          </a:prstGeom>
          <a:solidFill>
            <a:srgbClr val="1565C0"/>
          </a:solidFill>
          <a:ln w="0">
            <a:noFill/>
          </a:ln>
        </p:spPr>
        <p:txBody>
          <a:bodyPr wrap="none" lIns="36000" tIns="0" rIns="36000" bIns="0" anchor="ctr"/>
          <a:lstStyle/>
          <a:p>
            <a:pPr algn="ctr">
              <a:buNone/>
            </a:pPr>
            <a:r>
              <a:rPr lang="en-US" sz="800" b="1" dirty="0">
                <a:solidFill>
                  <a:srgbClr val="FFFFFF"/>
                </a:solidFill>
                <a:latin typeface="Segoe UI"/>
              </a:rPr>
              <a:t>ORCHESTRATOR</a:t>
            </a:r>
          </a:p>
        </p:txBody>
      </p:sp>
      <p:sp>
        <p:nvSpPr>
          <p:cNvPr id="505" name="BuiltInLabel"/>
          <p:cNvSpPr/>
          <p:nvPr/>
        </p:nvSpPr>
        <p:spPr>
          <a:xfrm>
            <a:off x="4699000" y="1333500"/>
            <a:ext cx="3556000" cy="203200"/>
          </a:xfrm>
          <a:prstGeom prst="rect">
            <a:avLst/>
          </a:prstGeom>
          <a:noFill/>
          <a:ln w="0">
            <a:noFill/>
          </a:ln>
        </p:spPr>
        <p:txBody>
          <a:bodyPr wrap="square" lIns="0" tIns="0" rIns="0" bIns="0"/>
          <a:lstStyle/>
          <a:p>
            <a:pPr algn="l">
              <a:buNone/>
            </a:pPr>
            <a:r>
              <a:rPr lang="en-US" sz="900" b="1" dirty="0">
                <a:solidFill>
                  <a:srgbClr val="7A8A9E"/>
                </a:solidFill>
                <a:latin typeface="Segoe UI"/>
              </a:rPr>
              <a:t>BUILT-IN SUBAGENTS</a:t>
            </a:r>
          </a:p>
        </p:txBody>
      </p:sp>
      <p:pic>
        <p:nvPicPr>
          <p:cNvPr id="506" name="Graphic 506" descr="Explore subagent icon"/>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72400" y="1790700"/>
            <a:ext cx="279400" cy="279400"/>
          </a:xfrm>
          <a:prstGeom prst="rect">
            <a:avLst/>
          </a:prstGeom>
        </p:spPr>
      </p:pic>
      <p:pic>
        <p:nvPicPr>
          <p:cNvPr id="507" name="Graphic 507" descr="Plan subagent icon"/>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72400" y="3213100"/>
            <a:ext cx="279400" cy="279400"/>
          </a:xfrm>
          <a:prstGeom prst="rect">
            <a:avLst/>
          </a:prstGeom>
        </p:spPr>
      </p:pic>
      <p:pic>
        <p:nvPicPr>
          <p:cNvPr id="508" name="Graphic 508" descr="General-purpose subagent icon"/>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772400" y="4635500"/>
            <a:ext cx="279400" cy="279400"/>
          </a:xfrm>
          <a:prstGeom prst="rect">
            <a:avLst/>
          </a:prstGeom>
        </p:spPr>
      </p:pic>
      <p:sp>
        <p:nvSpPr>
          <p:cNvPr id="600" name="RPDivider"/>
          <p:cNvSpPr/>
          <p:nvPr/>
        </p:nvSpPr>
        <p:spPr>
          <a:xfrm>
            <a:off x="8966200" y="3898900"/>
            <a:ext cx="2616200" cy="12700"/>
          </a:xfrm>
          <a:prstGeom prst="rect">
            <a:avLst/>
          </a:prstGeom>
          <a:solidFill>
            <a:srgbClr val="E2E8F0"/>
          </a:solidFill>
          <a:ln w="0">
            <a:noFill/>
          </a:ln>
        </p:spPr>
        <p:txBody>
          <a:bodyPr/>
          <a:lstStyle/>
          <a:p>
            <a:endParaRPr lang="en-US"/>
          </a:p>
        </p:txBody>
      </p:sp>
    </p:spTree>
    <p:extLst>
      <p:ext uri="{BB962C8B-B14F-4D97-AF65-F5344CB8AC3E}">
        <p14:creationId xmlns:p14="http://schemas.microsoft.com/office/powerpoint/2010/main" val="5988189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10">
    <p:bg>
      <p:bgPr>
        <a:solidFill>
          <a:srgbClr val="FFFFFF">
            <a:alpha val="100000"/>
          </a:srgbClr>
        </a:solidFill>
        <a:effectLst/>
      </p:bgPr>
    </p:bg>
    <p:spTree>
      <p:nvGrpSpPr>
        <p:cNvPr id="1" name=""/>
        <p:cNvGrpSpPr/>
        <p:nvPr/>
      </p:nvGrpSpPr>
      <p:grpSpPr>
        <a:xfrm>
          <a:off x="0" y="0"/>
          <a:ext cx="0" cy="0"/>
          <a:chOff x="0" y="0"/>
          <a:chExt cx="0" cy="0"/>
        </a:xfrm>
      </p:grpSpPr>
      <p:sp>
        <p:nvSpPr>
          <p:cNvPr id="2" name="Text 0"/>
          <p:cNvSpPr/>
          <p:nvPr/>
        </p:nvSpPr>
        <p:spPr>
          <a:xfrm>
            <a:off x="658367" y="76200"/>
            <a:ext cx="9124729" cy="381000"/>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rPr>
              <a:t>MCP: connect Claude Code to every tool in your stack</a:t>
            </a:r>
          </a:p>
        </p:txBody>
      </p:sp>
      <p:sp>
        <p:nvSpPr>
          <p:cNvPr id="3" name="Text 1"/>
          <p:cNvSpPr/>
          <p:nvPr/>
        </p:nvSpPr>
        <p:spPr>
          <a:xfrm>
            <a:off x="658368" y="609600"/>
            <a:ext cx="9509760" cy="254000"/>
          </a:xfrm>
          <a:prstGeom prst="rect">
            <a:avLst/>
          </a:prstGeom>
          <a:noFill/>
          <a:ln/>
        </p:spPr>
        <p:txBody>
          <a:bodyPr wrap="square" lIns="0" tIns="0" rIns="0" bIns="0" rtlCol="0" anchor="ctr"/>
          <a:lstStyle/>
          <a:p>
            <a:pPr marL="0" indent="0">
              <a:buNone/>
            </a:pPr>
            <a:r>
              <a:rPr lang="en-US" sz="1400" dirty="0">
                <a:solidFill>
                  <a:srgbClr val="3972C1"/>
                </a:solidFill>
                <a:latin typeface="Aptos" pitchFamily="34" charset="0"/>
              </a:rPr>
              <a:t>Model Context Protocol is an open standard by Anthropic. 3,000+ community servers. Transports: stdio, SSE, HTTP.</a:t>
            </a:r>
          </a:p>
        </p:txBody>
      </p:sp>
      <p:sp>
        <p:nvSpPr>
          <p:cNvPr id="4" name="Shape 2"/>
          <p:cNvSpPr/>
          <p:nvPr/>
        </p:nvSpPr>
        <p:spPr>
          <a:xfrm>
            <a:off x="0" y="909320"/>
            <a:ext cx="12192000" cy="0"/>
          </a:xfrm>
          <a:prstGeom prst="line">
            <a:avLst/>
          </a:prstGeom>
          <a:noFill/>
          <a:ln w="12700">
            <a:solidFill>
              <a:srgbClr val="1565C0"/>
            </a:solidFill>
            <a:prstDash val="solid"/>
          </a:ln>
        </p:spPr>
        <p:txBody>
          <a:bodyPr/>
          <a:lstStyle/>
          <a:p>
            <a:endParaRPr lang="en-US"/>
          </a:p>
        </p:txBody>
      </p:sp>
      <p:sp>
        <p:nvSpPr>
          <p:cNvPr id="31" name="Text 29"/>
          <p:cNvSpPr/>
          <p:nvPr/>
        </p:nvSpPr>
        <p:spPr>
          <a:xfrm>
            <a:off x="658368" y="6428232"/>
            <a:ext cx="3840480" cy="182880"/>
          </a:xfrm>
          <a:prstGeom prst="rect">
            <a:avLst/>
          </a:prstGeom>
          <a:noFill/>
          <a:ln/>
        </p:spPr>
        <p:txBody>
          <a:bodyPr wrap="square" lIns="0" tIns="0" rIns="0" bIns="0" rtlCol="0" anchor="ctr"/>
          <a:lstStyle/>
          <a:p>
            <a:pPr marL="0" indent="0">
              <a:buNone/>
            </a:pPr>
            <a:r>
              <a:rPr lang="en-US" sz="850" dirty="0">
                <a:solidFill>
                  <a:srgbClr val="FFFFFF"/>
                </a:solidFill>
              </a:rPr>
              <a:t>MCP</a:t>
            </a:r>
          </a:p>
        </p:txBody>
      </p:sp>
      <p:sp>
        <p:nvSpPr>
          <p:cNvPr id="32" name="Text 30"/>
          <p:cNvSpPr/>
          <p:nvPr/>
        </p:nvSpPr>
        <p:spPr>
          <a:xfrm>
            <a:off x="10424160" y="6428232"/>
            <a:ext cx="1097280" cy="182880"/>
          </a:xfrm>
          <a:prstGeom prst="rect">
            <a:avLst/>
          </a:prstGeom>
          <a:noFill/>
          <a:ln/>
        </p:spPr>
        <p:txBody>
          <a:bodyPr wrap="square" lIns="0" tIns="0" rIns="0" bIns="0" rtlCol="0" anchor="ctr"/>
          <a:lstStyle/>
          <a:p>
            <a:pPr marL="0" indent="0" algn="r">
              <a:buNone/>
            </a:pPr>
            <a:r>
              <a:rPr lang="en-US" sz="850" dirty="0">
                <a:solidFill>
                  <a:srgbClr val="FFFFFF"/>
                </a:solidFill>
              </a:rPr>
              <a:t>47</a:t>
            </a:r>
          </a:p>
        </p:txBody>
      </p:sp>
      <p:sp>
        <p:nvSpPr>
          <p:cNvPr id="100" name="S100"/>
          <p:cNvSpPr/>
          <p:nvPr/>
        </p:nvSpPr>
        <p:spPr>
          <a:xfrm>
            <a:off x="2006600" y="2628900"/>
            <a:ext cx="1460500" cy="1460500"/>
          </a:xfrm>
          <a:prstGeom prst="ellipse">
            <a:avLst/>
          </a:prstGeom>
          <a:solidFill>
            <a:schemeClr val="accent6">
              <a:lumMod val="75000"/>
            </a:schemeClr>
          </a:solidFill>
          <a:ln w="0">
            <a:noFill/>
          </a:ln>
        </p:spPr>
        <p:txBody>
          <a:bodyPr wrap="square" lIns="72000" tIns="36000" rIns="72000" bIns="36000" anchor="ctr"/>
          <a:lstStyle/>
          <a:p>
            <a:pPr algn="ctr"/>
            <a:r>
              <a:rPr lang="en-US" sz="1200" dirty="0">
                <a:solidFill>
                  <a:schemeClr val="bg1"/>
                </a:solidFill>
              </a:rPr>
              <a:t>Claude Code </a:t>
            </a:r>
          </a:p>
          <a:p>
            <a:pPr algn="ctr"/>
            <a:r>
              <a:rPr lang="en-US" sz="1100" dirty="0">
                <a:solidFill>
                  <a:schemeClr val="bg1"/>
                </a:solidFill>
              </a:rPr>
              <a:t>MCP Client</a:t>
            </a:r>
          </a:p>
        </p:txBody>
      </p:sp>
      <p:sp>
        <p:nvSpPr>
          <p:cNvPr id="102" name="S102"/>
          <p:cNvSpPr/>
          <p:nvPr/>
        </p:nvSpPr>
        <p:spPr>
          <a:xfrm>
            <a:off x="381000" y="1079500"/>
            <a:ext cx="1752600" cy="698500"/>
          </a:xfrm>
          <a:prstGeom prst="roundRect">
            <a:avLst>
              <a:gd name="adj" fmla="val 6000"/>
            </a:avLst>
          </a:prstGeom>
          <a:solidFill>
            <a:srgbClr val="F8FAFC"/>
          </a:solidFill>
          <a:ln w="9525">
            <a:solidFill>
              <a:srgbClr val="E2E8F0"/>
            </a:solidFill>
          </a:ln>
        </p:spPr>
        <p:txBody>
          <a:bodyPr wrap="square" lIns="72000" tIns="36000" rIns="72000" bIns="36000" anchor="ctr"/>
          <a:lstStyle/>
          <a:p>
            <a:endParaRPr lang="en-US"/>
          </a:p>
        </p:txBody>
      </p:sp>
      <p:sp>
        <p:nvSpPr>
          <p:cNvPr id="103" name="S103"/>
          <p:cNvSpPr/>
          <p:nvPr/>
        </p:nvSpPr>
        <p:spPr>
          <a:xfrm>
            <a:off x="381000" y="1079500"/>
            <a:ext cx="50800" cy="698500"/>
          </a:xfrm>
          <a:prstGeom prst="rect">
            <a:avLst/>
          </a:prstGeom>
          <a:solidFill>
            <a:srgbClr val="1565C0"/>
          </a:solidFill>
          <a:ln w="0">
            <a:noFill/>
          </a:ln>
        </p:spPr>
        <p:txBody>
          <a:bodyPr wrap="square" lIns="72000" tIns="36000" rIns="72000" bIns="36000" anchor="ctr"/>
          <a:lstStyle/>
          <a:p>
            <a:endParaRPr lang="en-US"/>
          </a:p>
        </p:txBody>
      </p:sp>
      <p:sp>
        <p:nvSpPr>
          <p:cNvPr id="104" name="S104"/>
          <p:cNvSpPr/>
          <p:nvPr/>
        </p:nvSpPr>
        <p:spPr>
          <a:xfrm>
            <a:off x="508000" y="1231900"/>
            <a:ext cx="330200" cy="330200"/>
          </a:xfrm>
          <a:prstGeom prst="ellipse">
            <a:avLst/>
          </a:prstGeom>
          <a:solidFill>
            <a:srgbClr val="1565C0"/>
          </a:solidFill>
          <a:ln w="0">
            <a:noFill/>
          </a:ln>
        </p:spPr>
        <p:txBody>
          <a:bodyPr wrap="square" lIns="72000" tIns="36000" rIns="72000" bIns="36000" anchor="ctr"/>
          <a:lstStyle/>
          <a:p>
            <a:pPr algn="ctr">
              <a:buNone/>
            </a:pPr>
            <a:r>
              <a:rPr lang="en-US" sz="900" b="1" dirty="0">
                <a:solidFill>
                  <a:srgbClr val="FFFFFF"/>
                </a:solidFill>
                <a:latin typeface="Aptos"/>
              </a:rPr>
              <a:t>G</a:t>
            </a:r>
          </a:p>
        </p:txBody>
      </p:sp>
      <p:sp>
        <p:nvSpPr>
          <p:cNvPr id="105" name="T105"/>
          <p:cNvSpPr/>
          <p:nvPr/>
        </p:nvSpPr>
        <p:spPr>
          <a:xfrm>
            <a:off x="914400" y="1181100"/>
            <a:ext cx="1117600" cy="203200"/>
          </a:xfrm>
          <a:prstGeom prst="rect">
            <a:avLst/>
          </a:prstGeom>
          <a:noFill/>
          <a:ln w="0">
            <a:noFill/>
          </a:ln>
        </p:spPr>
        <p:txBody>
          <a:bodyPr wrap="square" lIns="0" tIns="0" rIns="0" bIns="0" anchor="t"/>
          <a:lstStyle/>
          <a:p>
            <a:pPr>
              <a:buNone/>
            </a:pPr>
            <a:r>
              <a:rPr lang="en-US" sz="1400" b="1" dirty="0">
                <a:solidFill>
                  <a:srgbClr val="1A2332"/>
                </a:solidFill>
                <a:latin typeface="Aptos"/>
              </a:rPr>
              <a:t>GitHub</a:t>
            </a:r>
          </a:p>
        </p:txBody>
      </p:sp>
      <p:sp>
        <p:nvSpPr>
          <p:cNvPr id="106" name="T106"/>
          <p:cNvSpPr/>
          <p:nvPr/>
        </p:nvSpPr>
        <p:spPr>
          <a:xfrm>
            <a:off x="914400" y="1435100"/>
            <a:ext cx="1117600" cy="254000"/>
          </a:xfrm>
          <a:prstGeom prst="rect">
            <a:avLst/>
          </a:prstGeom>
          <a:noFill/>
          <a:ln w="0">
            <a:noFill/>
          </a:ln>
        </p:spPr>
        <p:txBody>
          <a:bodyPr wrap="square" lIns="0" tIns="0" rIns="0" bIns="0" anchor="t"/>
          <a:lstStyle/>
          <a:p>
            <a:pPr>
              <a:buNone/>
            </a:pPr>
            <a:r>
              <a:rPr lang="en-US" sz="1100" dirty="0">
                <a:solidFill>
                  <a:srgbClr val="64748B"/>
                </a:solidFill>
                <a:latin typeface="Aptos"/>
              </a:rPr>
              <a:t>PRs, issues, code</a:t>
            </a:r>
          </a:p>
        </p:txBody>
      </p:sp>
      <p:sp>
        <p:nvSpPr>
          <p:cNvPr id="107" name="S107"/>
          <p:cNvSpPr/>
          <p:nvPr/>
        </p:nvSpPr>
        <p:spPr>
          <a:xfrm>
            <a:off x="3327400" y="1079500"/>
            <a:ext cx="1752600" cy="698500"/>
          </a:xfrm>
          <a:prstGeom prst="roundRect">
            <a:avLst>
              <a:gd name="adj" fmla="val 6000"/>
            </a:avLst>
          </a:prstGeom>
          <a:solidFill>
            <a:srgbClr val="F8FAFC"/>
          </a:solidFill>
          <a:ln w="9525">
            <a:solidFill>
              <a:srgbClr val="E2E8F0"/>
            </a:solidFill>
          </a:ln>
        </p:spPr>
        <p:txBody>
          <a:bodyPr wrap="square" lIns="72000" tIns="36000" rIns="72000" bIns="36000" anchor="ctr"/>
          <a:lstStyle/>
          <a:p>
            <a:endParaRPr lang="en-US"/>
          </a:p>
        </p:txBody>
      </p:sp>
      <p:sp>
        <p:nvSpPr>
          <p:cNvPr id="108" name="S108"/>
          <p:cNvSpPr/>
          <p:nvPr/>
        </p:nvSpPr>
        <p:spPr>
          <a:xfrm>
            <a:off x="3327400" y="1079500"/>
            <a:ext cx="50800" cy="698500"/>
          </a:xfrm>
          <a:prstGeom prst="rect">
            <a:avLst/>
          </a:prstGeom>
          <a:solidFill>
            <a:srgbClr val="7C3AED"/>
          </a:solidFill>
          <a:ln w="0">
            <a:noFill/>
          </a:ln>
        </p:spPr>
        <p:txBody>
          <a:bodyPr wrap="square" lIns="72000" tIns="36000" rIns="72000" bIns="36000" anchor="ctr"/>
          <a:lstStyle/>
          <a:p>
            <a:endParaRPr lang="en-US"/>
          </a:p>
        </p:txBody>
      </p:sp>
      <p:sp>
        <p:nvSpPr>
          <p:cNvPr id="109" name="S109"/>
          <p:cNvSpPr/>
          <p:nvPr/>
        </p:nvSpPr>
        <p:spPr>
          <a:xfrm>
            <a:off x="3454400" y="1231900"/>
            <a:ext cx="330200" cy="330200"/>
          </a:xfrm>
          <a:prstGeom prst="ellipse">
            <a:avLst/>
          </a:prstGeom>
          <a:solidFill>
            <a:srgbClr val="7C3AED"/>
          </a:solidFill>
          <a:ln w="0">
            <a:noFill/>
          </a:ln>
        </p:spPr>
        <p:txBody>
          <a:bodyPr wrap="square" lIns="72000" tIns="36000" rIns="72000" bIns="36000" anchor="ctr"/>
          <a:lstStyle/>
          <a:p>
            <a:pPr algn="ctr">
              <a:buNone/>
            </a:pPr>
            <a:r>
              <a:rPr lang="en-US" sz="900" b="1" dirty="0">
                <a:solidFill>
                  <a:srgbClr val="FFFFFF"/>
                </a:solidFill>
                <a:latin typeface="Aptos"/>
              </a:rPr>
              <a:t>D</a:t>
            </a:r>
          </a:p>
        </p:txBody>
      </p:sp>
      <p:sp>
        <p:nvSpPr>
          <p:cNvPr id="110" name="T110"/>
          <p:cNvSpPr/>
          <p:nvPr/>
        </p:nvSpPr>
        <p:spPr>
          <a:xfrm>
            <a:off x="3860800" y="1181100"/>
            <a:ext cx="1117600" cy="203200"/>
          </a:xfrm>
          <a:prstGeom prst="rect">
            <a:avLst/>
          </a:prstGeom>
          <a:noFill/>
          <a:ln w="0">
            <a:noFill/>
          </a:ln>
        </p:spPr>
        <p:txBody>
          <a:bodyPr wrap="square" lIns="0" tIns="0" rIns="0" bIns="0" anchor="t"/>
          <a:lstStyle/>
          <a:p>
            <a:pPr>
              <a:buNone/>
            </a:pPr>
            <a:r>
              <a:rPr lang="en-US" sz="1400" b="1" dirty="0">
                <a:solidFill>
                  <a:srgbClr val="1A2332"/>
                </a:solidFill>
                <a:latin typeface="Aptos"/>
              </a:rPr>
              <a:t>Databases</a:t>
            </a:r>
          </a:p>
        </p:txBody>
      </p:sp>
      <p:sp>
        <p:nvSpPr>
          <p:cNvPr id="111" name="T111"/>
          <p:cNvSpPr/>
          <p:nvPr/>
        </p:nvSpPr>
        <p:spPr>
          <a:xfrm>
            <a:off x="3860800" y="1435100"/>
            <a:ext cx="1117600" cy="254000"/>
          </a:xfrm>
          <a:prstGeom prst="rect">
            <a:avLst/>
          </a:prstGeom>
          <a:noFill/>
          <a:ln w="0">
            <a:noFill/>
          </a:ln>
        </p:spPr>
        <p:txBody>
          <a:bodyPr wrap="square" lIns="0" tIns="0" rIns="0" bIns="0" anchor="t"/>
          <a:lstStyle/>
          <a:p>
            <a:pPr>
              <a:buNone/>
            </a:pPr>
            <a:r>
              <a:rPr lang="en-US" sz="1100" dirty="0">
                <a:solidFill>
                  <a:srgbClr val="64748B"/>
                </a:solidFill>
                <a:latin typeface="Aptos"/>
              </a:rPr>
              <a:t>SQL, Postgres, SQLite</a:t>
            </a:r>
          </a:p>
        </p:txBody>
      </p:sp>
      <p:sp>
        <p:nvSpPr>
          <p:cNvPr id="112" name="S112"/>
          <p:cNvSpPr/>
          <p:nvPr/>
        </p:nvSpPr>
        <p:spPr>
          <a:xfrm>
            <a:off x="381000" y="4381500"/>
            <a:ext cx="1752600" cy="698500"/>
          </a:xfrm>
          <a:prstGeom prst="roundRect">
            <a:avLst>
              <a:gd name="adj" fmla="val 6000"/>
            </a:avLst>
          </a:prstGeom>
          <a:solidFill>
            <a:srgbClr val="F8FAFC"/>
          </a:solidFill>
          <a:ln w="9525">
            <a:solidFill>
              <a:srgbClr val="E2E8F0"/>
            </a:solidFill>
          </a:ln>
        </p:spPr>
        <p:txBody>
          <a:bodyPr wrap="square" lIns="72000" tIns="36000" rIns="72000" bIns="36000" anchor="ctr"/>
          <a:lstStyle/>
          <a:p>
            <a:endParaRPr lang="en-US"/>
          </a:p>
        </p:txBody>
      </p:sp>
      <p:sp>
        <p:nvSpPr>
          <p:cNvPr id="113" name="S113"/>
          <p:cNvSpPr/>
          <p:nvPr/>
        </p:nvSpPr>
        <p:spPr>
          <a:xfrm>
            <a:off x="381000" y="4381500"/>
            <a:ext cx="50800" cy="698500"/>
          </a:xfrm>
          <a:prstGeom prst="rect">
            <a:avLst/>
          </a:prstGeom>
          <a:solidFill>
            <a:srgbClr val="059669"/>
          </a:solidFill>
          <a:ln w="0">
            <a:noFill/>
          </a:ln>
        </p:spPr>
        <p:txBody>
          <a:bodyPr wrap="square" lIns="72000" tIns="36000" rIns="72000" bIns="36000" anchor="ctr"/>
          <a:lstStyle/>
          <a:p>
            <a:endParaRPr lang="en-US"/>
          </a:p>
        </p:txBody>
      </p:sp>
      <p:sp>
        <p:nvSpPr>
          <p:cNvPr id="114" name="S114"/>
          <p:cNvSpPr/>
          <p:nvPr/>
        </p:nvSpPr>
        <p:spPr>
          <a:xfrm>
            <a:off x="508000" y="4533900"/>
            <a:ext cx="330200" cy="330200"/>
          </a:xfrm>
          <a:prstGeom prst="ellipse">
            <a:avLst/>
          </a:prstGeom>
          <a:solidFill>
            <a:srgbClr val="059669"/>
          </a:solidFill>
          <a:ln w="0">
            <a:noFill/>
          </a:ln>
        </p:spPr>
        <p:txBody>
          <a:bodyPr wrap="square" lIns="72000" tIns="36000" rIns="72000" bIns="36000" anchor="ctr"/>
          <a:lstStyle/>
          <a:p>
            <a:pPr algn="ctr">
              <a:buNone/>
            </a:pPr>
            <a:r>
              <a:rPr lang="en-US" sz="900" b="1" dirty="0">
                <a:solidFill>
                  <a:srgbClr val="FFFFFF"/>
                </a:solidFill>
                <a:latin typeface="Aptos"/>
              </a:rPr>
              <a:t>S</a:t>
            </a:r>
          </a:p>
        </p:txBody>
      </p:sp>
      <p:sp>
        <p:nvSpPr>
          <p:cNvPr id="115" name="T115"/>
          <p:cNvSpPr/>
          <p:nvPr/>
        </p:nvSpPr>
        <p:spPr>
          <a:xfrm>
            <a:off x="914400" y="4483100"/>
            <a:ext cx="1117600" cy="203200"/>
          </a:xfrm>
          <a:prstGeom prst="rect">
            <a:avLst/>
          </a:prstGeom>
          <a:noFill/>
          <a:ln w="0">
            <a:noFill/>
          </a:ln>
        </p:spPr>
        <p:txBody>
          <a:bodyPr wrap="square" lIns="0" tIns="0" rIns="0" bIns="0" anchor="t"/>
          <a:lstStyle/>
          <a:p>
            <a:pPr>
              <a:buNone/>
            </a:pPr>
            <a:r>
              <a:rPr lang="en-US" sz="1400" b="1" dirty="0">
                <a:solidFill>
                  <a:srgbClr val="1A2332"/>
                </a:solidFill>
                <a:latin typeface="Aptos"/>
              </a:rPr>
              <a:t>Slack</a:t>
            </a:r>
          </a:p>
        </p:txBody>
      </p:sp>
      <p:sp>
        <p:nvSpPr>
          <p:cNvPr id="116" name="T116"/>
          <p:cNvSpPr/>
          <p:nvPr/>
        </p:nvSpPr>
        <p:spPr>
          <a:xfrm>
            <a:off x="838200" y="4737100"/>
            <a:ext cx="1295400" cy="203200"/>
          </a:xfrm>
          <a:prstGeom prst="rect">
            <a:avLst/>
          </a:prstGeom>
          <a:noFill/>
          <a:ln w="0">
            <a:noFill/>
          </a:ln>
        </p:spPr>
        <p:txBody>
          <a:bodyPr wrap="square" lIns="0" tIns="0" rIns="0" bIns="0" anchor="t"/>
          <a:lstStyle/>
          <a:p>
            <a:pPr>
              <a:buNone/>
            </a:pPr>
            <a:r>
              <a:rPr lang="en-US" sz="1100" dirty="0">
                <a:solidFill>
                  <a:srgbClr val="64748B"/>
                </a:solidFill>
                <a:latin typeface="Aptos"/>
              </a:rPr>
              <a:t>Messages, channels</a:t>
            </a:r>
          </a:p>
        </p:txBody>
      </p:sp>
      <p:sp>
        <p:nvSpPr>
          <p:cNvPr id="117" name="S117"/>
          <p:cNvSpPr/>
          <p:nvPr/>
        </p:nvSpPr>
        <p:spPr>
          <a:xfrm>
            <a:off x="3327400" y="4381500"/>
            <a:ext cx="1752600" cy="698500"/>
          </a:xfrm>
          <a:prstGeom prst="roundRect">
            <a:avLst>
              <a:gd name="adj" fmla="val 6000"/>
            </a:avLst>
          </a:prstGeom>
          <a:solidFill>
            <a:srgbClr val="F8FAFC"/>
          </a:solidFill>
          <a:ln w="9525">
            <a:solidFill>
              <a:srgbClr val="E2E8F0"/>
            </a:solidFill>
          </a:ln>
        </p:spPr>
        <p:txBody>
          <a:bodyPr wrap="square" lIns="72000" tIns="36000" rIns="72000" bIns="36000" anchor="ctr"/>
          <a:lstStyle/>
          <a:p>
            <a:endParaRPr lang="en-US"/>
          </a:p>
        </p:txBody>
      </p:sp>
      <p:sp>
        <p:nvSpPr>
          <p:cNvPr id="118" name="S118"/>
          <p:cNvSpPr/>
          <p:nvPr/>
        </p:nvSpPr>
        <p:spPr>
          <a:xfrm>
            <a:off x="3327400" y="4381500"/>
            <a:ext cx="50800" cy="698500"/>
          </a:xfrm>
          <a:prstGeom prst="rect">
            <a:avLst/>
          </a:prstGeom>
          <a:solidFill>
            <a:srgbClr val="D4622B"/>
          </a:solidFill>
          <a:ln w="0">
            <a:noFill/>
          </a:ln>
        </p:spPr>
        <p:txBody>
          <a:bodyPr wrap="square" lIns="72000" tIns="36000" rIns="72000" bIns="36000" anchor="ctr"/>
          <a:lstStyle/>
          <a:p>
            <a:endParaRPr lang="en-US"/>
          </a:p>
        </p:txBody>
      </p:sp>
      <p:sp>
        <p:nvSpPr>
          <p:cNvPr id="119" name="S119"/>
          <p:cNvSpPr/>
          <p:nvPr/>
        </p:nvSpPr>
        <p:spPr>
          <a:xfrm>
            <a:off x="3454400" y="4533900"/>
            <a:ext cx="330200" cy="330200"/>
          </a:xfrm>
          <a:prstGeom prst="ellipse">
            <a:avLst/>
          </a:prstGeom>
          <a:solidFill>
            <a:srgbClr val="D4622B"/>
          </a:solidFill>
          <a:ln w="0">
            <a:noFill/>
          </a:ln>
        </p:spPr>
        <p:txBody>
          <a:bodyPr wrap="square" lIns="72000" tIns="36000" rIns="72000" bIns="36000" anchor="ctr"/>
          <a:lstStyle/>
          <a:p>
            <a:pPr algn="ctr">
              <a:buNone/>
            </a:pPr>
            <a:r>
              <a:rPr lang="en-US" sz="900" b="1" dirty="0">
                <a:solidFill>
                  <a:srgbClr val="FFFFFF"/>
                </a:solidFill>
                <a:latin typeface="Aptos"/>
              </a:rPr>
              <a:t>B</a:t>
            </a:r>
          </a:p>
        </p:txBody>
      </p:sp>
      <p:sp>
        <p:nvSpPr>
          <p:cNvPr id="120" name="T120"/>
          <p:cNvSpPr/>
          <p:nvPr/>
        </p:nvSpPr>
        <p:spPr>
          <a:xfrm>
            <a:off x="3860800" y="4483100"/>
            <a:ext cx="1117600" cy="203200"/>
          </a:xfrm>
          <a:prstGeom prst="rect">
            <a:avLst/>
          </a:prstGeom>
          <a:noFill/>
          <a:ln w="0">
            <a:noFill/>
          </a:ln>
        </p:spPr>
        <p:txBody>
          <a:bodyPr wrap="square" lIns="0" tIns="0" rIns="0" bIns="0" anchor="t"/>
          <a:lstStyle/>
          <a:p>
            <a:pPr>
              <a:buNone/>
            </a:pPr>
            <a:r>
              <a:rPr lang="en-US" sz="1400" b="1" dirty="0">
                <a:solidFill>
                  <a:srgbClr val="1A2332"/>
                </a:solidFill>
                <a:latin typeface="Aptos"/>
              </a:rPr>
              <a:t>Browser</a:t>
            </a:r>
          </a:p>
        </p:txBody>
      </p:sp>
      <p:sp>
        <p:nvSpPr>
          <p:cNvPr id="121" name="T121"/>
          <p:cNvSpPr/>
          <p:nvPr/>
        </p:nvSpPr>
        <p:spPr>
          <a:xfrm>
            <a:off x="3860800" y="4737100"/>
            <a:ext cx="1117600" cy="254000"/>
          </a:xfrm>
          <a:prstGeom prst="rect">
            <a:avLst/>
          </a:prstGeom>
          <a:noFill/>
          <a:ln w="0">
            <a:noFill/>
          </a:ln>
        </p:spPr>
        <p:txBody>
          <a:bodyPr wrap="square" lIns="0" tIns="0" rIns="0" bIns="0" anchor="t"/>
          <a:lstStyle/>
          <a:p>
            <a:pPr>
              <a:buNone/>
            </a:pPr>
            <a:r>
              <a:rPr lang="en-US" sz="1100" dirty="0">
                <a:solidFill>
                  <a:srgbClr val="64748B"/>
                </a:solidFill>
                <a:latin typeface="Aptos"/>
              </a:rPr>
              <a:t>Playwright, DOM, screenshots</a:t>
            </a:r>
          </a:p>
        </p:txBody>
      </p:sp>
      <p:sp>
        <p:nvSpPr>
          <p:cNvPr id="122" name="L122"/>
          <p:cNvSpPr/>
          <p:nvPr/>
        </p:nvSpPr>
        <p:spPr>
          <a:xfrm flipH="1" flipV="1">
            <a:off x="2133600" y="1777999"/>
            <a:ext cx="266700" cy="939734"/>
          </a:xfrm>
          <a:prstGeom prst="line">
            <a:avLst/>
          </a:prstGeom>
          <a:ln w="15875">
            <a:solidFill>
              <a:srgbClr val="CBD5E0"/>
            </a:solidFill>
            <a:prstDash val="dash"/>
          </a:ln>
        </p:spPr>
        <p:txBody>
          <a:bodyPr/>
          <a:lstStyle/>
          <a:p>
            <a:endParaRPr lang="en-US"/>
          </a:p>
        </p:txBody>
      </p:sp>
      <p:sp>
        <p:nvSpPr>
          <p:cNvPr id="123" name="L123"/>
          <p:cNvSpPr/>
          <p:nvPr/>
        </p:nvSpPr>
        <p:spPr>
          <a:xfrm flipV="1">
            <a:off x="3009900" y="1778000"/>
            <a:ext cx="457200" cy="939799"/>
          </a:xfrm>
          <a:prstGeom prst="line">
            <a:avLst/>
          </a:prstGeom>
          <a:ln w="15875">
            <a:solidFill>
              <a:srgbClr val="CBD5E0"/>
            </a:solidFill>
            <a:prstDash val="dash"/>
          </a:ln>
        </p:spPr>
        <p:txBody>
          <a:bodyPr/>
          <a:lstStyle/>
          <a:p>
            <a:endParaRPr lang="en-US"/>
          </a:p>
        </p:txBody>
      </p:sp>
      <p:sp>
        <p:nvSpPr>
          <p:cNvPr id="124" name="L124"/>
          <p:cNvSpPr/>
          <p:nvPr/>
        </p:nvSpPr>
        <p:spPr>
          <a:xfrm flipH="1">
            <a:off x="2133600" y="4000500"/>
            <a:ext cx="203200" cy="381000"/>
          </a:xfrm>
          <a:prstGeom prst="line">
            <a:avLst/>
          </a:prstGeom>
          <a:ln w="15875">
            <a:solidFill>
              <a:srgbClr val="CBD5E0"/>
            </a:solidFill>
            <a:prstDash val="dash"/>
          </a:ln>
        </p:spPr>
        <p:txBody>
          <a:bodyPr/>
          <a:lstStyle/>
          <a:p>
            <a:endParaRPr lang="en-US"/>
          </a:p>
        </p:txBody>
      </p:sp>
      <p:sp>
        <p:nvSpPr>
          <p:cNvPr id="125" name="L125"/>
          <p:cNvSpPr/>
          <p:nvPr/>
        </p:nvSpPr>
        <p:spPr>
          <a:xfrm>
            <a:off x="3124200" y="4000500"/>
            <a:ext cx="342900" cy="381000"/>
          </a:xfrm>
          <a:prstGeom prst="line">
            <a:avLst/>
          </a:prstGeom>
          <a:ln w="15875">
            <a:solidFill>
              <a:srgbClr val="CBD5E0"/>
            </a:solidFill>
            <a:prstDash val="dash"/>
          </a:ln>
        </p:spPr>
        <p:txBody>
          <a:bodyPr/>
          <a:lstStyle/>
          <a:p>
            <a:endParaRPr lang="en-US"/>
          </a:p>
        </p:txBody>
      </p:sp>
      <p:sp>
        <p:nvSpPr>
          <p:cNvPr id="126" name="T126"/>
          <p:cNvSpPr/>
          <p:nvPr/>
        </p:nvSpPr>
        <p:spPr>
          <a:xfrm>
            <a:off x="1778000" y="2222500"/>
            <a:ext cx="1905000" cy="177800"/>
          </a:xfrm>
          <a:prstGeom prst="rect">
            <a:avLst/>
          </a:prstGeom>
          <a:noFill/>
          <a:ln w="0">
            <a:noFill/>
          </a:ln>
        </p:spPr>
        <p:txBody>
          <a:bodyPr wrap="square" lIns="0" tIns="0" rIns="0" bIns="0" anchor="t"/>
          <a:lstStyle/>
          <a:p>
            <a:pPr algn="ctr">
              <a:buNone/>
            </a:pPr>
            <a:r>
              <a:rPr lang="en-US" sz="800" dirty="0">
                <a:solidFill>
                  <a:srgbClr val="64748B"/>
                </a:solidFill>
                <a:latin typeface="Aptos"/>
              </a:rPr>
              <a:t>+ Jira, Figma, Sentry, Notion...</a:t>
            </a:r>
          </a:p>
        </p:txBody>
      </p:sp>
      <p:sp>
        <p:nvSpPr>
          <p:cNvPr id="127" name="S127"/>
          <p:cNvSpPr/>
          <p:nvPr/>
        </p:nvSpPr>
        <p:spPr>
          <a:xfrm>
            <a:off x="5651500" y="1088508"/>
            <a:ext cx="6096000" cy="1371600"/>
          </a:xfrm>
          <a:prstGeom prst="roundRect">
            <a:avLst>
              <a:gd name="adj" fmla="val 6000"/>
            </a:avLst>
          </a:prstGeom>
          <a:solidFill>
            <a:srgbClr val="F0F4FF"/>
          </a:solidFill>
          <a:ln w="0">
            <a:noFill/>
          </a:ln>
        </p:spPr>
        <p:txBody>
          <a:bodyPr wrap="square" lIns="72000" tIns="36000" rIns="72000" bIns="36000" anchor="ctr"/>
          <a:lstStyle/>
          <a:p>
            <a:endParaRPr lang="en-US"/>
          </a:p>
        </p:txBody>
      </p:sp>
      <p:sp>
        <p:nvSpPr>
          <p:cNvPr id="128" name="S128"/>
          <p:cNvSpPr/>
          <p:nvPr/>
        </p:nvSpPr>
        <p:spPr>
          <a:xfrm>
            <a:off x="5651500" y="1088508"/>
            <a:ext cx="6096000" cy="50800"/>
          </a:xfrm>
          <a:prstGeom prst="rect">
            <a:avLst/>
          </a:prstGeom>
          <a:solidFill>
            <a:srgbClr val="1565C0"/>
          </a:solidFill>
          <a:ln w="0">
            <a:noFill/>
          </a:ln>
        </p:spPr>
        <p:txBody>
          <a:bodyPr wrap="square" lIns="72000" tIns="36000" rIns="72000" bIns="36000" anchor="ctr"/>
          <a:lstStyle/>
          <a:p>
            <a:endParaRPr lang="en-US"/>
          </a:p>
        </p:txBody>
      </p:sp>
      <p:sp>
        <p:nvSpPr>
          <p:cNvPr id="129" name="T129"/>
          <p:cNvSpPr/>
          <p:nvPr/>
        </p:nvSpPr>
        <p:spPr>
          <a:xfrm>
            <a:off x="5854700" y="1215508"/>
            <a:ext cx="5689600" cy="228600"/>
          </a:xfrm>
          <a:prstGeom prst="rect">
            <a:avLst/>
          </a:prstGeom>
          <a:noFill/>
          <a:ln w="0">
            <a:noFill/>
          </a:ln>
        </p:spPr>
        <p:txBody>
          <a:bodyPr wrap="square" lIns="0" tIns="0" rIns="0" bIns="0" anchor="t"/>
          <a:lstStyle/>
          <a:p>
            <a:pPr>
              <a:buNone/>
            </a:pPr>
            <a:r>
              <a:rPr lang="en-US" sz="1400" b="1" dirty="0">
                <a:solidFill>
                  <a:srgbClr val="1565C0"/>
                </a:solidFill>
                <a:latin typeface="Aptos"/>
              </a:rPr>
              <a:t>What MCP does</a:t>
            </a:r>
          </a:p>
        </p:txBody>
      </p:sp>
      <p:sp>
        <p:nvSpPr>
          <p:cNvPr id="130" name="T130"/>
          <p:cNvSpPr/>
          <p:nvPr/>
        </p:nvSpPr>
        <p:spPr>
          <a:xfrm>
            <a:off x="5854700" y="1469508"/>
            <a:ext cx="5689600" cy="914400"/>
          </a:xfrm>
          <a:prstGeom prst="rect">
            <a:avLst/>
          </a:prstGeom>
          <a:noFill/>
          <a:ln w="0">
            <a:noFill/>
          </a:ln>
        </p:spPr>
        <p:txBody>
          <a:bodyPr wrap="square" lIns="0" tIns="0" rIns="0" bIns="0" anchor="t"/>
          <a:lstStyle/>
          <a:p>
            <a:pPr marL="171450" indent="-171450">
              <a:spcBef>
                <a:spcPts val="200"/>
              </a:spcBef>
              <a:buFont typeface="Arial"/>
              <a:buChar char="•"/>
            </a:pPr>
            <a:r>
              <a:rPr lang="en-US" sz="1200" dirty="0">
                <a:solidFill>
                  <a:srgbClr val="334155"/>
                </a:solidFill>
                <a:latin typeface="Aptos"/>
              </a:rPr>
              <a:t>Open standard connecting Claude Code to external tools, databases, and APIs</a:t>
            </a:r>
          </a:p>
          <a:p>
            <a:pPr marL="171450" indent="-171450">
              <a:spcBef>
                <a:spcPts val="200"/>
              </a:spcBef>
              <a:buFont typeface="Arial"/>
              <a:buChar char="•"/>
            </a:pPr>
            <a:r>
              <a:rPr lang="en-US" sz="1200" dirty="0">
                <a:solidFill>
                  <a:srgbClr val="334155"/>
                </a:solidFill>
                <a:latin typeface="Aptos"/>
              </a:rPr>
              <a:t>Auto-discovers tools at session start; Claude invokes them based on context</a:t>
            </a:r>
          </a:p>
          <a:p>
            <a:pPr marL="171450" indent="-171450">
              <a:spcBef>
                <a:spcPts val="200"/>
              </a:spcBef>
              <a:buFont typeface="Arial"/>
              <a:buChar char="•"/>
            </a:pPr>
            <a:r>
              <a:rPr lang="en-US" sz="1200" dirty="0">
                <a:solidFill>
                  <a:srgbClr val="334155"/>
                </a:solidFill>
                <a:latin typeface="Aptos"/>
              </a:rPr>
              <a:t>Tool Search loads tools on-demand, keeping your context window lean</a:t>
            </a:r>
          </a:p>
        </p:txBody>
      </p:sp>
      <p:sp>
        <p:nvSpPr>
          <p:cNvPr id="131" name="S131"/>
          <p:cNvSpPr/>
          <p:nvPr/>
        </p:nvSpPr>
        <p:spPr>
          <a:xfrm>
            <a:off x="5651500" y="2612508"/>
            <a:ext cx="6096000" cy="1651000"/>
          </a:xfrm>
          <a:prstGeom prst="roundRect">
            <a:avLst>
              <a:gd name="adj" fmla="val 6000"/>
            </a:avLst>
          </a:prstGeom>
          <a:solidFill>
            <a:srgbClr val="F5F0FF"/>
          </a:solidFill>
          <a:ln w="0">
            <a:noFill/>
          </a:ln>
        </p:spPr>
        <p:txBody>
          <a:bodyPr wrap="square" lIns="72000" tIns="36000" rIns="72000" bIns="36000" anchor="ctr"/>
          <a:lstStyle/>
          <a:p>
            <a:endParaRPr lang="en-US"/>
          </a:p>
        </p:txBody>
      </p:sp>
      <p:sp>
        <p:nvSpPr>
          <p:cNvPr id="132" name="S132"/>
          <p:cNvSpPr/>
          <p:nvPr/>
        </p:nvSpPr>
        <p:spPr>
          <a:xfrm>
            <a:off x="5651500" y="2612508"/>
            <a:ext cx="6096000" cy="50800"/>
          </a:xfrm>
          <a:prstGeom prst="rect">
            <a:avLst/>
          </a:prstGeom>
          <a:solidFill>
            <a:srgbClr val="7C3AED"/>
          </a:solidFill>
          <a:ln w="0">
            <a:noFill/>
          </a:ln>
        </p:spPr>
        <p:txBody>
          <a:bodyPr wrap="square" lIns="72000" tIns="36000" rIns="72000" bIns="36000" anchor="ctr"/>
          <a:lstStyle/>
          <a:p>
            <a:endParaRPr lang="en-US"/>
          </a:p>
        </p:txBody>
      </p:sp>
      <p:sp>
        <p:nvSpPr>
          <p:cNvPr id="133" name="T133"/>
          <p:cNvSpPr/>
          <p:nvPr/>
        </p:nvSpPr>
        <p:spPr>
          <a:xfrm>
            <a:off x="5854700" y="2739508"/>
            <a:ext cx="5689600" cy="228600"/>
          </a:xfrm>
          <a:prstGeom prst="rect">
            <a:avLst/>
          </a:prstGeom>
          <a:noFill/>
          <a:ln w="0">
            <a:noFill/>
          </a:ln>
        </p:spPr>
        <p:txBody>
          <a:bodyPr wrap="square" lIns="0" tIns="0" rIns="0" bIns="0" anchor="t"/>
          <a:lstStyle/>
          <a:p>
            <a:pPr>
              <a:buNone/>
            </a:pPr>
            <a:r>
              <a:rPr lang="en-US" sz="1400" b="1" dirty="0">
                <a:solidFill>
                  <a:srgbClr val="7C3AED"/>
                </a:solidFill>
                <a:latin typeface="Aptos"/>
              </a:rPr>
              <a:t>How to configure</a:t>
            </a:r>
          </a:p>
        </p:txBody>
      </p:sp>
      <p:sp>
        <p:nvSpPr>
          <p:cNvPr id="134" name="S134"/>
          <p:cNvSpPr/>
          <p:nvPr/>
        </p:nvSpPr>
        <p:spPr>
          <a:xfrm>
            <a:off x="5854700" y="3018908"/>
            <a:ext cx="5689600" cy="609600"/>
          </a:xfrm>
          <a:prstGeom prst="roundRect">
            <a:avLst>
              <a:gd name="adj" fmla="val 4000"/>
            </a:avLst>
          </a:prstGeom>
          <a:solidFill>
            <a:schemeClr val="bg1">
              <a:lumMod val="65000"/>
            </a:schemeClr>
          </a:solidFill>
          <a:ln w="0">
            <a:noFill/>
          </a:ln>
        </p:spPr>
        <p:txBody>
          <a:bodyPr wrap="square" lIns="72000" tIns="36000" rIns="72000" bIns="36000" anchor="ctr"/>
          <a:lstStyle/>
          <a:p>
            <a:endParaRPr lang="en-US"/>
          </a:p>
        </p:txBody>
      </p:sp>
      <p:sp>
        <p:nvSpPr>
          <p:cNvPr id="135" name="T135"/>
          <p:cNvSpPr/>
          <p:nvPr/>
        </p:nvSpPr>
        <p:spPr>
          <a:xfrm>
            <a:off x="5956300" y="3069708"/>
            <a:ext cx="5486400" cy="508000"/>
          </a:xfrm>
          <a:prstGeom prst="rect">
            <a:avLst/>
          </a:prstGeom>
          <a:noFill/>
          <a:ln w="0">
            <a:noFill/>
          </a:ln>
        </p:spPr>
        <p:txBody>
          <a:bodyPr wrap="square" lIns="0" tIns="0" rIns="0" bIns="0" anchor="t"/>
          <a:lstStyle/>
          <a:p>
            <a:pPr>
              <a:buNone/>
            </a:pPr>
            <a:r>
              <a:rPr lang="en-US" sz="1200" dirty="0">
                <a:solidFill>
                  <a:schemeClr val="bg1"/>
                </a:solidFill>
                <a:latin typeface="Consolas"/>
              </a:rPr>
              <a:t>claude mcp add github -e GITHUB_TOKEN</a:t>
            </a:r>
          </a:p>
          <a:p>
            <a:pPr>
              <a:buNone/>
            </a:pPr>
            <a:r>
              <a:rPr lang="en-US" sz="1200" dirty="0">
                <a:solidFill>
                  <a:schemeClr val="bg1"/>
                </a:solidFill>
                <a:latin typeface="Consolas"/>
              </a:rPr>
              <a:t>  -- npx -y @modelcontextprotocol/server-github</a:t>
            </a:r>
          </a:p>
        </p:txBody>
      </p:sp>
      <p:sp>
        <p:nvSpPr>
          <p:cNvPr id="136" name="T136"/>
          <p:cNvSpPr/>
          <p:nvPr/>
        </p:nvSpPr>
        <p:spPr>
          <a:xfrm>
            <a:off x="5854700" y="3704708"/>
            <a:ext cx="5689600" cy="482600"/>
          </a:xfrm>
          <a:prstGeom prst="rect">
            <a:avLst/>
          </a:prstGeom>
          <a:noFill/>
          <a:ln w="0">
            <a:noFill/>
          </a:ln>
        </p:spPr>
        <p:txBody>
          <a:bodyPr wrap="square" lIns="0" tIns="0" rIns="0" bIns="0" anchor="t"/>
          <a:lstStyle/>
          <a:p>
            <a:pPr>
              <a:buNone/>
            </a:pPr>
            <a:r>
              <a:rPr lang="en-US" sz="1200" dirty="0">
                <a:solidFill>
                  <a:srgbClr val="64748B"/>
                </a:solidFill>
                <a:latin typeface="Aptos"/>
              </a:rPr>
              <a:t>Scopes: </a:t>
            </a:r>
            <a:r>
              <a:rPr lang="en-US" sz="1200" b="1" dirty="0">
                <a:solidFill>
                  <a:srgbClr val="334155"/>
                </a:solidFill>
                <a:latin typeface="Consolas"/>
              </a:rPr>
              <a:t>--scope project</a:t>
            </a:r>
            <a:r>
              <a:rPr lang="en-US" sz="1200" dirty="0">
                <a:solidFill>
                  <a:srgbClr val="64748B"/>
                </a:solidFill>
                <a:latin typeface="Aptos"/>
              </a:rPr>
              <a:t> (repo) or </a:t>
            </a:r>
            <a:r>
              <a:rPr lang="en-US" sz="1200" b="1" dirty="0">
                <a:solidFill>
                  <a:srgbClr val="334155"/>
                </a:solidFill>
                <a:latin typeface="Consolas"/>
              </a:rPr>
              <a:t>--scope user</a:t>
            </a:r>
            <a:r>
              <a:rPr lang="en-US" sz="1200" dirty="0">
                <a:solidFill>
                  <a:srgbClr val="64748B"/>
                </a:solidFill>
                <a:latin typeface="Aptos"/>
              </a:rPr>
              <a:t> (global). Config saved in .</a:t>
            </a:r>
            <a:r>
              <a:rPr lang="en-US" sz="1200" dirty="0" err="1">
                <a:solidFill>
                  <a:srgbClr val="64748B"/>
                </a:solidFill>
                <a:latin typeface="Aptos"/>
              </a:rPr>
              <a:t>mcp.json</a:t>
            </a:r>
            <a:endParaRPr lang="en-US" sz="1200" dirty="0">
              <a:solidFill>
                <a:srgbClr val="64748B"/>
              </a:solidFill>
              <a:latin typeface="Aptos"/>
            </a:endParaRPr>
          </a:p>
        </p:txBody>
      </p:sp>
      <p:sp>
        <p:nvSpPr>
          <p:cNvPr id="137" name="S137"/>
          <p:cNvSpPr/>
          <p:nvPr/>
        </p:nvSpPr>
        <p:spPr>
          <a:xfrm>
            <a:off x="5651500" y="4390508"/>
            <a:ext cx="6096000" cy="1651000"/>
          </a:xfrm>
          <a:prstGeom prst="roundRect">
            <a:avLst>
              <a:gd name="adj" fmla="val 6000"/>
            </a:avLst>
          </a:prstGeom>
          <a:solidFill>
            <a:srgbClr val="ECFDF5"/>
          </a:solidFill>
          <a:ln w="0">
            <a:noFill/>
          </a:ln>
        </p:spPr>
        <p:txBody>
          <a:bodyPr wrap="square" lIns="72000" tIns="36000" rIns="72000" bIns="36000" anchor="ctr"/>
          <a:lstStyle/>
          <a:p>
            <a:endParaRPr lang="en-US" dirty="0"/>
          </a:p>
        </p:txBody>
      </p:sp>
      <p:sp>
        <p:nvSpPr>
          <p:cNvPr id="138" name="S138"/>
          <p:cNvSpPr/>
          <p:nvPr/>
        </p:nvSpPr>
        <p:spPr>
          <a:xfrm>
            <a:off x="5651500" y="4390508"/>
            <a:ext cx="6096000" cy="50800"/>
          </a:xfrm>
          <a:prstGeom prst="rect">
            <a:avLst/>
          </a:prstGeom>
          <a:solidFill>
            <a:srgbClr val="059669"/>
          </a:solidFill>
          <a:ln w="0">
            <a:noFill/>
          </a:ln>
        </p:spPr>
        <p:txBody>
          <a:bodyPr wrap="square" lIns="72000" tIns="36000" rIns="72000" bIns="36000" anchor="ctr"/>
          <a:lstStyle/>
          <a:p>
            <a:endParaRPr lang="en-US"/>
          </a:p>
        </p:txBody>
      </p:sp>
      <p:sp>
        <p:nvSpPr>
          <p:cNvPr id="139" name="T139"/>
          <p:cNvSpPr/>
          <p:nvPr/>
        </p:nvSpPr>
        <p:spPr>
          <a:xfrm>
            <a:off x="5854700" y="4517508"/>
            <a:ext cx="5689600" cy="228600"/>
          </a:xfrm>
          <a:prstGeom prst="rect">
            <a:avLst/>
          </a:prstGeom>
          <a:noFill/>
          <a:ln w="0">
            <a:noFill/>
          </a:ln>
        </p:spPr>
        <p:txBody>
          <a:bodyPr wrap="square" lIns="0" tIns="0" rIns="0" bIns="0" anchor="t"/>
          <a:lstStyle/>
          <a:p>
            <a:pPr>
              <a:buNone/>
            </a:pPr>
            <a:r>
              <a:rPr lang="en-US" sz="1400" b="1" dirty="0">
                <a:solidFill>
                  <a:srgbClr val="059669"/>
                </a:solidFill>
                <a:latin typeface="Aptos"/>
              </a:rPr>
              <a:t>Key capabilities</a:t>
            </a:r>
          </a:p>
        </p:txBody>
      </p:sp>
      <p:sp>
        <p:nvSpPr>
          <p:cNvPr id="140" name="T140"/>
          <p:cNvSpPr/>
          <p:nvPr/>
        </p:nvSpPr>
        <p:spPr>
          <a:xfrm>
            <a:off x="5854700" y="4771508"/>
            <a:ext cx="5829300" cy="1168400"/>
          </a:xfrm>
          <a:prstGeom prst="rect">
            <a:avLst/>
          </a:prstGeom>
          <a:noFill/>
          <a:ln w="0">
            <a:noFill/>
          </a:ln>
        </p:spPr>
        <p:txBody>
          <a:bodyPr wrap="square" lIns="0" tIns="0" rIns="0" bIns="0" anchor="t"/>
          <a:lstStyle/>
          <a:p>
            <a:pPr marL="171450" indent="-171450">
              <a:spcBef>
                <a:spcPts val="200"/>
              </a:spcBef>
              <a:buFont typeface="Arial"/>
              <a:buChar char="•"/>
            </a:pPr>
            <a:r>
              <a:rPr lang="en-US" sz="1200" b="1" dirty="0">
                <a:solidFill>
                  <a:srgbClr val="334155"/>
                </a:solidFill>
                <a:latin typeface="Aptos"/>
              </a:rPr>
              <a:t>Elicitation</a:t>
            </a:r>
            <a:r>
              <a:rPr lang="en-US" sz="1200" dirty="0">
                <a:solidFill>
                  <a:srgbClr val="334155"/>
                </a:solidFill>
                <a:latin typeface="Aptos"/>
              </a:rPr>
              <a:t> — servers request structured input mid-task via interactive dialogs</a:t>
            </a:r>
          </a:p>
          <a:p>
            <a:pPr marL="171450" indent="-171450">
              <a:spcBef>
                <a:spcPts val="200"/>
              </a:spcBef>
              <a:buFont typeface="Arial"/>
              <a:buChar char="•"/>
            </a:pPr>
            <a:r>
              <a:rPr lang="en-US" sz="1200" b="1" dirty="0">
                <a:solidFill>
                  <a:srgbClr val="334155"/>
                </a:solidFill>
                <a:latin typeface="Aptos"/>
              </a:rPr>
              <a:t>OAuth</a:t>
            </a:r>
            <a:r>
              <a:rPr lang="en-US" sz="1200" dirty="0">
                <a:solidFill>
                  <a:srgbClr val="334155"/>
                </a:solidFill>
                <a:latin typeface="Aptos"/>
              </a:rPr>
              <a:t> — browser-based auth flow; complete in browser, confirm in CLI</a:t>
            </a:r>
          </a:p>
          <a:p>
            <a:pPr marL="171450" indent="-171450">
              <a:spcBef>
                <a:spcPts val="200"/>
              </a:spcBef>
              <a:buFont typeface="Arial"/>
              <a:buChar char="•"/>
            </a:pPr>
            <a:r>
              <a:rPr lang="en-US" sz="1200" b="1" dirty="0">
                <a:solidFill>
                  <a:srgbClr val="334155"/>
                </a:solidFill>
                <a:latin typeface="Aptos"/>
              </a:rPr>
              <a:t>Resources</a:t>
            </a:r>
            <a:r>
              <a:rPr lang="en-US" sz="1200" dirty="0">
                <a:solidFill>
                  <a:srgbClr val="334155"/>
                </a:solidFill>
                <a:latin typeface="Aptos"/>
              </a:rPr>
              <a:t> — @mention MCP resources in prompts like files from connected servers</a:t>
            </a:r>
          </a:p>
          <a:p>
            <a:pPr marL="171450" indent="-171450">
              <a:spcBef>
                <a:spcPts val="200"/>
              </a:spcBef>
              <a:buFont typeface="Arial"/>
              <a:buChar char="•"/>
            </a:pPr>
            <a:r>
              <a:rPr lang="en-US" sz="1200" b="1" dirty="0">
                <a:solidFill>
                  <a:srgbClr val="334155"/>
                </a:solidFill>
                <a:latin typeface="Aptos"/>
              </a:rPr>
              <a:t>Permissions</a:t>
            </a:r>
            <a:r>
              <a:rPr lang="en-US" sz="1200" dirty="0">
                <a:solidFill>
                  <a:srgbClr val="334155"/>
                </a:solidFill>
                <a:latin typeface="Aptos"/>
              </a:rPr>
              <a:t> — explicit approval per tool call; configure auto-approve for trusted servers</a:t>
            </a:r>
          </a:p>
        </p:txBody>
      </p:sp>
    </p:spTree>
    <p:extLst>
      <p:ext uri="{BB962C8B-B14F-4D97-AF65-F5344CB8AC3E}">
        <p14:creationId xmlns:p14="http://schemas.microsoft.com/office/powerpoint/2010/main" val="235183645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11">
    <p:bg>
      <p:bgPr>
        <a:solidFill>
          <a:srgbClr val="FFFFFF">
            <a:alpha val="100000"/>
          </a:srgbClr>
        </a:solidFill>
        <a:effectLst/>
      </p:bgPr>
    </p:bg>
    <p:spTree>
      <p:nvGrpSpPr>
        <p:cNvPr id="1" name=""/>
        <p:cNvGrpSpPr/>
        <p:nvPr/>
      </p:nvGrpSpPr>
      <p:grpSpPr>
        <a:xfrm>
          <a:off x="0" y="0"/>
          <a:ext cx="0" cy="0"/>
          <a:chOff x="0" y="0"/>
          <a:chExt cx="0" cy="0"/>
        </a:xfrm>
      </p:grpSpPr>
      <p:sp>
        <p:nvSpPr>
          <p:cNvPr id="2" name="Text 0"/>
          <p:cNvSpPr/>
          <p:nvPr/>
        </p:nvSpPr>
        <p:spPr>
          <a:xfrm>
            <a:off x="658368" y="76200"/>
            <a:ext cx="8046720" cy="381000"/>
          </a:xfrm>
          <a:prstGeom prst="rect">
            <a:avLst/>
          </a:prstGeom>
          <a:noFill/>
          <a:ln/>
        </p:spPr>
        <p:txBody>
          <a:bodyPr wrap="square" lIns="0" tIns="0" rIns="0" bIns="0" rtlCol="0" anchor="ctr"/>
          <a:lstStyle/>
          <a:p>
            <a:pPr marL="0" indent="0">
              <a:buNone/>
            </a:pPr>
            <a:r>
              <a:rPr lang="en-US" sz="2700" b="1" dirty="0">
                <a:solidFill>
                  <a:srgbClr val="FFFFFF"/>
                </a:solidFill>
                <a:latin typeface="Aptos Display" pitchFamily="34" charset="0"/>
                <a:ea typeface="Aptos Display" pitchFamily="34" charset="-122"/>
                <a:cs typeface="Aptos Display" pitchFamily="34" charset="-120"/>
              </a:rPr>
              <a:t>Enterprise deployment and governance</a:t>
            </a:r>
            <a:endParaRPr lang="en-US" sz="2700" dirty="0">
              <a:solidFill>
                <a:srgbClr val="FFFFFF"/>
              </a:solidFill>
            </a:endParaRPr>
          </a:p>
        </p:txBody>
      </p:sp>
      <p:sp>
        <p:nvSpPr>
          <p:cNvPr id="3" name="Text 1"/>
          <p:cNvSpPr/>
          <p:nvPr/>
        </p:nvSpPr>
        <p:spPr>
          <a:xfrm>
            <a:off x="658368" y="609600"/>
            <a:ext cx="9509760" cy="254000"/>
          </a:xfrm>
          <a:prstGeom prst="rect">
            <a:avLst/>
          </a:prstGeom>
          <a:noFill/>
          <a:ln/>
        </p:spPr>
        <p:txBody>
          <a:bodyPr wrap="square" lIns="0" tIns="0" rIns="0" bIns="0" rtlCol="0" anchor="ctr"/>
          <a:lstStyle/>
          <a:p>
            <a:pPr marL="0" indent="0">
              <a:buNone/>
            </a:pPr>
            <a:r>
              <a:rPr lang="en-US" sz="1400" dirty="0">
                <a:solidFill>
                  <a:srgbClr val="3972C1"/>
                </a:solidFill>
                <a:latin typeface="Aptos" pitchFamily="34" charset="0"/>
                <a:ea typeface="Aptos" pitchFamily="34" charset="-122"/>
                <a:cs typeface="Aptos" pitchFamily="34" charset="-120"/>
              </a:rPr>
              <a:t>Deploy via Anthropic Cloud, Bedrock, Vertex AI, or Microsoft Foundry — with SSO, spend controls, and policies</a:t>
            </a:r>
            <a:endParaRPr lang="en-US" sz="1400" dirty="0">
              <a:solidFill>
                <a:srgbClr val="3972C1"/>
              </a:solidFill>
            </a:endParaRPr>
          </a:p>
        </p:txBody>
      </p:sp>
      <p:sp>
        <p:nvSpPr>
          <p:cNvPr id="4" name="Shape 2"/>
          <p:cNvSpPr/>
          <p:nvPr/>
        </p:nvSpPr>
        <p:spPr>
          <a:xfrm>
            <a:off x="0" y="914399"/>
            <a:ext cx="12192000" cy="13169"/>
          </a:xfrm>
          <a:prstGeom prst="line">
            <a:avLst/>
          </a:prstGeom>
          <a:noFill/>
          <a:ln w="12700">
            <a:solidFill>
              <a:srgbClr val="1565C0"/>
            </a:solidFill>
            <a:prstDash val="solid"/>
          </a:ln>
        </p:spPr>
        <p:txBody>
          <a:bodyPr/>
          <a:lstStyle/>
          <a:p>
            <a:endParaRPr lang="en-US"/>
          </a:p>
        </p:txBody>
      </p:sp>
      <p:sp>
        <p:nvSpPr>
          <p:cNvPr id="30" name="Text 28"/>
          <p:cNvSpPr/>
          <p:nvPr/>
        </p:nvSpPr>
        <p:spPr>
          <a:xfrm>
            <a:off x="658368" y="6428232"/>
            <a:ext cx="3840480" cy="182880"/>
          </a:xfrm>
          <a:prstGeom prst="rect">
            <a:avLst/>
          </a:prstGeom>
          <a:noFill/>
          <a:ln/>
        </p:spPr>
        <p:txBody>
          <a:bodyPr wrap="square" lIns="0" tIns="0" rIns="0" bIns="0" rtlCol="0" anchor="ctr"/>
          <a:lstStyle/>
          <a:p>
            <a:pPr marL="0" indent="0">
              <a:buNone/>
            </a:pPr>
            <a:r>
              <a:rPr lang="en-US" sz="850" dirty="0">
                <a:solidFill>
                  <a:srgbClr val="FFFFFF"/>
                </a:solidFill>
              </a:rPr>
              <a:t>Enterprise deployment</a:t>
            </a:r>
          </a:p>
        </p:txBody>
      </p:sp>
      <p:sp>
        <p:nvSpPr>
          <p:cNvPr id="31" name="Text 29"/>
          <p:cNvSpPr/>
          <p:nvPr/>
        </p:nvSpPr>
        <p:spPr>
          <a:xfrm>
            <a:off x="10424160" y="6428232"/>
            <a:ext cx="1097280" cy="182880"/>
          </a:xfrm>
          <a:prstGeom prst="rect">
            <a:avLst/>
          </a:prstGeom>
          <a:noFill/>
          <a:ln/>
        </p:spPr>
        <p:txBody>
          <a:bodyPr wrap="square" lIns="0" tIns="0" rIns="0" bIns="0" rtlCol="0" anchor="ctr"/>
          <a:lstStyle/>
          <a:p>
            <a:pPr marL="0" indent="0" algn="r">
              <a:buNone/>
            </a:pPr>
            <a:r>
              <a:rPr lang="en-US" sz="850" dirty="0">
                <a:solidFill>
                  <a:srgbClr val="FFFFFF"/>
                </a:solidFill>
              </a:rPr>
              <a:t>48</a:t>
            </a:r>
          </a:p>
        </p:txBody>
      </p:sp>
      <p:sp>
        <p:nvSpPr>
          <p:cNvPr id="100" name="S100"/>
          <p:cNvSpPr/>
          <p:nvPr/>
        </p:nvSpPr>
        <p:spPr>
          <a:xfrm>
            <a:off x="381000" y="1220016"/>
            <a:ext cx="2133600" cy="1333500"/>
          </a:xfrm>
          <a:prstGeom prst="roundRect">
            <a:avLst>
              <a:gd name="adj" fmla="val 6000"/>
            </a:avLst>
          </a:prstGeom>
          <a:solidFill>
            <a:srgbClr val="EFF6FF"/>
          </a:solidFill>
          <a:ln w="9525">
            <a:solidFill>
              <a:srgbClr val="E2E8F0"/>
            </a:solidFill>
          </a:ln>
        </p:spPr>
        <p:txBody>
          <a:bodyPr wrap="square" lIns="72000" tIns="36000" rIns="72000" bIns="36000" anchor="ctr"/>
          <a:lstStyle/>
          <a:p>
            <a:endParaRPr lang="en-US"/>
          </a:p>
        </p:txBody>
      </p:sp>
      <p:sp>
        <p:nvSpPr>
          <p:cNvPr id="101" name="S101"/>
          <p:cNvSpPr/>
          <p:nvPr/>
        </p:nvSpPr>
        <p:spPr>
          <a:xfrm>
            <a:off x="381000" y="1220016"/>
            <a:ext cx="2133600" cy="50800"/>
          </a:xfrm>
          <a:prstGeom prst="rect">
            <a:avLst/>
          </a:prstGeom>
          <a:solidFill>
            <a:srgbClr val="1565C0"/>
          </a:solidFill>
          <a:ln w="0">
            <a:noFill/>
          </a:ln>
        </p:spPr>
        <p:txBody>
          <a:bodyPr wrap="square" lIns="72000" tIns="36000" rIns="72000" bIns="36000" anchor="ctr"/>
          <a:lstStyle/>
          <a:p>
            <a:endParaRPr lang="en-US"/>
          </a:p>
        </p:txBody>
      </p:sp>
      <p:sp>
        <p:nvSpPr>
          <p:cNvPr id="102" name="S102"/>
          <p:cNvSpPr/>
          <p:nvPr/>
        </p:nvSpPr>
        <p:spPr>
          <a:xfrm>
            <a:off x="533400" y="1397816"/>
            <a:ext cx="330200" cy="330200"/>
          </a:xfrm>
          <a:prstGeom prst="ellipse">
            <a:avLst/>
          </a:prstGeom>
          <a:solidFill>
            <a:srgbClr val="1565C0"/>
          </a:solidFill>
          <a:ln w="0">
            <a:noFill/>
          </a:ln>
        </p:spPr>
        <p:txBody>
          <a:bodyPr wrap="square" lIns="72000" tIns="36000" rIns="72000" bIns="36000" anchor="ctr"/>
          <a:lstStyle/>
          <a:p>
            <a:pPr algn="ctr">
              <a:buNone/>
            </a:pPr>
            <a:r>
              <a:rPr lang="en-US" sz="1000" b="1" dirty="0">
                <a:solidFill>
                  <a:srgbClr val="FFFFFF"/>
                </a:solidFill>
                <a:latin typeface="Aptos"/>
              </a:rPr>
              <a:t>1</a:t>
            </a:r>
          </a:p>
        </p:txBody>
      </p:sp>
      <p:sp>
        <p:nvSpPr>
          <p:cNvPr id="103" name="T103"/>
          <p:cNvSpPr/>
          <p:nvPr/>
        </p:nvSpPr>
        <p:spPr>
          <a:xfrm>
            <a:off x="939800" y="1397816"/>
            <a:ext cx="1422400" cy="254000"/>
          </a:xfrm>
          <a:prstGeom prst="rect">
            <a:avLst/>
          </a:prstGeom>
          <a:noFill/>
          <a:ln w="0">
            <a:noFill/>
          </a:ln>
        </p:spPr>
        <p:txBody>
          <a:bodyPr wrap="square" lIns="0" tIns="0" rIns="0" bIns="0" anchor="t"/>
          <a:lstStyle/>
          <a:p>
            <a:pPr>
              <a:buNone/>
            </a:pPr>
            <a:r>
              <a:rPr lang="en-US" sz="1200" b="1" dirty="0">
                <a:solidFill>
                  <a:srgbClr val="1565C0"/>
                </a:solidFill>
                <a:latin typeface="Aptos"/>
              </a:rPr>
              <a:t>Identity</a:t>
            </a:r>
          </a:p>
        </p:txBody>
      </p:sp>
      <p:sp>
        <p:nvSpPr>
          <p:cNvPr id="104" name="T104"/>
          <p:cNvSpPr/>
          <p:nvPr/>
        </p:nvSpPr>
        <p:spPr>
          <a:xfrm>
            <a:off x="533400" y="1829616"/>
            <a:ext cx="1828800" cy="635000"/>
          </a:xfrm>
          <a:prstGeom prst="rect">
            <a:avLst/>
          </a:prstGeom>
          <a:noFill/>
          <a:ln w="0">
            <a:noFill/>
          </a:ln>
        </p:spPr>
        <p:txBody>
          <a:bodyPr wrap="square" lIns="0" tIns="0" rIns="0" bIns="0" anchor="t"/>
          <a:lstStyle/>
          <a:p>
            <a:pPr>
              <a:buNone/>
            </a:pPr>
            <a:r>
              <a:rPr lang="en-US" sz="900" dirty="0">
                <a:solidFill>
                  <a:srgbClr val="475569"/>
                </a:solidFill>
                <a:latin typeface="Aptos"/>
              </a:rPr>
              <a:t>SSO (Okta, Azure AD, SAML 2.0) + SCIM auto-provisioning</a:t>
            </a:r>
          </a:p>
        </p:txBody>
      </p:sp>
      <p:sp>
        <p:nvSpPr>
          <p:cNvPr id="105" name="A105"/>
          <p:cNvSpPr/>
          <p:nvPr/>
        </p:nvSpPr>
        <p:spPr>
          <a:xfrm>
            <a:off x="2527300" y="1886766"/>
            <a:ext cx="152400" cy="0"/>
          </a:xfrm>
          <a:prstGeom prst="line">
            <a:avLst/>
          </a:prstGeom>
          <a:ln w="15875">
            <a:solidFill>
              <a:srgbClr val="94A3B8"/>
            </a:solidFill>
            <a:tailEnd type="triangle" w="med" len="med"/>
          </a:ln>
        </p:spPr>
        <p:txBody>
          <a:bodyPr/>
          <a:lstStyle/>
          <a:p>
            <a:endParaRPr lang="en-US"/>
          </a:p>
        </p:txBody>
      </p:sp>
      <p:sp>
        <p:nvSpPr>
          <p:cNvPr id="106" name="S106"/>
          <p:cNvSpPr/>
          <p:nvPr/>
        </p:nvSpPr>
        <p:spPr>
          <a:xfrm>
            <a:off x="2667000" y="1220016"/>
            <a:ext cx="2133600" cy="1333500"/>
          </a:xfrm>
          <a:prstGeom prst="roundRect">
            <a:avLst>
              <a:gd name="adj" fmla="val 6000"/>
            </a:avLst>
          </a:prstGeom>
          <a:solidFill>
            <a:srgbClr val="F5F0FF"/>
          </a:solidFill>
          <a:ln w="9525">
            <a:solidFill>
              <a:srgbClr val="E2E8F0"/>
            </a:solidFill>
          </a:ln>
        </p:spPr>
        <p:txBody>
          <a:bodyPr wrap="square" lIns="72000" tIns="36000" rIns="72000" bIns="36000" anchor="ctr"/>
          <a:lstStyle/>
          <a:p>
            <a:endParaRPr lang="en-US"/>
          </a:p>
        </p:txBody>
      </p:sp>
      <p:sp>
        <p:nvSpPr>
          <p:cNvPr id="107" name="S107"/>
          <p:cNvSpPr/>
          <p:nvPr/>
        </p:nvSpPr>
        <p:spPr>
          <a:xfrm>
            <a:off x="2667000" y="1220016"/>
            <a:ext cx="2133600" cy="50800"/>
          </a:xfrm>
          <a:prstGeom prst="rect">
            <a:avLst/>
          </a:prstGeom>
          <a:solidFill>
            <a:srgbClr val="7C3AED"/>
          </a:solidFill>
          <a:ln w="0">
            <a:noFill/>
          </a:ln>
        </p:spPr>
        <p:txBody>
          <a:bodyPr wrap="square" lIns="72000" tIns="36000" rIns="72000" bIns="36000" anchor="ctr"/>
          <a:lstStyle/>
          <a:p>
            <a:endParaRPr lang="en-US"/>
          </a:p>
        </p:txBody>
      </p:sp>
      <p:sp>
        <p:nvSpPr>
          <p:cNvPr id="108" name="S108"/>
          <p:cNvSpPr/>
          <p:nvPr/>
        </p:nvSpPr>
        <p:spPr>
          <a:xfrm>
            <a:off x="2819400" y="1397816"/>
            <a:ext cx="330200" cy="330200"/>
          </a:xfrm>
          <a:prstGeom prst="ellipse">
            <a:avLst/>
          </a:prstGeom>
          <a:solidFill>
            <a:srgbClr val="7C3AED"/>
          </a:solidFill>
          <a:ln w="0">
            <a:noFill/>
          </a:ln>
        </p:spPr>
        <p:txBody>
          <a:bodyPr wrap="square" lIns="72000" tIns="36000" rIns="72000" bIns="36000" anchor="ctr"/>
          <a:lstStyle/>
          <a:p>
            <a:pPr algn="ctr">
              <a:buNone/>
            </a:pPr>
            <a:r>
              <a:rPr lang="en-US" sz="1000" b="1" dirty="0">
                <a:solidFill>
                  <a:srgbClr val="FFFFFF"/>
                </a:solidFill>
                <a:latin typeface="Aptos"/>
              </a:rPr>
              <a:t>2</a:t>
            </a:r>
          </a:p>
        </p:txBody>
      </p:sp>
      <p:sp>
        <p:nvSpPr>
          <p:cNvPr id="109" name="T109"/>
          <p:cNvSpPr/>
          <p:nvPr/>
        </p:nvSpPr>
        <p:spPr>
          <a:xfrm>
            <a:off x="3225800" y="1397816"/>
            <a:ext cx="1422400" cy="254000"/>
          </a:xfrm>
          <a:prstGeom prst="rect">
            <a:avLst/>
          </a:prstGeom>
          <a:noFill/>
          <a:ln w="0">
            <a:noFill/>
          </a:ln>
        </p:spPr>
        <p:txBody>
          <a:bodyPr wrap="square" lIns="0" tIns="0" rIns="0" bIns="0" anchor="t"/>
          <a:lstStyle/>
          <a:p>
            <a:pPr>
              <a:buNone/>
            </a:pPr>
            <a:r>
              <a:rPr lang="en-US" sz="1200" b="1" dirty="0">
                <a:solidFill>
                  <a:srgbClr val="7C3AED"/>
                </a:solidFill>
                <a:latin typeface="Aptos"/>
              </a:rPr>
              <a:t>Permissions</a:t>
            </a:r>
          </a:p>
        </p:txBody>
      </p:sp>
      <p:sp>
        <p:nvSpPr>
          <p:cNvPr id="110" name="T110"/>
          <p:cNvSpPr/>
          <p:nvPr/>
        </p:nvSpPr>
        <p:spPr>
          <a:xfrm>
            <a:off x="2819400" y="1829616"/>
            <a:ext cx="1828800" cy="635000"/>
          </a:xfrm>
          <a:prstGeom prst="rect">
            <a:avLst/>
          </a:prstGeom>
          <a:noFill/>
          <a:ln w="0">
            <a:noFill/>
          </a:ln>
        </p:spPr>
        <p:txBody>
          <a:bodyPr wrap="square" lIns="0" tIns="0" rIns="0" bIns="0" anchor="t"/>
          <a:lstStyle/>
          <a:p>
            <a:pPr>
              <a:buNone/>
            </a:pPr>
            <a:r>
              <a:rPr lang="en-US" sz="900" dirty="0">
                <a:solidFill>
                  <a:srgbClr val="475569"/>
                </a:solidFill>
                <a:latin typeface="Aptos"/>
              </a:rPr>
              <a:t>Managed policies: centrally enforce what Claude can and cannot do</a:t>
            </a:r>
          </a:p>
        </p:txBody>
      </p:sp>
      <p:sp>
        <p:nvSpPr>
          <p:cNvPr id="111" name="A111"/>
          <p:cNvSpPr/>
          <p:nvPr/>
        </p:nvSpPr>
        <p:spPr>
          <a:xfrm>
            <a:off x="4813300" y="1886766"/>
            <a:ext cx="152400" cy="0"/>
          </a:xfrm>
          <a:prstGeom prst="line">
            <a:avLst/>
          </a:prstGeom>
          <a:ln w="15875">
            <a:solidFill>
              <a:srgbClr val="94A3B8"/>
            </a:solidFill>
            <a:tailEnd type="triangle" w="med" len="med"/>
          </a:ln>
        </p:spPr>
        <p:txBody>
          <a:bodyPr/>
          <a:lstStyle/>
          <a:p>
            <a:endParaRPr lang="en-US"/>
          </a:p>
        </p:txBody>
      </p:sp>
      <p:sp>
        <p:nvSpPr>
          <p:cNvPr id="112" name="S112"/>
          <p:cNvSpPr/>
          <p:nvPr/>
        </p:nvSpPr>
        <p:spPr>
          <a:xfrm>
            <a:off x="4953000" y="1220016"/>
            <a:ext cx="2133600" cy="1333500"/>
          </a:xfrm>
          <a:prstGeom prst="roundRect">
            <a:avLst>
              <a:gd name="adj" fmla="val 6000"/>
            </a:avLst>
          </a:prstGeom>
          <a:solidFill>
            <a:srgbClr val="ECFDF5"/>
          </a:solidFill>
          <a:ln w="9525">
            <a:solidFill>
              <a:srgbClr val="E2E8F0"/>
            </a:solidFill>
          </a:ln>
        </p:spPr>
        <p:txBody>
          <a:bodyPr wrap="square" lIns="72000" tIns="36000" rIns="72000" bIns="36000" anchor="ctr"/>
          <a:lstStyle/>
          <a:p>
            <a:endParaRPr lang="en-US"/>
          </a:p>
        </p:txBody>
      </p:sp>
      <p:sp>
        <p:nvSpPr>
          <p:cNvPr id="113" name="S113"/>
          <p:cNvSpPr/>
          <p:nvPr/>
        </p:nvSpPr>
        <p:spPr>
          <a:xfrm>
            <a:off x="4953000" y="1220016"/>
            <a:ext cx="2133600" cy="50800"/>
          </a:xfrm>
          <a:prstGeom prst="rect">
            <a:avLst/>
          </a:prstGeom>
          <a:solidFill>
            <a:srgbClr val="059669"/>
          </a:solidFill>
          <a:ln w="0">
            <a:noFill/>
          </a:ln>
        </p:spPr>
        <p:txBody>
          <a:bodyPr wrap="square" lIns="72000" tIns="36000" rIns="72000" bIns="36000" anchor="ctr"/>
          <a:lstStyle/>
          <a:p>
            <a:endParaRPr lang="en-US"/>
          </a:p>
        </p:txBody>
      </p:sp>
      <p:sp>
        <p:nvSpPr>
          <p:cNvPr id="114" name="S114"/>
          <p:cNvSpPr/>
          <p:nvPr/>
        </p:nvSpPr>
        <p:spPr>
          <a:xfrm>
            <a:off x="5105400" y="1397816"/>
            <a:ext cx="330200" cy="330200"/>
          </a:xfrm>
          <a:prstGeom prst="ellipse">
            <a:avLst/>
          </a:prstGeom>
          <a:solidFill>
            <a:srgbClr val="059669"/>
          </a:solidFill>
          <a:ln w="0">
            <a:noFill/>
          </a:ln>
        </p:spPr>
        <p:txBody>
          <a:bodyPr wrap="square" lIns="72000" tIns="36000" rIns="72000" bIns="36000" anchor="ctr"/>
          <a:lstStyle/>
          <a:p>
            <a:pPr algn="ctr">
              <a:buNone/>
            </a:pPr>
            <a:r>
              <a:rPr lang="en-US" sz="1000" b="1" dirty="0">
                <a:solidFill>
                  <a:srgbClr val="FFFFFF"/>
                </a:solidFill>
                <a:latin typeface="Aptos"/>
              </a:rPr>
              <a:t>3</a:t>
            </a:r>
          </a:p>
        </p:txBody>
      </p:sp>
      <p:sp>
        <p:nvSpPr>
          <p:cNvPr id="115" name="T115"/>
          <p:cNvSpPr/>
          <p:nvPr/>
        </p:nvSpPr>
        <p:spPr>
          <a:xfrm>
            <a:off x="5511800" y="1397816"/>
            <a:ext cx="1422400" cy="254000"/>
          </a:xfrm>
          <a:prstGeom prst="rect">
            <a:avLst/>
          </a:prstGeom>
          <a:noFill/>
          <a:ln w="0">
            <a:noFill/>
          </a:ln>
        </p:spPr>
        <p:txBody>
          <a:bodyPr wrap="square" lIns="0" tIns="0" rIns="0" bIns="0" anchor="t"/>
          <a:lstStyle/>
          <a:p>
            <a:pPr>
              <a:buNone/>
            </a:pPr>
            <a:r>
              <a:rPr lang="en-US" sz="1200" b="1" dirty="0">
                <a:solidFill>
                  <a:srgbClr val="059669"/>
                </a:solidFill>
                <a:latin typeface="Aptos"/>
              </a:rPr>
              <a:t>Implement</a:t>
            </a:r>
          </a:p>
        </p:txBody>
      </p:sp>
      <p:sp>
        <p:nvSpPr>
          <p:cNvPr id="116" name="T116"/>
          <p:cNvSpPr/>
          <p:nvPr/>
        </p:nvSpPr>
        <p:spPr>
          <a:xfrm>
            <a:off x="5105400" y="1829616"/>
            <a:ext cx="1828800" cy="635000"/>
          </a:xfrm>
          <a:prstGeom prst="rect">
            <a:avLst/>
          </a:prstGeom>
          <a:noFill/>
          <a:ln w="0">
            <a:noFill/>
          </a:ln>
        </p:spPr>
        <p:txBody>
          <a:bodyPr wrap="square" lIns="0" tIns="0" rIns="0" bIns="0" anchor="t"/>
          <a:lstStyle/>
          <a:p>
            <a:pPr>
              <a:buNone/>
            </a:pPr>
            <a:r>
              <a:rPr lang="en-US" sz="900" dirty="0">
                <a:solidFill>
                  <a:srgbClr val="475569"/>
                </a:solidFill>
                <a:latin typeface="Aptos"/>
              </a:rPr>
              <a:t>Per-org and per-user spend caps with API-rate billing</a:t>
            </a:r>
          </a:p>
        </p:txBody>
      </p:sp>
      <p:sp>
        <p:nvSpPr>
          <p:cNvPr id="117" name="A117"/>
          <p:cNvSpPr/>
          <p:nvPr/>
        </p:nvSpPr>
        <p:spPr>
          <a:xfrm>
            <a:off x="7099300" y="1886766"/>
            <a:ext cx="152400" cy="0"/>
          </a:xfrm>
          <a:prstGeom prst="line">
            <a:avLst/>
          </a:prstGeom>
          <a:ln w="15875">
            <a:solidFill>
              <a:srgbClr val="94A3B8"/>
            </a:solidFill>
            <a:tailEnd type="triangle" w="med" len="med"/>
          </a:ln>
        </p:spPr>
        <p:txBody>
          <a:bodyPr/>
          <a:lstStyle/>
          <a:p>
            <a:endParaRPr lang="en-US"/>
          </a:p>
        </p:txBody>
      </p:sp>
      <p:sp>
        <p:nvSpPr>
          <p:cNvPr id="118" name="S118"/>
          <p:cNvSpPr/>
          <p:nvPr/>
        </p:nvSpPr>
        <p:spPr>
          <a:xfrm>
            <a:off x="7239000" y="1220016"/>
            <a:ext cx="2133600" cy="1333500"/>
          </a:xfrm>
          <a:prstGeom prst="roundRect">
            <a:avLst>
              <a:gd name="adj" fmla="val 6000"/>
            </a:avLst>
          </a:prstGeom>
          <a:solidFill>
            <a:srgbClr val="FFF7ED"/>
          </a:solidFill>
          <a:ln w="9525">
            <a:solidFill>
              <a:srgbClr val="E2E8F0"/>
            </a:solidFill>
          </a:ln>
        </p:spPr>
        <p:txBody>
          <a:bodyPr wrap="square" lIns="72000" tIns="36000" rIns="72000" bIns="36000" anchor="ctr"/>
          <a:lstStyle/>
          <a:p>
            <a:endParaRPr lang="en-US"/>
          </a:p>
        </p:txBody>
      </p:sp>
      <p:sp>
        <p:nvSpPr>
          <p:cNvPr id="119" name="S119"/>
          <p:cNvSpPr/>
          <p:nvPr/>
        </p:nvSpPr>
        <p:spPr>
          <a:xfrm>
            <a:off x="7239000" y="1220016"/>
            <a:ext cx="2133600" cy="50800"/>
          </a:xfrm>
          <a:prstGeom prst="rect">
            <a:avLst/>
          </a:prstGeom>
          <a:solidFill>
            <a:srgbClr val="D4622B"/>
          </a:solidFill>
          <a:ln w="0">
            <a:noFill/>
          </a:ln>
        </p:spPr>
        <p:txBody>
          <a:bodyPr wrap="square" lIns="72000" tIns="36000" rIns="72000" bIns="36000" anchor="ctr"/>
          <a:lstStyle/>
          <a:p>
            <a:endParaRPr lang="en-US"/>
          </a:p>
        </p:txBody>
      </p:sp>
      <p:sp>
        <p:nvSpPr>
          <p:cNvPr id="120" name="S120"/>
          <p:cNvSpPr/>
          <p:nvPr/>
        </p:nvSpPr>
        <p:spPr>
          <a:xfrm>
            <a:off x="7391400" y="1397816"/>
            <a:ext cx="330200" cy="330200"/>
          </a:xfrm>
          <a:prstGeom prst="ellipse">
            <a:avLst/>
          </a:prstGeom>
          <a:solidFill>
            <a:srgbClr val="D4622B"/>
          </a:solidFill>
          <a:ln w="0">
            <a:noFill/>
          </a:ln>
        </p:spPr>
        <p:txBody>
          <a:bodyPr wrap="square" lIns="72000" tIns="36000" rIns="72000" bIns="36000" anchor="ctr"/>
          <a:lstStyle/>
          <a:p>
            <a:pPr algn="ctr">
              <a:buNone/>
            </a:pPr>
            <a:r>
              <a:rPr lang="en-US" sz="1000" b="1" dirty="0">
                <a:solidFill>
                  <a:srgbClr val="FFFFFF"/>
                </a:solidFill>
                <a:latin typeface="Aptos"/>
              </a:rPr>
              <a:t>4</a:t>
            </a:r>
          </a:p>
        </p:txBody>
      </p:sp>
      <p:sp>
        <p:nvSpPr>
          <p:cNvPr id="121" name="T121"/>
          <p:cNvSpPr/>
          <p:nvPr/>
        </p:nvSpPr>
        <p:spPr>
          <a:xfrm>
            <a:off x="7797800" y="1397816"/>
            <a:ext cx="1422400" cy="254000"/>
          </a:xfrm>
          <a:prstGeom prst="rect">
            <a:avLst/>
          </a:prstGeom>
          <a:noFill/>
          <a:ln w="0">
            <a:noFill/>
          </a:ln>
        </p:spPr>
        <p:txBody>
          <a:bodyPr wrap="square" lIns="0" tIns="0" rIns="0" bIns="0" anchor="t"/>
          <a:lstStyle/>
          <a:p>
            <a:pPr>
              <a:buNone/>
            </a:pPr>
            <a:r>
              <a:rPr lang="en-US" sz="1200" b="1" dirty="0">
                <a:solidFill>
                  <a:srgbClr val="D4622B"/>
                </a:solidFill>
                <a:latin typeface="Aptos"/>
              </a:rPr>
              <a:t>Validate</a:t>
            </a:r>
          </a:p>
        </p:txBody>
      </p:sp>
      <p:sp>
        <p:nvSpPr>
          <p:cNvPr id="122" name="T122"/>
          <p:cNvSpPr/>
          <p:nvPr/>
        </p:nvSpPr>
        <p:spPr>
          <a:xfrm>
            <a:off x="7391400" y="1829616"/>
            <a:ext cx="1828800" cy="635000"/>
          </a:xfrm>
          <a:prstGeom prst="rect">
            <a:avLst/>
          </a:prstGeom>
          <a:noFill/>
          <a:ln w="0">
            <a:noFill/>
          </a:ln>
        </p:spPr>
        <p:txBody>
          <a:bodyPr wrap="square" lIns="0" tIns="0" rIns="0" bIns="0" anchor="t"/>
          <a:lstStyle/>
          <a:p>
            <a:pPr>
              <a:buNone/>
            </a:pPr>
            <a:r>
              <a:rPr lang="en-US" sz="900" dirty="0">
                <a:solidFill>
                  <a:srgbClr val="475569"/>
                </a:solidFill>
                <a:latin typeface="Aptos"/>
              </a:rPr>
              <a:t>OpenTelemetry traces, Analytics API, full audit logs</a:t>
            </a:r>
          </a:p>
        </p:txBody>
      </p:sp>
      <p:sp>
        <p:nvSpPr>
          <p:cNvPr id="123" name="A123"/>
          <p:cNvSpPr/>
          <p:nvPr/>
        </p:nvSpPr>
        <p:spPr>
          <a:xfrm>
            <a:off x="9385300" y="1886766"/>
            <a:ext cx="152400" cy="0"/>
          </a:xfrm>
          <a:prstGeom prst="line">
            <a:avLst/>
          </a:prstGeom>
          <a:ln w="15875">
            <a:solidFill>
              <a:srgbClr val="94A3B8"/>
            </a:solidFill>
            <a:tailEnd type="triangle" w="med" len="med"/>
          </a:ln>
        </p:spPr>
        <p:txBody>
          <a:bodyPr/>
          <a:lstStyle/>
          <a:p>
            <a:endParaRPr lang="en-US"/>
          </a:p>
        </p:txBody>
      </p:sp>
      <p:sp>
        <p:nvSpPr>
          <p:cNvPr id="124" name="S124"/>
          <p:cNvSpPr/>
          <p:nvPr/>
        </p:nvSpPr>
        <p:spPr>
          <a:xfrm>
            <a:off x="9525000" y="1220016"/>
            <a:ext cx="2133600" cy="1333500"/>
          </a:xfrm>
          <a:prstGeom prst="roundRect">
            <a:avLst>
              <a:gd name="adj" fmla="val 6000"/>
            </a:avLst>
          </a:prstGeom>
          <a:solidFill>
            <a:srgbClr val="FEF2F2"/>
          </a:solidFill>
          <a:ln w="9525">
            <a:solidFill>
              <a:srgbClr val="E2E8F0"/>
            </a:solidFill>
          </a:ln>
        </p:spPr>
        <p:txBody>
          <a:bodyPr wrap="square" lIns="72000" tIns="36000" rIns="72000" bIns="36000" anchor="ctr"/>
          <a:lstStyle/>
          <a:p>
            <a:endParaRPr lang="en-US"/>
          </a:p>
        </p:txBody>
      </p:sp>
      <p:sp>
        <p:nvSpPr>
          <p:cNvPr id="125" name="S125"/>
          <p:cNvSpPr/>
          <p:nvPr/>
        </p:nvSpPr>
        <p:spPr>
          <a:xfrm>
            <a:off x="9525000" y="1220016"/>
            <a:ext cx="2133600" cy="50800"/>
          </a:xfrm>
          <a:prstGeom prst="rect">
            <a:avLst/>
          </a:prstGeom>
          <a:solidFill>
            <a:srgbClr val="DC2626"/>
          </a:solidFill>
          <a:ln w="0">
            <a:noFill/>
          </a:ln>
        </p:spPr>
        <p:txBody>
          <a:bodyPr wrap="square" lIns="72000" tIns="36000" rIns="72000" bIns="36000" anchor="ctr"/>
          <a:lstStyle/>
          <a:p>
            <a:endParaRPr lang="en-US"/>
          </a:p>
        </p:txBody>
      </p:sp>
      <p:sp>
        <p:nvSpPr>
          <p:cNvPr id="126" name="S126"/>
          <p:cNvSpPr/>
          <p:nvPr/>
        </p:nvSpPr>
        <p:spPr>
          <a:xfrm>
            <a:off x="9677400" y="1397816"/>
            <a:ext cx="330200" cy="330200"/>
          </a:xfrm>
          <a:prstGeom prst="ellipse">
            <a:avLst/>
          </a:prstGeom>
          <a:solidFill>
            <a:srgbClr val="DC2626"/>
          </a:solidFill>
          <a:ln w="0">
            <a:noFill/>
          </a:ln>
        </p:spPr>
        <p:txBody>
          <a:bodyPr wrap="square" lIns="72000" tIns="36000" rIns="72000" bIns="36000" anchor="ctr"/>
          <a:lstStyle/>
          <a:p>
            <a:pPr algn="ctr">
              <a:buNone/>
            </a:pPr>
            <a:r>
              <a:rPr lang="en-US" sz="1000" b="1" dirty="0">
                <a:solidFill>
                  <a:srgbClr val="FFFFFF"/>
                </a:solidFill>
                <a:latin typeface="Aptos"/>
              </a:rPr>
              <a:t>5</a:t>
            </a:r>
          </a:p>
        </p:txBody>
      </p:sp>
      <p:sp>
        <p:nvSpPr>
          <p:cNvPr id="127" name="T127"/>
          <p:cNvSpPr/>
          <p:nvPr/>
        </p:nvSpPr>
        <p:spPr>
          <a:xfrm>
            <a:off x="10083800" y="1397816"/>
            <a:ext cx="1422400" cy="254000"/>
          </a:xfrm>
          <a:prstGeom prst="rect">
            <a:avLst/>
          </a:prstGeom>
          <a:noFill/>
          <a:ln w="0">
            <a:noFill/>
          </a:ln>
        </p:spPr>
        <p:txBody>
          <a:bodyPr wrap="square" lIns="0" tIns="0" rIns="0" bIns="0" anchor="t"/>
          <a:lstStyle/>
          <a:p>
            <a:pPr>
              <a:buNone/>
            </a:pPr>
            <a:r>
              <a:rPr lang="en-US" sz="1200" b="1" dirty="0">
                <a:solidFill>
                  <a:srgbClr val="DC2626"/>
                </a:solidFill>
                <a:latin typeface="Aptos"/>
              </a:rPr>
              <a:t>Commit</a:t>
            </a:r>
          </a:p>
        </p:txBody>
      </p:sp>
      <p:sp>
        <p:nvSpPr>
          <p:cNvPr id="128" name="T128"/>
          <p:cNvSpPr/>
          <p:nvPr/>
        </p:nvSpPr>
        <p:spPr>
          <a:xfrm>
            <a:off x="9677400" y="1829616"/>
            <a:ext cx="1828800" cy="635000"/>
          </a:xfrm>
          <a:prstGeom prst="rect">
            <a:avLst/>
          </a:prstGeom>
          <a:noFill/>
          <a:ln w="0">
            <a:noFill/>
          </a:ln>
        </p:spPr>
        <p:txBody>
          <a:bodyPr wrap="square" lIns="0" tIns="0" rIns="0" bIns="0" anchor="t"/>
          <a:lstStyle/>
          <a:p>
            <a:pPr>
              <a:buNone/>
            </a:pPr>
            <a:r>
              <a:rPr lang="en-US" sz="900" dirty="0">
                <a:solidFill>
                  <a:srgbClr val="475569"/>
                </a:solidFill>
                <a:latin typeface="Aptos"/>
              </a:rPr>
              <a:t>No training on your data. TLS 1.3, AES-256, VPC isolation</a:t>
            </a:r>
          </a:p>
        </p:txBody>
      </p:sp>
      <p:sp>
        <p:nvSpPr>
          <p:cNvPr id="129" name="S129"/>
          <p:cNvSpPr/>
          <p:nvPr/>
        </p:nvSpPr>
        <p:spPr>
          <a:xfrm>
            <a:off x="381000" y="2783344"/>
            <a:ext cx="5689600" cy="1879600"/>
          </a:xfrm>
          <a:prstGeom prst="roundRect">
            <a:avLst>
              <a:gd name="adj" fmla="val 6000"/>
            </a:avLst>
          </a:prstGeom>
          <a:solidFill>
            <a:srgbClr val="F0F4FF"/>
          </a:solidFill>
          <a:ln w="9525">
            <a:solidFill>
              <a:srgbClr val="BFDBFE"/>
            </a:solidFill>
          </a:ln>
        </p:spPr>
        <p:txBody>
          <a:bodyPr wrap="square" lIns="72000" tIns="36000" rIns="72000" bIns="36000" anchor="ctr"/>
          <a:lstStyle/>
          <a:p>
            <a:endParaRPr lang="en-US"/>
          </a:p>
        </p:txBody>
      </p:sp>
      <p:sp>
        <p:nvSpPr>
          <p:cNvPr id="130" name="S130"/>
          <p:cNvSpPr/>
          <p:nvPr/>
        </p:nvSpPr>
        <p:spPr>
          <a:xfrm>
            <a:off x="381000" y="2783344"/>
            <a:ext cx="5689600" cy="50800"/>
          </a:xfrm>
          <a:prstGeom prst="rect">
            <a:avLst/>
          </a:prstGeom>
          <a:solidFill>
            <a:srgbClr val="1565C0"/>
          </a:solidFill>
          <a:ln w="0">
            <a:noFill/>
          </a:ln>
        </p:spPr>
        <p:txBody>
          <a:bodyPr wrap="square" lIns="72000" tIns="36000" rIns="72000" bIns="36000" anchor="ctr"/>
          <a:lstStyle/>
          <a:p>
            <a:endParaRPr lang="en-US"/>
          </a:p>
        </p:txBody>
      </p:sp>
      <p:sp>
        <p:nvSpPr>
          <p:cNvPr id="131" name="T131"/>
          <p:cNvSpPr/>
          <p:nvPr/>
        </p:nvSpPr>
        <p:spPr>
          <a:xfrm>
            <a:off x="584200" y="2935744"/>
            <a:ext cx="5283200" cy="254000"/>
          </a:xfrm>
          <a:prstGeom prst="rect">
            <a:avLst/>
          </a:prstGeom>
          <a:noFill/>
          <a:ln w="0">
            <a:noFill/>
          </a:ln>
        </p:spPr>
        <p:txBody>
          <a:bodyPr wrap="square" lIns="0" tIns="0" rIns="0" bIns="0" anchor="t"/>
          <a:lstStyle/>
          <a:p>
            <a:pPr>
              <a:buNone/>
            </a:pPr>
            <a:r>
              <a:rPr lang="en-US" sz="1200" b="1" dirty="0">
                <a:solidFill>
                  <a:srgbClr val="1565C0"/>
                </a:solidFill>
                <a:latin typeface="Aptos"/>
              </a:rPr>
              <a:t>Deployment options</a:t>
            </a:r>
          </a:p>
        </p:txBody>
      </p:sp>
      <p:sp>
        <p:nvSpPr>
          <p:cNvPr id="132" name="S132"/>
          <p:cNvSpPr/>
          <p:nvPr/>
        </p:nvSpPr>
        <p:spPr>
          <a:xfrm>
            <a:off x="635000" y="3342144"/>
            <a:ext cx="127000" cy="127000"/>
          </a:xfrm>
          <a:prstGeom prst="ellipse">
            <a:avLst/>
          </a:prstGeom>
          <a:solidFill>
            <a:srgbClr val="1565C0"/>
          </a:solidFill>
          <a:ln w="0">
            <a:noFill/>
          </a:ln>
        </p:spPr>
        <p:txBody>
          <a:bodyPr wrap="square" lIns="72000" tIns="36000" rIns="72000" bIns="36000" anchor="ctr"/>
          <a:lstStyle/>
          <a:p>
            <a:endParaRPr lang="en-US"/>
          </a:p>
        </p:txBody>
      </p:sp>
      <p:sp>
        <p:nvSpPr>
          <p:cNvPr id="133" name="T133"/>
          <p:cNvSpPr/>
          <p:nvPr/>
        </p:nvSpPr>
        <p:spPr>
          <a:xfrm>
            <a:off x="838200" y="3291344"/>
            <a:ext cx="4978400" cy="279400"/>
          </a:xfrm>
          <a:prstGeom prst="rect">
            <a:avLst/>
          </a:prstGeom>
          <a:noFill/>
          <a:ln w="0">
            <a:noFill/>
          </a:ln>
        </p:spPr>
        <p:txBody>
          <a:bodyPr wrap="square" lIns="0" tIns="0" rIns="0" bIns="0" anchor="t"/>
          <a:lstStyle/>
          <a:p>
            <a:pPr>
              <a:buNone/>
            </a:pPr>
            <a:r>
              <a:rPr lang="en-US" sz="1000" b="1" dirty="0">
                <a:solidFill>
                  <a:srgbClr val="1E293B"/>
                </a:solidFill>
                <a:latin typeface="Aptos"/>
              </a:rPr>
              <a:t>Anthropic Cloud (SaaS)</a:t>
            </a:r>
            <a:r>
              <a:rPr lang="en-US" sz="1000" dirty="0">
                <a:solidFill>
                  <a:srgbClr val="64748B"/>
                </a:solidFill>
                <a:latin typeface="Aptos"/>
              </a:rPr>
              <a:t> — Fastest setup, fully managed</a:t>
            </a:r>
          </a:p>
        </p:txBody>
      </p:sp>
      <p:sp>
        <p:nvSpPr>
          <p:cNvPr id="134" name="S134"/>
          <p:cNvSpPr/>
          <p:nvPr/>
        </p:nvSpPr>
        <p:spPr>
          <a:xfrm>
            <a:off x="635000" y="3672344"/>
            <a:ext cx="127000" cy="127000"/>
          </a:xfrm>
          <a:prstGeom prst="ellipse">
            <a:avLst/>
          </a:prstGeom>
          <a:solidFill>
            <a:srgbClr val="D97706"/>
          </a:solidFill>
          <a:ln w="0">
            <a:noFill/>
          </a:ln>
        </p:spPr>
        <p:txBody>
          <a:bodyPr wrap="square" lIns="72000" tIns="36000" rIns="72000" bIns="36000" anchor="ctr"/>
          <a:lstStyle/>
          <a:p>
            <a:endParaRPr lang="en-US"/>
          </a:p>
        </p:txBody>
      </p:sp>
      <p:sp>
        <p:nvSpPr>
          <p:cNvPr id="135" name="T135"/>
          <p:cNvSpPr/>
          <p:nvPr/>
        </p:nvSpPr>
        <p:spPr>
          <a:xfrm>
            <a:off x="838200" y="3621544"/>
            <a:ext cx="4978400" cy="279400"/>
          </a:xfrm>
          <a:prstGeom prst="rect">
            <a:avLst/>
          </a:prstGeom>
          <a:noFill/>
          <a:ln w="0">
            <a:noFill/>
          </a:ln>
        </p:spPr>
        <p:txBody>
          <a:bodyPr wrap="square" lIns="0" tIns="0" rIns="0" bIns="0" anchor="t"/>
          <a:lstStyle/>
          <a:p>
            <a:pPr>
              <a:buNone/>
            </a:pPr>
            <a:r>
              <a:rPr lang="en-US" sz="1000" b="1" dirty="0">
                <a:solidFill>
                  <a:srgbClr val="1E293B"/>
                </a:solidFill>
                <a:latin typeface="Aptos"/>
              </a:rPr>
              <a:t>AWS Bedrock</a:t>
            </a:r>
            <a:r>
              <a:rPr lang="en-US" sz="1000" dirty="0">
                <a:solidFill>
                  <a:srgbClr val="64748B"/>
                </a:solidFill>
                <a:latin typeface="Aptos"/>
              </a:rPr>
              <a:t> — VPC isolation, IAM integration</a:t>
            </a:r>
          </a:p>
        </p:txBody>
      </p:sp>
      <p:sp>
        <p:nvSpPr>
          <p:cNvPr id="136" name="S136"/>
          <p:cNvSpPr/>
          <p:nvPr/>
        </p:nvSpPr>
        <p:spPr>
          <a:xfrm>
            <a:off x="635000" y="4002544"/>
            <a:ext cx="127000" cy="127000"/>
          </a:xfrm>
          <a:prstGeom prst="ellipse">
            <a:avLst/>
          </a:prstGeom>
          <a:solidFill>
            <a:srgbClr val="059669"/>
          </a:solidFill>
          <a:ln w="0">
            <a:noFill/>
          </a:ln>
        </p:spPr>
        <p:txBody>
          <a:bodyPr wrap="square" lIns="72000" tIns="36000" rIns="72000" bIns="36000" anchor="ctr"/>
          <a:lstStyle/>
          <a:p>
            <a:endParaRPr lang="en-US"/>
          </a:p>
        </p:txBody>
      </p:sp>
      <p:sp>
        <p:nvSpPr>
          <p:cNvPr id="137" name="T137"/>
          <p:cNvSpPr/>
          <p:nvPr/>
        </p:nvSpPr>
        <p:spPr>
          <a:xfrm>
            <a:off x="838200" y="3951744"/>
            <a:ext cx="4978400" cy="279400"/>
          </a:xfrm>
          <a:prstGeom prst="rect">
            <a:avLst/>
          </a:prstGeom>
          <a:noFill/>
          <a:ln w="0">
            <a:noFill/>
          </a:ln>
        </p:spPr>
        <p:txBody>
          <a:bodyPr wrap="square" lIns="0" tIns="0" rIns="0" bIns="0" anchor="t"/>
          <a:lstStyle/>
          <a:p>
            <a:pPr>
              <a:buNone/>
            </a:pPr>
            <a:r>
              <a:rPr lang="en-US" sz="1000" b="1" dirty="0">
                <a:solidFill>
                  <a:srgbClr val="1E293B"/>
                </a:solidFill>
                <a:latin typeface="Aptos"/>
              </a:rPr>
              <a:t>Google Vertex AI</a:t>
            </a:r>
            <a:r>
              <a:rPr lang="en-US" sz="1000" dirty="0">
                <a:solidFill>
                  <a:srgbClr val="64748B"/>
                </a:solidFill>
                <a:latin typeface="Aptos"/>
              </a:rPr>
              <a:t> — GCP native, data residency</a:t>
            </a:r>
          </a:p>
        </p:txBody>
      </p:sp>
      <p:sp>
        <p:nvSpPr>
          <p:cNvPr id="138" name="S138"/>
          <p:cNvSpPr/>
          <p:nvPr/>
        </p:nvSpPr>
        <p:spPr>
          <a:xfrm>
            <a:off x="635000" y="4332744"/>
            <a:ext cx="127000" cy="127000"/>
          </a:xfrm>
          <a:prstGeom prst="ellipse">
            <a:avLst/>
          </a:prstGeom>
          <a:solidFill>
            <a:srgbClr val="7C3AED"/>
          </a:solidFill>
          <a:ln w="0">
            <a:noFill/>
          </a:ln>
        </p:spPr>
        <p:txBody>
          <a:bodyPr wrap="square" lIns="72000" tIns="36000" rIns="72000" bIns="36000" anchor="ctr"/>
          <a:lstStyle/>
          <a:p>
            <a:endParaRPr lang="en-US"/>
          </a:p>
        </p:txBody>
      </p:sp>
      <p:sp>
        <p:nvSpPr>
          <p:cNvPr id="139" name="T139"/>
          <p:cNvSpPr/>
          <p:nvPr/>
        </p:nvSpPr>
        <p:spPr>
          <a:xfrm>
            <a:off x="838200" y="4281944"/>
            <a:ext cx="4978400" cy="279400"/>
          </a:xfrm>
          <a:prstGeom prst="rect">
            <a:avLst/>
          </a:prstGeom>
          <a:noFill/>
          <a:ln w="0">
            <a:noFill/>
          </a:ln>
        </p:spPr>
        <p:txBody>
          <a:bodyPr wrap="square" lIns="0" tIns="0" rIns="0" bIns="0" anchor="t"/>
          <a:lstStyle/>
          <a:p>
            <a:pPr>
              <a:buNone/>
            </a:pPr>
            <a:r>
              <a:rPr lang="en-US" sz="1000" b="1" dirty="0">
                <a:solidFill>
                  <a:srgbClr val="1E293B"/>
                </a:solidFill>
                <a:latin typeface="Aptos"/>
              </a:rPr>
              <a:t>Microsoft Foundry</a:t>
            </a:r>
            <a:r>
              <a:rPr lang="en-US" sz="1000" dirty="0">
                <a:solidFill>
                  <a:srgbClr val="64748B"/>
                </a:solidFill>
                <a:latin typeface="Aptos"/>
              </a:rPr>
              <a:t> — Azure native, enterprise policies</a:t>
            </a:r>
          </a:p>
        </p:txBody>
      </p:sp>
      <p:sp>
        <p:nvSpPr>
          <p:cNvPr id="140" name="S140"/>
          <p:cNvSpPr/>
          <p:nvPr/>
        </p:nvSpPr>
        <p:spPr>
          <a:xfrm>
            <a:off x="6248400" y="2783344"/>
            <a:ext cx="5689600" cy="1879600"/>
          </a:xfrm>
          <a:prstGeom prst="roundRect">
            <a:avLst>
              <a:gd name="adj" fmla="val 6000"/>
            </a:avLst>
          </a:prstGeom>
          <a:solidFill>
            <a:srgbClr val="FFF7ED"/>
          </a:solidFill>
          <a:ln w="9525">
            <a:solidFill>
              <a:srgbClr val="FED7AA"/>
            </a:solidFill>
          </a:ln>
        </p:spPr>
        <p:txBody>
          <a:bodyPr wrap="square" lIns="72000" tIns="36000" rIns="72000" bIns="36000" anchor="ctr"/>
          <a:lstStyle/>
          <a:p>
            <a:endParaRPr lang="en-US"/>
          </a:p>
        </p:txBody>
      </p:sp>
      <p:sp>
        <p:nvSpPr>
          <p:cNvPr id="141" name="S141"/>
          <p:cNvSpPr/>
          <p:nvPr/>
        </p:nvSpPr>
        <p:spPr>
          <a:xfrm>
            <a:off x="6248400" y="2783344"/>
            <a:ext cx="5689600" cy="50800"/>
          </a:xfrm>
          <a:prstGeom prst="rect">
            <a:avLst/>
          </a:prstGeom>
          <a:solidFill>
            <a:srgbClr val="D4622B"/>
          </a:solidFill>
          <a:ln w="0">
            <a:noFill/>
          </a:ln>
        </p:spPr>
        <p:txBody>
          <a:bodyPr wrap="square" lIns="72000" tIns="36000" rIns="72000" bIns="36000" anchor="ctr"/>
          <a:lstStyle/>
          <a:p>
            <a:endParaRPr lang="en-US"/>
          </a:p>
        </p:txBody>
      </p:sp>
      <p:sp>
        <p:nvSpPr>
          <p:cNvPr id="142" name="T142"/>
          <p:cNvSpPr/>
          <p:nvPr/>
        </p:nvSpPr>
        <p:spPr>
          <a:xfrm>
            <a:off x="6451600" y="2935744"/>
            <a:ext cx="5283200" cy="254000"/>
          </a:xfrm>
          <a:prstGeom prst="rect">
            <a:avLst/>
          </a:prstGeom>
          <a:noFill/>
          <a:ln w="0">
            <a:noFill/>
          </a:ln>
        </p:spPr>
        <p:txBody>
          <a:bodyPr wrap="square" lIns="0" tIns="0" rIns="0" bIns="0" anchor="t"/>
          <a:lstStyle/>
          <a:p>
            <a:pPr>
              <a:buNone/>
            </a:pPr>
            <a:r>
              <a:rPr lang="en-US" sz="1200" b="1" dirty="0">
                <a:solidFill>
                  <a:srgbClr val="D4622B"/>
                </a:solidFill>
                <a:latin typeface="Aptos"/>
              </a:rPr>
              <a:t>Enterprise best practices</a:t>
            </a:r>
          </a:p>
        </p:txBody>
      </p:sp>
      <p:sp>
        <p:nvSpPr>
          <p:cNvPr id="143" name="T143"/>
          <p:cNvSpPr/>
          <p:nvPr/>
        </p:nvSpPr>
        <p:spPr>
          <a:xfrm>
            <a:off x="6451600" y="3265944"/>
            <a:ext cx="5283200" cy="254000"/>
          </a:xfrm>
          <a:prstGeom prst="rect">
            <a:avLst/>
          </a:prstGeom>
          <a:noFill/>
          <a:ln w="0">
            <a:noFill/>
          </a:ln>
        </p:spPr>
        <p:txBody>
          <a:bodyPr wrap="square" lIns="0" tIns="0" rIns="0" bIns="0" anchor="t"/>
          <a:lstStyle/>
          <a:p>
            <a:pPr marL="171450" indent="-171450">
              <a:buFont typeface="Arial"/>
              <a:buChar char="•"/>
            </a:pPr>
            <a:r>
              <a:rPr lang="en-US" sz="950" dirty="0">
                <a:solidFill>
                  <a:srgbClr val="44403C"/>
                </a:solidFill>
                <a:latin typeface="Aptos"/>
              </a:rPr>
              <a:t>Pin model versions on Bedrock / Vertex / Foundry</a:t>
            </a:r>
          </a:p>
        </p:txBody>
      </p:sp>
      <p:sp>
        <p:nvSpPr>
          <p:cNvPr id="144" name="T144"/>
          <p:cNvSpPr/>
          <p:nvPr/>
        </p:nvSpPr>
        <p:spPr>
          <a:xfrm>
            <a:off x="6451600" y="3532644"/>
            <a:ext cx="5283200" cy="254000"/>
          </a:xfrm>
          <a:prstGeom prst="rect">
            <a:avLst/>
          </a:prstGeom>
          <a:noFill/>
          <a:ln w="0">
            <a:noFill/>
          </a:ln>
        </p:spPr>
        <p:txBody>
          <a:bodyPr wrap="square" lIns="0" tIns="0" rIns="0" bIns="0" anchor="t"/>
          <a:lstStyle/>
          <a:p>
            <a:pPr marL="171450" indent="-171450">
              <a:buFont typeface="Arial"/>
              <a:buChar char="•"/>
            </a:pPr>
            <a:r>
              <a:rPr lang="en-US" sz="950" dirty="0">
                <a:solidFill>
                  <a:srgbClr val="44403C"/>
                </a:solidFill>
                <a:latin typeface="Aptos"/>
              </a:rPr>
              <a:t>Use LLM gateways for centralized routing</a:t>
            </a:r>
          </a:p>
        </p:txBody>
      </p:sp>
      <p:sp>
        <p:nvSpPr>
          <p:cNvPr id="145" name="T145"/>
          <p:cNvSpPr/>
          <p:nvPr/>
        </p:nvSpPr>
        <p:spPr>
          <a:xfrm>
            <a:off x="6451600" y="3799344"/>
            <a:ext cx="5283200" cy="254000"/>
          </a:xfrm>
          <a:prstGeom prst="rect">
            <a:avLst/>
          </a:prstGeom>
          <a:noFill/>
          <a:ln w="0">
            <a:noFill/>
          </a:ln>
        </p:spPr>
        <p:txBody>
          <a:bodyPr wrap="square" lIns="0" tIns="0" rIns="0" bIns="0" anchor="t"/>
          <a:lstStyle/>
          <a:p>
            <a:pPr marL="171450" indent="-171450">
              <a:buFont typeface="Arial"/>
              <a:buChar char="•"/>
            </a:pPr>
            <a:r>
              <a:rPr lang="en-US" sz="950" dirty="0">
                <a:solidFill>
                  <a:srgbClr val="44403C"/>
                </a:solidFill>
                <a:latin typeface="Aptos"/>
              </a:rPr>
              <a:t>Configure managed settings via plist / Registry</a:t>
            </a:r>
          </a:p>
        </p:txBody>
      </p:sp>
      <p:sp>
        <p:nvSpPr>
          <p:cNvPr id="146" name="T146"/>
          <p:cNvSpPr/>
          <p:nvPr/>
        </p:nvSpPr>
        <p:spPr>
          <a:xfrm>
            <a:off x="6451600" y="4066044"/>
            <a:ext cx="5283200" cy="254000"/>
          </a:xfrm>
          <a:prstGeom prst="rect">
            <a:avLst/>
          </a:prstGeom>
          <a:noFill/>
          <a:ln w="0">
            <a:noFill/>
          </a:ln>
        </p:spPr>
        <p:txBody>
          <a:bodyPr wrap="square" lIns="0" tIns="0" rIns="0" bIns="0" anchor="t"/>
          <a:lstStyle/>
          <a:p>
            <a:pPr marL="171450" indent="-171450">
              <a:buFont typeface="Arial"/>
              <a:buChar char="•"/>
            </a:pPr>
            <a:r>
              <a:rPr lang="en-US" sz="950" dirty="0">
                <a:solidFill>
                  <a:srgbClr val="44403C"/>
                </a:solidFill>
                <a:latin typeface="Aptos"/>
              </a:rPr>
              <a:t>Check .mcp.json into repos for team-wide MCP</a:t>
            </a:r>
          </a:p>
        </p:txBody>
      </p:sp>
      <p:sp>
        <p:nvSpPr>
          <p:cNvPr id="147" name="T147"/>
          <p:cNvSpPr/>
          <p:nvPr/>
        </p:nvSpPr>
        <p:spPr>
          <a:xfrm>
            <a:off x="6451600" y="4332744"/>
            <a:ext cx="5283200" cy="254000"/>
          </a:xfrm>
          <a:prstGeom prst="rect">
            <a:avLst/>
          </a:prstGeom>
          <a:noFill/>
          <a:ln w="0">
            <a:noFill/>
          </a:ln>
        </p:spPr>
        <p:txBody>
          <a:bodyPr wrap="square" lIns="0" tIns="0" rIns="0" bIns="0" anchor="t"/>
          <a:lstStyle/>
          <a:p>
            <a:pPr marL="171450" indent="-171450">
              <a:buFont typeface="Arial"/>
              <a:buChar char="•"/>
            </a:pPr>
            <a:r>
              <a:rPr lang="en-US" sz="950" dirty="0">
                <a:solidFill>
                  <a:srgbClr val="44403C"/>
                </a:solidFill>
                <a:latin typeface="Aptos"/>
              </a:rPr>
              <a:t>Route through corporate proxy (HTTPS_PROXY)</a:t>
            </a:r>
          </a:p>
        </p:txBody>
      </p:sp>
      <p:sp>
        <p:nvSpPr>
          <p:cNvPr id="148" name="T148"/>
          <p:cNvSpPr/>
          <p:nvPr/>
        </p:nvSpPr>
        <p:spPr>
          <a:xfrm>
            <a:off x="381000" y="990600"/>
            <a:ext cx="11430000" cy="177800"/>
          </a:xfrm>
          <a:prstGeom prst="rect">
            <a:avLst/>
          </a:prstGeom>
          <a:noFill/>
          <a:ln w="0">
            <a:noFill/>
          </a:ln>
        </p:spPr>
        <p:txBody>
          <a:bodyPr wrap="square" lIns="0" tIns="0" rIns="0" bIns="0" anchor="t"/>
          <a:lstStyle/>
          <a:p>
            <a:pPr>
              <a:buNone/>
            </a:pPr>
            <a:r>
              <a:rPr lang="en-US" sz="900" b="1" dirty="0">
                <a:solidFill>
                  <a:srgbClr val="7A8A9E"/>
                </a:solidFill>
                <a:latin typeface="Aptos"/>
              </a:rPr>
              <a:t>GOVERNANCE PIPELINE</a:t>
            </a:r>
          </a:p>
        </p:txBody>
      </p:sp>
      <p:sp>
        <p:nvSpPr>
          <p:cNvPr id="149" name="Sep"/>
          <p:cNvSpPr/>
          <p:nvPr/>
        </p:nvSpPr>
        <p:spPr>
          <a:xfrm>
            <a:off x="381000" y="2667816"/>
            <a:ext cx="11430000" cy="0"/>
          </a:xfrm>
          <a:prstGeom prst="line">
            <a:avLst/>
          </a:prstGeom>
          <a:ln w="6350">
            <a:solidFill>
              <a:srgbClr val="E2E8F0"/>
            </a:solidFill>
          </a:ln>
        </p:spPr>
        <p:txBody>
          <a:bodyPr/>
          <a:lstStyle/>
          <a:p>
            <a:endParaRPr lang="en-US"/>
          </a:p>
        </p:txBody>
      </p:sp>
      <p:sp>
        <p:nvSpPr>
          <p:cNvPr id="150" name="T150"/>
          <p:cNvSpPr/>
          <p:nvPr/>
        </p:nvSpPr>
        <p:spPr>
          <a:xfrm>
            <a:off x="381000" y="4851400"/>
            <a:ext cx="2540000" cy="177800"/>
          </a:xfrm>
          <a:prstGeom prst="rect">
            <a:avLst/>
          </a:prstGeom>
          <a:noFill/>
          <a:ln w="0">
            <a:noFill/>
          </a:ln>
        </p:spPr>
        <p:txBody>
          <a:bodyPr wrap="square" lIns="0" tIns="0" rIns="0" bIns="0" anchor="t"/>
          <a:lstStyle/>
          <a:p>
            <a:pPr>
              <a:buNone/>
            </a:pPr>
            <a:r>
              <a:rPr lang="en-US" sz="900" b="1" dirty="0">
                <a:solidFill>
                  <a:srgbClr val="7A8A9E"/>
                </a:solidFill>
                <a:latin typeface="Aptos"/>
              </a:rPr>
              <a:t>SECURITY COMMITMENTS</a:t>
            </a:r>
          </a:p>
        </p:txBody>
      </p:sp>
      <p:sp>
        <p:nvSpPr>
          <p:cNvPr id="151" name="S151"/>
          <p:cNvSpPr/>
          <p:nvPr/>
        </p:nvSpPr>
        <p:spPr>
          <a:xfrm>
            <a:off x="2235200" y="5029200"/>
            <a:ext cx="1778000" cy="381000"/>
          </a:xfrm>
          <a:prstGeom prst="roundRect">
            <a:avLst>
              <a:gd name="adj" fmla="val 15000"/>
            </a:avLst>
          </a:prstGeom>
          <a:solidFill>
            <a:srgbClr val="F8FAFC"/>
          </a:solidFill>
          <a:ln w="9525">
            <a:solidFill>
              <a:srgbClr val="059669"/>
            </a:solidFill>
          </a:ln>
        </p:spPr>
        <p:txBody>
          <a:bodyPr wrap="square" lIns="72000" tIns="36000" rIns="72000" bIns="36000" anchor="ctr"/>
          <a:lstStyle/>
          <a:p>
            <a:endParaRPr lang="en-US"/>
          </a:p>
        </p:txBody>
      </p:sp>
      <p:sp>
        <p:nvSpPr>
          <p:cNvPr id="152" name="S152"/>
          <p:cNvSpPr/>
          <p:nvPr/>
        </p:nvSpPr>
        <p:spPr>
          <a:xfrm>
            <a:off x="2336800" y="5105400"/>
            <a:ext cx="228600" cy="228600"/>
          </a:xfrm>
          <a:prstGeom prst="ellipse">
            <a:avLst/>
          </a:prstGeom>
          <a:solidFill>
            <a:srgbClr val="059669"/>
          </a:solidFill>
          <a:ln w="0">
            <a:noFill/>
          </a:ln>
        </p:spPr>
        <p:txBody>
          <a:bodyPr wrap="square" lIns="72000" tIns="36000" rIns="72000" bIns="36000" anchor="ctr"/>
          <a:lstStyle/>
          <a:p>
            <a:pPr algn="ctr">
              <a:buNone/>
            </a:pPr>
            <a:r>
              <a:rPr lang="en-US" sz="800" b="1" dirty="0">
                <a:solidFill>
                  <a:srgbClr val="FFFFFF"/>
                </a:solidFill>
                <a:latin typeface="Aptos"/>
              </a:rPr>
              <a:t>✓</a:t>
            </a:r>
          </a:p>
        </p:txBody>
      </p:sp>
      <p:sp>
        <p:nvSpPr>
          <p:cNvPr id="153" name="T153"/>
          <p:cNvSpPr/>
          <p:nvPr/>
        </p:nvSpPr>
        <p:spPr>
          <a:xfrm>
            <a:off x="2616200" y="5092700"/>
            <a:ext cx="1295400" cy="254000"/>
          </a:xfrm>
          <a:prstGeom prst="rect">
            <a:avLst/>
          </a:prstGeom>
          <a:noFill/>
          <a:ln w="0">
            <a:noFill/>
          </a:ln>
        </p:spPr>
        <p:txBody>
          <a:bodyPr wrap="square" lIns="0" tIns="0" rIns="0" bIns="0" anchor="t"/>
          <a:lstStyle/>
          <a:p>
            <a:pPr>
              <a:buNone/>
            </a:pPr>
            <a:r>
              <a:rPr lang="en-US" sz="900" b="1" dirty="0">
                <a:solidFill>
                  <a:srgbClr val="059669"/>
                </a:solidFill>
                <a:latin typeface="Aptos"/>
              </a:rPr>
              <a:t>SOC 2 Type II</a:t>
            </a:r>
          </a:p>
        </p:txBody>
      </p:sp>
      <p:sp>
        <p:nvSpPr>
          <p:cNvPr id="154" name="S154"/>
          <p:cNvSpPr/>
          <p:nvPr/>
        </p:nvSpPr>
        <p:spPr>
          <a:xfrm>
            <a:off x="4216400" y="5029200"/>
            <a:ext cx="1778000" cy="381000"/>
          </a:xfrm>
          <a:prstGeom prst="roundRect">
            <a:avLst>
              <a:gd name="adj" fmla="val 15000"/>
            </a:avLst>
          </a:prstGeom>
          <a:solidFill>
            <a:srgbClr val="F8FAFC"/>
          </a:solidFill>
          <a:ln w="9525">
            <a:solidFill>
              <a:srgbClr val="1565C0"/>
            </a:solidFill>
          </a:ln>
        </p:spPr>
        <p:txBody>
          <a:bodyPr wrap="square" lIns="72000" tIns="36000" rIns="72000" bIns="36000" anchor="ctr"/>
          <a:lstStyle/>
          <a:p>
            <a:endParaRPr lang="en-US"/>
          </a:p>
        </p:txBody>
      </p:sp>
      <p:sp>
        <p:nvSpPr>
          <p:cNvPr id="155" name="S155"/>
          <p:cNvSpPr/>
          <p:nvPr/>
        </p:nvSpPr>
        <p:spPr>
          <a:xfrm>
            <a:off x="4318000" y="5105400"/>
            <a:ext cx="228600" cy="228600"/>
          </a:xfrm>
          <a:prstGeom prst="ellipse">
            <a:avLst/>
          </a:prstGeom>
          <a:solidFill>
            <a:srgbClr val="1565C0"/>
          </a:solidFill>
          <a:ln w="0">
            <a:noFill/>
          </a:ln>
        </p:spPr>
        <p:txBody>
          <a:bodyPr wrap="square" lIns="72000" tIns="36000" rIns="72000" bIns="36000" anchor="ctr"/>
          <a:lstStyle/>
          <a:p>
            <a:pPr algn="ctr">
              <a:buNone/>
            </a:pPr>
            <a:r>
              <a:rPr lang="en-US" sz="800" b="1" dirty="0">
                <a:solidFill>
                  <a:srgbClr val="FFFFFF"/>
                </a:solidFill>
                <a:latin typeface="Aptos"/>
              </a:rPr>
              <a:t>✓</a:t>
            </a:r>
          </a:p>
        </p:txBody>
      </p:sp>
      <p:sp>
        <p:nvSpPr>
          <p:cNvPr id="156" name="T156"/>
          <p:cNvSpPr/>
          <p:nvPr/>
        </p:nvSpPr>
        <p:spPr>
          <a:xfrm>
            <a:off x="4597400" y="5092700"/>
            <a:ext cx="1295400" cy="254000"/>
          </a:xfrm>
          <a:prstGeom prst="rect">
            <a:avLst/>
          </a:prstGeom>
          <a:noFill/>
          <a:ln w="0">
            <a:noFill/>
          </a:ln>
        </p:spPr>
        <p:txBody>
          <a:bodyPr wrap="square" lIns="0" tIns="0" rIns="0" bIns="0" anchor="t"/>
          <a:lstStyle/>
          <a:p>
            <a:pPr>
              <a:buNone/>
            </a:pPr>
            <a:r>
              <a:rPr lang="en-US" sz="900" b="1" dirty="0">
                <a:solidFill>
                  <a:srgbClr val="1565C0"/>
                </a:solidFill>
                <a:latin typeface="Aptos"/>
              </a:rPr>
              <a:t>No data training</a:t>
            </a:r>
          </a:p>
        </p:txBody>
      </p:sp>
      <p:sp>
        <p:nvSpPr>
          <p:cNvPr id="157" name="S157"/>
          <p:cNvSpPr/>
          <p:nvPr/>
        </p:nvSpPr>
        <p:spPr>
          <a:xfrm>
            <a:off x="6197600" y="5029200"/>
            <a:ext cx="1778000" cy="381000"/>
          </a:xfrm>
          <a:prstGeom prst="roundRect">
            <a:avLst>
              <a:gd name="adj" fmla="val 15000"/>
            </a:avLst>
          </a:prstGeom>
          <a:solidFill>
            <a:srgbClr val="F8FAFC"/>
          </a:solidFill>
          <a:ln w="9525">
            <a:solidFill>
              <a:srgbClr val="7C3AED"/>
            </a:solidFill>
          </a:ln>
        </p:spPr>
        <p:txBody>
          <a:bodyPr wrap="square" lIns="72000" tIns="36000" rIns="72000" bIns="36000" anchor="ctr"/>
          <a:lstStyle/>
          <a:p>
            <a:endParaRPr lang="en-US"/>
          </a:p>
        </p:txBody>
      </p:sp>
      <p:sp>
        <p:nvSpPr>
          <p:cNvPr id="158" name="S158"/>
          <p:cNvSpPr/>
          <p:nvPr/>
        </p:nvSpPr>
        <p:spPr>
          <a:xfrm>
            <a:off x="6299200" y="5105400"/>
            <a:ext cx="228600" cy="228600"/>
          </a:xfrm>
          <a:prstGeom prst="ellipse">
            <a:avLst/>
          </a:prstGeom>
          <a:solidFill>
            <a:srgbClr val="7C3AED"/>
          </a:solidFill>
          <a:ln w="0">
            <a:noFill/>
          </a:ln>
        </p:spPr>
        <p:txBody>
          <a:bodyPr wrap="square" lIns="72000" tIns="36000" rIns="72000" bIns="36000" anchor="ctr"/>
          <a:lstStyle/>
          <a:p>
            <a:pPr algn="ctr">
              <a:buNone/>
            </a:pPr>
            <a:r>
              <a:rPr lang="en-US" sz="800" b="1" dirty="0">
                <a:solidFill>
                  <a:srgbClr val="FFFFFF"/>
                </a:solidFill>
                <a:latin typeface="Aptos"/>
              </a:rPr>
              <a:t>✓</a:t>
            </a:r>
          </a:p>
        </p:txBody>
      </p:sp>
      <p:sp>
        <p:nvSpPr>
          <p:cNvPr id="159" name="T159"/>
          <p:cNvSpPr/>
          <p:nvPr/>
        </p:nvSpPr>
        <p:spPr>
          <a:xfrm>
            <a:off x="6578600" y="5092700"/>
            <a:ext cx="1295400" cy="254000"/>
          </a:xfrm>
          <a:prstGeom prst="rect">
            <a:avLst/>
          </a:prstGeom>
          <a:noFill/>
          <a:ln w="0">
            <a:noFill/>
          </a:ln>
        </p:spPr>
        <p:txBody>
          <a:bodyPr wrap="square" lIns="0" tIns="0" rIns="0" bIns="0" anchor="t"/>
          <a:lstStyle/>
          <a:p>
            <a:pPr>
              <a:buNone/>
            </a:pPr>
            <a:r>
              <a:rPr lang="en-US" sz="900" b="1" dirty="0">
                <a:solidFill>
                  <a:srgbClr val="7C3AED"/>
                </a:solidFill>
                <a:latin typeface="Aptos"/>
              </a:rPr>
              <a:t>TLS 1.3 + AES-256</a:t>
            </a:r>
          </a:p>
        </p:txBody>
      </p:sp>
      <p:sp>
        <p:nvSpPr>
          <p:cNvPr id="160" name="S160"/>
          <p:cNvSpPr/>
          <p:nvPr/>
        </p:nvSpPr>
        <p:spPr>
          <a:xfrm>
            <a:off x="8178800" y="5029200"/>
            <a:ext cx="1778000" cy="381000"/>
          </a:xfrm>
          <a:prstGeom prst="roundRect">
            <a:avLst>
              <a:gd name="adj" fmla="val 15000"/>
            </a:avLst>
          </a:prstGeom>
          <a:solidFill>
            <a:srgbClr val="F8FAFC"/>
          </a:solidFill>
          <a:ln w="9525">
            <a:solidFill>
              <a:srgbClr val="D4622B"/>
            </a:solidFill>
          </a:ln>
        </p:spPr>
        <p:txBody>
          <a:bodyPr wrap="square" lIns="72000" tIns="36000" rIns="72000" bIns="36000" anchor="ctr"/>
          <a:lstStyle/>
          <a:p>
            <a:endParaRPr lang="en-US"/>
          </a:p>
        </p:txBody>
      </p:sp>
      <p:sp>
        <p:nvSpPr>
          <p:cNvPr id="161" name="S161"/>
          <p:cNvSpPr/>
          <p:nvPr/>
        </p:nvSpPr>
        <p:spPr>
          <a:xfrm>
            <a:off x="8280400" y="5105400"/>
            <a:ext cx="228600" cy="228600"/>
          </a:xfrm>
          <a:prstGeom prst="ellipse">
            <a:avLst/>
          </a:prstGeom>
          <a:solidFill>
            <a:srgbClr val="D4622B"/>
          </a:solidFill>
          <a:ln w="0">
            <a:noFill/>
          </a:ln>
        </p:spPr>
        <p:txBody>
          <a:bodyPr wrap="square" lIns="72000" tIns="36000" rIns="72000" bIns="36000" anchor="ctr"/>
          <a:lstStyle/>
          <a:p>
            <a:pPr algn="ctr">
              <a:buNone/>
            </a:pPr>
            <a:r>
              <a:rPr lang="en-US" sz="800" b="1" dirty="0">
                <a:solidFill>
                  <a:srgbClr val="FFFFFF"/>
                </a:solidFill>
                <a:latin typeface="Aptos"/>
              </a:rPr>
              <a:t>✓</a:t>
            </a:r>
          </a:p>
        </p:txBody>
      </p:sp>
      <p:sp>
        <p:nvSpPr>
          <p:cNvPr id="162" name="T162"/>
          <p:cNvSpPr/>
          <p:nvPr/>
        </p:nvSpPr>
        <p:spPr>
          <a:xfrm>
            <a:off x="8559800" y="5092700"/>
            <a:ext cx="1295400" cy="254000"/>
          </a:xfrm>
          <a:prstGeom prst="rect">
            <a:avLst/>
          </a:prstGeom>
          <a:noFill/>
          <a:ln w="0">
            <a:noFill/>
          </a:ln>
        </p:spPr>
        <p:txBody>
          <a:bodyPr wrap="square" lIns="0" tIns="0" rIns="0" bIns="0" anchor="t"/>
          <a:lstStyle/>
          <a:p>
            <a:pPr>
              <a:buNone/>
            </a:pPr>
            <a:r>
              <a:rPr lang="en-US" sz="900" b="1" dirty="0">
                <a:solidFill>
                  <a:srgbClr val="D4622B"/>
                </a:solidFill>
                <a:latin typeface="Aptos"/>
              </a:rPr>
              <a:t>VPC isolation</a:t>
            </a:r>
          </a:p>
        </p:txBody>
      </p:sp>
    </p:spTree>
    <p:extLst>
      <p:ext uri="{BB962C8B-B14F-4D97-AF65-F5344CB8AC3E}">
        <p14:creationId xmlns:p14="http://schemas.microsoft.com/office/powerpoint/2010/main" val="12117204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12">
    <p:bg>
      <p:bgPr>
        <a:solidFill>
          <a:srgbClr val="FFFFFF">
            <a:alpha val="100000"/>
          </a:srgbClr>
        </a:solidFill>
        <a:effectLst/>
      </p:bgPr>
    </p:bg>
    <p:spTree>
      <p:nvGrpSpPr>
        <p:cNvPr id="1" name=""/>
        <p:cNvGrpSpPr/>
        <p:nvPr/>
      </p:nvGrpSpPr>
      <p:grpSpPr>
        <a:xfrm>
          <a:off x="0" y="0"/>
          <a:ext cx="0" cy="0"/>
          <a:chOff x="0" y="0"/>
          <a:chExt cx="0" cy="0"/>
        </a:xfrm>
      </p:grpSpPr>
      <p:sp>
        <p:nvSpPr>
          <p:cNvPr id="2" name="TextBox 1"/>
          <p:cNvSpPr txBox="1"/>
          <p:nvPr/>
        </p:nvSpPr>
        <p:spPr>
          <a:xfrm>
            <a:off x="658368" y="54864"/>
            <a:ext cx="10600000" cy="420624"/>
          </a:xfrm>
          <a:prstGeom prst="rect">
            <a:avLst/>
          </a:prstGeom>
          <a:noFill/>
        </p:spPr>
        <p:txBody>
          <a:bodyPr wrap="square" lIns="0" rIns="0" tIns="0" bIns="0" anchor="ctr">
            <a:spAutoFit/>
          </a:bodyPr>
          <a:lstStyle/>
          <a:p>
            <a:pPr algn="l"/>
            <a:r>
              <a:rPr sz="2700" b="1">
                <a:solidFill>
                  <a:srgbClr val="FFFFFF"/>
                </a:solidFill>
                <a:latin typeface="Aptos Display"/>
              </a:rPr>
              <a:t>Scaling Claude Code across teams</a:t>
            </a:r>
          </a:p>
        </p:txBody>
      </p:sp>
      <p:sp>
        <p:nvSpPr>
          <p:cNvPr id="3" name="TextBox 2"/>
          <p:cNvSpPr txBox="1"/>
          <p:nvPr/>
        </p:nvSpPr>
        <p:spPr>
          <a:xfrm>
            <a:off x="658368" y="640080"/>
            <a:ext cx="11000000" cy="274320"/>
          </a:xfrm>
          <a:prstGeom prst="rect">
            <a:avLst/>
          </a:prstGeom>
          <a:noFill/>
        </p:spPr>
        <p:txBody>
          <a:bodyPr wrap="square" lIns="0" rIns="0" tIns="0" bIns="0" anchor="t">
            <a:spAutoFit/>
          </a:bodyPr>
          <a:lstStyle/>
          <a:p>
            <a:pPr algn="l"/>
            <a:r>
              <a:rPr sz="1400" b="0">
                <a:solidFill>
                  <a:srgbClr val="1565C0"/>
                </a:solidFill>
                <a:latin typeface="Aptos"/>
              </a:rPr>
              <a:t>Move from a strong individual workflow to a repeatable engineering system</a:t>
            </a:r>
          </a:p>
        </p:txBody>
      </p:sp>
      <p:cxnSp>
        <p:nvCxnSpPr>
          <p:cNvPr id="4" name="Connector 3"/>
          <p:cNvCxnSpPr/>
          <p:nvPr/>
        </p:nvCxnSpPr>
        <p:spPr>
          <a:xfrm>
            <a:off x="0" y="952500"/>
            <a:ext cx="12192000" cy="0"/>
          </a:xfrm>
          <a:prstGeom prst="line">
            <a:avLst/>
          </a:prstGeom>
          <a:ln w="9525">
            <a:solidFill>
              <a:srgbClr val="3A465C"/>
            </a:solidFill>
          </a:ln>
        </p:spPr>
        <p:style>
          <a:lnRef idx="2">
            <a:schemeClr val="accent1"/>
          </a:lnRef>
          <a:fillRef idx="0">
            <a:schemeClr val="accent1"/>
          </a:fillRef>
          <a:effectRef idx="1">
            <a:schemeClr val="accent1"/>
          </a:effectRef>
          <a:fontRef idx="minor">
            <a:schemeClr val="tx1"/>
          </a:fontRef>
        </p:style>
      </p:cxnSp>
      <p:sp>
        <p:nvSpPr>
          <p:cNvPr id="5" name="Chevron 4"/>
          <p:cNvSpPr/>
          <p:nvPr/>
        </p:nvSpPr>
        <p:spPr>
          <a:xfrm>
            <a:off x="3990000" y="2780000"/>
            <a:ext cx="430000" cy="650000"/>
          </a:xfrm>
          <a:prstGeom prst="chevron">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hevron 5"/>
          <p:cNvSpPr/>
          <p:nvPr/>
        </p:nvSpPr>
        <p:spPr>
          <a:xfrm>
            <a:off x="7780000" y="2780000"/>
            <a:ext cx="430000" cy="650000"/>
          </a:xfrm>
          <a:prstGeom prst="chevron">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270000"/>
            <a:ext cx="3500000" cy="36600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270000"/>
            <a:ext cx="3500000" cy="920000"/>
          </a:xfrm>
          <a:prstGeom prst="roundRect">
            <a:avLst>
              <a:gd name="adj" fmla="val 5000"/>
            </a:avLst>
          </a:prstGeom>
          <a:solidFill>
            <a:srgbClr val="EFF6FF"/>
          </a:solidFill>
          <a:ln w="19050">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8368" y="1500000"/>
            <a:ext cx="460000" cy="460000"/>
          </a:xfrm>
          <a:prstGeom prst="ellipse">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8368" y="1500000"/>
            <a:ext cx="460000" cy="460000"/>
          </a:xfrm>
          <a:prstGeom prst="rect">
            <a:avLst/>
          </a:prstGeom>
          <a:noFill/>
        </p:spPr>
        <p:txBody>
          <a:bodyPr wrap="square" lIns="0" rIns="0" tIns="0" bIns="0" anchor="ctr">
            <a:spAutoFit/>
          </a:bodyPr>
          <a:lstStyle/>
          <a:p>
            <a:pPr algn="ctr"/>
            <a:r>
              <a:rPr sz="1300" b="1">
                <a:solidFill>
                  <a:srgbClr val="FFFFFF"/>
                </a:solidFill>
                <a:latin typeface="Aptos Display"/>
              </a:rPr>
              <a:t>01</a:t>
            </a:r>
          </a:p>
        </p:txBody>
      </p:sp>
      <p:sp>
        <p:nvSpPr>
          <p:cNvPr id="11" name="TextBox 10"/>
          <p:cNvSpPr txBox="1"/>
          <p:nvPr/>
        </p:nvSpPr>
        <p:spPr>
          <a:xfrm>
            <a:off x="1478368" y="1490000"/>
            <a:ext cx="2500000" cy="240000"/>
          </a:xfrm>
          <a:prstGeom prst="rect">
            <a:avLst/>
          </a:prstGeom>
          <a:noFill/>
        </p:spPr>
        <p:txBody>
          <a:bodyPr wrap="square" lIns="0" rIns="0" tIns="0" bIns="0" anchor="t">
            <a:spAutoFit/>
          </a:bodyPr>
          <a:lstStyle/>
          <a:p>
            <a:pPr algn="l"/>
            <a:r>
              <a:rPr sz="1400" b="1">
                <a:solidFill>
                  <a:srgbClr val="1565C0"/>
                </a:solidFill>
                <a:latin typeface="Aptos Display"/>
              </a:rPr>
              <a:t>STANDARDIZE</a:t>
            </a:r>
          </a:p>
        </p:txBody>
      </p:sp>
      <p:sp>
        <p:nvSpPr>
          <p:cNvPr id="12" name="TextBox 11"/>
          <p:cNvSpPr txBox="1"/>
          <p:nvPr/>
        </p:nvSpPr>
        <p:spPr>
          <a:xfrm>
            <a:off x="878368" y="1960000"/>
            <a:ext cx="3060000" cy="180000"/>
          </a:xfrm>
          <a:prstGeom prst="rect">
            <a:avLst/>
          </a:prstGeom>
          <a:noFill/>
        </p:spPr>
        <p:txBody>
          <a:bodyPr wrap="square" lIns="0" rIns="0" tIns="0" bIns="0" anchor="t">
            <a:spAutoFit/>
          </a:bodyPr>
          <a:lstStyle/>
          <a:p>
            <a:pPr algn="l"/>
            <a:r>
              <a:rPr sz="950" b="0">
                <a:solidFill>
                  <a:srgbClr val="475569"/>
                </a:solidFill>
                <a:latin typeface="Aptos"/>
              </a:rPr>
              <a:t>one engineer → a repeatable session</a:t>
            </a:r>
          </a:p>
        </p:txBody>
      </p:sp>
      <p:sp>
        <p:nvSpPr>
          <p:cNvPr id="13" name="Rounded Rectangle 12"/>
          <p:cNvSpPr/>
          <p:nvPr/>
        </p:nvSpPr>
        <p:spPr>
          <a:xfrm>
            <a:off x="878368" y="2430000"/>
            <a:ext cx="3060000" cy="940000"/>
          </a:xfrm>
          <a:prstGeom prst="roundRect">
            <a:avLst>
              <a:gd name="adj" fmla="val 4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8368" y="2550000"/>
            <a:ext cx="2700000" cy="220000"/>
          </a:xfrm>
          <a:prstGeom prst="rect">
            <a:avLst/>
          </a:prstGeom>
          <a:noFill/>
        </p:spPr>
        <p:txBody>
          <a:bodyPr wrap="square" lIns="0" rIns="0" tIns="0" bIns="0" anchor="t">
            <a:spAutoFit/>
          </a:bodyPr>
          <a:lstStyle/>
          <a:p>
            <a:pPr algn="l"/>
            <a:r>
              <a:rPr sz="1150" b="1">
                <a:solidFill>
                  <a:srgbClr val="1A2332"/>
                </a:solidFill>
                <a:latin typeface="Aptos Display"/>
              </a:rPr>
              <a:t>Lean CLAUDE.md</a:t>
            </a:r>
          </a:p>
        </p:txBody>
      </p:sp>
      <p:sp>
        <p:nvSpPr>
          <p:cNvPr id="15" name="TextBox 14"/>
          <p:cNvSpPr txBox="1"/>
          <p:nvPr/>
        </p:nvSpPr>
        <p:spPr>
          <a:xfrm>
            <a:off x="1058368" y="2835000"/>
            <a:ext cx="2700000" cy="420000"/>
          </a:xfrm>
          <a:prstGeom prst="rect">
            <a:avLst/>
          </a:prstGeom>
          <a:noFill/>
        </p:spPr>
        <p:txBody>
          <a:bodyPr wrap="square" lIns="0" rIns="0" tIns="0" bIns="0" anchor="t">
            <a:spAutoFit/>
          </a:bodyPr>
          <a:lstStyle/>
          <a:p>
            <a:pPr algn="l"/>
            <a:r>
              <a:rPr sz="840" b="0">
                <a:solidFill>
                  <a:srgbClr val="475569"/>
                </a:solidFill>
                <a:latin typeface="Aptos"/>
              </a:rPr>
              <a:t>Build commands, architecture, file scope rules, and “do not scan” directives.</a:t>
            </a:r>
          </a:p>
        </p:txBody>
      </p:sp>
      <p:sp>
        <p:nvSpPr>
          <p:cNvPr id="16" name="Rounded Rectangle 15"/>
          <p:cNvSpPr/>
          <p:nvPr/>
        </p:nvSpPr>
        <p:spPr>
          <a:xfrm>
            <a:off x="878368" y="3530000"/>
            <a:ext cx="3060000" cy="940000"/>
          </a:xfrm>
          <a:prstGeom prst="roundRect">
            <a:avLst>
              <a:gd name="adj" fmla="val 4000"/>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8368" y="3650000"/>
            <a:ext cx="2700000" cy="220000"/>
          </a:xfrm>
          <a:prstGeom prst="rect">
            <a:avLst/>
          </a:prstGeom>
          <a:noFill/>
        </p:spPr>
        <p:txBody>
          <a:bodyPr wrap="square" lIns="0" rIns="0" tIns="0" bIns="0" anchor="t">
            <a:spAutoFit/>
          </a:bodyPr>
          <a:lstStyle/>
          <a:p>
            <a:pPr algn="l"/>
            <a:r>
              <a:rPr sz="1150" b="1">
                <a:solidFill>
                  <a:srgbClr val="1A2332"/>
                </a:solidFill>
                <a:latin typeface="Aptos Display"/>
              </a:rPr>
              <a:t>Scoped rules + skills</a:t>
            </a:r>
          </a:p>
        </p:txBody>
      </p:sp>
      <p:sp>
        <p:nvSpPr>
          <p:cNvPr id="18" name="TextBox 17"/>
          <p:cNvSpPr txBox="1"/>
          <p:nvPr/>
        </p:nvSpPr>
        <p:spPr>
          <a:xfrm>
            <a:off x="1058368" y="3935000"/>
            <a:ext cx="2700000" cy="420000"/>
          </a:xfrm>
          <a:prstGeom prst="rect">
            <a:avLst/>
          </a:prstGeom>
          <a:noFill/>
        </p:spPr>
        <p:txBody>
          <a:bodyPr wrap="square" lIns="0" rIns="0" tIns="0" bIns="0" anchor="t">
            <a:spAutoFit/>
          </a:bodyPr>
          <a:lstStyle/>
          <a:p>
            <a:pPr algn="l"/>
            <a:r>
              <a:rPr sz="840" b="0">
                <a:solidFill>
                  <a:srgbClr val="475569"/>
                </a:solidFill>
                <a:latin typeface="Aptos"/>
              </a:rPr>
              <a:t>Move bulky guidance into rules and skills. Keep always-on context under 2% of window.</a:t>
            </a:r>
          </a:p>
        </p:txBody>
      </p:sp>
      <p:sp>
        <p:nvSpPr>
          <p:cNvPr id="19" name="Rounded Rectangle 18"/>
          <p:cNvSpPr/>
          <p:nvPr/>
        </p:nvSpPr>
        <p:spPr>
          <a:xfrm>
            <a:off x="4450000" y="1270000"/>
            <a:ext cx="3500000" cy="36600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50000" y="1270000"/>
            <a:ext cx="3500000" cy="920000"/>
          </a:xfrm>
          <a:prstGeom prst="roundRect">
            <a:avLst>
              <a:gd name="adj" fmla="val 5000"/>
            </a:avLst>
          </a:prstGeom>
          <a:solidFill>
            <a:srgbClr val="F5F3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670000" y="1500000"/>
            <a:ext cx="460000" cy="460000"/>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70000" y="1500000"/>
            <a:ext cx="460000" cy="460000"/>
          </a:xfrm>
          <a:prstGeom prst="rect">
            <a:avLst/>
          </a:prstGeom>
          <a:noFill/>
        </p:spPr>
        <p:txBody>
          <a:bodyPr wrap="square" lIns="0" rIns="0" tIns="0" bIns="0" anchor="ctr">
            <a:spAutoFit/>
          </a:bodyPr>
          <a:lstStyle/>
          <a:p>
            <a:pPr algn="ctr"/>
            <a:r>
              <a:rPr sz="1300" b="1">
                <a:solidFill>
                  <a:srgbClr val="FFFFFF"/>
                </a:solidFill>
                <a:latin typeface="Aptos Display"/>
              </a:rPr>
              <a:t>02</a:t>
            </a:r>
          </a:p>
        </p:txBody>
      </p:sp>
      <p:sp>
        <p:nvSpPr>
          <p:cNvPr id="23" name="TextBox 22"/>
          <p:cNvSpPr txBox="1"/>
          <p:nvPr/>
        </p:nvSpPr>
        <p:spPr>
          <a:xfrm>
            <a:off x="5270000" y="1490000"/>
            <a:ext cx="2500000" cy="240000"/>
          </a:xfrm>
          <a:prstGeom prst="rect">
            <a:avLst/>
          </a:prstGeom>
          <a:noFill/>
        </p:spPr>
        <p:txBody>
          <a:bodyPr wrap="square" lIns="0" rIns="0" tIns="0" bIns="0" anchor="t">
            <a:spAutoFit/>
          </a:bodyPr>
          <a:lstStyle/>
          <a:p>
            <a:pPr algn="l"/>
            <a:r>
              <a:rPr sz="1400" b="1">
                <a:solidFill>
                  <a:srgbClr val="7C3AED"/>
                </a:solidFill>
                <a:latin typeface="Aptos Display"/>
              </a:rPr>
              <a:t>MULTIPLY</a:t>
            </a:r>
          </a:p>
        </p:txBody>
      </p:sp>
      <p:sp>
        <p:nvSpPr>
          <p:cNvPr id="24" name="TextBox 23"/>
          <p:cNvSpPr txBox="1"/>
          <p:nvPr/>
        </p:nvSpPr>
        <p:spPr>
          <a:xfrm>
            <a:off x="4670000" y="1960000"/>
            <a:ext cx="3060000" cy="180000"/>
          </a:xfrm>
          <a:prstGeom prst="rect">
            <a:avLst/>
          </a:prstGeom>
          <a:noFill/>
        </p:spPr>
        <p:txBody>
          <a:bodyPr wrap="square" lIns="0" rIns="0" tIns="0" bIns="0" anchor="t">
            <a:spAutoFit/>
          </a:bodyPr>
          <a:lstStyle/>
          <a:p>
            <a:pPr algn="l"/>
            <a:r>
              <a:rPr sz="950" b="0">
                <a:solidFill>
                  <a:srgbClr val="475569"/>
                </a:solidFill>
                <a:latin typeface="Aptos"/>
              </a:rPr>
              <a:t>one session → a team workflow</a:t>
            </a:r>
          </a:p>
        </p:txBody>
      </p:sp>
      <p:sp>
        <p:nvSpPr>
          <p:cNvPr id="25" name="Rounded Rectangle 24"/>
          <p:cNvSpPr/>
          <p:nvPr/>
        </p:nvSpPr>
        <p:spPr>
          <a:xfrm>
            <a:off x="4670000" y="2430000"/>
            <a:ext cx="3060000" cy="940000"/>
          </a:xfrm>
          <a:prstGeom prst="roundRect">
            <a:avLst>
              <a:gd name="adj" fmla="val 4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50000" y="2550000"/>
            <a:ext cx="2700000" cy="220000"/>
          </a:xfrm>
          <a:prstGeom prst="rect">
            <a:avLst/>
          </a:prstGeom>
          <a:noFill/>
        </p:spPr>
        <p:txBody>
          <a:bodyPr wrap="square" lIns="0" rIns="0" tIns="0" bIns="0" anchor="t">
            <a:spAutoFit/>
          </a:bodyPr>
          <a:lstStyle/>
          <a:p>
            <a:pPr algn="l"/>
            <a:r>
              <a:rPr sz="1150" b="1">
                <a:solidFill>
                  <a:srgbClr val="1A2332"/>
                </a:solidFill>
                <a:latin typeface="Aptos Display"/>
              </a:rPr>
              <a:t>Subagents + Teams</a:t>
            </a:r>
          </a:p>
        </p:txBody>
      </p:sp>
      <p:sp>
        <p:nvSpPr>
          <p:cNvPr id="27" name="TextBox 26"/>
          <p:cNvSpPr txBox="1"/>
          <p:nvPr/>
        </p:nvSpPr>
        <p:spPr>
          <a:xfrm>
            <a:off x="4850000" y="2835000"/>
            <a:ext cx="2700000" cy="420000"/>
          </a:xfrm>
          <a:prstGeom prst="rect">
            <a:avLst/>
          </a:prstGeom>
          <a:noFill/>
        </p:spPr>
        <p:txBody>
          <a:bodyPr wrap="square" lIns="0" rIns="0" tIns="0" bIns="0" anchor="t">
            <a:spAutoFit/>
          </a:bodyPr>
          <a:lstStyle/>
          <a:p>
            <a:pPr algn="l"/>
            <a:r>
              <a:rPr sz="840" b="0">
                <a:solidFill>
                  <a:srgbClr val="475569"/>
                </a:solidFill>
                <a:latin typeface="Aptos"/>
              </a:rPr>
              <a:t>Set up agents for test suites, log analysis, code review. Use Agent Teams for cross-module work.</a:t>
            </a:r>
          </a:p>
        </p:txBody>
      </p:sp>
      <p:sp>
        <p:nvSpPr>
          <p:cNvPr id="28" name="Rounded Rectangle 27"/>
          <p:cNvSpPr/>
          <p:nvPr/>
        </p:nvSpPr>
        <p:spPr>
          <a:xfrm>
            <a:off x="4670000" y="3530000"/>
            <a:ext cx="3060000" cy="940000"/>
          </a:xfrm>
          <a:prstGeom prst="roundRect">
            <a:avLst>
              <a:gd name="adj" fmla="val 4000"/>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50000" y="3650000"/>
            <a:ext cx="2700000" cy="220000"/>
          </a:xfrm>
          <a:prstGeom prst="rect">
            <a:avLst/>
          </a:prstGeom>
          <a:noFill/>
        </p:spPr>
        <p:txBody>
          <a:bodyPr wrap="square" lIns="0" rIns="0" tIns="0" bIns="0" anchor="t">
            <a:spAutoFit/>
          </a:bodyPr>
          <a:lstStyle/>
          <a:p>
            <a:pPr algn="l"/>
            <a:r>
              <a:rPr sz="1150" b="1">
                <a:solidFill>
                  <a:srgbClr val="1A2332"/>
                </a:solidFill>
                <a:latin typeface="Aptos Display"/>
              </a:rPr>
              <a:t>Team-wide MCP config</a:t>
            </a:r>
          </a:p>
        </p:txBody>
      </p:sp>
      <p:sp>
        <p:nvSpPr>
          <p:cNvPr id="30" name="TextBox 29"/>
          <p:cNvSpPr txBox="1"/>
          <p:nvPr/>
        </p:nvSpPr>
        <p:spPr>
          <a:xfrm>
            <a:off x="4850000" y="3935000"/>
            <a:ext cx="2700000" cy="420000"/>
          </a:xfrm>
          <a:prstGeom prst="rect">
            <a:avLst/>
          </a:prstGeom>
          <a:noFill/>
        </p:spPr>
        <p:txBody>
          <a:bodyPr wrap="square" lIns="0" rIns="0" tIns="0" bIns="0" anchor="t">
            <a:spAutoFit/>
          </a:bodyPr>
          <a:lstStyle/>
          <a:p>
            <a:pPr algn="l"/>
            <a:r>
              <a:rPr sz="840" b="0">
                <a:solidFill>
                  <a:srgbClr val="475569"/>
                </a:solidFill>
                <a:latin typeface="Aptos"/>
              </a:rPr>
              <a:t>Check .mcp.json into repo. Connect only active-workflow servers to minimize context cost.</a:t>
            </a:r>
          </a:p>
        </p:txBody>
      </p:sp>
      <p:sp>
        <p:nvSpPr>
          <p:cNvPr id="31" name="Rounded Rectangle 30"/>
          <p:cNvSpPr/>
          <p:nvPr/>
        </p:nvSpPr>
        <p:spPr>
          <a:xfrm>
            <a:off x="8240000" y="1270000"/>
            <a:ext cx="3541632" cy="366000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240000" y="1270000"/>
            <a:ext cx="3541632" cy="920000"/>
          </a:xfrm>
          <a:prstGeom prst="roundRect">
            <a:avLst>
              <a:gd name="adj" fmla="val 5000"/>
            </a:avLst>
          </a:prstGeom>
          <a:solidFill>
            <a:srgbClr val="ECFDF5"/>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60000" y="1500000"/>
            <a:ext cx="460000" cy="460000"/>
          </a:xfrm>
          <a:prstGeom prst="ellipse">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60000" y="1500000"/>
            <a:ext cx="460000" cy="460000"/>
          </a:xfrm>
          <a:prstGeom prst="rect">
            <a:avLst/>
          </a:prstGeom>
          <a:noFill/>
        </p:spPr>
        <p:txBody>
          <a:bodyPr wrap="square" lIns="0" rIns="0" tIns="0" bIns="0" anchor="ctr">
            <a:spAutoFit/>
          </a:bodyPr>
          <a:lstStyle/>
          <a:p>
            <a:pPr algn="ctr"/>
            <a:r>
              <a:rPr sz="1300" b="1">
                <a:solidFill>
                  <a:srgbClr val="FFFFFF"/>
                </a:solidFill>
                <a:latin typeface="Aptos Display"/>
              </a:rPr>
              <a:t>03</a:t>
            </a:r>
          </a:p>
        </p:txBody>
      </p:sp>
      <p:sp>
        <p:nvSpPr>
          <p:cNvPr id="35" name="TextBox 34"/>
          <p:cNvSpPr txBox="1"/>
          <p:nvPr/>
        </p:nvSpPr>
        <p:spPr>
          <a:xfrm>
            <a:off x="9060000" y="1490000"/>
            <a:ext cx="2541632" cy="240000"/>
          </a:xfrm>
          <a:prstGeom prst="rect">
            <a:avLst/>
          </a:prstGeom>
          <a:noFill/>
        </p:spPr>
        <p:txBody>
          <a:bodyPr wrap="square" lIns="0" rIns="0" tIns="0" bIns="0" anchor="t">
            <a:spAutoFit/>
          </a:bodyPr>
          <a:lstStyle/>
          <a:p>
            <a:pPr algn="l"/>
            <a:r>
              <a:rPr sz="1400" b="1">
                <a:solidFill>
                  <a:srgbClr val="059669"/>
                </a:solidFill>
                <a:latin typeface="Aptos Display"/>
              </a:rPr>
              <a:t>GOVERN</a:t>
            </a:r>
          </a:p>
        </p:txBody>
      </p:sp>
      <p:sp>
        <p:nvSpPr>
          <p:cNvPr id="36" name="TextBox 35"/>
          <p:cNvSpPr txBox="1"/>
          <p:nvPr/>
        </p:nvSpPr>
        <p:spPr>
          <a:xfrm>
            <a:off x="8460000" y="1960000"/>
            <a:ext cx="3101632" cy="180000"/>
          </a:xfrm>
          <a:prstGeom prst="rect">
            <a:avLst/>
          </a:prstGeom>
          <a:noFill/>
        </p:spPr>
        <p:txBody>
          <a:bodyPr wrap="square" lIns="0" rIns="0" tIns="0" bIns="0" anchor="t">
            <a:spAutoFit/>
          </a:bodyPr>
          <a:lstStyle/>
          <a:p>
            <a:pPr algn="l"/>
            <a:r>
              <a:rPr sz="950" b="0">
                <a:solidFill>
                  <a:srgbClr val="475569"/>
                </a:solidFill>
                <a:latin typeface="Aptos"/>
              </a:rPr>
              <a:t>a team workflow → production scale</a:t>
            </a:r>
          </a:p>
        </p:txBody>
      </p:sp>
      <p:sp>
        <p:nvSpPr>
          <p:cNvPr id="37" name="Rounded Rectangle 36"/>
          <p:cNvSpPr/>
          <p:nvPr/>
        </p:nvSpPr>
        <p:spPr>
          <a:xfrm>
            <a:off x="8460000" y="2430000"/>
            <a:ext cx="3101632" cy="940000"/>
          </a:xfrm>
          <a:prstGeom prst="roundRect">
            <a:avLst>
              <a:gd name="adj" fmla="val 4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640000" y="2550000"/>
            <a:ext cx="2741632" cy="220000"/>
          </a:xfrm>
          <a:prstGeom prst="rect">
            <a:avLst/>
          </a:prstGeom>
          <a:noFill/>
        </p:spPr>
        <p:txBody>
          <a:bodyPr wrap="square" lIns="0" rIns="0" tIns="0" bIns="0" anchor="t">
            <a:spAutoFit/>
          </a:bodyPr>
          <a:lstStyle/>
          <a:p>
            <a:pPr algn="l"/>
            <a:r>
              <a:rPr sz="1150" b="1">
                <a:solidFill>
                  <a:srgbClr val="1A2332"/>
                </a:solidFill>
                <a:latin typeface="Aptos Display"/>
              </a:rPr>
              <a:t>Lifecycle hooks</a:t>
            </a:r>
          </a:p>
        </p:txBody>
      </p:sp>
      <p:sp>
        <p:nvSpPr>
          <p:cNvPr id="39" name="TextBox 38"/>
          <p:cNvSpPr txBox="1"/>
          <p:nvPr/>
        </p:nvSpPr>
        <p:spPr>
          <a:xfrm>
            <a:off x="8640000" y="2835000"/>
            <a:ext cx="2741632" cy="420000"/>
          </a:xfrm>
          <a:prstGeom prst="rect">
            <a:avLst/>
          </a:prstGeom>
          <a:noFill/>
        </p:spPr>
        <p:txBody>
          <a:bodyPr wrap="square" lIns="0" rIns="0" tIns="0" bIns="0" anchor="t">
            <a:spAutoFit/>
          </a:bodyPr>
          <a:lstStyle/>
          <a:p>
            <a:pPr algn="l"/>
            <a:r>
              <a:rPr sz="840" b="0">
                <a:solidFill>
                  <a:srgbClr val="475569"/>
                </a:solidFill>
                <a:latin typeface="Aptos"/>
              </a:rPr>
              <a:t>Shell + HTTP hooks for auto-lint, test runners, security scans, and PostCompact cleanup.</a:t>
            </a:r>
          </a:p>
        </p:txBody>
      </p:sp>
      <p:sp>
        <p:nvSpPr>
          <p:cNvPr id="40" name="Rounded Rectangle 39"/>
          <p:cNvSpPr/>
          <p:nvPr/>
        </p:nvSpPr>
        <p:spPr>
          <a:xfrm>
            <a:off x="8460000" y="3530000"/>
            <a:ext cx="3101632" cy="940000"/>
          </a:xfrm>
          <a:prstGeom prst="roundRect">
            <a:avLst>
              <a:gd name="adj" fmla="val 4000"/>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40000" y="3650000"/>
            <a:ext cx="2741632" cy="220000"/>
          </a:xfrm>
          <a:prstGeom prst="rect">
            <a:avLst/>
          </a:prstGeom>
          <a:noFill/>
        </p:spPr>
        <p:txBody>
          <a:bodyPr wrap="square" lIns="0" rIns="0" tIns="0" bIns="0" anchor="t">
            <a:spAutoFit/>
          </a:bodyPr>
          <a:lstStyle/>
          <a:p>
            <a:pPr algn="l"/>
            <a:r>
              <a:rPr sz="1150" b="1">
                <a:solidFill>
                  <a:srgbClr val="1A2332"/>
                </a:solidFill>
                <a:latin typeface="Aptos Display"/>
              </a:rPr>
              <a:t>Onboard engineers</a:t>
            </a:r>
          </a:p>
        </p:txBody>
      </p:sp>
      <p:sp>
        <p:nvSpPr>
          <p:cNvPr id="42" name="TextBox 41"/>
          <p:cNvSpPr txBox="1"/>
          <p:nvPr/>
        </p:nvSpPr>
        <p:spPr>
          <a:xfrm>
            <a:off x="8640000" y="3935000"/>
            <a:ext cx="2741632" cy="420000"/>
          </a:xfrm>
          <a:prstGeom prst="rect">
            <a:avLst/>
          </a:prstGeom>
          <a:noFill/>
        </p:spPr>
        <p:txBody>
          <a:bodyPr wrap="square" lIns="0" rIns="0" tIns="0" bIns="0" anchor="t">
            <a:spAutoFit/>
          </a:bodyPr>
          <a:lstStyle/>
          <a:p>
            <a:pPr algn="l"/>
            <a:r>
              <a:rPr sz="840" b="0">
                <a:solidFill>
                  <a:srgbClr val="475569"/>
                </a:solidFill>
                <a:latin typeface="Aptos"/>
              </a:rPr>
              <a:t>Prompt formula, context budget rules, and the trust / verification loop for every developer.</a:t>
            </a:r>
          </a:p>
        </p:txBody>
      </p:sp>
      <p:sp>
        <p:nvSpPr>
          <p:cNvPr id="43" name="Rounded Rectangle 42"/>
          <p:cNvSpPr/>
          <p:nvPr/>
        </p:nvSpPr>
        <p:spPr>
          <a:xfrm>
            <a:off x="658368" y="5150000"/>
            <a:ext cx="10875264" cy="760000"/>
          </a:xfrm>
          <a:prstGeom prst="roundRect">
            <a:avLst>
              <a:gd name="adj" fmla="val 6000"/>
            </a:avLst>
          </a:prstGeom>
          <a:solidFill>
            <a:srgbClr val="FFF7ED"/>
          </a:solidFill>
          <a:ln w="12700">
            <a:solidFill>
              <a:srgbClr val="D462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8368" y="5290000"/>
            <a:ext cx="2100000" cy="200000"/>
          </a:xfrm>
          <a:prstGeom prst="rect">
            <a:avLst/>
          </a:prstGeom>
          <a:noFill/>
        </p:spPr>
        <p:txBody>
          <a:bodyPr wrap="square" lIns="0" rIns="0" tIns="0" bIns="0" anchor="t">
            <a:spAutoFit/>
          </a:bodyPr>
          <a:lstStyle/>
          <a:p>
            <a:pPr algn="l"/>
            <a:r>
              <a:rPr sz="1000" b="1">
                <a:solidFill>
                  <a:srgbClr val="D4622B"/>
                </a:solidFill>
                <a:latin typeface="Aptos"/>
              </a:rPr>
              <a:t>THE MULTIPLIER</a:t>
            </a:r>
          </a:p>
        </p:txBody>
      </p:sp>
      <p:sp>
        <p:nvSpPr>
          <p:cNvPr id="45" name="TextBox 44"/>
          <p:cNvSpPr txBox="1"/>
          <p:nvPr/>
        </p:nvSpPr>
        <p:spPr>
          <a:xfrm>
            <a:off x="3058368" y="5240000"/>
            <a:ext cx="8175264" cy="300000"/>
          </a:xfrm>
          <a:prstGeom prst="rect">
            <a:avLst/>
          </a:prstGeom>
          <a:noFill/>
        </p:spPr>
        <p:txBody>
          <a:bodyPr wrap="square" lIns="0" rIns="0" tIns="0" bIns="0" anchor="t">
            <a:spAutoFit/>
          </a:bodyPr>
          <a:lstStyle/>
          <a:p>
            <a:pPr algn="l"/>
            <a:r>
              <a:rPr sz="1500" b="1">
                <a:solidFill>
                  <a:srgbClr val="1A2332"/>
                </a:solidFill>
                <a:latin typeface="Aptos Display"/>
              </a:rPr>
              <a:t>Context is deliberate. Governance is centralized. Verification is mandatory.</a:t>
            </a:r>
          </a:p>
        </p:txBody>
      </p:sp>
      <p:sp>
        <p:nvSpPr>
          <p:cNvPr id="46" name="TextBox 45"/>
          <p:cNvSpPr txBox="1"/>
          <p:nvPr/>
        </p:nvSpPr>
        <p:spPr>
          <a:xfrm>
            <a:off x="658368" y="6428232"/>
            <a:ext cx="3840480" cy="182880"/>
          </a:xfrm>
          <a:prstGeom prst="rect">
            <a:avLst/>
          </a:prstGeom>
          <a:noFill/>
        </p:spPr>
        <p:txBody>
          <a:bodyPr wrap="square" lIns="0" rIns="0" tIns="0" bIns="0" anchor="t">
            <a:spAutoFit/>
          </a:bodyPr>
          <a:lstStyle/>
          <a:p>
            <a:pPr algn="l"/>
            <a:r>
              <a:rPr sz="850" b="0">
                <a:solidFill>
                  <a:srgbClr val="8899AA"/>
                </a:solidFill>
                <a:latin typeface="Aptos"/>
              </a:rPr>
              <a:t>Claude Code · Enterprise Engineering Session</a:t>
            </a:r>
          </a:p>
        </p:txBody>
      </p:sp>
      <p:sp>
        <p:nvSpPr>
          <p:cNvPr id="47" name="PageNum"/>
          <p:cNvSpPr txBox="1"/>
          <p:nvPr/>
        </p:nvSpPr>
        <p:spPr>
          <a:xfrm>
            <a:off x="10424160" y="6428232"/>
            <a:ext cx="1097280" cy="182880"/>
          </a:xfrm>
          <a:prstGeom prst="rect">
            <a:avLst/>
          </a:prstGeom>
          <a:noFill/>
        </p:spPr>
        <p:txBody>
          <a:bodyPr wrap="square" lIns="0" rIns="0" tIns="0" bIns="0" anchor="t">
            <a:spAutoFit/>
          </a:bodyPr>
          <a:lstStyle/>
          <a:p>
            <a:pPr algn="r"/>
            <a:r>
              <a:rPr sz="850" b="0">
                <a:solidFill>
                  <a:srgbClr val="8899AA"/>
                </a:solidFill>
                <a:latin typeface="Aptos"/>
              </a:rPr>
              <a:t>48 / 52</a:t>
            </a:r>
          </a:p>
        </p:txBody>
      </p:sp>
    </p:spTree>
    <p:extLst>
      <p:ext uri="{BB962C8B-B14F-4D97-AF65-F5344CB8AC3E}">
        <p14:creationId xmlns:p14="http://schemas.microsoft.com/office/powerpoint/2010/main" val="38838868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660400" y="76200"/>
            <a:ext cx="8890000" cy="381000"/>
          </a:xfrm>
          <a:prstGeom prst="rect">
            <a:avLst/>
          </a:prstGeom>
          <a:noFill/>
          <a:ln w="0">
            <a:noFill/>
          </a:ln>
        </p:spPr>
        <p:txBody>
          <a:bodyPr wrap="square" lIns="0" tIns="0" rIns="0" bIns="0" anchor="t"/>
          <a:lstStyle/>
          <a:p>
            <a:pPr marL="0" indent="0">
              <a:buNone/>
            </a:pPr>
            <a:r>
              <a:rPr lang="en-US" sz="2700" b="1" dirty="0">
                <a:solidFill>
                  <a:srgbClr val="FFFFFF"/>
                </a:solidFill>
                <a:latin typeface="Aptos Display"/>
              </a:rPr>
              <a:t>Hooks: automate every step of the agent lifecycle</a:t>
            </a:r>
          </a:p>
        </p:txBody>
      </p:sp>
      <p:sp>
        <p:nvSpPr>
          <p:cNvPr id="11" name="Subtitle"/>
          <p:cNvSpPr/>
          <p:nvPr/>
        </p:nvSpPr>
        <p:spPr>
          <a:xfrm>
            <a:off x="660400" y="609600"/>
            <a:ext cx="9512300" cy="254000"/>
          </a:xfrm>
          <a:prstGeom prst="rect">
            <a:avLst/>
          </a:prstGeom>
          <a:noFill/>
          <a:ln w="0">
            <a:noFill/>
          </a:ln>
        </p:spPr>
        <p:txBody>
          <a:bodyPr wrap="square" lIns="0" tIns="0" rIns="0" bIns="0" anchor="t"/>
          <a:lstStyle/>
          <a:p>
            <a:pPr marL="0" indent="0">
              <a:buNone/>
            </a:pPr>
            <a:r>
              <a:rPr lang="en-US" sz="1400" dirty="0">
                <a:solidFill>
                  <a:srgbClr val="3972C1"/>
                </a:solidFill>
                <a:latin typeface="Aptos"/>
              </a:rPr>
              <a:t>Deterministic control via shell commands, LLM prompts, and sub-agents that are guaranteed to execute</a:t>
            </a:r>
          </a:p>
        </p:txBody>
      </p:sp>
      <p:cxnSp>
        <p:nvCxnSpPr>
          <p:cNvPr id="12" name="Divider"/>
          <p:cNvCxnSpPr/>
          <p:nvPr/>
        </p:nvCxnSpPr>
        <p:spPr>
          <a:xfrm>
            <a:off x="0" y="952500"/>
            <a:ext cx="12192000" cy="0"/>
          </a:xfrm>
          <a:prstGeom prst="straightConnector1">
            <a:avLst/>
          </a:prstGeom>
          <a:ln w="12700">
            <a:solidFill>
              <a:srgbClr val="2D4A6F"/>
            </a:solidFill>
          </a:ln>
        </p:spPr>
      </p:cxnSp>
      <p:sp>
        <p:nvSpPr>
          <p:cNvPr id="13" name="LifecycleLabel"/>
          <p:cNvSpPr/>
          <p:nvPr/>
        </p:nvSpPr>
        <p:spPr>
          <a:xfrm>
            <a:off x="381000" y="1041400"/>
            <a:ext cx="5524500" cy="203200"/>
          </a:xfrm>
          <a:prstGeom prst="rect">
            <a:avLst/>
          </a:prstGeom>
          <a:noFill/>
          <a:ln w="0">
            <a:noFill/>
          </a:ln>
        </p:spPr>
        <p:txBody>
          <a:bodyPr wrap="square" lIns="0" tIns="0" rIns="0" bIns="0" anchor="ctr"/>
          <a:lstStyle/>
          <a:p>
            <a:pPr algn="ctr">
              <a:buNone/>
            </a:pPr>
            <a:r>
              <a:rPr lang="en-US" sz="1050" b="1" dirty="0">
                <a:solidFill>
                  <a:srgbClr val="64748B"/>
                </a:solidFill>
                <a:latin typeface="Aptos Display"/>
              </a:rPr>
              <a:t>HOOK LIFECYCLE EVENTS</a:t>
            </a:r>
          </a:p>
        </p:txBody>
      </p:sp>
      <p:sp>
        <p:nvSpPr>
          <p:cNvPr id="14" name="Ring"/>
          <p:cNvSpPr/>
          <p:nvPr/>
        </p:nvSpPr>
        <p:spPr>
          <a:xfrm>
            <a:off x="1968500" y="2540000"/>
            <a:ext cx="2286000" cy="2286000"/>
          </a:xfrm>
          <a:prstGeom prst="donut">
            <a:avLst>
              <a:gd name="adj" fmla="val 4000"/>
            </a:avLst>
          </a:prstGeom>
          <a:solidFill>
            <a:srgbClr val="D8E2EF"/>
          </a:solidFill>
          <a:ln w="0">
            <a:noFill/>
          </a:ln>
        </p:spPr>
        <p:txBody>
          <a:bodyPr/>
          <a:lstStyle/>
          <a:p>
            <a:endParaRPr lang="en-US"/>
          </a:p>
        </p:txBody>
      </p:sp>
      <p:sp>
        <p:nvSpPr>
          <p:cNvPr id="15" name="CenterLabel"/>
          <p:cNvSpPr/>
          <p:nvPr/>
        </p:nvSpPr>
        <p:spPr>
          <a:xfrm>
            <a:off x="2603500" y="3505200"/>
            <a:ext cx="1016000" cy="355600"/>
          </a:xfrm>
          <a:prstGeom prst="rect">
            <a:avLst/>
          </a:prstGeom>
          <a:noFill/>
          <a:ln w="0">
            <a:noFill/>
          </a:ln>
        </p:spPr>
        <p:txBody>
          <a:bodyPr wrap="square" lIns="0" tIns="0" rIns="0" bIns="0" anchor="ctr"/>
          <a:lstStyle/>
          <a:p>
            <a:pPr algn="ctr">
              <a:buNone/>
            </a:pPr>
            <a:r>
              <a:rPr lang="en-US" sz="1000" b="1" dirty="0">
                <a:solidFill>
                  <a:srgbClr val="1A2332"/>
                </a:solidFill>
                <a:latin typeface="Aptos Display"/>
              </a:rPr>
              <a:t>Agent</a:t>
            </a:r>
          </a:p>
          <a:p>
            <a:pPr algn="ctr">
              <a:buNone/>
            </a:pPr>
            <a:r>
              <a:rPr lang="en-US" sz="1000" b="1" dirty="0">
                <a:solidFill>
                  <a:srgbClr val="1A2332"/>
                </a:solidFill>
                <a:latin typeface="Aptos Display"/>
              </a:rPr>
              <a:t>Lifecycle</a:t>
            </a:r>
          </a:p>
        </p:txBody>
      </p:sp>
      <p:sp>
        <p:nvSpPr>
          <p:cNvPr id="16" name="Arrow0"/>
          <p:cNvSpPr/>
          <p:nvPr/>
        </p:nvSpPr>
        <p:spPr>
          <a:xfrm rot="1800000">
            <a:off x="3619500" y="2629633"/>
            <a:ext cx="127000" cy="127000"/>
          </a:xfrm>
          <a:prstGeom prst="rightArrow">
            <a:avLst>
              <a:gd name="adj1" fmla="val 60000"/>
              <a:gd name="adj2" fmla="val 50000"/>
            </a:avLst>
          </a:prstGeom>
          <a:solidFill>
            <a:srgbClr val="1565C0"/>
          </a:solidFill>
          <a:ln w="0">
            <a:noFill/>
          </a:ln>
        </p:spPr>
        <p:txBody>
          <a:bodyPr/>
          <a:lstStyle/>
          <a:p>
            <a:endParaRPr lang="en-US"/>
          </a:p>
        </p:txBody>
      </p:sp>
      <p:sp>
        <p:nvSpPr>
          <p:cNvPr id="17" name="Arrow1"/>
          <p:cNvSpPr/>
          <p:nvPr/>
        </p:nvSpPr>
        <p:spPr>
          <a:xfrm rot="5400000">
            <a:off x="4191000" y="3619500"/>
            <a:ext cx="127000" cy="127000"/>
          </a:xfrm>
          <a:prstGeom prst="rightArrow">
            <a:avLst>
              <a:gd name="adj1" fmla="val 60000"/>
              <a:gd name="adj2" fmla="val 50000"/>
            </a:avLst>
          </a:prstGeom>
          <a:solidFill>
            <a:srgbClr val="1565C0"/>
          </a:solidFill>
          <a:ln w="0">
            <a:noFill/>
          </a:ln>
        </p:spPr>
        <p:txBody>
          <a:bodyPr/>
          <a:lstStyle/>
          <a:p>
            <a:endParaRPr lang="en-US"/>
          </a:p>
        </p:txBody>
      </p:sp>
      <p:sp>
        <p:nvSpPr>
          <p:cNvPr id="18" name="Arrow2"/>
          <p:cNvSpPr/>
          <p:nvPr/>
        </p:nvSpPr>
        <p:spPr>
          <a:xfrm rot="9000000">
            <a:off x="3619500" y="4609367"/>
            <a:ext cx="127000" cy="127000"/>
          </a:xfrm>
          <a:prstGeom prst="rightArrow">
            <a:avLst>
              <a:gd name="adj1" fmla="val 60000"/>
              <a:gd name="adj2" fmla="val 50000"/>
            </a:avLst>
          </a:prstGeom>
          <a:solidFill>
            <a:srgbClr val="1565C0"/>
          </a:solidFill>
          <a:ln w="0">
            <a:noFill/>
          </a:ln>
        </p:spPr>
        <p:txBody>
          <a:bodyPr/>
          <a:lstStyle/>
          <a:p>
            <a:endParaRPr lang="en-US"/>
          </a:p>
        </p:txBody>
      </p:sp>
      <p:sp>
        <p:nvSpPr>
          <p:cNvPr id="19" name="Arrow3"/>
          <p:cNvSpPr/>
          <p:nvPr/>
        </p:nvSpPr>
        <p:spPr>
          <a:xfrm rot="12600000">
            <a:off x="2476500" y="4609367"/>
            <a:ext cx="127000" cy="127000"/>
          </a:xfrm>
          <a:prstGeom prst="rightArrow">
            <a:avLst>
              <a:gd name="adj1" fmla="val 60000"/>
              <a:gd name="adj2" fmla="val 50000"/>
            </a:avLst>
          </a:prstGeom>
          <a:solidFill>
            <a:srgbClr val="1565C0"/>
          </a:solidFill>
          <a:ln w="0">
            <a:noFill/>
          </a:ln>
        </p:spPr>
        <p:txBody>
          <a:bodyPr/>
          <a:lstStyle/>
          <a:p>
            <a:endParaRPr lang="en-US"/>
          </a:p>
        </p:txBody>
      </p:sp>
      <p:sp>
        <p:nvSpPr>
          <p:cNvPr id="20" name="Arrow4"/>
          <p:cNvSpPr/>
          <p:nvPr/>
        </p:nvSpPr>
        <p:spPr>
          <a:xfrm rot="16200000">
            <a:off x="1905000" y="3619500"/>
            <a:ext cx="127000" cy="127000"/>
          </a:xfrm>
          <a:prstGeom prst="rightArrow">
            <a:avLst>
              <a:gd name="adj1" fmla="val 60000"/>
              <a:gd name="adj2" fmla="val 50000"/>
            </a:avLst>
          </a:prstGeom>
          <a:solidFill>
            <a:srgbClr val="1565C0"/>
          </a:solidFill>
          <a:ln w="0">
            <a:noFill/>
          </a:ln>
        </p:spPr>
        <p:txBody>
          <a:bodyPr/>
          <a:lstStyle/>
          <a:p>
            <a:endParaRPr lang="en-US"/>
          </a:p>
        </p:txBody>
      </p:sp>
      <p:sp>
        <p:nvSpPr>
          <p:cNvPr id="21" name="Arrow5"/>
          <p:cNvSpPr/>
          <p:nvPr/>
        </p:nvSpPr>
        <p:spPr>
          <a:xfrm rot="19800000">
            <a:off x="2476500" y="2629633"/>
            <a:ext cx="127000" cy="127000"/>
          </a:xfrm>
          <a:prstGeom prst="rightArrow">
            <a:avLst>
              <a:gd name="adj1" fmla="val 60000"/>
              <a:gd name="adj2" fmla="val 50000"/>
            </a:avLst>
          </a:prstGeom>
          <a:solidFill>
            <a:srgbClr val="1565C0"/>
          </a:solidFill>
          <a:ln w="0">
            <a:noFill/>
          </a:ln>
        </p:spPr>
        <p:txBody>
          <a:bodyPr/>
          <a:lstStyle/>
          <a:p>
            <a:endParaRPr lang="en-US"/>
          </a:p>
        </p:txBody>
      </p:sp>
      <p:sp>
        <p:nvSpPr>
          <p:cNvPr id="22" name="Glow0"/>
          <p:cNvSpPr/>
          <p:nvPr/>
        </p:nvSpPr>
        <p:spPr>
          <a:xfrm>
            <a:off x="2616200" y="1790700"/>
            <a:ext cx="990600" cy="990600"/>
          </a:xfrm>
          <a:prstGeom prst="ellipse">
            <a:avLst/>
          </a:prstGeom>
          <a:solidFill>
            <a:srgbClr val="1565C0">
              <a:alpha val="10000"/>
            </a:srgbClr>
          </a:solidFill>
          <a:ln w="0">
            <a:noFill/>
          </a:ln>
        </p:spPr>
        <p:txBody>
          <a:bodyPr/>
          <a:lstStyle/>
          <a:p>
            <a:endParaRPr lang="en-US"/>
          </a:p>
        </p:txBody>
      </p:sp>
      <p:sp>
        <p:nvSpPr>
          <p:cNvPr id="23" name="Node0"/>
          <p:cNvSpPr/>
          <p:nvPr/>
        </p:nvSpPr>
        <p:spPr>
          <a:xfrm>
            <a:off x="2654300" y="1828800"/>
            <a:ext cx="914400" cy="914400"/>
          </a:xfrm>
          <a:prstGeom prst="ellipse">
            <a:avLst/>
          </a:prstGeom>
          <a:solidFill>
            <a:srgbClr val="1565C0"/>
          </a:solidFill>
          <a:ln w="0">
            <a:noFill/>
          </a:ln>
        </p:spPr>
        <p:txBody>
          <a:bodyPr wrap="square" lIns="18000" tIns="18000" rIns="18000" bIns="18000" anchor="ctr"/>
          <a:lstStyle/>
          <a:p>
            <a:pPr algn="ctr">
              <a:buNone/>
            </a:pPr>
            <a:r>
              <a:rPr lang="en-US" sz="1400" b="1" dirty="0">
                <a:solidFill>
                  <a:srgbClr val="FFFFFF"/>
                </a:solidFill>
                <a:latin typeface="Aptos Display"/>
              </a:rPr>
              <a:t>Session
Start</a:t>
            </a:r>
          </a:p>
        </p:txBody>
      </p:sp>
      <p:sp>
        <p:nvSpPr>
          <p:cNvPr id="24" name="Badge0"/>
          <p:cNvSpPr/>
          <p:nvPr/>
        </p:nvSpPr>
        <p:spPr>
          <a:xfrm>
            <a:off x="3251200" y="1808480"/>
            <a:ext cx="177800" cy="177800"/>
          </a:xfrm>
          <a:prstGeom prst="ellipse">
            <a:avLst/>
          </a:prstGeom>
          <a:solidFill>
            <a:srgbClr val="FFFFFF"/>
          </a:solidFill>
          <a:ln w="9525">
            <a:solidFill>
              <a:srgbClr val="1565C0"/>
            </a:solidFill>
          </a:ln>
        </p:spPr>
        <p:txBody>
          <a:bodyPr wrap="none" lIns="0" tIns="0" rIns="0" bIns="0" anchor="ctr"/>
          <a:lstStyle/>
          <a:p>
            <a:pPr algn="ctr">
              <a:buNone/>
            </a:pPr>
            <a:r>
              <a:rPr lang="en-US" sz="650" b="1" dirty="0">
                <a:solidFill>
                  <a:srgbClr val="1565C0"/>
                </a:solidFill>
                <a:latin typeface="Aptos"/>
              </a:rPr>
              <a:t>1</a:t>
            </a:r>
          </a:p>
        </p:txBody>
      </p:sp>
      <p:sp>
        <p:nvSpPr>
          <p:cNvPr id="25" name="Desc0"/>
          <p:cNvSpPr/>
          <p:nvPr/>
        </p:nvSpPr>
        <p:spPr>
          <a:xfrm>
            <a:off x="2032000" y="1549400"/>
            <a:ext cx="2159000" cy="203200"/>
          </a:xfrm>
          <a:prstGeom prst="rect">
            <a:avLst/>
          </a:prstGeom>
          <a:noFill/>
          <a:ln w="0">
            <a:noFill/>
          </a:ln>
        </p:spPr>
        <p:txBody>
          <a:bodyPr wrap="square" lIns="0" tIns="0" rIns="0" bIns="0" anchor="ctr"/>
          <a:lstStyle/>
          <a:p>
            <a:pPr algn="ctr">
              <a:buNone/>
            </a:pPr>
            <a:r>
              <a:rPr lang="en-US" sz="850" dirty="0">
                <a:solidFill>
                  <a:srgbClr val="475569"/>
                </a:solidFill>
                <a:latin typeface="Aptos"/>
              </a:rPr>
              <a:t>Load context, set env vars</a:t>
            </a:r>
          </a:p>
        </p:txBody>
      </p:sp>
      <p:sp>
        <p:nvSpPr>
          <p:cNvPr id="26" name="Glow1"/>
          <p:cNvSpPr/>
          <p:nvPr/>
        </p:nvSpPr>
        <p:spPr>
          <a:xfrm>
            <a:off x="3826037" y="2489200"/>
            <a:ext cx="990600" cy="990600"/>
          </a:xfrm>
          <a:prstGeom prst="ellipse">
            <a:avLst/>
          </a:prstGeom>
          <a:solidFill>
            <a:srgbClr val="0D8A72">
              <a:alpha val="10000"/>
            </a:srgbClr>
          </a:solidFill>
          <a:ln w="0">
            <a:noFill/>
          </a:ln>
        </p:spPr>
        <p:txBody>
          <a:bodyPr/>
          <a:lstStyle/>
          <a:p>
            <a:endParaRPr lang="en-US"/>
          </a:p>
        </p:txBody>
      </p:sp>
      <p:sp>
        <p:nvSpPr>
          <p:cNvPr id="27" name="Node1"/>
          <p:cNvSpPr/>
          <p:nvPr/>
        </p:nvSpPr>
        <p:spPr>
          <a:xfrm>
            <a:off x="3864137" y="2527300"/>
            <a:ext cx="914400" cy="914400"/>
          </a:xfrm>
          <a:prstGeom prst="ellipse">
            <a:avLst/>
          </a:prstGeom>
          <a:solidFill>
            <a:srgbClr val="0D8A72"/>
          </a:solidFill>
          <a:ln w="0">
            <a:noFill/>
          </a:ln>
        </p:spPr>
        <p:txBody>
          <a:bodyPr wrap="square" lIns="18000" tIns="18000" rIns="18000" bIns="18000" anchor="ctr"/>
          <a:lstStyle/>
          <a:p>
            <a:pPr algn="ctr">
              <a:buNone/>
            </a:pPr>
            <a:r>
              <a:rPr lang="en-US" sz="1400" b="1" dirty="0">
                <a:solidFill>
                  <a:srgbClr val="FFFFFF"/>
                </a:solidFill>
                <a:latin typeface="Aptos Display"/>
              </a:rPr>
              <a:t>Prompt
Submit</a:t>
            </a:r>
          </a:p>
        </p:txBody>
      </p:sp>
      <p:sp>
        <p:nvSpPr>
          <p:cNvPr id="28" name="Badge1"/>
          <p:cNvSpPr/>
          <p:nvPr/>
        </p:nvSpPr>
        <p:spPr>
          <a:xfrm>
            <a:off x="4461037" y="2506980"/>
            <a:ext cx="177800" cy="177800"/>
          </a:xfrm>
          <a:prstGeom prst="ellipse">
            <a:avLst/>
          </a:prstGeom>
          <a:solidFill>
            <a:srgbClr val="FFFFFF"/>
          </a:solidFill>
          <a:ln w="9525">
            <a:solidFill>
              <a:srgbClr val="0D8A72"/>
            </a:solidFill>
          </a:ln>
        </p:spPr>
        <p:txBody>
          <a:bodyPr wrap="none" lIns="0" tIns="0" rIns="0" bIns="0" anchor="ctr"/>
          <a:lstStyle/>
          <a:p>
            <a:pPr algn="ctr">
              <a:buNone/>
            </a:pPr>
            <a:r>
              <a:rPr lang="en-US" sz="650" b="1" dirty="0">
                <a:solidFill>
                  <a:srgbClr val="0D8A72"/>
                </a:solidFill>
                <a:latin typeface="Aptos"/>
              </a:rPr>
              <a:t>2</a:t>
            </a:r>
          </a:p>
        </p:txBody>
      </p:sp>
      <p:sp>
        <p:nvSpPr>
          <p:cNvPr id="29" name="Desc1"/>
          <p:cNvSpPr/>
          <p:nvPr/>
        </p:nvSpPr>
        <p:spPr>
          <a:xfrm>
            <a:off x="4956337" y="2882900"/>
            <a:ext cx="987263" cy="203200"/>
          </a:xfrm>
          <a:prstGeom prst="rect">
            <a:avLst/>
          </a:prstGeom>
          <a:noFill/>
          <a:ln w="0">
            <a:noFill/>
          </a:ln>
        </p:spPr>
        <p:txBody>
          <a:bodyPr wrap="square" lIns="0" tIns="0" rIns="0" bIns="0" anchor="ctr"/>
          <a:lstStyle/>
          <a:p>
            <a:pPr algn="l">
              <a:buNone/>
            </a:pPr>
            <a:r>
              <a:rPr lang="en-US" sz="850" dirty="0">
                <a:solidFill>
                  <a:srgbClr val="475569"/>
                </a:solidFill>
                <a:latin typeface="Aptos"/>
              </a:rPr>
              <a:t>Validate &amp; transform input</a:t>
            </a:r>
          </a:p>
        </p:txBody>
      </p:sp>
      <p:sp>
        <p:nvSpPr>
          <p:cNvPr id="30" name="Glow2"/>
          <p:cNvSpPr/>
          <p:nvPr/>
        </p:nvSpPr>
        <p:spPr>
          <a:xfrm>
            <a:off x="3826037" y="3886200"/>
            <a:ext cx="990600" cy="990600"/>
          </a:xfrm>
          <a:prstGeom prst="ellipse">
            <a:avLst/>
          </a:prstGeom>
          <a:solidFill>
            <a:srgbClr val="D4622B">
              <a:alpha val="10000"/>
            </a:srgbClr>
          </a:solidFill>
          <a:ln w="0">
            <a:noFill/>
          </a:ln>
        </p:spPr>
        <p:txBody>
          <a:bodyPr/>
          <a:lstStyle/>
          <a:p>
            <a:endParaRPr lang="en-US"/>
          </a:p>
        </p:txBody>
      </p:sp>
      <p:sp>
        <p:nvSpPr>
          <p:cNvPr id="31" name="Node2"/>
          <p:cNvSpPr/>
          <p:nvPr/>
        </p:nvSpPr>
        <p:spPr>
          <a:xfrm>
            <a:off x="3864137" y="3924300"/>
            <a:ext cx="914400" cy="914400"/>
          </a:xfrm>
          <a:prstGeom prst="ellipse">
            <a:avLst/>
          </a:prstGeom>
          <a:solidFill>
            <a:srgbClr val="D4622B"/>
          </a:solidFill>
          <a:ln w="0">
            <a:noFill/>
          </a:ln>
        </p:spPr>
        <p:txBody>
          <a:bodyPr wrap="square" lIns="18000" tIns="18000" rIns="18000" bIns="18000" anchor="ctr"/>
          <a:lstStyle/>
          <a:p>
            <a:pPr algn="ctr">
              <a:buNone/>
            </a:pPr>
            <a:r>
              <a:rPr lang="en-US" sz="1400" b="1" dirty="0">
                <a:solidFill>
                  <a:srgbClr val="FFFFFF"/>
                </a:solidFill>
                <a:latin typeface="Aptos Display"/>
              </a:rPr>
              <a:t>PreTool
Use</a:t>
            </a:r>
          </a:p>
        </p:txBody>
      </p:sp>
      <p:sp>
        <p:nvSpPr>
          <p:cNvPr id="32" name="Badge2"/>
          <p:cNvSpPr/>
          <p:nvPr/>
        </p:nvSpPr>
        <p:spPr>
          <a:xfrm>
            <a:off x="4461037" y="3903980"/>
            <a:ext cx="177800" cy="177800"/>
          </a:xfrm>
          <a:prstGeom prst="ellipse">
            <a:avLst/>
          </a:prstGeom>
          <a:solidFill>
            <a:srgbClr val="FFFFFF"/>
          </a:solidFill>
          <a:ln w="9525">
            <a:solidFill>
              <a:srgbClr val="D4622B"/>
            </a:solidFill>
          </a:ln>
        </p:spPr>
        <p:txBody>
          <a:bodyPr wrap="none" lIns="0" tIns="0" rIns="0" bIns="0" anchor="ctr"/>
          <a:lstStyle/>
          <a:p>
            <a:pPr algn="ctr">
              <a:buNone/>
            </a:pPr>
            <a:r>
              <a:rPr lang="en-US" sz="650" b="1" dirty="0">
                <a:solidFill>
                  <a:srgbClr val="D4622B"/>
                </a:solidFill>
                <a:latin typeface="Aptos"/>
              </a:rPr>
              <a:t>3</a:t>
            </a:r>
          </a:p>
        </p:txBody>
      </p:sp>
      <p:sp>
        <p:nvSpPr>
          <p:cNvPr id="33" name="Desc2"/>
          <p:cNvSpPr/>
          <p:nvPr/>
        </p:nvSpPr>
        <p:spPr>
          <a:xfrm>
            <a:off x="4956337" y="4279900"/>
            <a:ext cx="987263" cy="203200"/>
          </a:xfrm>
          <a:prstGeom prst="rect">
            <a:avLst/>
          </a:prstGeom>
          <a:noFill/>
          <a:ln w="0">
            <a:noFill/>
          </a:ln>
        </p:spPr>
        <p:txBody>
          <a:bodyPr wrap="square" lIns="0" tIns="0" rIns="0" bIns="0" anchor="ctr"/>
          <a:lstStyle/>
          <a:p>
            <a:pPr algn="l">
              <a:buNone/>
            </a:pPr>
            <a:r>
              <a:rPr lang="en-US" sz="850" dirty="0">
                <a:solidFill>
                  <a:srgbClr val="475569"/>
                </a:solidFill>
                <a:latin typeface="Aptos"/>
              </a:rPr>
              <a:t>Approve or block actions</a:t>
            </a:r>
          </a:p>
        </p:txBody>
      </p:sp>
      <p:sp>
        <p:nvSpPr>
          <p:cNvPr id="34" name="Glow3"/>
          <p:cNvSpPr/>
          <p:nvPr/>
        </p:nvSpPr>
        <p:spPr>
          <a:xfrm>
            <a:off x="2616200" y="4584700"/>
            <a:ext cx="990600" cy="990600"/>
          </a:xfrm>
          <a:prstGeom prst="ellipse">
            <a:avLst/>
          </a:prstGeom>
          <a:solidFill>
            <a:srgbClr val="7B61FF">
              <a:alpha val="10000"/>
            </a:srgbClr>
          </a:solidFill>
          <a:ln w="0">
            <a:noFill/>
          </a:ln>
        </p:spPr>
        <p:txBody>
          <a:bodyPr/>
          <a:lstStyle/>
          <a:p>
            <a:endParaRPr lang="en-US"/>
          </a:p>
        </p:txBody>
      </p:sp>
      <p:sp>
        <p:nvSpPr>
          <p:cNvPr id="35" name="Node3"/>
          <p:cNvSpPr/>
          <p:nvPr/>
        </p:nvSpPr>
        <p:spPr>
          <a:xfrm>
            <a:off x="2654300" y="4622800"/>
            <a:ext cx="941957" cy="939800"/>
          </a:xfrm>
          <a:prstGeom prst="ellipse">
            <a:avLst/>
          </a:prstGeom>
          <a:solidFill>
            <a:srgbClr val="7B61FF"/>
          </a:solidFill>
          <a:ln w="0">
            <a:noFill/>
          </a:ln>
        </p:spPr>
        <p:txBody>
          <a:bodyPr wrap="square" lIns="18000" tIns="18000" rIns="18000" bIns="18000" anchor="ctr"/>
          <a:lstStyle/>
          <a:p>
            <a:pPr algn="ctr">
              <a:buNone/>
            </a:pPr>
            <a:r>
              <a:rPr lang="en-US" sz="1200" b="1" dirty="0">
                <a:solidFill>
                  <a:srgbClr val="FFFFFF"/>
                </a:solidFill>
                <a:latin typeface="Aptos Display"/>
              </a:rPr>
              <a:t>PostTool
Use</a:t>
            </a:r>
          </a:p>
        </p:txBody>
      </p:sp>
      <p:sp>
        <p:nvSpPr>
          <p:cNvPr id="36" name="Badge3"/>
          <p:cNvSpPr/>
          <p:nvPr/>
        </p:nvSpPr>
        <p:spPr>
          <a:xfrm>
            <a:off x="3251200" y="4602480"/>
            <a:ext cx="177800" cy="177800"/>
          </a:xfrm>
          <a:prstGeom prst="ellipse">
            <a:avLst/>
          </a:prstGeom>
          <a:solidFill>
            <a:srgbClr val="FFFFFF"/>
          </a:solidFill>
          <a:ln w="9525">
            <a:solidFill>
              <a:srgbClr val="7B61FF"/>
            </a:solidFill>
          </a:ln>
        </p:spPr>
        <p:txBody>
          <a:bodyPr wrap="none" lIns="0" tIns="0" rIns="0" bIns="0" anchor="ctr"/>
          <a:lstStyle/>
          <a:p>
            <a:pPr algn="ctr">
              <a:buNone/>
            </a:pPr>
            <a:r>
              <a:rPr lang="en-US" sz="650" b="1" dirty="0">
                <a:solidFill>
                  <a:srgbClr val="7B61FF"/>
                </a:solidFill>
                <a:latin typeface="Aptos"/>
              </a:rPr>
              <a:t>4</a:t>
            </a:r>
          </a:p>
        </p:txBody>
      </p:sp>
      <p:sp>
        <p:nvSpPr>
          <p:cNvPr id="37" name="Desc3"/>
          <p:cNvSpPr/>
          <p:nvPr/>
        </p:nvSpPr>
        <p:spPr>
          <a:xfrm>
            <a:off x="2032000" y="5638800"/>
            <a:ext cx="2159000" cy="203200"/>
          </a:xfrm>
          <a:prstGeom prst="rect">
            <a:avLst/>
          </a:prstGeom>
          <a:noFill/>
          <a:ln w="0">
            <a:noFill/>
          </a:ln>
        </p:spPr>
        <p:txBody>
          <a:bodyPr wrap="square" lIns="0" tIns="0" rIns="0" bIns="0" anchor="ctr"/>
          <a:lstStyle/>
          <a:p>
            <a:pPr algn="ctr">
              <a:buNone/>
            </a:pPr>
            <a:r>
              <a:rPr lang="en-US" sz="850" dirty="0">
                <a:solidFill>
                  <a:srgbClr val="475569"/>
                </a:solidFill>
                <a:latin typeface="Aptos"/>
              </a:rPr>
              <a:t>Format, lint, run tests</a:t>
            </a:r>
          </a:p>
        </p:txBody>
      </p:sp>
      <p:sp>
        <p:nvSpPr>
          <p:cNvPr id="38" name="Glow4"/>
          <p:cNvSpPr/>
          <p:nvPr/>
        </p:nvSpPr>
        <p:spPr>
          <a:xfrm>
            <a:off x="1406363" y="3886200"/>
            <a:ext cx="990600" cy="990600"/>
          </a:xfrm>
          <a:prstGeom prst="ellipse">
            <a:avLst/>
          </a:prstGeom>
          <a:solidFill>
            <a:srgbClr val="E67E22">
              <a:alpha val="10000"/>
            </a:srgbClr>
          </a:solidFill>
          <a:ln w="0">
            <a:noFill/>
          </a:ln>
        </p:spPr>
        <p:txBody>
          <a:bodyPr/>
          <a:lstStyle/>
          <a:p>
            <a:endParaRPr lang="en-US"/>
          </a:p>
        </p:txBody>
      </p:sp>
      <p:sp>
        <p:nvSpPr>
          <p:cNvPr id="39" name="Node4"/>
          <p:cNvSpPr/>
          <p:nvPr/>
        </p:nvSpPr>
        <p:spPr>
          <a:xfrm>
            <a:off x="1444463" y="3924300"/>
            <a:ext cx="914400" cy="914400"/>
          </a:xfrm>
          <a:prstGeom prst="ellipse">
            <a:avLst/>
          </a:prstGeom>
          <a:solidFill>
            <a:srgbClr val="E67E22"/>
          </a:solidFill>
          <a:ln w="0">
            <a:noFill/>
          </a:ln>
        </p:spPr>
        <p:txBody>
          <a:bodyPr wrap="square" lIns="18000" tIns="18000" rIns="18000" bIns="18000" anchor="ctr"/>
          <a:lstStyle/>
          <a:p>
            <a:pPr algn="ctr">
              <a:lnSpc>
                <a:spcPts val="900"/>
              </a:lnSpc>
              <a:buNone/>
            </a:pPr>
            <a:r>
              <a:rPr lang="en-US" sz="1400" b="1" dirty="0">
                <a:solidFill>
                  <a:srgbClr val="FFFFFF"/>
                </a:solidFill>
                <a:latin typeface="Aptos Display"/>
              </a:rPr>
              <a:t>Stop</a:t>
            </a:r>
          </a:p>
        </p:txBody>
      </p:sp>
      <p:sp>
        <p:nvSpPr>
          <p:cNvPr id="40" name="Badge4"/>
          <p:cNvSpPr/>
          <p:nvPr/>
        </p:nvSpPr>
        <p:spPr>
          <a:xfrm>
            <a:off x="2041363" y="3903980"/>
            <a:ext cx="177800" cy="177800"/>
          </a:xfrm>
          <a:prstGeom prst="ellipse">
            <a:avLst/>
          </a:prstGeom>
          <a:solidFill>
            <a:srgbClr val="FFFFFF"/>
          </a:solidFill>
          <a:ln w="9525">
            <a:solidFill>
              <a:srgbClr val="E67E22"/>
            </a:solidFill>
          </a:ln>
        </p:spPr>
        <p:txBody>
          <a:bodyPr wrap="none" lIns="0" tIns="0" rIns="0" bIns="0" anchor="ctr"/>
          <a:lstStyle/>
          <a:p>
            <a:pPr algn="ctr">
              <a:buNone/>
            </a:pPr>
            <a:r>
              <a:rPr lang="en-US" sz="650" b="1" dirty="0">
                <a:solidFill>
                  <a:srgbClr val="E67E22"/>
                </a:solidFill>
                <a:latin typeface="Aptos"/>
              </a:rPr>
              <a:t>5</a:t>
            </a:r>
          </a:p>
        </p:txBody>
      </p:sp>
      <p:sp>
        <p:nvSpPr>
          <p:cNvPr id="41" name="Desc4"/>
          <p:cNvSpPr/>
          <p:nvPr/>
        </p:nvSpPr>
        <p:spPr>
          <a:xfrm>
            <a:off x="203200" y="4279900"/>
            <a:ext cx="1088863" cy="203200"/>
          </a:xfrm>
          <a:prstGeom prst="rect">
            <a:avLst/>
          </a:prstGeom>
          <a:noFill/>
          <a:ln w="0">
            <a:noFill/>
          </a:ln>
        </p:spPr>
        <p:txBody>
          <a:bodyPr wrap="square" lIns="0" tIns="0" rIns="0" bIns="0" anchor="ctr"/>
          <a:lstStyle/>
          <a:p>
            <a:pPr algn="r">
              <a:buNone/>
            </a:pPr>
            <a:r>
              <a:rPr lang="en-US" sz="850" dirty="0">
                <a:solidFill>
                  <a:srgbClr val="475569"/>
                </a:solidFill>
                <a:latin typeface="Aptos"/>
              </a:rPr>
              <a:t>Enforce task completion</a:t>
            </a:r>
          </a:p>
        </p:txBody>
      </p:sp>
      <p:sp>
        <p:nvSpPr>
          <p:cNvPr id="42" name="Glow5"/>
          <p:cNvSpPr/>
          <p:nvPr/>
        </p:nvSpPr>
        <p:spPr>
          <a:xfrm>
            <a:off x="1406363" y="2489200"/>
            <a:ext cx="990600" cy="990600"/>
          </a:xfrm>
          <a:prstGeom prst="ellipse">
            <a:avLst/>
          </a:prstGeom>
          <a:solidFill>
            <a:srgbClr val="2D4A6F">
              <a:alpha val="10000"/>
            </a:srgbClr>
          </a:solidFill>
          <a:ln w="0">
            <a:noFill/>
          </a:ln>
        </p:spPr>
        <p:txBody>
          <a:bodyPr/>
          <a:lstStyle/>
          <a:p>
            <a:endParaRPr lang="en-US"/>
          </a:p>
        </p:txBody>
      </p:sp>
      <p:sp>
        <p:nvSpPr>
          <p:cNvPr id="43" name="Node5"/>
          <p:cNvSpPr/>
          <p:nvPr/>
        </p:nvSpPr>
        <p:spPr>
          <a:xfrm>
            <a:off x="1444463" y="2527300"/>
            <a:ext cx="914400" cy="914400"/>
          </a:xfrm>
          <a:prstGeom prst="ellipse">
            <a:avLst/>
          </a:prstGeom>
          <a:solidFill>
            <a:srgbClr val="2D4A6F"/>
          </a:solidFill>
          <a:ln w="0">
            <a:noFill/>
          </a:ln>
        </p:spPr>
        <p:txBody>
          <a:bodyPr wrap="square" lIns="18000" tIns="18000" rIns="18000" bIns="18000" anchor="ctr"/>
          <a:lstStyle/>
          <a:p>
            <a:pPr algn="ctr">
              <a:buNone/>
            </a:pPr>
            <a:r>
              <a:rPr lang="en-US" sz="1200" b="1" dirty="0">
                <a:solidFill>
                  <a:srgbClr val="FFFFFF"/>
                </a:solidFill>
                <a:latin typeface="Aptos Display"/>
              </a:rPr>
              <a:t>Pre
Compact</a:t>
            </a:r>
          </a:p>
        </p:txBody>
      </p:sp>
      <p:sp>
        <p:nvSpPr>
          <p:cNvPr id="44" name="Badge5"/>
          <p:cNvSpPr/>
          <p:nvPr/>
        </p:nvSpPr>
        <p:spPr>
          <a:xfrm>
            <a:off x="2041363" y="2506980"/>
            <a:ext cx="177800" cy="177800"/>
          </a:xfrm>
          <a:prstGeom prst="ellipse">
            <a:avLst/>
          </a:prstGeom>
          <a:solidFill>
            <a:srgbClr val="FFFFFF"/>
          </a:solidFill>
          <a:ln w="9525">
            <a:solidFill>
              <a:srgbClr val="2D4A6F"/>
            </a:solidFill>
          </a:ln>
        </p:spPr>
        <p:txBody>
          <a:bodyPr wrap="none" lIns="0" tIns="0" rIns="0" bIns="0" anchor="ctr"/>
          <a:lstStyle/>
          <a:p>
            <a:pPr algn="ctr">
              <a:buNone/>
            </a:pPr>
            <a:r>
              <a:rPr lang="en-US" sz="650" b="1" dirty="0">
                <a:solidFill>
                  <a:srgbClr val="2D4A6F"/>
                </a:solidFill>
                <a:latin typeface="Aptos"/>
              </a:rPr>
              <a:t>6</a:t>
            </a:r>
          </a:p>
        </p:txBody>
      </p:sp>
      <p:sp>
        <p:nvSpPr>
          <p:cNvPr id="45" name="Desc5"/>
          <p:cNvSpPr/>
          <p:nvPr/>
        </p:nvSpPr>
        <p:spPr>
          <a:xfrm>
            <a:off x="203200" y="2882900"/>
            <a:ext cx="1088863" cy="203200"/>
          </a:xfrm>
          <a:prstGeom prst="rect">
            <a:avLst/>
          </a:prstGeom>
          <a:noFill/>
          <a:ln w="0">
            <a:noFill/>
          </a:ln>
        </p:spPr>
        <p:txBody>
          <a:bodyPr wrap="square" lIns="0" tIns="0" rIns="0" bIns="0" anchor="ctr"/>
          <a:lstStyle/>
          <a:p>
            <a:pPr algn="r">
              <a:buNone/>
            </a:pPr>
            <a:r>
              <a:rPr lang="en-US" sz="850" dirty="0">
                <a:solidFill>
                  <a:srgbClr val="475569"/>
                </a:solidFill>
                <a:latin typeface="Aptos"/>
              </a:rPr>
              <a:t>Backup before compaction</a:t>
            </a:r>
          </a:p>
        </p:txBody>
      </p:sp>
      <p:cxnSp>
        <p:nvCxnSpPr>
          <p:cNvPr id="46" name="VSep"/>
          <p:cNvCxnSpPr/>
          <p:nvPr/>
        </p:nvCxnSpPr>
        <p:spPr>
          <a:xfrm>
            <a:off x="6070600" y="1041400"/>
            <a:ext cx="0" cy="4826000"/>
          </a:xfrm>
          <a:prstGeom prst="straightConnector1">
            <a:avLst/>
          </a:prstGeom>
          <a:ln w="6350">
            <a:solidFill>
              <a:srgbClr val="D0D5DD"/>
            </a:solidFill>
          </a:ln>
        </p:spPr>
      </p:cxnSp>
      <p:sp>
        <p:nvSpPr>
          <p:cNvPr id="47" name="HLabel"/>
          <p:cNvSpPr/>
          <p:nvPr/>
        </p:nvSpPr>
        <p:spPr>
          <a:xfrm>
            <a:off x="6299200" y="1041400"/>
            <a:ext cx="2857500" cy="203200"/>
          </a:xfrm>
          <a:prstGeom prst="rect">
            <a:avLst/>
          </a:prstGeom>
          <a:noFill/>
          <a:ln w="0">
            <a:noFill/>
          </a:ln>
        </p:spPr>
        <p:txBody>
          <a:bodyPr wrap="square" lIns="0" tIns="0" rIns="0" bIns="0" anchor="ctr"/>
          <a:lstStyle/>
          <a:p>
            <a:pPr marL="0" indent="0">
              <a:buNone/>
            </a:pPr>
            <a:r>
              <a:rPr lang="en-US" sz="1050" b="1" dirty="0">
                <a:solidFill>
                  <a:srgbClr val="64748B"/>
                </a:solidFill>
                <a:latin typeface="Aptos Display"/>
              </a:rPr>
              <a:t>FOUR HANDLER TYPES</a:t>
            </a:r>
          </a:p>
        </p:txBody>
      </p:sp>
      <p:sp>
        <p:nvSpPr>
          <p:cNvPr id="48" name="HCard0"/>
          <p:cNvSpPr/>
          <p:nvPr/>
        </p:nvSpPr>
        <p:spPr>
          <a:xfrm>
            <a:off x="6299200" y="1295400"/>
            <a:ext cx="2857500" cy="609600"/>
          </a:xfrm>
          <a:prstGeom prst="roundRect">
            <a:avLst>
              <a:gd name="adj" fmla="val 8000"/>
            </a:avLst>
          </a:prstGeom>
          <a:solidFill>
            <a:srgbClr val="F4F6F9"/>
          </a:solidFill>
          <a:ln w="0">
            <a:noFill/>
          </a:ln>
        </p:spPr>
        <p:txBody>
          <a:bodyPr/>
          <a:lstStyle/>
          <a:p>
            <a:endParaRPr lang="en-US"/>
          </a:p>
        </p:txBody>
      </p:sp>
      <p:sp>
        <p:nvSpPr>
          <p:cNvPr id="49" name="HAcc0"/>
          <p:cNvSpPr/>
          <p:nvPr/>
        </p:nvSpPr>
        <p:spPr>
          <a:xfrm>
            <a:off x="6299200" y="1295400"/>
            <a:ext cx="50800" cy="609600"/>
          </a:xfrm>
          <a:prstGeom prst="rect">
            <a:avLst/>
          </a:prstGeom>
          <a:solidFill>
            <a:srgbClr val="1565C0"/>
          </a:solidFill>
          <a:ln w="0">
            <a:noFill/>
          </a:ln>
        </p:spPr>
        <p:txBody>
          <a:bodyPr/>
          <a:lstStyle/>
          <a:p>
            <a:endParaRPr lang="en-US"/>
          </a:p>
        </p:txBody>
      </p:sp>
      <p:sp>
        <p:nvSpPr>
          <p:cNvPr id="50" name="HTxt0"/>
          <p:cNvSpPr/>
          <p:nvPr/>
        </p:nvSpPr>
        <p:spPr>
          <a:xfrm>
            <a:off x="6451600" y="1333500"/>
            <a:ext cx="2654300" cy="533400"/>
          </a:xfrm>
          <a:prstGeom prst="rect">
            <a:avLst/>
          </a:prstGeom>
          <a:noFill/>
          <a:ln w="0">
            <a:noFill/>
          </a:ln>
        </p:spPr>
        <p:txBody>
          <a:bodyPr wrap="square" lIns="0" tIns="0" rIns="0" bIns="0" anchor="t"/>
          <a:lstStyle/>
          <a:p>
            <a:pPr marL="0" indent="0">
              <a:lnSpc>
                <a:spcPts val="1200"/>
              </a:lnSpc>
              <a:buNone/>
            </a:pPr>
            <a:r>
              <a:rPr lang="en-US" sz="1200" b="1" dirty="0">
                <a:solidFill>
                  <a:srgbClr val="1A2332"/>
                </a:solidFill>
                <a:latin typeface="Aptos Display"/>
              </a:rPr>
              <a:t>type: "command"</a:t>
            </a:r>
          </a:p>
          <a:p>
            <a:pPr marL="0" indent="0">
              <a:lnSpc>
                <a:spcPts val="1050"/>
              </a:lnSpc>
              <a:buNone/>
            </a:pPr>
            <a:r>
              <a:rPr lang="en-US" sz="850" dirty="0">
                <a:solidFill>
                  <a:srgbClr val="4A5568"/>
                </a:solidFill>
                <a:latin typeface="Aptos"/>
              </a:rPr>
              <a:t>Shell scripts via stdin/stdout</a:t>
            </a:r>
          </a:p>
          <a:p>
            <a:pPr marL="0" indent="0">
              <a:lnSpc>
                <a:spcPts val="1050"/>
              </a:lnSpc>
              <a:buNone/>
            </a:pPr>
            <a:r>
              <a:rPr lang="en-US" sz="800" dirty="0">
                <a:solidFill>
                  <a:srgbClr val="808080"/>
                </a:solidFill>
                <a:latin typeface="Consolas"/>
              </a:rPr>
              <a:t>npx prettier --write $FILEPATH</a:t>
            </a:r>
          </a:p>
        </p:txBody>
      </p:sp>
      <p:sp>
        <p:nvSpPr>
          <p:cNvPr id="51" name="HCard1"/>
          <p:cNvSpPr/>
          <p:nvPr/>
        </p:nvSpPr>
        <p:spPr>
          <a:xfrm>
            <a:off x="6299200" y="1981200"/>
            <a:ext cx="2857500" cy="609600"/>
          </a:xfrm>
          <a:prstGeom prst="roundRect">
            <a:avLst>
              <a:gd name="adj" fmla="val 8000"/>
            </a:avLst>
          </a:prstGeom>
          <a:solidFill>
            <a:srgbClr val="F4F6F9"/>
          </a:solidFill>
          <a:ln w="0">
            <a:noFill/>
          </a:ln>
        </p:spPr>
        <p:txBody>
          <a:bodyPr/>
          <a:lstStyle/>
          <a:p>
            <a:endParaRPr lang="en-US"/>
          </a:p>
        </p:txBody>
      </p:sp>
      <p:sp>
        <p:nvSpPr>
          <p:cNvPr id="52" name="HAcc1"/>
          <p:cNvSpPr/>
          <p:nvPr/>
        </p:nvSpPr>
        <p:spPr>
          <a:xfrm>
            <a:off x="6299200" y="1981200"/>
            <a:ext cx="50800" cy="609600"/>
          </a:xfrm>
          <a:prstGeom prst="rect">
            <a:avLst/>
          </a:prstGeom>
          <a:solidFill>
            <a:srgbClr val="D4622B"/>
          </a:solidFill>
          <a:ln w="0">
            <a:noFill/>
          </a:ln>
        </p:spPr>
        <p:txBody>
          <a:bodyPr/>
          <a:lstStyle/>
          <a:p>
            <a:endParaRPr lang="en-US"/>
          </a:p>
        </p:txBody>
      </p:sp>
      <p:sp>
        <p:nvSpPr>
          <p:cNvPr id="53" name="HTxt1"/>
          <p:cNvSpPr/>
          <p:nvPr/>
        </p:nvSpPr>
        <p:spPr>
          <a:xfrm>
            <a:off x="6451600" y="2019300"/>
            <a:ext cx="2654300" cy="533400"/>
          </a:xfrm>
          <a:prstGeom prst="rect">
            <a:avLst/>
          </a:prstGeom>
          <a:noFill/>
          <a:ln w="0">
            <a:noFill/>
          </a:ln>
        </p:spPr>
        <p:txBody>
          <a:bodyPr wrap="square" lIns="0" tIns="0" rIns="0" bIns="0" anchor="t"/>
          <a:lstStyle/>
          <a:p>
            <a:pPr marL="0" indent="0">
              <a:lnSpc>
                <a:spcPts val="1200"/>
              </a:lnSpc>
              <a:buNone/>
            </a:pPr>
            <a:r>
              <a:rPr lang="en-US" sz="1200" b="1" dirty="0">
                <a:solidFill>
                  <a:srgbClr val="1A2332"/>
                </a:solidFill>
                <a:latin typeface="Aptos Display"/>
              </a:rPr>
              <a:t>type: "http"</a:t>
            </a:r>
          </a:p>
          <a:p>
            <a:pPr marL="0" indent="0">
              <a:lnSpc>
                <a:spcPts val="1050"/>
              </a:lnSpc>
              <a:buNone/>
            </a:pPr>
            <a:r>
              <a:rPr lang="en-US" sz="850" dirty="0">
                <a:solidFill>
                  <a:srgbClr val="4A5568"/>
                </a:solidFill>
                <a:latin typeface="Aptos"/>
              </a:rPr>
              <a:t>POST event JSON to URL endpoint</a:t>
            </a:r>
          </a:p>
          <a:p>
            <a:pPr marL="0" indent="0">
              <a:lnSpc>
                <a:spcPts val="1050"/>
              </a:lnSpc>
              <a:buNone/>
            </a:pPr>
            <a:r>
              <a:rPr lang="en-US" sz="800" dirty="0">
                <a:solidFill>
                  <a:srgbClr val="808080"/>
                </a:solidFill>
                <a:latin typeface="Consolas"/>
              </a:rPr>
              <a:t>http://policy:8080/validate</a:t>
            </a:r>
          </a:p>
        </p:txBody>
      </p:sp>
      <p:sp>
        <p:nvSpPr>
          <p:cNvPr id="54" name="HCard2"/>
          <p:cNvSpPr/>
          <p:nvPr/>
        </p:nvSpPr>
        <p:spPr>
          <a:xfrm>
            <a:off x="6299200" y="2667000"/>
            <a:ext cx="2857500" cy="609600"/>
          </a:xfrm>
          <a:prstGeom prst="roundRect">
            <a:avLst>
              <a:gd name="adj" fmla="val 8000"/>
            </a:avLst>
          </a:prstGeom>
          <a:solidFill>
            <a:srgbClr val="F4F6F9"/>
          </a:solidFill>
          <a:ln w="0">
            <a:noFill/>
          </a:ln>
        </p:spPr>
        <p:txBody>
          <a:bodyPr/>
          <a:lstStyle/>
          <a:p>
            <a:endParaRPr lang="en-US"/>
          </a:p>
        </p:txBody>
      </p:sp>
      <p:sp>
        <p:nvSpPr>
          <p:cNvPr id="55" name="HAcc2"/>
          <p:cNvSpPr/>
          <p:nvPr/>
        </p:nvSpPr>
        <p:spPr>
          <a:xfrm>
            <a:off x="6299200" y="2667000"/>
            <a:ext cx="50800" cy="609600"/>
          </a:xfrm>
          <a:prstGeom prst="rect">
            <a:avLst/>
          </a:prstGeom>
          <a:solidFill>
            <a:srgbClr val="0D8A72"/>
          </a:solidFill>
          <a:ln w="0">
            <a:noFill/>
          </a:ln>
        </p:spPr>
        <p:txBody>
          <a:bodyPr/>
          <a:lstStyle/>
          <a:p>
            <a:endParaRPr lang="en-US"/>
          </a:p>
        </p:txBody>
      </p:sp>
      <p:sp>
        <p:nvSpPr>
          <p:cNvPr id="56" name="HTxt2"/>
          <p:cNvSpPr/>
          <p:nvPr/>
        </p:nvSpPr>
        <p:spPr>
          <a:xfrm>
            <a:off x="6451600" y="2705100"/>
            <a:ext cx="2654300" cy="533400"/>
          </a:xfrm>
          <a:prstGeom prst="rect">
            <a:avLst/>
          </a:prstGeom>
          <a:noFill/>
          <a:ln w="0">
            <a:noFill/>
          </a:ln>
        </p:spPr>
        <p:txBody>
          <a:bodyPr wrap="square" lIns="0" tIns="0" rIns="0" bIns="0" anchor="t"/>
          <a:lstStyle/>
          <a:p>
            <a:pPr marL="0" indent="0">
              <a:lnSpc>
                <a:spcPts val="1200"/>
              </a:lnSpc>
              <a:buNone/>
            </a:pPr>
            <a:r>
              <a:rPr lang="en-US" sz="1200" b="1" dirty="0">
                <a:solidFill>
                  <a:srgbClr val="1A2332"/>
                </a:solidFill>
                <a:latin typeface="Aptos Display"/>
              </a:rPr>
              <a:t>type: "prompt"</a:t>
            </a:r>
          </a:p>
          <a:p>
            <a:pPr marL="0" indent="0">
              <a:lnSpc>
                <a:spcPts val="1050"/>
              </a:lnSpc>
              <a:buNone/>
            </a:pPr>
            <a:r>
              <a:rPr lang="en-US" sz="850" dirty="0">
                <a:solidFill>
                  <a:srgbClr val="4A5568"/>
                </a:solidFill>
                <a:latin typeface="Aptos"/>
              </a:rPr>
              <a:t>Single-turn LLM evaluation</a:t>
            </a:r>
          </a:p>
          <a:p>
            <a:pPr marL="0" indent="0">
              <a:lnSpc>
                <a:spcPts val="1050"/>
              </a:lnSpc>
              <a:buNone/>
            </a:pPr>
            <a:r>
              <a:rPr lang="en-US" sz="800" dirty="0">
                <a:solidFill>
                  <a:srgbClr val="808080"/>
                </a:solidFill>
                <a:latin typeface="Consolas"/>
              </a:rPr>
              <a:t>Does this edit touch auth logic?</a:t>
            </a:r>
          </a:p>
        </p:txBody>
      </p:sp>
      <p:sp>
        <p:nvSpPr>
          <p:cNvPr id="57" name="HCard3"/>
          <p:cNvSpPr/>
          <p:nvPr/>
        </p:nvSpPr>
        <p:spPr>
          <a:xfrm>
            <a:off x="6299200" y="3352800"/>
            <a:ext cx="2857500" cy="609600"/>
          </a:xfrm>
          <a:prstGeom prst="roundRect">
            <a:avLst>
              <a:gd name="adj" fmla="val 8000"/>
            </a:avLst>
          </a:prstGeom>
          <a:solidFill>
            <a:srgbClr val="F4F6F9"/>
          </a:solidFill>
          <a:ln w="0">
            <a:noFill/>
          </a:ln>
        </p:spPr>
        <p:txBody>
          <a:bodyPr/>
          <a:lstStyle/>
          <a:p>
            <a:endParaRPr lang="en-US"/>
          </a:p>
        </p:txBody>
      </p:sp>
      <p:sp>
        <p:nvSpPr>
          <p:cNvPr id="58" name="HAcc3"/>
          <p:cNvSpPr/>
          <p:nvPr/>
        </p:nvSpPr>
        <p:spPr>
          <a:xfrm>
            <a:off x="6299200" y="3352800"/>
            <a:ext cx="50800" cy="609600"/>
          </a:xfrm>
          <a:prstGeom prst="rect">
            <a:avLst/>
          </a:prstGeom>
          <a:solidFill>
            <a:srgbClr val="7B61FF"/>
          </a:solidFill>
          <a:ln w="0">
            <a:noFill/>
          </a:ln>
        </p:spPr>
        <p:txBody>
          <a:bodyPr/>
          <a:lstStyle/>
          <a:p>
            <a:endParaRPr lang="en-US"/>
          </a:p>
        </p:txBody>
      </p:sp>
      <p:sp>
        <p:nvSpPr>
          <p:cNvPr id="59" name="HTxt3"/>
          <p:cNvSpPr/>
          <p:nvPr/>
        </p:nvSpPr>
        <p:spPr>
          <a:xfrm>
            <a:off x="6451600" y="3390900"/>
            <a:ext cx="2654300" cy="533400"/>
          </a:xfrm>
          <a:prstGeom prst="rect">
            <a:avLst/>
          </a:prstGeom>
          <a:noFill/>
          <a:ln w="0">
            <a:noFill/>
          </a:ln>
        </p:spPr>
        <p:txBody>
          <a:bodyPr wrap="square" lIns="0" tIns="0" rIns="0" bIns="0" anchor="t"/>
          <a:lstStyle/>
          <a:p>
            <a:pPr marL="0" indent="0">
              <a:lnSpc>
                <a:spcPts val="1200"/>
              </a:lnSpc>
              <a:buNone/>
            </a:pPr>
            <a:r>
              <a:rPr lang="en-US" sz="1200" b="1" dirty="0">
                <a:solidFill>
                  <a:srgbClr val="1A2332"/>
                </a:solidFill>
                <a:latin typeface="Aptos Display"/>
              </a:rPr>
              <a:t>type: "agent"</a:t>
            </a:r>
          </a:p>
          <a:p>
            <a:pPr marL="0" indent="0">
              <a:lnSpc>
                <a:spcPts val="1050"/>
              </a:lnSpc>
              <a:buNone/>
            </a:pPr>
            <a:r>
              <a:rPr lang="en-US" sz="850" dirty="0">
                <a:solidFill>
                  <a:srgbClr val="4A5568"/>
                </a:solidFill>
                <a:latin typeface="Aptos"/>
              </a:rPr>
              <a:t>Multi-turn sub-agent verification</a:t>
            </a:r>
          </a:p>
          <a:p>
            <a:pPr marL="0" indent="0">
              <a:lnSpc>
                <a:spcPts val="1050"/>
              </a:lnSpc>
              <a:buNone/>
            </a:pPr>
            <a:r>
              <a:rPr lang="en-US" sz="800" dirty="0">
                <a:solidFill>
                  <a:srgbClr val="808080"/>
                </a:solidFill>
                <a:latin typeface="Consolas"/>
              </a:rPr>
              <a:t>Verify test coverage for changes</a:t>
            </a:r>
          </a:p>
        </p:txBody>
      </p:sp>
      <p:cxnSp>
        <p:nvCxnSpPr>
          <p:cNvPr id="60" name="VSep2"/>
          <p:cNvCxnSpPr/>
          <p:nvPr/>
        </p:nvCxnSpPr>
        <p:spPr>
          <a:xfrm>
            <a:off x="9321800" y="1041400"/>
            <a:ext cx="0" cy="4826000"/>
          </a:xfrm>
          <a:prstGeom prst="straightConnector1">
            <a:avLst/>
          </a:prstGeom>
          <a:ln w="6350">
            <a:solidFill>
              <a:srgbClr val="D0D5DD"/>
            </a:solidFill>
          </a:ln>
        </p:spPr>
      </p:cxnSp>
      <p:sp>
        <p:nvSpPr>
          <p:cNvPr id="61" name="EPLabel"/>
          <p:cNvSpPr/>
          <p:nvPr/>
        </p:nvSpPr>
        <p:spPr>
          <a:xfrm>
            <a:off x="9525000" y="1041400"/>
            <a:ext cx="2438400" cy="203200"/>
          </a:xfrm>
          <a:prstGeom prst="rect">
            <a:avLst/>
          </a:prstGeom>
          <a:noFill/>
          <a:ln w="0">
            <a:noFill/>
          </a:ln>
        </p:spPr>
        <p:txBody>
          <a:bodyPr wrap="square" lIns="0" tIns="0" rIns="0" bIns="0" anchor="ctr"/>
          <a:lstStyle/>
          <a:p>
            <a:pPr marL="0" indent="0">
              <a:buNone/>
            </a:pPr>
            <a:r>
              <a:rPr lang="en-US" sz="1050" b="1" dirty="0">
                <a:solidFill>
                  <a:srgbClr val="64748B"/>
                </a:solidFill>
                <a:latin typeface="Aptos Display"/>
              </a:rPr>
              <a:t>ENTERPRISE PATTERNS</a:t>
            </a:r>
          </a:p>
        </p:txBody>
      </p:sp>
      <p:sp>
        <p:nvSpPr>
          <p:cNvPr id="62" name="EPCard1"/>
          <p:cNvSpPr/>
          <p:nvPr/>
        </p:nvSpPr>
        <p:spPr>
          <a:xfrm>
            <a:off x="9525000" y="1295400"/>
            <a:ext cx="2438400" cy="2032000"/>
          </a:xfrm>
          <a:prstGeom prst="roundRect">
            <a:avLst>
              <a:gd name="adj" fmla="val 5000"/>
            </a:avLst>
          </a:prstGeom>
          <a:solidFill>
            <a:srgbClr val="F4F6F9"/>
          </a:solidFill>
          <a:ln w="0">
            <a:noFill/>
          </a:ln>
        </p:spPr>
        <p:txBody>
          <a:bodyPr wrap="square" lIns="64000" tIns="54000" rIns="64000" bIns="54000" anchor="t"/>
          <a:lstStyle/>
          <a:p>
            <a:pPr marL="0" indent="0">
              <a:lnSpc>
                <a:spcPts val="1200"/>
              </a:lnSpc>
              <a:buNone/>
            </a:pPr>
            <a:r>
              <a:rPr lang="en-US" sz="1200" b="1" dirty="0">
                <a:solidFill>
                  <a:srgbClr val="1A2332"/>
                </a:solidFill>
                <a:latin typeface="Aptos Display"/>
              </a:rPr>
              <a:t>Why hooks over CLAUDE.md?</a:t>
            </a:r>
          </a:p>
          <a:p>
            <a:pPr marL="0" indent="0">
              <a:lnSpc>
                <a:spcPts val="250"/>
              </a:lnSpc>
              <a:buNone/>
            </a:pPr>
            <a:endParaRPr lang="en-US" sz="250" dirty="0"/>
          </a:p>
          <a:p>
            <a:pPr marL="0" indent="0">
              <a:lnSpc>
                <a:spcPts val="1100"/>
              </a:lnSpc>
              <a:buNone/>
            </a:pPr>
            <a:r>
              <a:rPr lang="en-US" sz="900" dirty="0">
                <a:solidFill>
                  <a:srgbClr val="4A5568"/>
                </a:solidFill>
                <a:latin typeface="Aptos"/>
              </a:rPr>
              <a:t>CLAUDE.md rules are advisory.</a:t>
            </a:r>
          </a:p>
          <a:p>
            <a:pPr marL="0" indent="0">
              <a:lnSpc>
                <a:spcPts val="1100"/>
              </a:lnSpc>
              <a:buNone/>
            </a:pPr>
            <a:endParaRPr lang="en-US" sz="1200" b="1" dirty="0">
              <a:solidFill>
                <a:srgbClr val="1A2332"/>
              </a:solidFill>
              <a:latin typeface="Aptos"/>
            </a:endParaRPr>
          </a:p>
          <a:p>
            <a:pPr marL="0" indent="0">
              <a:lnSpc>
                <a:spcPts val="1100"/>
              </a:lnSpc>
              <a:buNone/>
            </a:pPr>
            <a:r>
              <a:rPr lang="en-US" sz="1200" b="1" dirty="0">
                <a:solidFill>
                  <a:srgbClr val="1A2332"/>
                </a:solidFill>
                <a:latin typeface="Aptos"/>
              </a:rPr>
              <a:t>Hooks are guaranteed.</a:t>
            </a:r>
          </a:p>
          <a:p>
            <a:pPr marL="0" indent="0">
              <a:lnSpc>
                <a:spcPts val="250"/>
              </a:lnSpc>
              <a:buNone/>
            </a:pPr>
            <a:endParaRPr lang="en-US" sz="250" dirty="0"/>
          </a:p>
          <a:p>
            <a:pPr marL="0" indent="0">
              <a:lnSpc>
                <a:spcPts val="1050"/>
              </a:lnSpc>
              <a:buNone/>
            </a:pPr>
            <a:r>
              <a:rPr lang="en-US" sz="1100" dirty="0">
                <a:solidFill>
                  <a:srgbClr val="64748B"/>
                </a:solidFill>
                <a:latin typeface="Aptos"/>
              </a:rPr>
              <a:t>PreToolUse exit 2 = blocked</a:t>
            </a:r>
          </a:p>
          <a:p>
            <a:pPr marL="0" indent="0">
              <a:lnSpc>
                <a:spcPts val="1050"/>
              </a:lnSpc>
              <a:buNone/>
            </a:pPr>
            <a:r>
              <a:rPr lang="en-US" sz="1100" dirty="0">
                <a:solidFill>
                  <a:srgbClr val="64748B"/>
                </a:solidFill>
                <a:latin typeface="Aptos"/>
              </a:rPr>
              <a:t>Stop exit 2 = forced continue</a:t>
            </a:r>
          </a:p>
          <a:p>
            <a:pPr marL="0" indent="0">
              <a:lnSpc>
                <a:spcPts val="250"/>
              </a:lnSpc>
              <a:buNone/>
            </a:pPr>
            <a:endParaRPr lang="en-US" sz="1100" dirty="0"/>
          </a:p>
          <a:p>
            <a:pPr marL="0" indent="0">
              <a:lnSpc>
                <a:spcPts val="1050"/>
              </a:lnSpc>
              <a:buNone/>
            </a:pPr>
            <a:r>
              <a:rPr lang="en-US" sz="1100" i="1" dirty="0">
                <a:solidFill>
                  <a:srgbClr val="1565C0"/>
                </a:solidFill>
                <a:latin typeface="Aptos"/>
              </a:rPr>
              <a:t>"Probably" vs "always" is everything</a:t>
            </a:r>
            <a:r>
              <a:rPr lang="en-US" sz="850" i="1" dirty="0">
                <a:solidFill>
                  <a:srgbClr val="1565C0"/>
                </a:solidFill>
                <a:latin typeface="Aptos"/>
              </a:rPr>
              <a:t>.</a:t>
            </a:r>
          </a:p>
        </p:txBody>
      </p:sp>
      <p:sp>
        <p:nvSpPr>
          <p:cNvPr id="63" name="EPCard2"/>
          <p:cNvSpPr/>
          <p:nvPr/>
        </p:nvSpPr>
        <p:spPr>
          <a:xfrm>
            <a:off x="9525000" y="3429000"/>
            <a:ext cx="2438400" cy="1397000"/>
          </a:xfrm>
          <a:prstGeom prst="roundRect">
            <a:avLst>
              <a:gd name="adj" fmla="val 5000"/>
            </a:avLst>
          </a:prstGeom>
          <a:solidFill>
            <a:srgbClr val="F4F6F9"/>
          </a:solidFill>
          <a:ln w="0">
            <a:noFill/>
          </a:ln>
        </p:spPr>
        <p:txBody>
          <a:bodyPr wrap="square" lIns="64000" tIns="54000" rIns="64000" bIns="54000" anchor="t"/>
          <a:lstStyle/>
          <a:p>
            <a:pPr marL="0" indent="0">
              <a:lnSpc>
                <a:spcPts val="1200"/>
              </a:lnSpc>
              <a:buNone/>
            </a:pPr>
            <a:r>
              <a:rPr lang="en-US" sz="1200" b="1" dirty="0">
                <a:solidFill>
                  <a:srgbClr val="1A2332"/>
                </a:solidFill>
                <a:latin typeface="Aptos Display"/>
              </a:rPr>
              <a:t>Configuration scope</a:t>
            </a:r>
          </a:p>
          <a:p>
            <a:pPr marL="0" indent="0">
              <a:lnSpc>
                <a:spcPts val="200"/>
              </a:lnSpc>
              <a:buNone/>
            </a:pPr>
            <a:endParaRPr lang="en-US" sz="200" dirty="0"/>
          </a:p>
          <a:p>
            <a:pPr marL="0" indent="0">
              <a:lnSpc>
                <a:spcPts val="1100"/>
              </a:lnSpc>
              <a:buNone/>
            </a:pPr>
            <a:r>
              <a:rPr lang="en-US" sz="1100" b="1" dirty="0">
                <a:solidFill>
                  <a:srgbClr val="0D8A72"/>
                </a:solidFill>
                <a:latin typeface="Consolas"/>
              </a:rPr>
              <a:t>.claude/settings.json</a:t>
            </a:r>
          </a:p>
          <a:p>
            <a:pPr marL="0" indent="0">
              <a:lnSpc>
                <a:spcPts val="1050"/>
              </a:lnSpc>
              <a:buNone/>
            </a:pPr>
            <a:r>
              <a:rPr lang="en-US" sz="1100" dirty="0">
                <a:solidFill>
                  <a:srgbClr val="4A5568"/>
                </a:solidFill>
                <a:latin typeface="Aptos"/>
              </a:rPr>
              <a:t>Project-level: shared via git</a:t>
            </a:r>
          </a:p>
          <a:p>
            <a:pPr marL="0" indent="0">
              <a:lnSpc>
                <a:spcPts val="200"/>
              </a:lnSpc>
              <a:buNone/>
            </a:pPr>
            <a:endParaRPr lang="en-US" sz="1100" dirty="0"/>
          </a:p>
          <a:p>
            <a:pPr marL="0" indent="0">
              <a:lnSpc>
                <a:spcPts val="1100"/>
              </a:lnSpc>
              <a:buNone/>
            </a:pPr>
            <a:r>
              <a:rPr lang="en-US" sz="1100" b="1" dirty="0">
                <a:solidFill>
                  <a:srgbClr val="0D8A72"/>
                </a:solidFill>
                <a:latin typeface="Consolas"/>
              </a:rPr>
              <a:t>~/.claude/settings.json</a:t>
            </a:r>
          </a:p>
          <a:p>
            <a:pPr marL="0" indent="0">
              <a:lnSpc>
                <a:spcPts val="1050"/>
              </a:lnSpc>
              <a:buNone/>
            </a:pPr>
            <a:r>
              <a:rPr lang="en-US" sz="1100" dirty="0">
                <a:solidFill>
                  <a:srgbClr val="4A5568"/>
                </a:solidFill>
                <a:latin typeface="Aptos"/>
              </a:rPr>
              <a:t>User-level: personal defaults</a:t>
            </a:r>
          </a:p>
        </p:txBody>
      </p:sp>
      <p:sp>
        <p:nvSpPr>
          <p:cNvPr id="64" name="Banner"/>
          <p:cNvSpPr/>
          <p:nvPr/>
        </p:nvSpPr>
        <p:spPr>
          <a:xfrm>
            <a:off x="381000" y="5943600"/>
            <a:ext cx="11430000" cy="355600"/>
          </a:xfrm>
          <a:prstGeom prst="roundRect">
            <a:avLst>
              <a:gd name="adj" fmla="val 20000"/>
            </a:avLst>
          </a:prstGeom>
          <a:solidFill>
            <a:srgbClr val="EBF5FF"/>
          </a:solidFill>
          <a:ln w="0">
            <a:noFill/>
          </a:ln>
        </p:spPr>
        <p:txBody>
          <a:bodyPr wrap="square" lIns="91440" tIns="27000" rIns="91440" bIns="27000" anchor="ctr"/>
          <a:lstStyle/>
          <a:p>
            <a:pPr algn="ctr">
              <a:buNone/>
            </a:pPr>
            <a:r>
              <a:rPr lang="en-US" sz="950" dirty="0">
                <a:solidFill>
                  <a:srgbClr val="1565C0"/>
                </a:solidFill>
                <a:latin typeface="Aptos"/>
              </a:rPr>
              <a:t>Hooks fire recursively for subagent actions — safety gates apply to all spawned agents automatically</a:t>
            </a:r>
          </a:p>
        </p:txBody>
      </p:sp>
    </p:spTree>
    <p:extLst>
      <p:ext uri="{BB962C8B-B14F-4D97-AF65-F5344CB8AC3E}">
        <p14:creationId xmlns:p14="http://schemas.microsoft.com/office/powerpoint/2010/main" val="37642936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660400" y="76200"/>
            <a:ext cx="8890000" cy="381000"/>
          </a:xfrm>
          <a:noFill/>
          <a:ln w="1">
            <a:noFill/>
          </a:ln>
        </p:spPr>
        <p:txBody>
          <a:bodyPr wrap="square" lIns="0" tIns="0" rIns="0" bIns="0" anchor="ctr"/>
          <a:lstStyle/>
          <a:p>
            <a:pPr marL="0" indent="0">
              <a:buNone/>
            </a:pPr>
            <a:r>
              <a:rPr lang="en-US" sz="2700" b="1" dirty="0">
                <a:solidFill>
                  <a:srgbClr val="FFFFFF"/>
                </a:solidFill>
                <a:latin typeface="Aptos Display" pitchFamily="34" charset="0"/>
              </a:rPr>
              <a:t>GitHub Actions: Claude in your CI/CD pipeline</a:t>
            </a:r>
          </a:p>
        </p:txBody>
      </p:sp>
      <p:sp>
        <p:nvSpPr>
          <p:cNvPr id="3" name="Subtitle"/>
          <p:cNvSpPr/>
          <p:nvPr/>
        </p:nvSpPr>
        <p:spPr>
          <a:xfrm>
            <a:off x="660400" y="533400"/>
            <a:ext cx="10160000" cy="279400"/>
          </a:xfrm>
          <a:noFill/>
          <a:ln w="1">
            <a:noFill/>
          </a:ln>
        </p:spPr>
        <p:txBody>
          <a:bodyPr wrap="square" lIns="0" tIns="0" rIns="0" bIns="0" anchor="ctr"/>
          <a:lstStyle/>
          <a:p>
            <a:pPr marL="0" indent="0">
              <a:buNone/>
            </a:pPr>
            <a:r>
              <a:rPr lang="en-US" sz="1400" dirty="0">
                <a:solidFill>
                  <a:srgbClr val="3972C1"/>
                </a:solidFill>
                <a:latin typeface="Aptos" pitchFamily="34" charset="0"/>
              </a:rPr>
              <a:t>Automated PR reviews, test generation, and issue-to-PR workflows via the official claude-code-action</a:t>
            </a:r>
          </a:p>
        </p:txBody>
      </p:sp>
      <p:cxnSp>
        <p:nvCxnSpPr>
          <p:cNvPr id="4" name="Divider"/>
          <p:cNvCxnSpPr/>
          <p:nvPr/>
        </p:nvCxnSpPr>
        <p:spPr>
          <a:xfrm>
            <a:off x="0" y="939800"/>
            <a:ext cx="12192000" cy="0"/>
          </a:xfrm>
          <a:prstGeom prst="line">
            <a:avLst/>
          </a:prstGeom>
          <a:ln w="12700">
            <a:solidFill>
              <a:srgbClr val="1A2332"/>
            </a:solidFill>
          </a:ln>
        </p:spPr>
      </p:cxnSp>
      <p:sp>
        <p:nvSpPr>
          <p:cNvPr id="5" name="SectLabel"/>
          <p:cNvSpPr/>
          <p:nvPr/>
        </p:nvSpPr>
        <p:spPr>
          <a:xfrm>
            <a:off x="381000" y="1041400"/>
            <a:ext cx="3556000" cy="177800"/>
          </a:xfrm>
          <a:prstGeom prst="rect">
            <a:avLst/>
          </a:prstGeom>
          <a:solidFill>
            <a:srgbClr val="FFFFFF"/>
          </a:solidFill>
          <a:ln w="1">
            <a:noFill/>
          </a:ln>
        </p:spPr>
        <p:txBody>
          <a:bodyPr wrap="square" lIns="91440" tIns="45720" rIns="91440" bIns="45720" anchor="t"/>
          <a:lstStyle/>
          <a:p>
            <a:pPr>
              <a:buNone/>
            </a:pPr>
            <a:r>
              <a:rPr lang="en-US" sz="1100" b="1" dirty="0">
                <a:solidFill>
                  <a:srgbClr val="64748B"/>
                </a:solidFill>
                <a:latin typeface="Aptos Display"/>
              </a:rPr>
              <a:t>CORE WORKFLOWS</a:t>
            </a:r>
          </a:p>
        </p:txBody>
      </p:sp>
      <p:sp>
        <p:nvSpPr>
          <p:cNvPr id="200" name="WCard0"/>
          <p:cNvSpPr/>
          <p:nvPr/>
        </p:nvSpPr>
        <p:spPr>
          <a:xfrm>
            <a:off x="381000" y="1320800"/>
            <a:ext cx="5334000" cy="10160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01" name="WAcc0"/>
          <p:cNvSpPr/>
          <p:nvPr/>
        </p:nvSpPr>
        <p:spPr>
          <a:xfrm>
            <a:off x="381000" y="1320800"/>
            <a:ext cx="5334000" cy="50800"/>
          </a:xfrm>
          <a:prstGeom prst="rect">
            <a:avLst/>
          </a:prstGeom>
          <a:solidFill>
            <a:srgbClr val="2563EB"/>
          </a:solidFill>
          <a:ln w="1">
            <a:noFill/>
          </a:ln>
        </p:spPr>
        <p:txBody>
          <a:bodyPr wrap="square" lIns="91440" tIns="45720" rIns="91440" bIns="45720" anchor="t"/>
          <a:lstStyle/>
          <a:p>
            <a:endParaRPr lang="en-US"/>
          </a:p>
        </p:txBody>
      </p:sp>
      <p:sp>
        <p:nvSpPr>
          <p:cNvPr id="202" name="WTitle0"/>
          <p:cNvSpPr/>
          <p:nvPr/>
        </p:nvSpPr>
        <p:spPr>
          <a:xfrm>
            <a:off x="558800" y="1447800"/>
            <a:ext cx="4953000" cy="2286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Automated PR Review</a:t>
            </a:r>
          </a:p>
        </p:txBody>
      </p:sp>
      <p:sp>
        <p:nvSpPr>
          <p:cNvPr id="203" name="WDesc0"/>
          <p:cNvSpPr/>
          <p:nvPr/>
        </p:nvSpPr>
        <p:spPr>
          <a:xfrm>
            <a:off x="558800" y="1701800"/>
            <a:ext cx="4953000" cy="2032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On pull_request: opened, Claude analyzes diffs, posts inline comments, flags issues</a:t>
            </a:r>
          </a:p>
        </p:txBody>
      </p:sp>
      <p:sp>
        <p:nvSpPr>
          <p:cNvPr id="204" name="WTrigger0"/>
          <p:cNvSpPr/>
          <p:nvPr/>
        </p:nvSpPr>
        <p:spPr>
          <a:xfrm>
            <a:off x="558800" y="2006600"/>
            <a:ext cx="2159000" cy="254000"/>
          </a:xfrm>
          <a:prstGeom prst="roundRect">
            <a:avLst>
              <a:gd name="adj" fmla="val 5000"/>
            </a:avLst>
          </a:prstGeom>
          <a:solidFill>
            <a:schemeClr val="bg1">
              <a:lumMod val="65000"/>
            </a:schemeClr>
          </a:solidFill>
          <a:ln w="1">
            <a:noFill/>
          </a:ln>
        </p:spPr>
        <p:txBody>
          <a:bodyPr wrap="square" lIns="91440" tIns="45720" rIns="91440" bIns="45720" anchor="t"/>
          <a:lstStyle/>
          <a:p>
            <a:pPr marL="0" indent="0">
              <a:buNone/>
            </a:pPr>
            <a:r>
              <a:rPr lang="en-US" sz="900" dirty="0">
                <a:solidFill>
                  <a:schemeClr val="bg1"/>
                </a:solidFill>
                <a:latin typeface="Consolas"/>
              </a:rPr>
              <a:t>on: pull_request</a:t>
            </a:r>
          </a:p>
        </p:txBody>
      </p:sp>
      <p:sp>
        <p:nvSpPr>
          <p:cNvPr id="210" name="WCard1"/>
          <p:cNvSpPr/>
          <p:nvPr/>
        </p:nvSpPr>
        <p:spPr>
          <a:xfrm>
            <a:off x="381000" y="2463800"/>
            <a:ext cx="5334000" cy="10160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11" name="WAcc1"/>
          <p:cNvSpPr/>
          <p:nvPr/>
        </p:nvSpPr>
        <p:spPr>
          <a:xfrm>
            <a:off x="381000" y="2463800"/>
            <a:ext cx="5334000" cy="50800"/>
          </a:xfrm>
          <a:prstGeom prst="rect">
            <a:avLst/>
          </a:prstGeom>
          <a:solidFill>
            <a:srgbClr val="7C3AED"/>
          </a:solidFill>
          <a:ln w="1">
            <a:noFill/>
          </a:ln>
        </p:spPr>
        <p:txBody>
          <a:bodyPr wrap="square" lIns="91440" tIns="45720" rIns="91440" bIns="45720" anchor="t"/>
          <a:lstStyle/>
          <a:p>
            <a:endParaRPr lang="en-US"/>
          </a:p>
        </p:txBody>
      </p:sp>
      <p:sp>
        <p:nvSpPr>
          <p:cNvPr id="212" name="WTitle1"/>
          <p:cNvSpPr/>
          <p:nvPr/>
        </p:nvSpPr>
        <p:spPr>
          <a:xfrm>
            <a:off x="558800" y="2590800"/>
            <a:ext cx="4953000" cy="2286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@claude Mentions</a:t>
            </a:r>
          </a:p>
        </p:txBody>
      </p:sp>
      <p:sp>
        <p:nvSpPr>
          <p:cNvPr id="213" name="WDesc1"/>
          <p:cNvSpPr/>
          <p:nvPr/>
        </p:nvSpPr>
        <p:spPr>
          <a:xfrm>
            <a:off x="558800" y="2844800"/>
            <a:ext cx="4953000" cy="2032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Tag @claude in any issue or PR comment to get implementation, fixes, or analysis</a:t>
            </a:r>
          </a:p>
        </p:txBody>
      </p:sp>
      <p:sp>
        <p:nvSpPr>
          <p:cNvPr id="214" name="WTrigger1"/>
          <p:cNvSpPr/>
          <p:nvPr/>
        </p:nvSpPr>
        <p:spPr>
          <a:xfrm>
            <a:off x="558800" y="3149600"/>
            <a:ext cx="2159000" cy="254000"/>
          </a:xfrm>
          <a:prstGeom prst="roundRect">
            <a:avLst>
              <a:gd name="adj" fmla="val 5000"/>
            </a:avLst>
          </a:prstGeom>
          <a:solidFill>
            <a:schemeClr val="bg1">
              <a:lumMod val="65000"/>
            </a:schemeClr>
          </a:solidFill>
          <a:ln w="1">
            <a:noFill/>
          </a:ln>
        </p:spPr>
        <p:txBody>
          <a:bodyPr wrap="square" lIns="91440" tIns="45720" rIns="91440" bIns="45720" anchor="t"/>
          <a:lstStyle/>
          <a:p>
            <a:pPr marL="0" indent="0">
              <a:buNone/>
            </a:pPr>
            <a:r>
              <a:rPr lang="en-US" sz="900" dirty="0">
                <a:solidFill>
                  <a:schemeClr val="bg1"/>
                </a:solidFill>
                <a:latin typeface="Consolas"/>
              </a:rPr>
              <a:t>on: issue_comment</a:t>
            </a:r>
          </a:p>
        </p:txBody>
      </p:sp>
      <p:sp>
        <p:nvSpPr>
          <p:cNvPr id="220" name="WCard2"/>
          <p:cNvSpPr/>
          <p:nvPr/>
        </p:nvSpPr>
        <p:spPr>
          <a:xfrm>
            <a:off x="381000" y="3606800"/>
            <a:ext cx="5334000" cy="10160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21" name="WAcc2"/>
          <p:cNvSpPr/>
          <p:nvPr/>
        </p:nvSpPr>
        <p:spPr>
          <a:xfrm>
            <a:off x="381000" y="3606800"/>
            <a:ext cx="5334000" cy="50800"/>
          </a:xfrm>
          <a:prstGeom prst="rect">
            <a:avLst/>
          </a:prstGeom>
          <a:solidFill>
            <a:srgbClr val="059669"/>
          </a:solidFill>
          <a:ln w="1">
            <a:noFill/>
          </a:ln>
        </p:spPr>
        <p:txBody>
          <a:bodyPr wrap="square" lIns="91440" tIns="45720" rIns="91440" bIns="45720" anchor="t"/>
          <a:lstStyle/>
          <a:p>
            <a:endParaRPr lang="en-US"/>
          </a:p>
        </p:txBody>
      </p:sp>
      <p:sp>
        <p:nvSpPr>
          <p:cNvPr id="222" name="WTitle2"/>
          <p:cNvSpPr/>
          <p:nvPr/>
        </p:nvSpPr>
        <p:spPr>
          <a:xfrm>
            <a:off x="558800" y="3733800"/>
            <a:ext cx="4953000" cy="2286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Test Generation</a:t>
            </a:r>
          </a:p>
        </p:txBody>
      </p:sp>
      <p:sp>
        <p:nvSpPr>
          <p:cNvPr id="223" name="WDesc2"/>
          <p:cNvSpPr/>
          <p:nvPr/>
        </p:nvSpPr>
        <p:spPr>
          <a:xfrm>
            <a:off x="558800" y="3987800"/>
            <a:ext cx="4953000" cy="2032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Comment /gen-tests on a PR; Claude creates a test branch with coverage report</a:t>
            </a:r>
          </a:p>
        </p:txBody>
      </p:sp>
      <p:sp>
        <p:nvSpPr>
          <p:cNvPr id="224" name="WTrigger2"/>
          <p:cNvSpPr/>
          <p:nvPr/>
        </p:nvSpPr>
        <p:spPr>
          <a:xfrm>
            <a:off x="558800" y="4292600"/>
            <a:ext cx="2159000" cy="254000"/>
          </a:xfrm>
          <a:prstGeom prst="roundRect">
            <a:avLst>
              <a:gd name="adj" fmla="val 5000"/>
            </a:avLst>
          </a:prstGeom>
          <a:solidFill>
            <a:schemeClr val="bg1">
              <a:lumMod val="65000"/>
            </a:schemeClr>
          </a:solidFill>
          <a:ln w="1">
            <a:noFill/>
          </a:ln>
        </p:spPr>
        <p:txBody>
          <a:bodyPr wrap="square" lIns="91440" tIns="45720" rIns="91440" bIns="45720" anchor="t"/>
          <a:lstStyle/>
          <a:p>
            <a:pPr marL="0" indent="0">
              <a:buNone/>
            </a:pPr>
            <a:r>
              <a:rPr lang="en-US" sz="900" dirty="0">
                <a:solidFill>
                  <a:schemeClr val="bg1"/>
                </a:solidFill>
                <a:latin typeface="Consolas"/>
              </a:rPr>
              <a:t>/gen-tests command</a:t>
            </a:r>
          </a:p>
        </p:txBody>
      </p:sp>
      <p:sp>
        <p:nvSpPr>
          <p:cNvPr id="230" name="WCard3"/>
          <p:cNvSpPr/>
          <p:nvPr/>
        </p:nvSpPr>
        <p:spPr>
          <a:xfrm>
            <a:off x="381000" y="4749800"/>
            <a:ext cx="5334000" cy="10160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31" name="WAcc3"/>
          <p:cNvSpPr/>
          <p:nvPr/>
        </p:nvSpPr>
        <p:spPr>
          <a:xfrm>
            <a:off x="381000" y="4749800"/>
            <a:ext cx="5334000" cy="50800"/>
          </a:xfrm>
          <a:prstGeom prst="rect">
            <a:avLst/>
          </a:prstGeom>
          <a:solidFill>
            <a:srgbClr val="DB2777"/>
          </a:solidFill>
          <a:ln w="1">
            <a:noFill/>
          </a:ln>
        </p:spPr>
        <p:txBody>
          <a:bodyPr wrap="square" lIns="91440" tIns="45720" rIns="91440" bIns="45720" anchor="t"/>
          <a:lstStyle/>
          <a:p>
            <a:endParaRPr lang="en-US"/>
          </a:p>
        </p:txBody>
      </p:sp>
      <p:sp>
        <p:nvSpPr>
          <p:cNvPr id="232" name="WTitle3"/>
          <p:cNvSpPr/>
          <p:nvPr/>
        </p:nvSpPr>
        <p:spPr>
          <a:xfrm>
            <a:off x="558800" y="4876800"/>
            <a:ext cx="4953000" cy="2286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Issue-to-PR Automation</a:t>
            </a:r>
          </a:p>
        </p:txBody>
      </p:sp>
      <p:sp>
        <p:nvSpPr>
          <p:cNvPr id="233" name="WDesc3"/>
          <p:cNvSpPr/>
          <p:nvPr/>
        </p:nvSpPr>
        <p:spPr>
          <a:xfrm>
            <a:off x="558800" y="5130800"/>
            <a:ext cx="4953000" cy="2032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Describe a feature in an issue; Claude creates a full PR with implementation</a:t>
            </a:r>
          </a:p>
        </p:txBody>
      </p:sp>
      <p:sp>
        <p:nvSpPr>
          <p:cNvPr id="234" name="WTrigger3"/>
          <p:cNvSpPr/>
          <p:nvPr/>
        </p:nvSpPr>
        <p:spPr>
          <a:xfrm>
            <a:off x="558800" y="5435600"/>
            <a:ext cx="2159000" cy="254000"/>
          </a:xfrm>
          <a:prstGeom prst="roundRect">
            <a:avLst>
              <a:gd name="adj" fmla="val 5000"/>
            </a:avLst>
          </a:prstGeom>
          <a:solidFill>
            <a:schemeClr val="bg1">
              <a:lumMod val="65000"/>
            </a:schemeClr>
          </a:solidFill>
          <a:ln w="1">
            <a:noFill/>
          </a:ln>
        </p:spPr>
        <p:txBody>
          <a:bodyPr wrap="square" lIns="91440" tIns="45720" rIns="91440" bIns="45720" anchor="t"/>
          <a:lstStyle/>
          <a:p>
            <a:pPr marL="0" indent="0">
              <a:buNone/>
            </a:pPr>
            <a:r>
              <a:rPr lang="en-US" sz="900" dirty="0">
                <a:solidFill>
                  <a:schemeClr val="bg1"/>
                </a:solidFill>
                <a:latin typeface="Consolas"/>
              </a:rPr>
              <a:t>on: issues: opened</a:t>
            </a:r>
          </a:p>
        </p:txBody>
      </p:sp>
      <p:sp>
        <p:nvSpPr>
          <p:cNvPr id="300" name="SecLabel"/>
          <p:cNvSpPr/>
          <p:nvPr/>
        </p:nvSpPr>
        <p:spPr>
          <a:xfrm>
            <a:off x="6096000" y="1041400"/>
            <a:ext cx="3175000" cy="177800"/>
          </a:xfrm>
          <a:prstGeom prst="rect">
            <a:avLst/>
          </a:prstGeom>
          <a:solidFill>
            <a:srgbClr val="FFFFFF"/>
          </a:solidFill>
          <a:ln w="1">
            <a:noFill/>
          </a:ln>
        </p:spPr>
        <p:txBody>
          <a:bodyPr wrap="square" lIns="91440" tIns="45720" rIns="91440" bIns="45720" anchor="t"/>
          <a:lstStyle/>
          <a:p>
            <a:pPr>
              <a:buNone/>
            </a:pPr>
            <a:r>
              <a:rPr lang="en-US" sz="1100" b="1" dirty="0">
                <a:solidFill>
                  <a:srgbClr val="64748B"/>
                </a:solidFill>
                <a:latin typeface="Aptos Display"/>
              </a:rPr>
              <a:t>SETUP &amp; SECURITY</a:t>
            </a:r>
          </a:p>
        </p:txBody>
      </p:sp>
      <p:sp>
        <p:nvSpPr>
          <p:cNvPr id="310" name="SetupCard"/>
          <p:cNvSpPr/>
          <p:nvPr/>
        </p:nvSpPr>
        <p:spPr>
          <a:xfrm>
            <a:off x="6096000" y="1320800"/>
            <a:ext cx="5715000" cy="1930400"/>
          </a:xfrm>
          <a:prstGeom prst="roundRect">
            <a:avLst>
              <a:gd name="adj" fmla="val 5000"/>
            </a:avLst>
          </a:prstGeom>
          <a:solidFill>
            <a:srgbClr val="EDE8F5"/>
          </a:solidFill>
          <a:ln w="1">
            <a:noFill/>
          </a:ln>
        </p:spPr>
        <p:txBody>
          <a:bodyPr wrap="square" lIns="91440" tIns="45720" rIns="91440" bIns="45720" anchor="t"/>
          <a:lstStyle/>
          <a:p>
            <a:endParaRPr lang="en-US"/>
          </a:p>
        </p:txBody>
      </p:sp>
      <p:sp>
        <p:nvSpPr>
          <p:cNvPr id="311" name="SetupAcc"/>
          <p:cNvSpPr/>
          <p:nvPr/>
        </p:nvSpPr>
        <p:spPr>
          <a:xfrm>
            <a:off x="6096000" y="1320800"/>
            <a:ext cx="5715000" cy="63500"/>
          </a:xfrm>
          <a:prstGeom prst="rect">
            <a:avLst/>
          </a:prstGeom>
          <a:solidFill>
            <a:srgbClr val="7C3AED"/>
          </a:solidFill>
          <a:ln w="1">
            <a:noFill/>
          </a:ln>
        </p:spPr>
        <p:txBody>
          <a:bodyPr wrap="square" lIns="91440" tIns="45720" rIns="91440" bIns="45720" anchor="t"/>
          <a:lstStyle/>
          <a:p>
            <a:endParaRPr lang="en-US"/>
          </a:p>
        </p:txBody>
      </p:sp>
      <p:sp>
        <p:nvSpPr>
          <p:cNvPr id="312" name="SetupTitle"/>
          <p:cNvSpPr/>
          <p:nvPr/>
        </p:nvSpPr>
        <p:spPr>
          <a:xfrm>
            <a:off x="6273800" y="1473200"/>
            <a:ext cx="5334000" cy="254000"/>
          </a:xfrm>
          <a:prstGeom prst="rect">
            <a:avLst/>
          </a:prstGeom>
          <a:solidFill>
            <a:srgbClr val="EDE8F5"/>
          </a:solidFill>
          <a:ln w="1">
            <a:noFill/>
          </a:ln>
        </p:spPr>
        <p:txBody>
          <a:bodyPr wrap="square" lIns="91440" tIns="45720" rIns="91440" bIns="45720" anchor="t"/>
          <a:lstStyle/>
          <a:p>
            <a:pPr marL="0" indent="0">
              <a:buNone/>
            </a:pPr>
            <a:r>
              <a:rPr lang="en-US" sz="1300" b="1" dirty="0">
                <a:solidFill>
                  <a:srgbClr val="1A2332"/>
                </a:solidFill>
                <a:latin typeface="Segoe UI Semibold"/>
              </a:rPr>
              <a:t>Quick Start (3 steps)</a:t>
            </a:r>
          </a:p>
        </p:txBody>
      </p:sp>
      <p:sp>
        <p:nvSpPr>
          <p:cNvPr id="313" name="SetupBody"/>
          <p:cNvSpPr/>
          <p:nvPr/>
        </p:nvSpPr>
        <p:spPr>
          <a:xfrm>
            <a:off x="6273800" y="1778000"/>
            <a:ext cx="5334000" cy="1346200"/>
          </a:xfrm>
          <a:prstGeom prst="rect">
            <a:avLst/>
          </a:prstGeom>
          <a:solidFill>
            <a:srgbClr val="EDE8F5"/>
          </a:solidFill>
          <a:ln w="1">
            <a:noFill/>
          </a:ln>
        </p:spPr>
        <p:txBody>
          <a:bodyPr wrap="square" lIns="91440" tIns="45720" rIns="91440" bIns="45720" anchor="t"/>
          <a:lstStyle/>
          <a:p>
            <a:pPr marL="0" indent="0">
              <a:buNone/>
            </a:pPr>
            <a:r>
              <a:rPr lang="en-US" sz="1100" b="1" dirty="0">
                <a:solidFill>
                  <a:srgbClr val="2563EB"/>
                </a:solidFill>
                <a:latin typeface="Segoe UI"/>
              </a:rPr>
              <a:t>1.</a:t>
            </a:r>
            <a:r>
              <a:rPr lang="en-US" sz="1100" dirty="0">
                <a:solidFill>
                  <a:srgbClr val="4A5568"/>
                </a:solidFill>
                <a:latin typeface="Segoe UI"/>
              </a:rPr>
              <a:t> Install Claude GitHub App on your repo</a:t>
            </a:r>
          </a:p>
          <a:p>
            <a:pPr marL="0" indent="0">
              <a:buNone/>
            </a:pPr>
            <a:r>
              <a:rPr lang="en-US" sz="1100" b="1" dirty="0">
                <a:solidFill>
                  <a:srgbClr val="2563EB"/>
                </a:solidFill>
                <a:latin typeface="Segoe UI"/>
              </a:rPr>
              <a:t>2.</a:t>
            </a:r>
            <a:r>
              <a:rPr lang="en-US" sz="1100" dirty="0">
                <a:solidFill>
                  <a:srgbClr val="4A5568"/>
                </a:solidFill>
                <a:latin typeface="Segoe UI"/>
              </a:rPr>
              <a:t> Add ANTHROPIC_API_KEY to repository secrets</a:t>
            </a:r>
          </a:p>
          <a:p>
            <a:pPr marL="0" indent="0">
              <a:buNone/>
            </a:pPr>
            <a:r>
              <a:rPr lang="en-US" sz="1100" b="1" dirty="0">
                <a:solidFill>
                  <a:srgbClr val="2563EB"/>
                </a:solidFill>
                <a:latin typeface="Segoe UI"/>
              </a:rPr>
              <a:t>3.</a:t>
            </a:r>
            <a:r>
              <a:rPr lang="en-US" sz="1100" dirty="0">
                <a:solidFill>
                  <a:srgbClr val="4A5568"/>
                </a:solidFill>
                <a:latin typeface="Segoe UI"/>
              </a:rPr>
              <a:t> Copy workflow YAML to .github/workflows/</a:t>
            </a:r>
          </a:p>
          <a:p>
            <a:pPr marL="0" indent="0">
              <a:buNone/>
            </a:pPr>
            <a:endParaRPr lang="en-US" sz="500" dirty="0"/>
          </a:p>
          <a:p>
            <a:pPr marL="0" indent="0">
              <a:buNone/>
            </a:pPr>
            <a:r>
              <a:rPr lang="en-US" sz="1050" dirty="0">
                <a:solidFill>
                  <a:srgbClr val="64748B"/>
                </a:solidFill>
                <a:latin typeface="Segoe UI"/>
              </a:rPr>
              <a:t>Enterprise: use AWS Bedrock or Vertex AI for data residency</a:t>
            </a:r>
          </a:p>
        </p:txBody>
      </p:sp>
      <p:sp>
        <p:nvSpPr>
          <p:cNvPr id="320" name="SecCard"/>
          <p:cNvSpPr/>
          <p:nvPr/>
        </p:nvSpPr>
        <p:spPr>
          <a:xfrm>
            <a:off x="6096000" y="3454400"/>
            <a:ext cx="5715000" cy="2184400"/>
          </a:xfrm>
          <a:prstGeom prst="roundRect">
            <a:avLst>
              <a:gd name="adj" fmla="val 5000"/>
            </a:avLst>
          </a:prstGeom>
          <a:solidFill>
            <a:srgbClr val="FEF2F2"/>
          </a:solidFill>
          <a:ln w="1">
            <a:noFill/>
          </a:ln>
        </p:spPr>
        <p:txBody>
          <a:bodyPr wrap="square" lIns="91440" tIns="45720" rIns="91440" bIns="45720" anchor="t"/>
          <a:lstStyle/>
          <a:p>
            <a:endParaRPr lang="en-US"/>
          </a:p>
        </p:txBody>
      </p:sp>
      <p:sp>
        <p:nvSpPr>
          <p:cNvPr id="321" name="SecAcc"/>
          <p:cNvSpPr/>
          <p:nvPr/>
        </p:nvSpPr>
        <p:spPr>
          <a:xfrm>
            <a:off x="6096000" y="3454400"/>
            <a:ext cx="5715000" cy="63500"/>
          </a:xfrm>
          <a:prstGeom prst="rect">
            <a:avLst/>
          </a:prstGeom>
          <a:solidFill>
            <a:srgbClr val="EF4444"/>
          </a:solidFill>
          <a:ln w="1">
            <a:noFill/>
          </a:ln>
        </p:spPr>
        <p:txBody>
          <a:bodyPr wrap="square" lIns="91440" tIns="45720" rIns="91440" bIns="45720" anchor="t"/>
          <a:lstStyle/>
          <a:p>
            <a:endParaRPr lang="en-US"/>
          </a:p>
        </p:txBody>
      </p:sp>
      <p:sp>
        <p:nvSpPr>
          <p:cNvPr id="322" name="SecTitle"/>
          <p:cNvSpPr/>
          <p:nvPr/>
        </p:nvSpPr>
        <p:spPr>
          <a:xfrm>
            <a:off x="6273800" y="3606800"/>
            <a:ext cx="5334000" cy="254000"/>
          </a:xfrm>
          <a:prstGeom prst="rect">
            <a:avLst/>
          </a:prstGeom>
          <a:solidFill>
            <a:srgbClr val="FEF2F2"/>
          </a:solidFill>
          <a:ln w="1">
            <a:noFill/>
          </a:ln>
        </p:spPr>
        <p:txBody>
          <a:bodyPr wrap="square" lIns="91440" tIns="45720" rIns="91440" bIns="45720" anchor="t"/>
          <a:lstStyle/>
          <a:p>
            <a:pPr marL="0" indent="0">
              <a:buNone/>
            </a:pPr>
            <a:r>
              <a:rPr lang="en-US" sz="1300" b="1" dirty="0">
                <a:solidFill>
                  <a:srgbClr val="1A2332"/>
                </a:solidFill>
                <a:latin typeface="Segoe UI Semibold"/>
              </a:rPr>
              <a:t>Security Best Practices</a:t>
            </a:r>
          </a:p>
        </p:txBody>
      </p:sp>
      <p:sp>
        <p:nvSpPr>
          <p:cNvPr id="323" name="SecBody"/>
          <p:cNvSpPr/>
          <p:nvPr/>
        </p:nvSpPr>
        <p:spPr>
          <a:xfrm>
            <a:off x="6273800" y="3911600"/>
            <a:ext cx="5334000" cy="1625600"/>
          </a:xfrm>
          <a:prstGeom prst="rect">
            <a:avLst/>
          </a:prstGeom>
          <a:solidFill>
            <a:srgbClr val="FEF2F2"/>
          </a:solidFill>
          <a:ln w="1">
            <a:noFill/>
          </a:ln>
        </p:spPr>
        <p:txBody>
          <a:bodyPr wrap="square" lIns="91440" tIns="45720" rIns="91440" bIns="45720" anchor="t"/>
          <a:lstStyle/>
          <a:p>
            <a:pPr marL="0" indent="0">
              <a:buNone/>
            </a:pPr>
            <a:r>
              <a:rPr lang="en-US" sz="1100" dirty="0">
                <a:solidFill>
                  <a:srgbClr val="4A5568"/>
                </a:solidFill>
                <a:latin typeface="Segoe UI"/>
              </a:rPr>
              <a:t>Never hardcode API keys; use GitHub Secrets</a:t>
            </a:r>
          </a:p>
          <a:p>
            <a:pPr marL="0" indent="0">
              <a:buNone/>
            </a:pPr>
            <a:r>
              <a:rPr lang="en-US" sz="1100" dirty="0">
                <a:solidFill>
                  <a:srgbClr val="4A5568"/>
                </a:solidFill>
                <a:latin typeface="Segoe UI"/>
              </a:rPr>
              <a:t>Scope permissions to least privilege per job</a:t>
            </a:r>
          </a:p>
          <a:p>
            <a:pPr marL="0" indent="0">
              <a:buNone/>
            </a:pPr>
            <a:r>
              <a:rPr lang="en-US" sz="1100" dirty="0">
                <a:solidFill>
                  <a:srgbClr val="4A5568"/>
                </a:solidFill>
                <a:latin typeface="Segoe UI"/>
              </a:rPr>
              <a:t>Pin actions by commit SHA for supply-chain safety</a:t>
            </a:r>
          </a:p>
          <a:p>
            <a:pPr marL="0" indent="0">
              <a:buNone/>
            </a:pPr>
            <a:r>
              <a:rPr lang="en-US" sz="1100" dirty="0">
                <a:solidFill>
                  <a:srgbClr val="4A5568"/>
                </a:solidFill>
                <a:latin typeface="Segoe UI"/>
              </a:rPr>
              <a:t>Require human approval before merge</a:t>
            </a:r>
          </a:p>
          <a:p>
            <a:pPr marL="0" indent="0">
              <a:buNone/>
            </a:pPr>
            <a:r>
              <a:rPr lang="en-US" sz="1100" dirty="0">
                <a:solidFill>
                  <a:srgbClr val="4A5568"/>
                </a:solidFill>
                <a:latin typeface="Segoe UI"/>
              </a:rPr>
              <a:t>Fork PRs don't get secrets by default</a:t>
            </a:r>
          </a:p>
          <a:p>
            <a:pPr marL="0" indent="0">
              <a:buNone/>
            </a:pPr>
            <a:r>
              <a:rPr lang="en-US" sz="1100" dirty="0">
                <a:solidFill>
                  <a:srgbClr val="4A5568"/>
                </a:solidFill>
                <a:latin typeface="Segoe UI"/>
              </a:rPr>
              <a:t>Use --max-turns to cap cost per run</a:t>
            </a:r>
          </a:p>
        </p:txBody>
      </p:sp>
      <p:sp>
        <p:nvSpPr>
          <p:cNvPr id="500" name="Banner"/>
          <p:cNvSpPr/>
          <p:nvPr/>
        </p:nvSpPr>
        <p:spPr>
          <a:xfrm>
            <a:off x="381000" y="5842000"/>
            <a:ext cx="11430000" cy="431800"/>
          </a:xfrm>
          <a:prstGeom prst="roundRect">
            <a:avLst>
              <a:gd name="adj" fmla="val 5000"/>
            </a:avLst>
          </a:prstGeom>
          <a:solidFill>
            <a:schemeClr val="accent5">
              <a:lumMod val="40000"/>
              <a:lumOff val="60000"/>
            </a:schemeClr>
          </a:solidFill>
          <a:ln w="1">
            <a:noFill/>
          </a:ln>
        </p:spPr>
        <p:txBody>
          <a:bodyPr wrap="square" lIns="91440" tIns="45720" rIns="91440" bIns="45720" anchor="t"/>
          <a:lstStyle/>
          <a:p>
            <a:pPr marL="0" indent="0" algn="ctr">
              <a:buNone/>
            </a:pPr>
            <a:r>
              <a:rPr lang="en-US" sz="1100" dirty="0">
                <a:solidFill>
                  <a:schemeClr val="bg1"/>
                </a:solidFill>
                <a:latin typeface="Segoe UI"/>
              </a:rPr>
              <a:t>Built on Claude Agent SDK — extend beyond GitHub with custom automation for any CI/CD platform</a:t>
            </a:r>
          </a:p>
        </p:txBody>
      </p:sp>
    </p:spTree>
    <p:extLst>
      <p:ext uri="{BB962C8B-B14F-4D97-AF65-F5344CB8AC3E}">
        <p14:creationId xmlns:p14="http://schemas.microsoft.com/office/powerpoint/2010/main" val="16625878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660400" y="76200"/>
            <a:ext cx="9766300" cy="381000"/>
          </a:xfrm>
          <a:noFill/>
          <a:ln w="1">
            <a:noFill/>
          </a:ln>
        </p:spPr>
        <p:txBody>
          <a:bodyPr wrap="square" lIns="0" tIns="0" rIns="0" bIns="0" anchor="ctr"/>
          <a:lstStyle/>
          <a:p>
            <a:pPr marL="0" indent="0">
              <a:buNone/>
            </a:pPr>
            <a:r>
              <a:rPr lang="en-US" sz="2700" b="1" dirty="0">
                <a:solidFill>
                  <a:srgbClr val="FFFFFF"/>
                </a:solidFill>
                <a:latin typeface="Aptos Display" pitchFamily="34" charset="0"/>
              </a:rPr>
              <a:t>Claude Code Security: reasoning-based vulnerability scanning</a:t>
            </a:r>
          </a:p>
        </p:txBody>
      </p:sp>
      <p:sp>
        <p:nvSpPr>
          <p:cNvPr id="3" name="Subtitle"/>
          <p:cNvSpPr/>
          <p:nvPr/>
        </p:nvSpPr>
        <p:spPr>
          <a:xfrm>
            <a:off x="660400" y="575932"/>
            <a:ext cx="10160000" cy="279400"/>
          </a:xfrm>
          <a:noFill/>
          <a:ln w="1">
            <a:noFill/>
          </a:ln>
        </p:spPr>
        <p:txBody>
          <a:bodyPr wrap="square" lIns="0" tIns="0" rIns="0" bIns="0" anchor="ctr"/>
          <a:lstStyle/>
          <a:p>
            <a:pPr marL="0" indent="0">
              <a:buNone/>
            </a:pPr>
            <a:r>
              <a:rPr lang="en-US" sz="1400" dirty="0">
                <a:solidFill>
                  <a:srgbClr val="3972C1"/>
                </a:solidFill>
                <a:latin typeface="Aptos" pitchFamily="34" charset="0"/>
              </a:rPr>
              <a:t>Uses Claude's reasoning to find zero-day vulnerabilities that traditional SAST/DAST tools miss (launched Feb 2026)</a:t>
            </a:r>
          </a:p>
        </p:txBody>
      </p:sp>
      <p:cxnSp>
        <p:nvCxnSpPr>
          <p:cNvPr id="4" name="Divider"/>
          <p:cNvCxnSpPr/>
          <p:nvPr/>
        </p:nvCxnSpPr>
        <p:spPr>
          <a:xfrm>
            <a:off x="0" y="876002"/>
            <a:ext cx="12192000" cy="0"/>
          </a:xfrm>
          <a:prstGeom prst="line">
            <a:avLst/>
          </a:prstGeom>
          <a:ln w="12700">
            <a:solidFill>
              <a:srgbClr val="1A2332"/>
            </a:solidFill>
          </a:ln>
        </p:spPr>
      </p:cxnSp>
      <p:sp>
        <p:nvSpPr>
          <p:cNvPr id="5" name="SectLabel"/>
          <p:cNvSpPr/>
          <p:nvPr/>
        </p:nvSpPr>
        <p:spPr>
          <a:xfrm>
            <a:off x="381000" y="1041400"/>
            <a:ext cx="3556000" cy="177800"/>
          </a:xfrm>
          <a:prstGeom prst="rect">
            <a:avLst/>
          </a:prstGeom>
          <a:solidFill>
            <a:srgbClr val="FFFFFF"/>
          </a:solidFill>
          <a:ln w="1">
            <a:noFill/>
          </a:ln>
        </p:spPr>
        <p:txBody>
          <a:bodyPr wrap="square" lIns="91440" tIns="45720" rIns="91440" bIns="45720" anchor="t"/>
          <a:lstStyle/>
          <a:p>
            <a:pPr>
              <a:buNone/>
            </a:pPr>
            <a:r>
              <a:rPr lang="en-US" sz="1100" b="1" dirty="0">
                <a:solidFill>
                  <a:srgbClr val="64748B"/>
                </a:solidFill>
                <a:latin typeface="Aptos Display"/>
              </a:rPr>
              <a:t>HOW IT WORKS</a:t>
            </a:r>
          </a:p>
        </p:txBody>
      </p:sp>
      <p:sp>
        <p:nvSpPr>
          <p:cNvPr id="200" name="SCard0"/>
          <p:cNvSpPr/>
          <p:nvPr/>
        </p:nvSpPr>
        <p:spPr>
          <a:xfrm>
            <a:off x="381000" y="1320800"/>
            <a:ext cx="5334000" cy="10668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01" name="SAcc0"/>
          <p:cNvSpPr/>
          <p:nvPr/>
        </p:nvSpPr>
        <p:spPr>
          <a:xfrm>
            <a:off x="381000" y="1320800"/>
            <a:ext cx="5334000" cy="50800"/>
          </a:xfrm>
          <a:prstGeom prst="rect">
            <a:avLst/>
          </a:prstGeom>
          <a:solidFill>
            <a:srgbClr val="2563EB"/>
          </a:solidFill>
          <a:ln w="1">
            <a:noFill/>
          </a:ln>
        </p:spPr>
        <p:txBody>
          <a:bodyPr wrap="square" lIns="91440" tIns="45720" rIns="91440" bIns="45720" anchor="t"/>
          <a:lstStyle/>
          <a:p>
            <a:endParaRPr lang="en-US"/>
          </a:p>
        </p:txBody>
      </p:sp>
      <p:sp>
        <p:nvSpPr>
          <p:cNvPr id="202" name="SNum0"/>
          <p:cNvSpPr/>
          <p:nvPr/>
        </p:nvSpPr>
        <p:spPr>
          <a:xfrm>
            <a:off x="533400" y="1498600"/>
            <a:ext cx="355600" cy="355600"/>
          </a:xfrm>
          <a:prstGeom prst="ellipse">
            <a:avLst/>
          </a:prstGeom>
          <a:solidFill>
            <a:srgbClr val="2563EB"/>
          </a:solidFill>
          <a:ln w="1">
            <a:noFill/>
          </a:ln>
        </p:spPr>
        <p:txBody>
          <a:bodyPr wrap="square" lIns="91440" tIns="45720" rIns="91440" bIns="45720" anchor="t"/>
          <a:lstStyle/>
          <a:p>
            <a:pPr marL="0" indent="0" algn="ctr">
              <a:buNone/>
            </a:pPr>
            <a:r>
              <a:rPr lang="en-US" sz="1300" b="1" dirty="0">
                <a:solidFill>
                  <a:srgbClr val="FFFFFF"/>
                </a:solidFill>
                <a:latin typeface="Segoe UI Semibold"/>
              </a:rPr>
              <a:t>1</a:t>
            </a:r>
          </a:p>
        </p:txBody>
      </p:sp>
      <p:sp>
        <p:nvSpPr>
          <p:cNvPr id="203" name="STitle0"/>
          <p:cNvSpPr/>
          <p:nvPr/>
        </p:nvSpPr>
        <p:spPr>
          <a:xfrm>
            <a:off x="1016000" y="1447800"/>
            <a:ext cx="4521200" cy="2540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Deep Code Analysis</a:t>
            </a:r>
          </a:p>
        </p:txBody>
      </p:sp>
      <p:sp>
        <p:nvSpPr>
          <p:cNvPr id="204" name="SDesc0"/>
          <p:cNvSpPr/>
          <p:nvPr/>
        </p:nvSpPr>
        <p:spPr>
          <a:xfrm>
            <a:off x="1016000" y="1752600"/>
            <a:ext cx="4521200" cy="5080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Claude reads and reasons about your entire codebase, understanding data flows, authentication patterns, and business logic</a:t>
            </a:r>
          </a:p>
        </p:txBody>
      </p:sp>
      <p:cxnSp>
        <p:nvCxnSpPr>
          <p:cNvPr id="205" name="SConn0"/>
          <p:cNvCxnSpPr/>
          <p:nvPr/>
        </p:nvCxnSpPr>
        <p:spPr>
          <a:xfrm>
            <a:off x="711200" y="2387600"/>
            <a:ext cx="0" cy="127000"/>
          </a:xfrm>
          <a:prstGeom prst="line">
            <a:avLst/>
          </a:prstGeom>
          <a:ln w="6350">
            <a:solidFill>
              <a:srgbClr val="CBD5E1"/>
            </a:solidFill>
          </a:ln>
        </p:spPr>
      </p:cxnSp>
      <p:sp>
        <p:nvSpPr>
          <p:cNvPr id="210" name="SCard1"/>
          <p:cNvSpPr/>
          <p:nvPr/>
        </p:nvSpPr>
        <p:spPr>
          <a:xfrm>
            <a:off x="381000" y="2514600"/>
            <a:ext cx="5334000" cy="10668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11" name="SAcc1"/>
          <p:cNvSpPr/>
          <p:nvPr/>
        </p:nvSpPr>
        <p:spPr>
          <a:xfrm>
            <a:off x="381000" y="2514600"/>
            <a:ext cx="5334000" cy="50800"/>
          </a:xfrm>
          <a:prstGeom prst="rect">
            <a:avLst/>
          </a:prstGeom>
          <a:solidFill>
            <a:srgbClr val="EF4444"/>
          </a:solidFill>
          <a:ln w="1">
            <a:noFill/>
          </a:ln>
        </p:spPr>
        <p:txBody>
          <a:bodyPr wrap="square" lIns="91440" tIns="45720" rIns="91440" bIns="45720" anchor="t"/>
          <a:lstStyle/>
          <a:p>
            <a:endParaRPr lang="en-US"/>
          </a:p>
        </p:txBody>
      </p:sp>
      <p:sp>
        <p:nvSpPr>
          <p:cNvPr id="212" name="SNum1"/>
          <p:cNvSpPr/>
          <p:nvPr/>
        </p:nvSpPr>
        <p:spPr>
          <a:xfrm>
            <a:off x="533400" y="2692400"/>
            <a:ext cx="355600" cy="355600"/>
          </a:xfrm>
          <a:prstGeom prst="ellipse">
            <a:avLst/>
          </a:prstGeom>
          <a:solidFill>
            <a:srgbClr val="EF4444"/>
          </a:solidFill>
          <a:ln w="1">
            <a:noFill/>
          </a:ln>
        </p:spPr>
        <p:txBody>
          <a:bodyPr wrap="square" lIns="91440" tIns="45720" rIns="91440" bIns="45720" anchor="t"/>
          <a:lstStyle/>
          <a:p>
            <a:pPr marL="0" indent="0" algn="ctr">
              <a:buNone/>
            </a:pPr>
            <a:r>
              <a:rPr lang="en-US" sz="1300" b="1" dirty="0">
                <a:solidFill>
                  <a:srgbClr val="FFFFFF"/>
                </a:solidFill>
                <a:latin typeface="Segoe UI Semibold"/>
              </a:rPr>
              <a:t>2</a:t>
            </a:r>
          </a:p>
        </p:txBody>
      </p:sp>
      <p:sp>
        <p:nvSpPr>
          <p:cNvPr id="213" name="STitle1"/>
          <p:cNvSpPr/>
          <p:nvPr/>
        </p:nvSpPr>
        <p:spPr>
          <a:xfrm>
            <a:off x="1016000" y="2641600"/>
            <a:ext cx="4521200" cy="2540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Vulnerability Detection</a:t>
            </a:r>
          </a:p>
        </p:txBody>
      </p:sp>
      <p:sp>
        <p:nvSpPr>
          <p:cNvPr id="214" name="SDesc1"/>
          <p:cNvSpPr/>
          <p:nvPr/>
        </p:nvSpPr>
        <p:spPr>
          <a:xfrm>
            <a:off x="1016000" y="2946400"/>
            <a:ext cx="4521200" cy="5080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Identifies zero-day vulnerabilities using reasoning-based scanning rather than pattern matching or static rules</a:t>
            </a:r>
          </a:p>
        </p:txBody>
      </p:sp>
      <p:cxnSp>
        <p:nvCxnSpPr>
          <p:cNvPr id="215" name="SConn1"/>
          <p:cNvCxnSpPr/>
          <p:nvPr/>
        </p:nvCxnSpPr>
        <p:spPr>
          <a:xfrm>
            <a:off x="711200" y="3581400"/>
            <a:ext cx="0" cy="127000"/>
          </a:xfrm>
          <a:prstGeom prst="line">
            <a:avLst/>
          </a:prstGeom>
          <a:ln w="6350">
            <a:solidFill>
              <a:srgbClr val="CBD5E1"/>
            </a:solidFill>
          </a:ln>
        </p:spPr>
      </p:cxnSp>
      <p:sp>
        <p:nvSpPr>
          <p:cNvPr id="220" name="SCard2"/>
          <p:cNvSpPr/>
          <p:nvPr/>
        </p:nvSpPr>
        <p:spPr>
          <a:xfrm>
            <a:off x="381000" y="3708400"/>
            <a:ext cx="5334000" cy="10668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21" name="SAcc2"/>
          <p:cNvSpPr/>
          <p:nvPr/>
        </p:nvSpPr>
        <p:spPr>
          <a:xfrm>
            <a:off x="381000" y="3708400"/>
            <a:ext cx="5334000" cy="50800"/>
          </a:xfrm>
          <a:prstGeom prst="rect">
            <a:avLst/>
          </a:prstGeom>
          <a:solidFill>
            <a:srgbClr val="F59E0B"/>
          </a:solidFill>
          <a:ln w="1">
            <a:noFill/>
          </a:ln>
        </p:spPr>
        <p:txBody>
          <a:bodyPr wrap="square" lIns="91440" tIns="45720" rIns="91440" bIns="45720" anchor="t"/>
          <a:lstStyle/>
          <a:p>
            <a:endParaRPr lang="en-US"/>
          </a:p>
        </p:txBody>
      </p:sp>
      <p:sp>
        <p:nvSpPr>
          <p:cNvPr id="222" name="SNum2"/>
          <p:cNvSpPr/>
          <p:nvPr/>
        </p:nvSpPr>
        <p:spPr>
          <a:xfrm>
            <a:off x="533400" y="3886200"/>
            <a:ext cx="355600" cy="355600"/>
          </a:xfrm>
          <a:prstGeom prst="ellipse">
            <a:avLst/>
          </a:prstGeom>
          <a:solidFill>
            <a:srgbClr val="F59E0B"/>
          </a:solidFill>
          <a:ln w="1">
            <a:noFill/>
          </a:ln>
        </p:spPr>
        <p:txBody>
          <a:bodyPr wrap="square" lIns="91440" tIns="45720" rIns="91440" bIns="45720" anchor="t"/>
          <a:lstStyle/>
          <a:p>
            <a:pPr marL="0" indent="0" algn="ctr">
              <a:buNone/>
            </a:pPr>
            <a:r>
              <a:rPr lang="en-US" sz="1300" b="1" dirty="0">
                <a:solidFill>
                  <a:srgbClr val="FFFFFF"/>
                </a:solidFill>
                <a:latin typeface="Segoe UI Semibold"/>
              </a:rPr>
              <a:t>3</a:t>
            </a:r>
          </a:p>
        </p:txBody>
      </p:sp>
      <p:sp>
        <p:nvSpPr>
          <p:cNvPr id="223" name="STitle2"/>
          <p:cNvSpPr/>
          <p:nvPr/>
        </p:nvSpPr>
        <p:spPr>
          <a:xfrm>
            <a:off x="1016000" y="3835400"/>
            <a:ext cx="4521200" cy="2540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Contextual Assessment</a:t>
            </a:r>
          </a:p>
        </p:txBody>
      </p:sp>
      <p:sp>
        <p:nvSpPr>
          <p:cNvPr id="224" name="SDesc2"/>
          <p:cNvSpPr/>
          <p:nvPr/>
        </p:nvSpPr>
        <p:spPr>
          <a:xfrm>
            <a:off x="1016000" y="4140200"/>
            <a:ext cx="4521200" cy="5080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Evaluates severity with full understanding of how the vulnerability could be exploited in your specific codebase</a:t>
            </a:r>
          </a:p>
        </p:txBody>
      </p:sp>
      <p:cxnSp>
        <p:nvCxnSpPr>
          <p:cNvPr id="225" name="SConn2"/>
          <p:cNvCxnSpPr/>
          <p:nvPr/>
        </p:nvCxnSpPr>
        <p:spPr>
          <a:xfrm>
            <a:off x="711200" y="4775200"/>
            <a:ext cx="0" cy="127000"/>
          </a:xfrm>
          <a:prstGeom prst="line">
            <a:avLst/>
          </a:prstGeom>
          <a:ln w="6350">
            <a:solidFill>
              <a:srgbClr val="CBD5E1"/>
            </a:solidFill>
          </a:ln>
        </p:spPr>
      </p:cxnSp>
      <p:sp>
        <p:nvSpPr>
          <p:cNvPr id="230" name="SCard3"/>
          <p:cNvSpPr/>
          <p:nvPr/>
        </p:nvSpPr>
        <p:spPr>
          <a:xfrm>
            <a:off x="381000" y="4902200"/>
            <a:ext cx="5334000" cy="10668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231" name="SAcc3"/>
          <p:cNvSpPr/>
          <p:nvPr/>
        </p:nvSpPr>
        <p:spPr>
          <a:xfrm>
            <a:off x="381000" y="4902200"/>
            <a:ext cx="5334000" cy="50800"/>
          </a:xfrm>
          <a:prstGeom prst="rect">
            <a:avLst/>
          </a:prstGeom>
          <a:solidFill>
            <a:srgbClr val="059669"/>
          </a:solidFill>
          <a:ln w="1">
            <a:noFill/>
          </a:ln>
        </p:spPr>
        <p:txBody>
          <a:bodyPr wrap="square" lIns="91440" tIns="45720" rIns="91440" bIns="45720" anchor="t"/>
          <a:lstStyle/>
          <a:p>
            <a:endParaRPr lang="en-US"/>
          </a:p>
        </p:txBody>
      </p:sp>
      <p:sp>
        <p:nvSpPr>
          <p:cNvPr id="232" name="SNum3"/>
          <p:cNvSpPr/>
          <p:nvPr/>
        </p:nvSpPr>
        <p:spPr>
          <a:xfrm>
            <a:off x="533400" y="5080000"/>
            <a:ext cx="355600" cy="355600"/>
          </a:xfrm>
          <a:prstGeom prst="ellipse">
            <a:avLst/>
          </a:prstGeom>
          <a:solidFill>
            <a:srgbClr val="059669"/>
          </a:solidFill>
          <a:ln w="1">
            <a:noFill/>
          </a:ln>
        </p:spPr>
        <p:txBody>
          <a:bodyPr wrap="square" lIns="91440" tIns="45720" rIns="91440" bIns="45720" anchor="t"/>
          <a:lstStyle/>
          <a:p>
            <a:pPr marL="0" indent="0" algn="ctr">
              <a:buNone/>
            </a:pPr>
            <a:r>
              <a:rPr lang="en-US" sz="1300" b="1" dirty="0">
                <a:solidFill>
                  <a:srgbClr val="FFFFFF"/>
                </a:solidFill>
                <a:latin typeface="Segoe UI Semibold"/>
              </a:rPr>
              <a:t>4</a:t>
            </a:r>
          </a:p>
        </p:txBody>
      </p:sp>
      <p:sp>
        <p:nvSpPr>
          <p:cNvPr id="233" name="STitle3"/>
          <p:cNvSpPr/>
          <p:nvPr/>
        </p:nvSpPr>
        <p:spPr>
          <a:xfrm>
            <a:off x="1016000" y="5029200"/>
            <a:ext cx="4521200" cy="254000"/>
          </a:xfrm>
          <a:prstGeom prst="rect">
            <a:avLst/>
          </a:prstGeom>
          <a:solidFill>
            <a:srgbClr val="F8FAFC"/>
          </a:solidFill>
          <a:ln w="1">
            <a:noFill/>
          </a:ln>
        </p:spPr>
        <p:txBody>
          <a:bodyPr wrap="square" lIns="91440" tIns="45720" rIns="91440" bIns="45720" anchor="t"/>
          <a:lstStyle/>
          <a:p>
            <a:pPr marL="0" indent="0">
              <a:buNone/>
            </a:pPr>
            <a:r>
              <a:rPr lang="en-US" sz="1300" b="1" dirty="0">
                <a:solidFill>
                  <a:srgbClr val="1A2332"/>
                </a:solidFill>
                <a:latin typeface="Segoe UI Semibold"/>
              </a:rPr>
              <a:t>Fix Recommendations</a:t>
            </a:r>
          </a:p>
        </p:txBody>
      </p:sp>
      <p:sp>
        <p:nvSpPr>
          <p:cNvPr id="234" name="SDesc3"/>
          <p:cNvSpPr/>
          <p:nvPr/>
        </p:nvSpPr>
        <p:spPr>
          <a:xfrm>
            <a:off x="1016000" y="5334000"/>
            <a:ext cx="4521200" cy="5080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Generates actionable remediation with concrete code changes, not just flagged line numbers</a:t>
            </a:r>
          </a:p>
        </p:txBody>
      </p:sp>
      <p:sp>
        <p:nvSpPr>
          <p:cNvPr id="300" name="RPLabel"/>
          <p:cNvSpPr/>
          <p:nvPr/>
        </p:nvSpPr>
        <p:spPr>
          <a:xfrm>
            <a:off x="6096000" y="1041400"/>
            <a:ext cx="5715000" cy="177800"/>
          </a:xfrm>
          <a:prstGeom prst="rect">
            <a:avLst/>
          </a:prstGeom>
          <a:solidFill>
            <a:srgbClr val="FFFFFF"/>
          </a:solidFill>
          <a:ln w="1">
            <a:noFill/>
          </a:ln>
        </p:spPr>
        <p:txBody>
          <a:bodyPr wrap="square" lIns="91440" tIns="45720" rIns="91440" bIns="45720" anchor="t"/>
          <a:lstStyle/>
          <a:p>
            <a:pPr>
              <a:buNone/>
            </a:pPr>
            <a:r>
              <a:rPr lang="en-US" sz="1100" b="1" dirty="0">
                <a:solidFill>
                  <a:srgbClr val="64748B"/>
                </a:solidFill>
                <a:latin typeface="Aptos Display"/>
              </a:rPr>
              <a:t>REASONING VS. PATTERN MATCHING</a:t>
            </a:r>
          </a:p>
        </p:txBody>
      </p:sp>
      <p:sp>
        <p:nvSpPr>
          <p:cNvPr id="310" name="CmpCard"/>
          <p:cNvSpPr/>
          <p:nvPr/>
        </p:nvSpPr>
        <p:spPr>
          <a:xfrm>
            <a:off x="6096000" y="1320800"/>
            <a:ext cx="5715000" cy="2286000"/>
          </a:xfrm>
          <a:prstGeom prst="roundRect">
            <a:avLst>
              <a:gd name="adj" fmla="val 5000"/>
            </a:avLst>
          </a:prstGeom>
          <a:solidFill>
            <a:srgbClr val="F8FAFC"/>
          </a:solidFill>
          <a:ln w="1">
            <a:noFill/>
          </a:ln>
        </p:spPr>
        <p:txBody>
          <a:bodyPr wrap="square" lIns="91440" tIns="45720" rIns="91440" bIns="45720" anchor="t"/>
          <a:lstStyle/>
          <a:p>
            <a:endParaRPr lang="en-US"/>
          </a:p>
        </p:txBody>
      </p:sp>
      <p:sp>
        <p:nvSpPr>
          <p:cNvPr id="311" name="CmpAcc"/>
          <p:cNvSpPr/>
          <p:nvPr/>
        </p:nvSpPr>
        <p:spPr>
          <a:xfrm>
            <a:off x="6096000" y="1320800"/>
            <a:ext cx="5715000" cy="63500"/>
          </a:xfrm>
          <a:prstGeom prst="rect">
            <a:avLst/>
          </a:prstGeom>
          <a:solidFill>
            <a:srgbClr val="EF4444"/>
          </a:solidFill>
          <a:ln w="1">
            <a:noFill/>
          </a:ln>
        </p:spPr>
        <p:txBody>
          <a:bodyPr wrap="square" lIns="91440" tIns="45720" rIns="91440" bIns="45720" anchor="t"/>
          <a:lstStyle/>
          <a:p>
            <a:endParaRPr lang="en-US"/>
          </a:p>
        </p:txBody>
      </p:sp>
      <p:sp>
        <p:nvSpPr>
          <p:cNvPr id="312" name="TradTitle"/>
          <p:cNvSpPr/>
          <p:nvPr/>
        </p:nvSpPr>
        <p:spPr>
          <a:xfrm>
            <a:off x="6273800" y="1498600"/>
            <a:ext cx="2540000" cy="254000"/>
          </a:xfrm>
          <a:prstGeom prst="rect">
            <a:avLst/>
          </a:prstGeom>
          <a:solidFill>
            <a:srgbClr val="F8FAFC"/>
          </a:solidFill>
          <a:ln w="1">
            <a:noFill/>
          </a:ln>
        </p:spPr>
        <p:txBody>
          <a:bodyPr wrap="square" lIns="91440" tIns="45720" rIns="91440" bIns="45720" anchor="t"/>
          <a:lstStyle/>
          <a:p>
            <a:pPr marL="0" indent="0">
              <a:buNone/>
            </a:pPr>
            <a:r>
              <a:rPr lang="en-US" sz="1200" b="1" dirty="0">
                <a:solidFill>
                  <a:srgbClr val="94A3B8"/>
                </a:solidFill>
                <a:latin typeface="Segoe UI Semibold"/>
              </a:rPr>
              <a:t>Traditional SAST</a:t>
            </a:r>
          </a:p>
        </p:txBody>
      </p:sp>
      <p:sp>
        <p:nvSpPr>
          <p:cNvPr id="313" name="TradBody"/>
          <p:cNvSpPr/>
          <p:nvPr/>
        </p:nvSpPr>
        <p:spPr>
          <a:xfrm>
            <a:off x="6273800" y="1803400"/>
            <a:ext cx="2540000" cy="16510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Pattern-based matching</a:t>
            </a:r>
          </a:p>
          <a:p>
            <a:pPr marL="0" indent="0">
              <a:buNone/>
            </a:pPr>
            <a:r>
              <a:rPr lang="en-US" sz="1050" dirty="0">
                <a:solidFill>
                  <a:srgbClr val="4A5568"/>
                </a:solidFill>
                <a:latin typeface="Segoe UI"/>
              </a:rPr>
              <a:t>High false-positive rate</a:t>
            </a:r>
          </a:p>
          <a:p>
            <a:pPr marL="0" indent="0">
              <a:buNone/>
            </a:pPr>
            <a:r>
              <a:rPr lang="en-US" sz="1050" dirty="0">
                <a:solidFill>
                  <a:srgbClr val="4A5568"/>
                </a:solidFill>
                <a:latin typeface="Segoe UI"/>
              </a:rPr>
              <a:t>Misses logic bugs</a:t>
            </a:r>
          </a:p>
          <a:p>
            <a:pPr marL="0" indent="0">
              <a:buNone/>
            </a:pPr>
            <a:r>
              <a:rPr lang="en-US" sz="1050" dirty="0">
                <a:solidFill>
                  <a:srgbClr val="4A5568"/>
                </a:solidFill>
                <a:latin typeface="Segoe UI"/>
              </a:rPr>
              <a:t>Rule updates lag new CVEs</a:t>
            </a:r>
          </a:p>
          <a:p>
            <a:pPr marL="0" indent="0">
              <a:buNone/>
            </a:pPr>
            <a:r>
              <a:rPr lang="en-US" sz="1050" dirty="0">
                <a:solidFill>
                  <a:srgbClr val="4A5568"/>
                </a:solidFill>
                <a:latin typeface="Segoe UI"/>
              </a:rPr>
              <a:t>Flagged lines, no fixes</a:t>
            </a:r>
          </a:p>
        </p:txBody>
      </p:sp>
      <p:cxnSp>
        <p:nvCxnSpPr>
          <p:cNvPr id="314" name="CmpDiv"/>
          <p:cNvCxnSpPr/>
          <p:nvPr/>
        </p:nvCxnSpPr>
        <p:spPr>
          <a:xfrm>
            <a:off x="8890000" y="1498600"/>
            <a:ext cx="0" cy="1968500"/>
          </a:xfrm>
          <a:prstGeom prst="line">
            <a:avLst/>
          </a:prstGeom>
          <a:ln w="6350">
            <a:solidFill>
              <a:srgbClr val="E2E8F0"/>
            </a:solidFill>
          </a:ln>
        </p:spPr>
      </p:cxnSp>
      <p:sp>
        <p:nvSpPr>
          <p:cNvPr id="315" name="ClaudeTitle"/>
          <p:cNvSpPr/>
          <p:nvPr/>
        </p:nvSpPr>
        <p:spPr>
          <a:xfrm>
            <a:off x="9067800" y="1498600"/>
            <a:ext cx="2540000" cy="254000"/>
          </a:xfrm>
          <a:prstGeom prst="rect">
            <a:avLst/>
          </a:prstGeom>
          <a:solidFill>
            <a:srgbClr val="F8FAFC"/>
          </a:solidFill>
          <a:ln w="1">
            <a:noFill/>
          </a:ln>
        </p:spPr>
        <p:txBody>
          <a:bodyPr wrap="square" lIns="91440" tIns="45720" rIns="91440" bIns="45720" anchor="t"/>
          <a:lstStyle/>
          <a:p>
            <a:pPr marL="0" indent="0">
              <a:buNone/>
            </a:pPr>
            <a:r>
              <a:rPr lang="en-US" sz="1200" b="1" dirty="0">
                <a:solidFill>
                  <a:srgbClr val="2563EB"/>
                </a:solidFill>
                <a:latin typeface="Segoe UI Semibold"/>
              </a:rPr>
              <a:t>Claude Code Security</a:t>
            </a:r>
          </a:p>
        </p:txBody>
      </p:sp>
      <p:sp>
        <p:nvSpPr>
          <p:cNvPr id="316" name="ClaudeBody"/>
          <p:cNvSpPr/>
          <p:nvPr/>
        </p:nvSpPr>
        <p:spPr>
          <a:xfrm>
            <a:off x="9067800" y="1803400"/>
            <a:ext cx="2540000" cy="1651000"/>
          </a:xfrm>
          <a:prstGeom prst="rect">
            <a:avLst/>
          </a:prstGeom>
          <a:solidFill>
            <a:srgbClr val="F8FAFC"/>
          </a:solidFill>
          <a:ln w="1">
            <a:noFill/>
          </a:ln>
        </p:spPr>
        <p:txBody>
          <a:bodyPr wrap="square" lIns="91440" tIns="45720" rIns="91440" bIns="45720" anchor="t"/>
          <a:lstStyle/>
          <a:p>
            <a:pPr marL="0" indent="0">
              <a:buNone/>
            </a:pPr>
            <a:r>
              <a:rPr lang="en-US" sz="1050" dirty="0">
                <a:solidFill>
                  <a:srgbClr val="4A5568"/>
                </a:solidFill>
                <a:latin typeface="Segoe UI"/>
              </a:rPr>
              <a:t>Reasoning-based analysis</a:t>
            </a:r>
          </a:p>
          <a:p>
            <a:pPr marL="0" indent="0">
              <a:buNone/>
            </a:pPr>
            <a:r>
              <a:rPr lang="en-US" sz="1050" dirty="0">
                <a:solidFill>
                  <a:srgbClr val="4A5568"/>
                </a:solidFill>
                <a:latin typeface="Segoe UI"/>
              </a:rPr>
              <a:t>Context-aware severity</a:t>
            </a:r>
          </a:p>
          <a:p>
            <a:pPr marL="0" indent="0">
              <a:buNone/>
            </a:pPr>
            <a:r>
              <a:rPr lang="en-US" sz="1050" dirty="0">
                <a:solidFill>
                  <a:srgbClr val="4A5568"/>
                </a:solidFill>
                <a:latin typeface="Segoe UI"/>
              </a:rPr>
              <a:t>Finds zero-day vulns</a:t>
            </a:r>
          </a:p>
          <a:p>
            <a:pPr marL="0" indent="0">
              <a:buNone/>
            </a:pPr>
            <a:r>
              <a:rPr lang="en-US" sz="1050" dirty="0">
                <a:solidFill>
                  <a:srgbClr val="4A5568"/>
                </a:solidFill>
                <a:latin typeface="Segoe UI"/>
              </a:rPr>
              <a:t>Understands data flows</a:t>
            </a:r>
          </a:p>
          <a:p>
            <a:pPr marL="0" indent="0">
              <a:buNone/>
            </a:pPr>
            <a:r>
              <a:rPr lang="en-US" sz="1050" dirty="0">
                <a:solidFill>
                  <a:srgbClr val="4A5568"/>
                </a:solidFill>
                <a:latin typeface="Segoe UI"/>
              </a:rPr>
              <a:t>Generates concrete fixes</a:t>
            </a:r>
          </a:p>
        </p:txBody>
      </p:sp>
      <p:sp>
        <p:nvSpPr>
          <p:cNvPr id="320" name="IntLabel"/>
          <p:cNvSpPr/>
          <p:nvPr/>
        </p:nvSpPr>
        <p:spPr>
          <a:xfrm>
            <a:off x="6096000" y="3784600"/>
            <a:ext cx="5715000" cy="177800"/>
          </a:xfrm>
          <a:prstGeom prst="rect">
            <a:avLst/>
          </a:prstGeom>
          <a:solidFill>
            <a:srgbClr val="FFFFFF"/>
          </a:solidFill>
          <a:ln w="1">
            <a:noFill/>
          </a:ln>
        </p:spPr>
        <p:txBody>
          <a:bodyPr wrap="square" lIns="91440" tIns="45720" rIns="91440" bIns="45720" anchor="t"/>
          <a:lstStyle/>
          <a:p>
            <a:pPr>
              <a:buNone/>
            </a:pPr>
            <a:r>
              <a:rPr lang="en-US" sz="1100" b="1" dirty="0">
                <a:solidFill>
                  <a:srgbClr val="64748B"/>
                </a:solidFill>
                <a:latin typeface="Aptos Display"/>
              </a:rPr>
              <a:t>INTEGRATION OPTIONS</a:t>
            </a:r>
          </a:p>
        </p:txBody>
      </p:sp>
      <p:sp>
        <p:nvSpPr>
          <p:cNvPr id="321" name="IntCard"/>
          <p:cNvSpPr/>
          <p:nvPr/>
        </p:nvSpPr>
        <p:spPr>
          <a:xfrm>
            <a:off x="6096000" y="4038600"/>
            <a:ext cx="5715000" cy="1524000"/>
          </a:xfrm>
          <a:prstGeom prst="roundRect">
            <a:avLst>
              <a:gd name="adj" fmla="val 5000"/>
            </a:avLst>
          </a:prstGeom>
          <a:solidFill>
            <a:srgbClr val="F0FDF4"/>
          </a:solidFill>
          <a:ln w="1">
            <a:noFill/>
          </a:ln>
        </p:spPr>
        <p:txBody>
          <a:bodyPr wrap="square" lIns="91440" tIns="45720" rIns="91440" bIns="45720" anchor="t"/>
          <a:lstStyle/>
          <a:p>
            <a:endParaRPr lang="en-US"/>
          </a:p>
        </p:txBody>
      </p:sp>
      <p:sp>
        <p:nvSpPr>
          <p:cNvPr id="322" name="IntAcc"/>
          <p:cNvSpPr/>
          <p:nvPr/>
        </p:nvSpPr>
        <p:spPr>
          <a:xfrm>
            <a:off x="6096000" y="4038600"/>
            <a:ext cx="5715000" cy="63500"/>
          </a:xfrm>
          <a:prstGeom prst="rect">
            <a:avLst/>
          </a:prstGeom>
          <a:solidFill>
            <a:srgbClr val="059669"/>
          </a:solidFill>
          <a:ln w="1">
            <a:noFill/>
          </a:ln>
        </p:spPr>
        <p:txBody>
          <a:bodyPr wrap="square" lIns="91440" tIns="45720" rIns="91440" bIns="45720" anchor="t"/>
          <a:lstStyle/>
          <a:p>
            <a:endParaRPr lang="en-US"/>
          </a:p>
        </p:txBody>
      </p:sp>
      <p:sp>
        <p:nvSpPr>
          <p:cNvPr id="323" name="IntBody"/>
          <p:cNvSpPr/>
          <p:nvPr/>
        </p:nvSpPr>
        <p:spPr>
          <a:xfrm>
            <a:off x="6273800" y="4216400"/>
            <a:ext cx="5334000" cy="1219200"/>
          </a:xfrm>
          <a:prstGeom prst="rect">
            <a:avLst/>
          </a:prstGeom>
          <a:solidFill>
            <a:srgbClr val="F0FDF4"/>
          </a:solidFill>
          <a:ln w="1">
            <a:noFill/>
          </a:ln>
        </p:spPr>
        <p:txBody>
          <a:bodyPr wrap="square" lIns="91440" tIns="45720" rIns="91440" bIns="45720" anchor="t"/>
          <a:lstStyle/>
          <a:p>
            <a:pPr marL="0" indent="0">
              <a:buNone/>
            </a:pPr>
            <a:r>
              <a:rPr lang="en-US" sz="1100" b="1" dirty="0">
                <a:solidFill>
                  <a:srgbClr val="059669"/>
                </a:solidFill>
                <a:latin typeface="Consolas"/>
              </a:rPr>
              <a:t>claude security review</a:t>
            </a:r>
          </a:p>
          <a:p>
            <a:pPr marL="0" indent="0">
              <a:buNone/>
            </a:pPr>
            <a:r>
              <a:rPr lang="en-US" sz="1050" dirty="0">
                <a:solidFill>
                  <a:srgbClr val="4A5568"/>
                </a:solidFill>
                <a:latin typeface="Segoe UI"/>
              </a:rPr>
              <a:t>CLI: scan on demand from terminal</a:t>
            </a:r>
          </a:p>
          <a:p>
            <a:pPr marL="0" indent="0">
              <a:buNone/>
            </a:pPr>
            <a:r>
              <a:rPr lang="en-US" sz="1050" dirty="0">
                <a:solidFill>
                  <a:srgbClr val="4A5568"/>
                </a:solidFill>
                <a:latin typeface="Segoe UI"/>
              </a:rPr>
              <a:t>GitHub Action: auto-scan every PR</a:t>
            </a:r>
          </a:p>
          <a:p>
            <a:pPr marL="0" indent="0">
              <a:buNone/>
            </a:pPr>
            <a:r>
              <a:rPr lang="en-US" sz="1050" dirty="0">
                <a:solidFill>
                  <a:srgbClr val="4A5568"/>
                </a:solidFill>
                <a:latin typeface="Segoe UI"/>
              </a:rPr>
              <a:t>Hook: PreToolUse gate before any file edit</a:t>
            </a:r>
          </a:p>
          <a:p>
            <a:pPr marL="0" indent="0">
              <a:buNone/>
            </a:pPr>
            <a:r>
              <a:rPr lang="en-US" sz="1050" dirty="0">
                <a:solidFill>
                  <a:srgbClr val="4A5568"/>
                </a:solidFill>
                <a:latin typeface="Segoe UI"/>
              </a:rPr>
              <a:t>API: integrate into your existing AppSec toolchain</a:t>
            </a:r>
          </a:p>
        </p:txBody>
      </p:sp>
      <p:sp>
        <p:nvSpPr>
          <p:cNvPr id="500" name="Banner"/>
          <p:cNvSpPr/>
          <p:nvPr/>
        </p:nvSpPr>
        <p:spPr>
          <a:xfrm>
            <a:off x="381000" y="5981998"/>
            <a:ext cx="11430000" cy="291802"/>
          </a:xfrm>
          <a:prstGeom prst="roundRect">
            <a:avLst>
              <a:gd name="adj" fmla="val 5000"/>
            </a:avLst>
          </a:prstGeom>
          <a:solidFill>
            <a:schemeClr val="accent5">
              <a:lumMod val="40000"/>
              <a:lumOff val="60000"/>
            </a:schemeClr>
          </a:solidFill>
          <a:ln w="1">
            <a:noFill/>
          </a:ln>
        </p:spPr>
        <p:txBody>
          <a:bodyPr wrap="square" lIns="91440" tIns="45720" rIns="91440" bIns="45720" anchor="t"/>
          <a:lstStyle/>
          <a:p>
            <a:pPr marL="0" indent="0" algn="ctr">
              <a:buNone/>
            </a:pPr>
            <a:r>
              <a:rPr lang="en-US" sz="1100" dirty="0">
                <a:solidFill>
                  <a:schemeClr val="bg1"/>
                </a:solidFill>
                <a:latin typeface="Segoe UI"/>
              </a:rPr>
              <a:t>Combines with hooks + GitHub Actions for a complete shift-left security pipeline from code to deploy</a:t>
            </a:r>
          </a:p>
        </p:txBody>
      </p:sp>
    </p:spTree>
    <p:extLst>
      <p:ext uri="{BB962C8B-B14F-4D97-AF65-F5344CB8AC3E}">
        <p14:creationId xmlns:p14="http://schemas.microsoft.com/office/powerpoint/2010/main" val="34364971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BgOverlay"/>
          <p:cNvSpPr/>
          <p:nvPr/>
        </p:nvSpPr>
        <p:spPr>
          <a:xfrm>
            <a:off x="-114300" y="0"/>
            <a:ext cx="12192000" cy="6858000"/>
          </a:xfrm>
          <a:prstGeom prst="rect">
            <a:avLst/>
          </a:prstGeom>
          <a:solidFill>
            <a:srgbClr val="0D47A1"/>
          </a:solidFill>
          <a:ln w="0">
            <a:noFill/>
          </a:ln>
        </p:spPr>
        <p:txBody>
          <a:bodyPr/>
          <a:lstStyle/>
          <a:p>
            <a:endParaRPr lang="en-US"/>
          </a:p>
        </p:txBody>
      </p:sp>
      <p:sp>
        <p:nvSpPr>
          <p:cNvPr id="101" name="DecoCircle1"/>
          <p:cNvSpPr/>
          <p:nvPr/>
        </p:nvSpPr>
        <p:spPr>
          <a:xfrm>
            <a:off x="7759700" y="-876300"/>
            <a:ext cx="5486400" cy="5486400"/>
          </a:xfrm>
          <a:prstGeom prst="ellipse">
            <a:avLst/>
          </a:prstGeom>
          <a:solidFill>
            <a:srgbClr val="1976D2">
              <a:alpha val="30000"/>
            </a:srgbClr>
          </a:solidFill>
          <a:ln w="0">
            <a:noFill/>
          </a:ln>
        </p:spPr>
        <p:txBody>
          <a:bodyPr/>
          <a:lstStyle/>
          <a:p>
            <a:endParaRPr lang="en-US"/>
          </a:p>
        </p:txBody>
      </p:sp>
      <p:sp>
        <p:nvSpPr>
          <p:cNvPr id="102" name="DecoCircle2"/>
          <p:cNvSpPr/>
          <p:nvPr/>
        </p:nvSpPr>
        <p:spPr>
          <a:xfrm>
            <a:off x="8386135" y="2076450"/>
            <a:ext cx="3657600" cy="3657600"/>
          </a:xfrm>
          <a:prstGeom prst="ellipse">
            <a:avLst/>
          </a:prstGeom>
          <a:solidFill>
            <a:srgbClr val="42A5F5">
              <a:alpha val="18000"/>
            </a:srgbClr>
          </a:solidFill>
          <a:ln w="0">
            <a:noFill/>
          </a:ln>
        </p:spPr>
        <p:txBody>
          <a:bodyPr/>
          <a:lstStyle/>
          <a:p>
            <a:endParaRPr lang="en-US"/>
          </a:p>
        </p:txBody>
      </p:sp>
      <p:sp>
        <p:nvSpPr>
          <p:cNvPr id="103" name="DecoCircle3"/>
          <p:cNvSpPr/>
          <p:nvPr/>
        </p:nvSpPr>
        <p:spPr>
          <a:xfrm>
            <a:off x="-889000" y="4165600"/>
            <a:ext cx="4064000" cy="4064000"/>
          </a:xfrm>
          <a:prstGeom prst="ellipse">
            <a:avLst/>
          </a:prstGeom>
          <a:solidFill>
            <a:srgbClr val="1976D2">
              <a:alpha val="20000"/>
            </a:srgbClr>
          </a:solidFill>
          <a:ln w="0">
            <a:noFill/>
          </a:ln>
        </p:spPr>
        <p:txBody>
          <a:bodyPr/>
          <a:lstStyle/>
          <a:p>
            <a:endParaRPr lang="en-US"/>
          </a:p>
        </p:txBody>
      </p:sp>
      <p:sp>
        <p:nvSpPr>
          <p:cNvPr id="104" name="Label"/>
          <p:cNvSpPr/>
          <p:nvPr/>
        </p:nvSpPr>
        <p:spPr>
          <a:xfrm>
            <a:off x="914400" y="1270000"/>
            <a:ext cx="5156200" cy="304800"/>
          </a:xfrm>
          <a:prstGeom prst="rect">
            <a:avLst/>
          </a:prstGeom>
          <a:noFill/>
          <a:ln w="0">
            <a:noFill/>
          </a:ln>
        </p:spPr>
        <p:txBody>
          <a:bodyPr wrap="square" lIns="0" tIns="0" rIns="0" bIns="0" anchor="ctr"/>
          <a:lstStyle/>
          <a:p>
            <a:pPr marL="0" indent="0">
              <a:buNone/>
            </a:pPr>
            <a:r>
              <a:rPr lang="en-US" sz="1200" b="1" spc="400" dirty="0">
                <a:solidFill>
                  <a:srgbClr val="90CAF9"/>
                </a:solidFill>
                <a:latin typeface="Aptos"/>
              </a:rPr>
              <a:t>ANTHROPIC  CLAUDE CODE</a:t>
            </a:r>
          </a:p>
        </p:txBody>
      </p:sp>
      <p:sp>
        <p:nvSpPr>
          <p:cNvPr id="105" name="AccentBar"/>
          <p:cNvSpPr/>
          <p:nvPr/>
        </p:nvSpPr>
        <p:spPr>
          <a:xfrm>
            <a:off x="914400" y="1651000"/>
            <a:ext cx="4953000" cy="50800"/>
          </a:xfrm>
          <a:prstGeom prst="rect">
            <a:avLst/>
          </a:prstGeom>
          <a:solidFill>
            <a:srgbClr val="90CAF9"/>
          </a:solidFill>
          <a:ln w="0">
            <a:noFill/>
          </a:ln>
        </p:spPr>
        <p:txBody>
          <a:bodyPr/>
          <a:lstStyle/>
          <a:p>
            <a:endParaRPr lang="en-US"/>
          </a:p>
        </p:txBody>
      </p:sp>
      <p:sp>
        <p:nvSpPr>
          <p:cNvPr id="106" name="HeroTitle"/>
          <p:cNvSpPr/>
          <p:nvPr/>
        </p:nvSpPr>
        <p:spPr>
          <a:xfrm>
            <a:off x="914400" y="1968500"/>
            <a:ext cx="7772400" cy="1016000"/>
          </a:xfrm>
          <a:prstGeom prst="rect">
            <a:avLst/>
          </a:prstGeom>
          <a:noFill/>
          <a:ln w="0">
            <a:noFill/>
          </a:ln>
        </p:spPr>
        <p:txBody>
          <a:bodyPr wrap="square" lIns="0" tIns="0" rIns="0" bIns="0" anchor="t"/>
          <a:lstStyle/>
          <a:p>
            <a:pPr marL="0" indent="0">
              <a:buNone/>
            </a:pPr>
            <a:r>
              <a:rPr lang="en-US" sz="4400" b="1" dirty="0">
                <a:solidFill>
                  <a:srgbClr val="FFFFFF"/>
                </a:solidFill>
                <a:latin typeface="Segoe UI Semibold"/>
              </a:rPr>
              <a:t>Questions &amp; Answers</a:t>
            </a:r>
          </a:p>
        </p:txBody>
      </p:sp>
      <p:sp>
        <p:nvSpPr>
          <p:cNvPr id="107" name="ThankYou"/>
          <p:cNvSpPr/>
          <p:nvPr/>
        </p:nvSpPr>
        <p:spPr>
          <a:xfrm>
            <a:off x="914400" y="3149600"/>
            <a:ext cx="6858000" cy="1016000"/>
          </a:xfrm>
          <a:prstGeom prst="rect">
            <a:avLst/>
          </a:prstGeom>
          <a:noFill/>
          <a:ln w="0">
            <a:noFill/>
          </a:ln>
        </p:spPr>
        <p:txBody>
          <a:bodyPr wrap="square" lIns="0" tIns="0" rIns="0" bIns="0" anchor="t"/>
          <a:lstStyle/>
          <a:p>
            <a:pPr marL="0" indent="0">
              <a:lnSpc>
                <a:spcPts val="2600"/>
              </a:lnSpc>
              <a:buNone/>
            </a:pPr>
            <a:r>
              <a:rPr lang="en-US" sz="1800" dirty="0">
                <a:solidFill>
                  <a:srgbClr val="90CAF9"/>
                </a:solidFill>
                <a:latin typeface="Aptos"/>
              </a:rPr>
              <a:t>Thank you to everyone for your participation</a:t>
            </a:r>
          </a:p>
          <a:p>
            <a:pPr marL="0" indent="0">
              <a:lnSpc>
                <a:spcPts val="2600"/>
              </a:lnSpc>
              <a:buNone/>
            </a:pPr>
            <a:r>
              <a:rPr lang="en-US" sz="1800" dirty="0">
                <a:solidFill>
                  <a:srgbClr val="90CAF9"/>
                </a:solidFill>
                <a:latin typeface="Aptos"/>
              </a:rPr>
              <a:t>in making this event successful!</a:t>
            </a:r>
          </a:p>
        </p:txBody>
      </p:sp>
      <p:sp>
        <p:nvSpPr>
          <p:cNvPr id="108" name="Divider"/>
          <p:cNvSpPr/>
          <p:nvPr/>
        </p:nvSpPr>
        <p:spPr>
          <a:xfrm>
            <a:off x="914400" y="4318000"/>
            <a:ext cx="5842000" cy="25400"/>
          </a:xfrm>
          <a:prstGeom prst="rect">
            <a:avLst/>
          </a:prstGeom>
          <a:solidFill>
            <a:srgbClr val="90CAF9">
              <a:alpha val="40000"/>
            </a:srgbClr>
          </a:solidFill>
          <a:ln w="0">
            <a:noFill/>
          </a:ln>
        </p:spPr>
        <p:txBody>
          <a:bodyPr/>
          <a:lstStyle/>
          <a:p>
            <a:endParaRPr lang="en-US"/>
          </a:p>
        </p:txBody>
      </p:sp>
      <p:sp>
        <p:nvSpPr>
          <p:cNvPr id="109" name="Prompt"/>
          <p:cNvSpPr/>
          <p:nvPr/>
        </p:nvSpPr>
        <p:spPr>
          <a:xfrm>
            <a:off x="914400" y="4521200"/>
            <a:ext cx="6350000" cy="762000"/>
          </a:xfrm>
          <a:prstGeom prst="rect">
            <a:avLst/>
          </a:prstGeom>
          <a:noFill/>
          <a:ln w="0">
            <a:noFill/>
          </a:ln>
        </p:spPr>
        <p:txBody>
          <a:bodyPr wrap="square" lIns="0" tIns="0" rIns="0" bIns="0" anchor="t"/>
          <a:lstStyle/>
          <a:p>
            <a:pPr marL="0" indent="0">
              <a:lnSpc>
                <a:spcPts val="2200"/>
              </a:lnSpc>
              <a:buNone/>
            </a:pPr>
            <a:r>
              <a:rPr lang="en-US" sz="1400" dirty="0">
                <a:solidFill>
                  <a:srgbClr val="BBDEFB"/>
                </a:solidFill>
                <a:latin typeface="Aptos"/>
              </a:rPr>
              <a:t>We welcome your questions, feedback, and ideas on</a:t>
            </a:r>
          </a:p>
          <a:p>
            <a:pPr marL="0" indent="0">
              <a:lnSpc>
                <a:spcPts val="2200"/>
              </a:lnSpc>
              <a:buNone/>
            </a:pPr>
            <a:r>
              <a:rPr lang="en-US" sz="1400" dirty="0">
                <a:solidFill>
                  <a:srgbClr val="BBDEFB"/>
                </a:solidFill>
                <a:latin typeface="Aptos"/>
              </a:rPr>
              <a:t>adopting Claude Code in your engineering workflows.</a:t>
            </a:r>
          </a:p>
        </p:txBody>
      </p:sp>
      <p:sp>
        <p:nvSpPr>
          <p:cNvPr id="110" name="BottomAccent"/>
          <p:cNvSpPr/>
          <p:nvPr/>
        </p:nvSpPr>
        <p:spPr>
          <a:xfrm>
            <a:off x="914400" y="6146800"/>
            <a:ext cx="7251700" cy="50800"/>
          </a:xfrm>
          <a:prstGeom prst="rect">
            <a:avLst/>
          </a:prstGeom>
          <a:solidFill>
            <a:srgbClr val="90CAF9"/>
          </a:solidFill>
          <a:ln w="0">
            <a:noFill/>
          </a:ln>
        </p:spPr>
        <p:txBody>
          <a:bodyPr/>
          <a:lstStyle/>
          <a:p>
            <a:endParaRPr lang="en-US"/>
          </a:p>
        </p:txBody>
      </p:sp>
      <p:sp>
        <p:nvSpPr>
          <p:cNvPr id="111" name="Footer"/>
          <p:cNvSpPr/>
          <p:nvPr/>
        </p:nvSpPr>
        <p:spPr>
          <a:xfrm>
            <a:off x="914400" y="6311900"/>
            <a:ext cx="10363200" cy="279400"/>
          </a:xfrm>
          <a:prstGeom prst="rect">
            <a:avLst/>
          </a:prstGeom>
          <a:noFill/>
          <a:ln w="0">
            <a:noFill/>
          </a:ln>
        </p:spPr>
        <p:txBody>
          <a:bodyPr wrap="square" lIns="0" tIns="0" rIns="0" bIns="0" anchor="ctr"/>
          <a:lstStyle/>
          <a:p>
            <a:pPr marL="0" indent="0">
              <a:buNone/>
            </a:pPr>
            <a:r>
              <a:rPr lang="en-US" sz="1000" dirty="0">
                <a:solidFill>
                  <a:srgbClr val="64B5F6"/>
                </a:solidFill>
                <a:latin typeface="Aptos"/>
              </a:rPr>
              <a:t>Claude Code Agentic Engineering Session</a:t>
            </a:r>
          </a:p>
        </p:txBody>
      </p:sp>
      <p:pic>
        <p:nvPicPr>
          <p:cNvPr id="112" name="Graphic 112" descr="Question mark icon for Q&amp;A"/>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71000" y="1968500"/>
            <a:ext cx="1905000" cy="1905000"/>
          </a:xfrm>
          <a:prstGeom prst="rect">
            <a:avLst/>
          </a:prstGeom>
        </p:spPr>
      </p:pic>
      <p:pic>
        <p:nvPicPr>
          <p:cNvPr id="113" name="Graphic 113" descr="Group of people icon for thank you"/>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71000" y="4318000"/>
            <a:ext cx="1778000" cy="1270000"/>
          </a:xfrm>
          <a:prstGeom prst="rect">
            <a:avLst/>
          </a:prstGeom>
        </p:spPr>
      </p:pic>
    </p:spTree>
    <p:extLst>
      <p:ext uri="{BB962C8B-B14F-4D97-AF65-F5344CB8AC3E}">
        <p14:creationId xmlns:p14="http://schemas.microsoft.com/office/powerpoint/2010/main" val="3599466126"/>
      </p:ext>
    </p:extLst>
  </p:cSld>
  <p:clrMapOvr>
    <a:masterClrMapping/>
  </p:clrMapOvr>
</p:sld>
</file>

<file path=ppt/theme/theme1.xml><?xml version="1.0" encoding="utf-8"?>
<a:theme xmlns:a="http://schemas.openxmlformats.org/drawingml/2006/main" name="Office Theme">
  <a:themeElements>
    <a:clrScheme name="Office">
      <a:dk1>
        <a:srgbClr val="1A2332"/>
      </a:dk1>
      <a:lt1>
        <a:srgbClr val="FFFFFF"/>
      </a:lt1>
      <a:dk2>
        <a:srgbClr val="2D4A6F"/>
      </a:dk2>
      <a:lt2>
        <a:srgbClr val="F4F6F9"/>
      </a:lt2>
      <a:accent1>
        <a:srgbClr val="1565C0"/>
      </a:accent1>
      <a:accent2>
        <a:srgbClr val="D4622B"/>
      </a:accent2>
      <a:accent3>
        <a:srgbClr val="0D8A72"/>
      </a:accent3>
      <a:accent4>
        <a:srgbClr val="2D4A6F"/>
      </a:accent4>
      <a:accent5>
        <a:srgbClr val="7B61FF"/>
      </a:accent5>
      <a:accent6>
        <a:srgbClr val="E67E22"/>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68E429-E3F9-AD49-884F-5C97CE7C08B5}">
  <we:reference id="wa200010001" version="1.0.0.1" store="en-US" storeType="OMEX"/>
  <we:alternateReferences>
    <we:reference id="wa200010001" version="1.0.0.1" store="" storeType="OMEX"/>
  </we:alternateReferences>
  <we:properties>
    <we:property name="claude.fileId" value="&quot;e9a73520-086e-42f4-a2c4-31ef50840bc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3353</TotalTime>
  <Words>4285</Words>
  <Application>Microsoft Macintosh PowerPoint</Application>
  <PresentationFormat>Widescreen</PresentationFormat>
  <Paragraphs>607</Paragraphs>
  <Slides>19</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American Typewriter</vt:lpstr>
      <vt:lpstr>Aptos</vt:lpstr>
      <vt:lpstr>Aptos Display</vt:lpstr>
      <vt:lpstr>Arial</vt:lpstr>
      <vt:lpstr>Consolas</vt:lpstr>
      <vt:lpstr>Georgia</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Engineering with Anthropic Claude Code</dc:title>
  <dc:subject>Anthropic Claude Code session</dc:subject>
  <dc:creator>OpenAI</dc:creator>
  <cp:lastModifiedBy>Paramesh Korrakuti</cp:lastModifiedBy>
  <cp:revision>150</cp:revision>
  <dcterms:created xsi:type="dcterms:W3CDTF">2026-03-15T10:39:56Z</dcterms:created>
  <dcterms:modified xsi:type="dcterms:W3CDTF">2026-09-16T14:54:54Z</dcterms:modified>
</cp:coreProperties>
</file>